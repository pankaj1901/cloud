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AIOps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675120" y="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 •  Objectives  •  Current State  →  Proposed Solution  •  KPIs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1168" y="658368"/>
            <a:ext cx="35661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658368"/>
            <a:ext cx="3566160" cy="45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858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6032" y="978408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9784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from thousands of daily alerts across siloed tools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137160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3716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visibility — SolarWinds, Instana, Prometheus, Splunk &amp; ServiceNow isolated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6032" y="1764792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7647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drives high MTTR and increased business impact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86200" y="658368"/>
            <a:ext cx="80924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86200" y="658368"/>
            <a:ext cx="8092440" cy="45720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685800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77640" y="978408"/>
            <a:ext cx="292608" cy="4754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978408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06824" y="987552"/>
            <a:ext cx="22311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Observability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06824" y="1197864"/>
            <a:ext cx="2231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all tool signals into one AI platform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629400" y="978408"/>
            <a:ext cx="292608" cy="4754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978408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58584" y="987552"/>
            <a:ext cx="22311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Alerting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958584" y="1197864"/>
            <a:ext cx="2231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correlation — cut alert noise by 95%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281160" y="978408"/>
            <a:ext cx="292608" cy="4754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978408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10344" y="987552"/>
            <a:ext cx="22311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RCA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610344" y="1197864"/>
            <a:ext cx="2231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 AI — reduce MTTR to &lt;15 min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977640" y="1581912"/>
            <a:ext cx="292608" cy="4754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77640" y="1581912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06824" y="1591056"/>
            <a:ext cx="22311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Detection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306824" y="1801368"/>
            <a:ext cx="2231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anomalies before service impact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629400" y="1581912"/>
            <a:ext cx="292608" cy="4754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1581912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58584" y="1591056"/>
            <a:ext cx="22311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Remediation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958584" y="1801368"/>
            <a:ext cx="2231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runbooks via ServiceNow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281160" y="1581912"/>
            <a:ext cx="292608" cy="4754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81160" y="1581912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610344" y="1591056"/>
            <a:ext cx="22311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Optimisation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610344" y="1801368"/>
            <a:ext cx="2231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tools, reduce ops toil &amp; FTE effort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01168" y="2395728"/>
            <a:ext cx="5440680" cy="3310128"/>
          </a:xfrm>
          <a:prstGeom prst="rect">
            <a:avLst/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01168" y="2395728"/>
            <a:ext cx="544068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" y="2423160"/>
            <a:ext cx="5257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— Siloed &amp; Reactive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92608" y="2697480"/>
            <a:ext cx="5257800" cy="438912"/>
          </a:xfrm>
          <a:prstGeom prst="rect">
            <a:avLst/>
          </a:prstGeom>
          <a:solidFill>
            <a:srgbClr val="EBF5FF"/>
          </a:solidFill>
          <a:ln w="10160">
            <a:solidFill>
              <a:srgbClr val="B8D4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270662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347472" y="2862072"/>
            <a:ext cx="79552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D4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2862072"/>
            <a:ext cx="795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Servers/VMs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1197864" y="2862072"/>
            <a:ext cx="79552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D4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97864" y="2862072"/>
            <a:ext cx="795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2048256" y="2862072"/>
            <a:ext cx="79552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D4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48256" y="2862072"/>
            <a:ext cx="795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2898648" y="2862072"/>
            <a:ext cx="79552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D4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98648" y="2862072"/>
            <a:ext cx="795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3749040" y="2862072"/>
            <a:ext cx="79552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D4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49040" y="2862072"/>
            <a:ext cx="795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4599432" y="2862072"/>
            <a:ext cx="79552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D4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99432" y="2862072"/>
            <a:ext cx="795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2926080" y="3136392"/>
            <a:ext cx="0" cy="16459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2608" y="33101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TOOLS (SILOED)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3840480" y="3310128"/>
            <a:ext cx="1691640" cy="201168"/>
          </a:xfrm>
          <a:prstGeom prst="rect">
            <a:avLst/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40480" y="331012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Alert storms | No correlation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92608" y="3538728"/>
            <a:ext cx="987552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92608" y="3538728"/>
            <a:ext cx="987552" cy="1828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2608" y="353872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292608" y="3730752"/>
            <a:ext cx="9875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Infra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1353312" y="3538728"/>
            <a:ext cx="987552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1353312" y="3538728"/>
            <a:ext cx="987552" cy="1828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53312" y="353872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Instana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1353312" y="3730752"/>
            <a:ext cx="9875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/ Microsvcs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2414016" y="3538728"/>
            <a:ext cx="987552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E85D0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2414016" y="3538728"/>
            <a:ext cx="987552" cy="18288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414016" y="353872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2414016" y="3730752"/>
            <a:ext cx="9875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Metrics/Alerting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3474720" y="3538728"/>
            <a:ext cx="987552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9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3474720" y="3538728"/>
            <a:ext cx="987552" cy="18288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74720" y="353872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474720" y="3730752"/>
            <a:ext cx="9875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SIEM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4535424" y="3538728"/>
            <a:ext cx="987552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C0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4535424" y="3538728"/>
            <a:ext cx="987552" cy="182880"/>
          </a:xfrm>
          <a:prstGeom prst="rect">
            <a:avLst/>
          </a:prstGeom>
          <a:solidFill>
            <a:srgbClr val="00C040"/>
          </a:solidFill>
          <a:ln w="12700">
            <a:solidFill>
              <a:srgbClr val="00C04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35424" y="353872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4535424" y="3730752"/>
            <a:ext cx="9875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/ Incidents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1261872" y="3895344"/>
            <a:ext cx="3383280" cy="0"/>
          </a:xfrm>
          <a:prstGeom prst="line">
            <a:avLst/>
          </a:prstGeom>
          <a:noFill/>
          <a:ln w="10160">
            <a:solidFill>
              <a:srgbClr val="FCA5A5"/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>
            <a:off x="2926080" y="4251960"/>
            <a:ext cx="0" cy="16459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92608" y="4434840"/>
            <a:ext cx="5257800" cy="594360"/>
          </a:xfrm>
          <a:prstGeom prst="rect">
            <a:avLst/>
          </a:prstGeom>
          <a:solidFill>
            <a:srgbClr val="FFF7ED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84048" y="4453128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🧑‍💻  OPS TEAM  —  Manual Triage &amp; Root-Cause Analysis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384048" y="468172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consoles  •  Manual correlation  •  High MTTR  •  Alert fatigue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5742432" y="3474720"/>
            <a:ext cx="54864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742432" y="34747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0" name="Shape 88"/>
          <p:cNvSpPr/>
          <p:nvPr/>
        </p:nvSpPr>
        <p:spPr>
          <a:xfrm>
            <a:off x="6400800" y="2395728"/>
            <a:ext cx="5577840" cy="3310128"/>
          </a:xfrm>
          <a:prstGeom prst="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6400800" y="2395728"/>
            <a:ext cx="55778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492240" y="2423160"/>
            <a:ext cx="5394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 — Unified AIOps Platform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492240" y="2697480"/>
            <a:ext cx="5394960" cy="438912"/>
          </a:xfrm>
          <a:prstGeom prst="rect">
            <a:avLst/>
          </a:prstGeom>
          <a:solidFill>
            <a:srgbClr val="EBF5FF"/>
          </a:solidFill>
          <a:ln w="10160">
            <a:solidFill>
              <a:srgbClr val="B8D4F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528816" y="2706624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6528816" y="2862072"/>
            <a:ext cx="82296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D4F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528816" y="28620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Servers/VMs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7406640" y="2862072"/>
            <a:ext cx="82296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D4F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406640" y="28620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8284464" y="2862072"/>
            <a:ext cx="82296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D4F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284464" y="28620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9162288" y="2862072"/>
            <a:ext cx="82296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D4F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162288" y="28620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10040112" y="2862072"/>
            <a:ext cx="82296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D4F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0040112" y="28620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10917936" y="2862072"/>
            <a:ext cx="82296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D4F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0917936" y="28620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9189720" y="3136392"/>
            <a:ext cx="0" cy="164592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492240" y="3310128"/>
            <a:ext cx="5394960" cy="457200"/>
          </a:xfrm>
          <a:prstGeom prst="rect">
            <a:avLst/>
          </a:prstGeom>
          <a:solidFill>
            <a:srgbClr val="F0FDF4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528816" y="331927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CONNECTORS: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6528816" y="3493008"/>
            <a:ext cx="987552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528816" y="3493008"/>
            <a:ext cx="987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7589520" y="3493008"/>
            <a:ext cx="987552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589520" y="3493008"/>
            <a:ext cx="987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Instana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8650224" y="3493008"/>
            <a:ext cx="987552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650224" y="3493008"/>
            <a:ext cx="987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9710928" y="3493008"/>
            <a:ext cx="987552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9710928" y="3493008"/>
            <a:ext cx="987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10771632" y="3493008"/>
            <a:ext cx="987552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0771632" y="3493008"/>
            <a:ext cx="987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9189720" y="3721608"/>
            <a:ext cx="0" cy="164592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492240" y="3904488"/>
            <a:ext cx="5394960" cy="804672"/>
          </a:xfrm>
          <a:prstGeom prst="rect">
            <a:avLst/>
          </a:prstGeom>
          <a:solidFill>
            <a:srgbClr val="0D1B40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22" name="Text 120"/>
          <p:cNvSpPr/>
          <p:nvPr/>
        </p:nvSpPr>
        <p:spPr>
          <a:xfrm>
            <a:off x="6492240" y="3922776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AIOps INTELLIGENCE ENGINE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6565392" y="4160520"/>
            <a:ext cx="1234440" cy="484632"/>
          </a:xfrm>
          <a:prstGeom prst="rect">
            <a:avLst/>
          </a:prstGeom>
          <a:solidFill>
            <a:srgbClr val="1A3A7A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565392" y="4160520"/>
            <a:ext cx="1234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Alert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7882128" y="4160520"/>
            <a:ext cx="1234440" cy="484632"/>
          </a:xfrm>
          <a:prstGeom prst="rect">
            <a:avLst/>
          </a:prstGeom>
          <a:solidFill>
            <a:srgbClr val="1A3A7A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882128" y="4160520"/>
            <a:ext cx="1234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9198864" y="4160520"/>
            <a:ext cx="1234440" cy="484632"/>
          </a:xfrm>
          <a:prstGeom prst="rect">
            <a:avLst/>
          </a:prstGeom>
          <a:solidFill>
            <a:srgbClr val="1A3A7A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198864" y="4160520"/>
            <a:ext cx="1234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10515600" y="4160520"/>
            <a:ext cx="1234440" cy="484632"/>
          </a:xfrm>
          <a:prstGeom prst="rect">
            <a:avLst/>
          </a:prstGeom>
          <a:solidFill>
            <a:srgbClr val="1A3A7A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515600" y="4160520"/>
            <a:ext cx="1234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9189720" y="4709160"/>
            <a:ext cx="0" cy="164592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492240" y="4892040"/>
            <a:ext cx="5394960" cy="530352"/>
          </a:xfrm>
          <a:prstGeom prst="rect">
            <a:avLst/>
          </a:prstGeom>
          <a:solidFill>
            <a:srgbClr val="F0F7FF"/>
          </a:solidFill>
          <a:ln w="10160">
            <a:solidFill>
              <a:srgbClr val="0E749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528816" y="491032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OUTPUT:</a:t>
            </a:r>
            <a:endParaRPr lang="en-US" sz="650" dirty="0"/>
          </a:p>
        </p:txBody>
      </p:sp>
      <p:sp>
        <p:nvSpPr>
          <p:cNvPr id="134" name="Shape 132"/>
          <p:cNvSpPr/>
          <p:nvPr/>
        </p:nvSpPr>
        <p:spPr>
          <a:xfrm>
            <a:off x="6528816" y="5084064"/>
            <a:ext cx="123444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E749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528816" y="50840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Single-Pane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7845552" y="5084064"/>
            <a:ext cx="123444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E749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845552" y="50840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Auto-Tickets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9162288" y="5084064"/>
            <a:ext cx="123444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E749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9162288" y="50840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10479024" y="5084064"/>
            <a:ext cx="123444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E749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0479024" y="50840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201168" y="5806440"/>
            <a:ext cx="11777472" cy="89611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43" name="Text 141"/>
          <p:cNvSpPr/>
          <p:nvPr/>
        </p:nvSpPr>
        <p:spPr>
          <a:xfrm>
            <a:off x="292608" y="58247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850" dirty="0"/>
          </a:p>
        </p:txBody>
      </p:sp>
      <p:sp>
        <p:nvSpPr>
          <p:cNvPr id="144" name="Text 142"/>
          <p:cNvSpPr/>
          <p:nvPr/>
        </p:nvSpPr>
        <p:spPr>
          <a:xfrm>
            <a:off x="1005840" y="5806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75%↓</a:t>
            </a:r>
            <a:endParaRPr lang="en-US" sz="1600" dirty="0"/>
          </a:p>
        </p:txBody>
      </p:sp>
      <p:sp>
        <p:nvSpPr>
          <p:cNvPr id="145" name="Text 143"/>
          <p:cNvSpPr/>
          <p:nvPr/>
        </p:nvSpPr>
        <p:spPr>
          <a:xfrm>
            <a:off x="1005840" y="60807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1005840" y="627278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E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hrs  →  &lt;15 min</a:t>
            </a:r>
            <a:endParaRPr lang="en-US" sz="700" dirty="0"/>
          </a:p>
        </p:txBody>
      </p:sp>
      <p:sp>
        <p:nvSpPr>
          <p:cNvPr id="147" name="Text 145"/>
          <p:cNvSpPr/>
          <p:nvPr/>
        </p:nvSpPr>
        <p:spPr>
          <a:xfrm>
            <a:off x="2834640" y="5806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95%↓</a:t>
            </a:r>
            <a:endParaRPr lang="en-US" sz="1600" dirty="0"/>
          </a:p>
        </p:txBody>
      </p:sp>
      <p:sp>
        <p:nvSpPr>
          <p:cNvPr id="148" name="Text 146"/>
          <p:cNvSpPr/>
          <p:nvPr/>
        </p:nvSpPr>
        <p:spPr>
          <a:xfrm>
            <a:off x="2834640" y="60807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Noise</a:t>
            </a:r>
            <a:endParaRPr lang="en-US" sz="750" dirty="0"/>
          </a:p>
        </p:txBody>
      </p:sp>
      <p:sp>
        <p:nvSpPr>
          <p:cNvPr id="149" name="Text 147"/>
          <p:cNvSpPr/>
          <p:nvPr/>
        </p:nvSpPr>
        <p:spPr>
          <a:xfrm>
            <a:off x="2834640" y="627278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E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~10k/day  →  &lt;500/day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4663440" y="5806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88%↓</a:t>
            </a:r>
            <a:endParaRPr lang="en-US" sz="1600" dirty="0"/>
          </a:p>
        </p:txBody>
      </p:sp>
      <p:sp>
        <p:nvSpPr>
          <p:cNvPr id="151" name="Text 149"/>
          <p:cNvSpPr/>
          <p:nvPr/>
        </p:nvSpPr>
        <p:spPr>
          <a:xfrm>
            <a:off x="4663440" y="60807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4663440" y="627278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E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 →  &lt;5%</a:t>
            </a:r>
            <a:endParaRPr lang="en-US" sz="700" dirty="0"/>
          </a:p>
        </p:txBody>
      </p:sp>
      <p:sp>
        <p:nvSpPr>
          <p:cNvPr id="153" name="Text 151"/>
          <p:cNvSpPr/>
          <p:nvPr/>
        </p:nvSpPr>
        <p:spPr>
          <a:xfrm>
            <a:off x="6492240" y="5806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12x↑</a:t>
            </a:r>
            <a:endParaRPr lang="en-US" sz="1600" dirty="0"/>
          </a:p>
        </p:txBody>
      </p:sp>
      <p:sp>
        <p:nvSpPr>
          <p:cNvPr id="154" name="Text 152"/>
          <p:cNvSpPr/>
          <p:nvPr/>
        </p:nvSpPr>
        <p:spPr>
          <a:xfrm>
            <a:off x="6492240" y="60807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Rate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6492240" y="627278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E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  →  &gt;60%</a:t>
            </a:r>
            <a:endParaRPr lang="en-US" sz="700" dirty="0"/>
          </a:p>
        </p:txBody>
      </p:sp>
      <p:sp>
        <p:nvSpPr>
          <p:cNvPr id="156" name="Text 154"/>
          <p:cNvSpPr/>
          <p:nvPr/>
        </p:nvSpPr>
        <p:spPr>
          <a:xfrm>
            <a:off x="8321040" y="5806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7" name="Text 155"/>
          <p:cNvSpPr/>
          <p:nvPr/>
        </p:nvSpPr>
        <p:spPr>
          <a:xfrm>
            <a:off x="8321040" y="60807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SLA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8321040" y="627278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E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→  99.9%+</a:t>
            </a:r>
            <a:endParaRPr lang="en-US" sz="700" dirty="0"/>
          </a:p>
        </p:txBody>
      </p:sp>
      <p:sp>
        <p:nvSpPr>
          <p:cNvPr id="159" name="Text 157"/>
          <p:cNvSpPr/>
          <p:nvPr/>
        </p:nvSpPr>
        <p:spPr>
          <a:xfrm>
            <a:off x="10149840" y="5806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0" name="Text 158"/>
          <p:cNvSpPr/>
          <p:nvPr/>
        </p:nvSpPr>
        <p:spPr>
          <a:xfrm>
            <a:off x="10149840" y="60807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Consolidation</a:t>
            </a:r>
            <a:endParaRPr lang="en-US" sz="750" dirty="0"/>
          </a:p>
        </p:txBody>
      </p:sp>
      <p:sp>
        <p:nvSpPr>
          <p:cNvPr id="161" name="Text 159"/>
          <p:cNvSpPr/>
          <p:nvPr/>
        </p:nvSpPr>
        <p:spPr>
          <a:xfrm>
            <a:off x="10149840" y="627278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E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tools  →  2-3 tools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2026-04-18T05:38:01Z</dcterms:created>
  <dcterms:modified xsi:type="dcterms:W3CDTF">2026-04-18T05:38:01Z</dcterms:modified>
</cp:coreProperties>
</file>