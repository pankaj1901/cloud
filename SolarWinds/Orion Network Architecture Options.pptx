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68" r:id="rId3"/>
    <p:sldId id="257" r:id="rId4"/>
    <p:sldId id="258" r:id="rId5"/>
    <p:sldId id="259" r:id="rId6"/>
    <p:sldId id="260" r:id="rId7"/>
    <p:sldId id="261" r:id="rId8"/>
    <p:sldId id="262" r:id="rId9"/>
    <p:sldId id="263" r:id="rId10"/>
    <p:sldId id="264" r:id="rId11"/>
    <p:sldId id="265" r:id="rId12"/>
    <p:sldId id="266" r:id="rId13"/>
    <p:sldId id="267" r:id="rId14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 varScale="1">
        <p:scale>
          <a:sx n="113" d="100"/>
          <a:sy n="113" d="100"/>
        </p:scale>
        <p:origin x="120" y="88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presProps" Target="pres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8/11/2026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8/11/2026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8/11/2026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8/11/2026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8/11/2026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8/11/2026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8/11/2026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8/11/2026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8/11/2026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8/11/2026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8/11/2026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8/11/2026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6.png"/><Relationship Id="rId5" Type="http://schemas.openxmlformats.org/officeDocument/2006/relationships/image" Target="../media/image5.png"/><Relationship Id="rId4" Type="http://schemas.openxmlformats.org/officeDocument/2006/relationships/image" Target="../media/image4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9.png"/><Relationship Id="rId4" Type="http://schemas.openxmlformats.org/officeDocument/2006/relationships/image" Target="../media/image8.png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3.png"/><Relationship Id="rId5" Type="http://schemas.openxmlformats.org/officeDocument/2006/relationships/image" Target="../media/image12.png"/><Relationship Id="rId4" Type="http://schemas.openxmlformats.org/officeDocument/2006/relationships/image" Target="../media/image11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7.png"/><Relationship Id="rId5" Type="http://schemas.openxmlformats.org/officeDocument/2006/relationships/image" Target="../media/image16.png"/><Relationship Id="rId4" Type="http://schemas.openxmlformats.org/officeDocument/2006/relationships/image" Target="../media/image15.png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3.png"/><Relationship Id="rId5" Type="http://schemas.openxmlformats.org/officeDocument/2006/relationships/image" Target="../media/image12.png"/><Relationship Id="rId4" Type="http://schemas.openxmlformats.org/officeDocument/2006/relationships/image" Target="../media/image19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7.png"/><Relationship Id="rId5" Type="http://schemas.openxmlformats.org/officeDocument/2006/relationships/image" Target="../media/image16.png"/><Relationship Id="rId4" Type="http://schemas.openxmlformats.org/officeDocument/2006/relationships/image" Target="../media/image21.png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8" Type="http://schemas.openxmlformats.org/officeDocument/2006/relationships/image" Target="../media/image27.png"/><Relationship Id="rId3" Type="http://schemas.openxmlformats.org/officeDocument/2006/relationships/image" Target="../media/image22.png"/><Relationship Id="rId7" Type="http://schemas.openxmlformats.org/officeDocument/2006/relationships/image" Target="../media/image26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25.png"/><Relationship Id="rId5" Type="http://schemas.openxmlformats.org/officeDocument/2006/relationships/image" Target="../media/image24.png"/><Relationship Id="rId10" Type="http://schemas.openxmlformats.org/officeDocument/2006/relationships/image" Target="../media/image29.png"/><Relationship Id="rId4" Type="http://schemas.openxmlformats.org/officeDocument/2006/relationships/image" Target="../media/image23.png"/><Relationship Id="rId9" Type="http://schemas.openxmlformats.org/officeDocument/2006/relationships/image" Target="../media/image28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0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E293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2320528" y="2432744"/>
            <a:ext cx="7550943" cy="11733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ts val="4620"/>
              </a:lnSpc>
            </a:pPr>
            <a:r>
              <a:rPr sz="4200" b="1" i="0" u="none">
                <a:solidFill>
                  <a:srgbClr val="F8FAFC"/>
                </a:solidFill>
                <a:latin typeface="Plus Jakarta Sans"/>
              </a:rPr>
              <a:t>Orion Network Architecture</a:t>
            </a:r>
            <a:r>
              <a:t>
</a:t>
            </a:r>
            <a:r>
              <a:rPr sz="4200" b="1" i="0" u="none">
                <a:solidFill>
                  <a:srgbClr val="38BDF8"/>
                </a:solidFill>
                <a:latin typeface="Plus Jakarta Sans"/>
              </a:rPr>
              <a:t>Options for APAC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286000" y="3796605"/>
            <a:ext cx="7620000" cy="6286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ts val="2475"/>
              </a:lnSpc>
            </a:pPr>
            <a:r>
              <a:rPr sz="1650" b="0" i="0" u="none">
                <a:solidFill>
                  <a:srgbClr val="94A3B8"/>
                </a:solidFill>
                <a:latin typeface="Inter"/>
              </a:rPr>
              <a:t>Comprehensive Analysis of Pros, Cons, Risks, and Mitigation Strategies for Centralized vs. Distributed SolarWinds Deployments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7A2BEB4A-3276-40F5-A4D4-57B464400E4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19200" y="766762"/>
            <a:ext cx="9753600" cy="53244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2700606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E293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85775" y="2433637"/>
            <a:ext cx="5467350" cy="2724150"/>
          </a:xfrm>
          <a:prstGeom prst="rect">
            <a:avLst/>
          </a:prstGeom>
        </p:spPr>
      </p:pic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238875" y="2433637"/>
            <a:ext cx="5467350" cy="272415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1104900" y="2728912"/>
            <a:ext cx="4780597" cy="276225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650" b="1" i="0" u="none">
                <a:solidFill>
                  <a:srgbClr val="38BDF8"/>
                </a:solidFill>
                <a:latin typeface="Plus Jakarta Sans"/>
              </a:rPr>
              <a:t>Objective</a:t>
            </a:r>
          </a:p>
        </p:txBody>
      </p:sp>
      <p:sp>
        <p:nvSpPr>
          <p:cNvPr id="6" name="Rectangle 5"/>
          <p:cNvSpPr/>
          <p:nvPr/>
        </p:nvSpPr>
        <p:spPr>
          <a:xfrm>
            <a:off x="781050" y="3109912"/>
            <a:ext cx="4876800" cy="9525"/>
          </a:xfrm>
          <a:prstGeom prst="rect">
            <a:avLst/>
          </a:prstGeom>
          <a:solidFill>
            <a:srgbClr val="1E29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6829425" y="2728912"/>
            <a:ext cx="4810601" cy="276225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650" b="1" i="0" u="none">
                <a:solidFill>
                  <a:srgbClr val="38BDF8"/>
                </a:solidFill>
                <a:latin typeface="Plus Jakarta Sans"/>
              </a:rPr>
              <a:t>Architecture Choices</a:t>
            </a:r>
          </a:p>
        </p:txBody>
      </p:sp>
      <p:sp>
        <p:nvSpPr>
          <p:cNvPr id="8" name="Rectangle 7"/>
          <p:cNvSpPr/>
          <p:nvPr/>
        </p:nvSpPr>
        <p:spPr>
          <a:xfrm>
            <a:off x="6534150" y="3109912"/>
            <a:ext cx="4876800" cy="9525"/>
          </a:xfrm>
          <a:prstGeom prst="rect">
            <a:avLst/>
          </a:prstGeom>
          <a:solidFill>
            <a:srgbClr val="1E29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9" name="Picture 8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81050" y="2757487"/>
            <a:ext cx="209550" cy="209550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1009650" y="3262312"/>
            <a:ext cx="464820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800"/>
              </a:lnSpc>
            </a:pPr>
            <a:r>
              <a:rPr sz="1200" b="0" i="0" u="none">
                <a:solidFill>
                  <a:srgbClr val="CBD5E1"/>
                </a:solidFill>
                <a:latin typeface="Inter"/>
              </a:rPr>
              <a:t>Evaluate two distinct SolarWinds Orion architectures for APAC branch offices (specifically Bangkok &amp; New Delhi).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09650" y="3833812"/>
            <a:ext cx="464820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800"/>
              </a:lnSpc>
            </a:pPr>
            <a:r>
              <a:rPr sz="1200" b="0" i="0" u="none">
                <a:solidFill>
                  <a:srgbClr val="CBD5E1"/>
                </a:solidFill>
                <a:latin typeface="Inter"/>
              </a:rPr>
              <a:t>Balance operational overhead, network resilience, alert latency, and infrastructure cost.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09650" y="4405312"/>
            <a:ext cx="464820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800"/>
              </a:lnSpc>
            </a:pPr>
            <a:r>
              <a:rPr sz="1200" b="0" i="0" u="none">
                <a:solidFill>
                  <a:srgbClr val="CBD5E1"/>
                </a:solidFill>
                <a:latin typeface="Inter"/>
              </a:rPr>
              <a:t>Establish robust risk mitigation plans for seamless regional monitoring.</a:t>
            </a:r>
          </a:p>
        </p:txBody>
      </p:sp>
      <p:pic>
        <p:nvPicPr>
          <p:cNvPr id="13" name="Picture 12" descr="imag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534150" y="2757487"/>
            <a:ext cx="180975" cy="209550"/>
          </a:xfrm>
          <a:prstGeom prst="rect">
            <a:avLst/>
          </a:prstGeom>
        </p:spPr>
      </p:pic>
      <p:sp>
        <p:nvSpPr>
          <p:cNvPr id="14" name="TextBox 13"/>
          <p:cNvSpPr txBox="1"/>
          <p:nvPr/>
        </p:nvSpPr>
        <p:spPr>
          <a:xfrm>
            <a:off x="6762750" y="3262312"/>
            <a:ext cx="4648200" cy="6858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800"/>
              </a:lnSpc>
            </a:pPr>
            <a:r>
              <a:rPr sz="1200" b="1" i="0" u="none">
                <a:solidFill>
                  <a:srgbClr val="CBD5E1"/>
                </a:solidFill>
                <a:latin typeface="Inter"/>
              </a:rPr>
              <a:t>Option 1:</a:t>
            </a:r>
            <a:r>
              <a:rPr sz="1200" b="0" i="0" u="none">
                <a:solidFill>
                  <a:srgbClr val="CBD5E1"/>
                </a:solidFill>
                <a:latin typeface="Inter"/>
              </a:rPr>
              <a:t> Centralized SolarWinds Orion setup with APE in Singapore (SNG); all APAC branches (incl. BKK, NDL) send alerts directly.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762750" y="4062412"/>
            <a:ext cx="4648200" cy="6858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800"/>
              </a:lnSpc>
            </a:pPr>
            <a:r>
              <a:rPr sz="1200" b="1" i="0" u="none">
                <a:solidFill>
                  <a:srgbClr val="CBD5E1"/>
                </a:solidFill>
                <a:latin typeface="Inter"/>
              </a:rPr>
              <a:t>Option 2:</a:t>
            </a:r>
            <a:r>
              <a:rPr sz="1200" b="0" i="0" u="none">
                <a:solidFill>
                  <a:srgbClr val="CBD5E1"/>
                </a:solidFill>
                <a:latin typeface="Inter"/>
              </a:rPr>
              <a:t> Distributed setup featuring a local Additional Polling Engine (APE) in Bangkok, forwarding alerts back to the central SNG Orion server.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81050" y="3262312"/>
            <a:ext cx="95250" cy="1905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500"/>
              </a:lnSpc>
            </a:pPr>
            <a:r>
              <a:rPr sz="1500" b="1" i="0" u="none">
                <a:solidFill>
                  <a:srgbClr val="38BDF8"/>
                </a:solidFill>
                <a:latin typeface="Inter"/>
              </a:rPr>
              <a:t>•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81050" y="3833812"/>
            <a:ext cx="95250" cy="1905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500"/>
              </a:lnSpc>
            </a:pPr>
            <a:r>
              <a:rPr sz="1500" b="1" i="0" u="none">
                <a:solidFill>
                  <a:srgbClr val="38BDF8"/>
                </a:solidFill>
                <a:latin typeface="Inter"/>
              </a:rPr>
              <a:t>•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81050" y="4405312"/>
            <a:ext cx="95250" cy="1905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500"/>
              </a:lnSpc>
            </a:pPr>
            <a:r>
              <a:rPr sz="1500" b="1" i="0" u="none">
                <a:solidFill>
                  <a:srgbClr val="38BDF8"/>
                </a:solidFill>
                <a:latin typeface="Inter"/>
              </a:rPr>
              <a:t>•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534150" y="3262312"/>
            <a:ext cx="95250" cy="1905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500"/>
              </a:lnSpc>
            </a:pPr>
            <a:r>
              <a:rPr sz="1500" b="1" i="0" u="none">
                <a:solidFill>
                  <a:srgbClr val="38BDF8"/>
                </a:solidFill>
                <a:latin typeface="Inter"/>
              </a:rPr>
              <a:t>•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534150" y="4062412"/>
            <a:ext cx="95250" cy="1905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500"/>
              </a:lnSpc>
            </a:pPr>
            <a:r>
              <a:rPr sz="1500" b="1" i="0" u="none">
                <a:solidFill>
                  <a:srgbClr val="38BDF8"/>
                </a:solidFill>
                <a:latin typeface="Inter"/>
              </a:rPr>
              <a:t>•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85775" y="485775"/>
            <a:ext cx="11706225" cy="44767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2850" b="1" i="0" u="none">
                <a:solidFill>
                  <a:srgbClr val="F8FAFC"/>
                </a:solidFill>
                <a:latin typeface="Plus Jakarta Sans"/>
              </a:rPr>
              <a:t>Executive </a:t>
            </a:r>
            <a:r>
              <a:rPr sz="2850" b="1" i="0" u="none">
                <a:solidFill>
                  <a:srgbClr val="38BDF8"/>
                </a:solidFill>
                <a:latin typeface="Plus Jakarta Sans"/>
              </a:rPr>
              <a:t>Overview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E293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828383" y="1509712"/>
            <a:ext cx="4877841" cy="45720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485775" y="2976562"/>
            <a:ext cx="6259688" cy="2857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800" b="1" i="0" u="none">
                <a:solidFill>
                  <a:srgbClr val="F8FAFC"/>
                </a:solidFill>
                <a:latin typeface="Plus Jakarta Sans"/>
              </a:rPr>
              <a:t>Topology Comparison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85775" y="3405187"/>
            <a:ext cx="5961608" cy="48577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912"/>
              </a:lnSpc>
            </a:pPr>
            <a:r>
              <a:rPr sz="1275" b="0" i="0" u="none">
                <a:solidFill>
                  <a:srgbClr val="94A3B8"/>
                </a:solidFill>
                <a:latin typeface="Inter"/>
              </a:rPr>
              <a:t>Visualizing the data and alert flows between central Singapore (SNG) and regional branches like Bangkok (BKK) and New Delhi (NDL).</a:t>
            </a:r>
          </a:p>
        </p:txBody>
      </p:sp>
      <p:pic>
        <p:nvPicPr>
          <p:cNvPr id="6" name="Picture 5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933158" y="1614487"/>
            <a:ext cx="4668291" cy="436245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485775" y="4033837"/>
            <a:ext cx="5961608" cy="242887"/>
          </a:xfrm>
          <a:prstGeom prst="rect">
            <a:avLst/>
          </a:prstGeom>
          <a:noFill/>
        </p:spPr>
        <p:txBody>
          <a:bodyPr wrap="square" lIns="238125" tIns="0" rIns="0" bIns="0" anchor="t">
            <a:spAutoFit/>
          </a:bodyPr>
          <a:lstStyle/>
          <a:p>
            <a:pPr algn="l">
              <a:lnSpc>
                <a:spcPts val="1912"/>
              </a:lnSpc>
            </a:pPr>
            <a:r>
              <a:rPr sz="1275" b="0" i="0" u="none">
                <a:solidFill>
                  <a:srgbClr val="94A3B8"/>
                </a:solidFill>
                <a:latin typeface="Inter"/>
              </a:rPr>
              <a:t>Option 1 relies on WAN links for all poll-to-alert cycles.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85775" y="4371975"/>
            <a:ext cx="5961608" cy="242887"/>
          </a:xfrm>
          <a:prstGeom prst="rect">
            <a:avLst/>
          </a:prstGeom>
          <a:noFill/>
        </p:spPr>
        <p:txBody>
          <a:bodyPr wrap="square" lIns="238125" tIns="0" rIns="0" bIns="0" anchor="t">
            <a:spAutoFit/>
          </a:bodyPr>
          <a:lstStyle/>
          <a:p>
            <a:pPr algn="l">
              <a:lnSpc>
                <a:spcPts val="1912"/>
              </a:lnSpc>
            </a:pPr>
            <a:r>
              <a:rPr sz="1275" b="0" i="0" u="none">
                <a:solidFill>
                  <a:srgbClr val="94A3B8"/>
                </a:solidFill>
                <a:latin typeface="Inter"/>
              </a:rPr>
              <a:t>Option 2 keeps polling localized in BKK, reducing WAN jitter impact.</a:t>
            </a:r>
          </a:p>
        </p:txBody>
      </p:sp>
      <p:pic>
        <p:nvPicPr>
          <p:cNvPr id="9" name="Picture 8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85775" y="4062412"/>
            <a:ext cx="161925" cy="161925"/>
          </a:xfrm>
          <a:prstGeom prst="rect">
            <a:avLst/>
          </a:prstGeom>
        </p:spPr>
      </p:pic>
      <p:pic>
        <p:nvPicPr>
          <p:cNvPr id="10" name="Picture 9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85775" y="4400550"/>
            <a:ext cx="161925" cy="161925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485775" y="485775"/>
            <a:ext cx="11706225" cy="44767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2850" b="1" i="0" u="none">
                <a:solidFill>
                  <a:srgbClr val="F8FAFC"/>
                </a:solidFill>
                <a:latin typeface="Plus Jakarta Sans"/>
              </a:rPr>
              <a:t>Architecture </a:t>
            </a:r>
            <a:r>
              <a:rPr sz="2850" b="1" i="0" u="none">
                <a:solidFill>
                  <a:srgbClr val="38BDF8"/>
                </a:solidFill>
                <a:latin typeface="Plus Jakarta Sans"/>
              </a:rPr>
              <a:t>Visual Reference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E293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5148262" y="2471737"/>
            <a:ext cx="1895475" cy="31432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ts val="2475"/>
              </a:lnSpc>
            </a:pPr>
            <a:r>
              <a:rPr sz="1650" b="0" i="0" u="none">
                <a:solidFill>
                  <a:srgbClr val="38BDF8"/>
                </a:solidFill>
                <a:latin typeface="Inter"/>
              </a:rPr>
              <a:t>Deep Dive Analysis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030491" y="2786062"/>
            <a:ext cx="8131016" cy="6286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3900" b="1" i="0" u="none">
                <a:solidFill>
                  <a:srgbClr val="F8FAFC"/>
                </a:solidFill>
                <a:latin typeface="Plus Jakarta Sans"/>
              </a:rPr>
              <a:t>Option 1: Centralized Monitoring</a:t>
            </a:r>
          </a:p>
        </p:txBody>
      </p:sp>
      <p:sp>
        <p:nvSpPr>
          <p:cNvPr id="5" name="Rectangle 4"/>
          <p:cNvSpPr/>
          <p:nvPr/>
        </p:nvSpPr>
        <p:spPr>
          <a:xfrm>
            <a:off x="5715000" y="3795712"/>
            <a:ext cx="762000" cy="38100"/>
          </a:xfrm>
          <a:prstGeom prst="rect">
            <a:avLst/>
          </a:prstGeom>
          <a:solidFill>
            <a:srgbClr val="38BD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1871662" y="4071937"/>
            <a:ext cx="8448675" cy="31432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ts val="2475"/>
              </a:lnSpc>
            </a:pPr>
            <a:r>
              <a:rPr sz="1650" b="0" i="0" u="none">
                <a:solidFill>
                  <a:srgbClr val="38BDF8"/>
                </a:solidFill>
                <a:latin typeface="Inter"/>
              </a:rPr>
              <a:t>Common SLW Orion setup with APE in SNG; all APAC branches sending alerts directly.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E293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85775" y="2019300"/>
            <a:ext cx="5467350" cy="3552825"/>
          </a:xfrm>
          <a:prstGeom prst="rect">
            <a:avLst/>
          </a:prstGeom>
        </p:spPr>
      </p:pic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238875" y="2019300"/>
            <a:ext cx="5467350" cy="3552825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1104900" y="2343150"/>
            <a:ext cx="4780597" cy="276225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650" b="1" i="0" u="none">
                <a:solidFill>
                  <a:srgbClr val="38BDF8"/>
                </a:solidFill>
                <a:latin typeface="Plus Jakarta Sans"/>
              </a:rPr>
              <a:t>Advantages (Pros)</a:t>
            </a:r>
          </a:p>
        </p:txBody>
      </p:sp>
      <p:sp>
        <p:nvSpPr>
          <p:cNvPr id="6" name="Rectangle 5"/>
          <p:cNvSpPr/>
          <p:nvPr/>
        </p:nvSpPr>
        <p:spPr>
          <a:xfrm>
            <a:off x="781050" y="2724150"/>
            <a:ext cx="4876800" cy="9525"/>
          </a:xfrm>
          <a:prstGeom prst="rect">
            <a:avLst/>
          </a:prstGeom>
          <a:solidFill>
            <a:srgbClr val="1E29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6858000" y="2343150"/>
            <a:ext cx="4780597" cy="276225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650" b="1" i="0" u="none">
                <a:solidFill>
                  <a:srgbClr val="38BDF8"/>
                </a:solidFill>
                <a:latin typeface="Plus Jakarta Sans"/>
              </a:rPr>
              <a:t>Disadvantages (Cons)</a:t>
            </a:r>
          </a:p>
        </p:txBody>
      </p:sp>
      <p:sp>
        <p:nvSpPr>
          <p:cNvPr id="8" name="Rectangle 7"/>
          <p:cNvSpPr/>
          <p:nvPr/>
        </p:nvSpPr>
        <p:spPr>
          <a:xfrm>
            <a:off x="6534150" y="2724150"/>
            <a:ext cx="4876800" cy="9525"/>
          </a:xfrm>
          <a:prstGeom prst="rect">
            <a:avLst/>
          </a:prstGeom>
          <a:solidFill>
            <a:srgbClr val="1E29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9" name="Picture 8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81050" y="2371725"/>
            <a:ext cx="209550" cy="209550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1009650" y="2876550"/>
            <a:ext cx="464820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800"/>
              </a:lnSpc>
            </a:pPr>
            <a:r>
              <a:rPr sz="1200" b="1" i="0" u="none">
                <a:solidFill>
                  <a:srgbClr val="CBD5E1"/>
                </a:solidFill>
                <a:latin typeface="Inter"/>
              </a:rPr>
              <a:t>Simplified Administration:</a:t>
            </a:r>
            <a:r>
              <a:rPr sz="1200" b="0" i="0" u="none">
                <a:solidFill>
                  <a:srgbClr val="CBD5E1"/>
                </a:solidFill>
                <a:latin typeface="Inter"/>
              </a:rPr>
              <a:t> Single central server and APE to patch, maintain, and upgrade.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09650" y="3448050"/>
            <a:ext cx="4648200" cy="6858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800"/>
              </a:lnSpc>
            </a:pPr>
            <a:r>
              <a:rPr sz="1200" b="1" i="0" u="none">
                <a:solidFill>
                  <a:srgbClr val="CBD5E1"/>
                </a:solidFill>
                <a:latin typeface="Inter"/>
              </a:rPr>
              <a:t>Lower Infrastructure Costs:</a:t>
            </a:r>
            <a:r>
              <a:rPr sz="1200" b="0" i="0" u="none">
                <a:solidFill>
                  <a:srgbClr val="CBD5E1"/>
                </a:solidFill>
                <a:latin typeface="Inter"/>
              </a:rPr>
              <a:t> No requirement for physical servers, OS licensing, or hardware maintenance at local branch offices.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09650" y="4248150"/>
            <a:ext cx="464820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800"/>
              </a:lnSpc>
            </a:pPr>
            <a:r>
              <a:rPr sz="1200" b="1" i="0" u="none">
                <a:solidFill>
                  <a:srgbClr val="CBD5E1"/>
                </a:solidFill>
                <a:latin typeface="Inter"/>
              </a:rPr>
              <a:t>Centralized Alerting Policies:</a:t>
            </a:r>
            <a:r>
              <a:rPr sz="1200" b="0" i="0" u="none">
                <a:solidFill>
                  <a:srgbClr val="CBD5E1"/>
                </a:solidFill>
                <a:latin typeface="Inter"/>
              </a:rPr>
              <a:t> Easier enforcement of unified notification workflows and global escalation rules.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09650" y="4819650"/>
            <a:ext cx="464820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800"/>
              </a:lnSpc>
            </a:pPr>
            <a:r>
              <a:rPr sz="1200" b="1" i="0" u="none">
                <a:solidFill>
                  <a:srgbClr val="CBD5E1"/>
                </a:solidFill>
                <a:latin typeface="Inter"/>
              </a:rPr>
              <a:t>Streamlined Access Control:</a:t>
            </a:r>
            <a:r>
              <a:rPr sz="1200" b="0" i="0" u="none">
                <a:solidFill>
                  <a:srgbClr val="CBD5E1"/>
                </a:solidFill>
                <a:latin typeface="Inter"/>
              </a:rPr>
              <a:t> Single source of truth for all engineering teams viewing regional dashboards.</a:t>
            </a:r>
          </a:p>
        </p:txBody>
      </p:sp>
      <p:pic>
        <p:nvPicPr>
          <p:cNvPr id="14" name="Picture 13" descr="imag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534150" y="2371725"/>
            <a:ext cx="209550" cy="209550"/>
          </a:xfrm>
          <a:prstGeom prst="rect">
            <a:avLst/>
          </a:prstGeom>
        </p:spPr>
      </p:pic>
      <p:sp>
        <p:nvSpPr>
          <p:cNvPr id="15" name="TextBox 14"/>
          <p:cNvSpPr txBox="1"/>
          <p:nvPr/>
        </p:nvSpPr>
        <p:spPr>
          <a:xfrm>
            <a:off x="6762750" y="2876550"/>
            <a:ext cx="464820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800"/>
              </a:lnSpc>
            </a:pPr>
            <a:r>
              <a:rPr sz="1200" b="1" i="0" u="none">
                <a:solidFill>
                  <a:srgbClr val="CBD5E1"/>
                </a:solidFill>
                <a:latin typeface="Inter"/>
              </a:rPr>
              <a:t>WAN Dependency:</a:t>
            </a:r>
            <a:r>
              <a:rPr sz="1200" b="0" i="0" u="none">
                <a:solidFill>
                  <a:srgbClr val="CBD5E1"/>
                </a:solidFill>
                <a:latin typeface="Inter"/>
              </a:rPr>
              <a:t> Highly vulnerable to cross-border WAN latency, packet loss, and intermittent link stability.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762750" y="3448050"/>
            <a:ext cx="464820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800"/>
              </a:lnSpc>
            </a:pPr>
            <a:r>
              <a:rPr sz="1200" b="1" i="0" u="none">
                <a:solidFill>
                  <a:srgbClr val="CBD5E1"/>
                </a:solidFill>
                <a:latin typeface="Inter"/>
              </a:rPr>
              <a:t>False Positives on Flapping:</a:t>
            </a:r>
            <a:r>
              <a:rPr sz="1200" b="0" i="0" u="none">
                <a:solidFill>
                  <a:srgbClr val="CBD5E1"/>
                </a:solidFill>
                <a:latin typeface="Inter"/>
              </a:rPr>
              <a:t> Brief WAN blips can trigger false critical alerts for BKK/NDL infrastructure.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762750" y="4019550"/>
            <a:ext cx="464820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800"/>
              </a:lnSpc>
            </a:pPr>
            <a:r>
              <a:rPr sz="1200" b="1" i="0" u="none">
                <a:solidFill>
                  <a:srgbClr val="CBD5E1"/>
                </a:solidFill>
                <a:latin typeface="Inter"/>
              </a:rPr>
              <a:t>High Bandwidth Consumption:</a:t>
            </a:r>
            <a:r>
              <a:rPr sz="1200" b="0" i="0" u="none">
                <a:solidFill>
                  <a:srgbClr val="CBD5E1"/>
                </a:solidFill>
                <a:latin typeface="Inter"/>
              </a:rPr>
              <a:t> Continuous polling traffic traversing international links to SNG.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81050" y="2876550"/>
            <a:ext cx="95250" cy="1905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500"/>
              </a:lnSpc>
            </a:pPr>
            <a:r>
              <a:rPr sz="1500" b="1" i="0" u="none">
                <a:solidFill>
                  <a:srgbClr val="38BDF8"/>
                </a:solidFill>
                <a:latin typeface="Inter"/>
              </a:rPr>
              <a:t>•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81050" y="3448050"/>
            <a:ext cx="95250" cy="1905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500"/>
              </a:lnSpc>
            </a:pPr>
            <a:r>
              <a:rPr sz="1500" b="1" i="0" u="none">
                <a:solidFill>
                  <a:srgbClr val="38BDF8"/>
                </a:solidFill>
                <a:latin typeface="Inter"/>
              </a:rPr>
              <a:t>•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81050" y="4248150"/>
            <a:ext cx="95250" cy="1905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500"/>
              </a:lnSpc>
            </a:pPr>
            <a:r>
              <a:rPr sz="1500" b="1" i="0" u="none">
                <a:solidFill>
                  <a:srgbClr val="38BDF8"/>
                </a:solidFill>
                <a:latin typeface="Inter"/>
              </a:rPr>
              <a:t>•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81050" y="4819650"/>
            <a:ext cx="95250" cy="1905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500"/>
              </a:lnSpc>
            </a:pPr>
            <a:r>
              <a:rPr sz="1500" b="1" i="0" u="none">
                <a:solidFill>
                  <a:srgbClr val="38BDF8"/>
                </a:solidFill>
                <a:latin typeface="Inter"/>
              </a:rPr>
              <a:t>•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534150" y="2876550"/>
            <a:ext cx="95250" cy="1905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500"/>
              </a:lnSpc>
            </a:pPr>
            <a:r>
              <a:rPr sz="1500" b="1" i="0" u="none">
                <a:solidFill>
                  <a:srgbClr val="38BDF8"/>
                </a:solidFill>
                <a:latin typeface="Inter"/>
              </a:rPr>
              <a:t>•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534150" y="3448050"/>
            <a:ext cx="95250" cy="1905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500"/>
              </a:lnSpc>
            </a:pPr>
            <a:r>
              <a:rPr sz="1500" b="1" i="0" u="none">
                <a:solidFill>
                  <a:srgbClr val="38BDF8"/>
                </a:solidFill>
                <a:latin typeface="Inter"/>
              </a:rPr>
              <a:t>•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534150" y="4019550"/>
            <a:ext cx="95250" cy="1905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500"/>
              </a:lnSpc>
            </a:pPr>
            <a:r>
              <a:rPr sz="1500" b="1" i="0" u="none">
                <a:solidFill>
                  <a:srgbClr val="38BDF8"/>
                </a:solidFill>
                <a:latin typeface="Inter"/>
              </a:rPr>
              <a:t>•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85775" y="485775"/>
            <a:ext cx="11706225" cy="44767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2850" b="1" i="0" u="none">
                <a:solidFill>
                  <a:srgbClr val="F8FAFC"/>
                </a:solidFill>
                <a:latin typeface="Plus Jakarta Sans"/>
              </a:rPr>
              <a:t>Option 1: </a:t>
            </a:r>
            <a:r>
              <a:rPr sz="2850" b="1" i="0" u="none">
                <a:solidFill>
                  <a:srgbClr val="38BDF8"/>
                </a:solidFill>
                <a:latin typeface="Plus Jakarta Sans"/>
              </a:rPr>
              <a:t>Pros &amp; Cons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E293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85775" y="2305050"/>
            <a:ext cx="5467350" cy="2981325"/>
          </a:xfrm>
          <a:prstGeom prst="rect">
            <a:avLst/>
          </a:prstGeom>
        </p:spPr>
      </p:pic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238875" y="2305050"/>
            <a:ext cx="5467350" cy="2981325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1104900" y="2628900"/>
            <a:ext cx="4780597" cy="276225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650" b="1" i="0" u="none">
                <a:solidFill>
                  <a:srgbClr val="38BDF8"/>
                </a:solidFill>
                <a:latin typeface="Plus Jakarta Sans"/>
              </a:rPr>
              <a:t>Identified Risks</a:t>
            </a:r>
          </a:p>
        </p:txBody>
      </p:sp>
      <p:sp>
        <p:nvSpPr>
          <p:cNvPr id="6" name="Rectangle 5"/>
          <p:cNvSpPr/>
          <p:nvPr/>
        </p:nvSpPr>
        <p:spPr>
          <a:xfrm>
            <a:off x="781050" y="3009900"/>
            <a:ext cx="4876800" cy="9525"/>
          </a:xfrm>
          <a:prstGeom prst="rect">
            <a:avLst/>
          </a:prstGeom>
          <a:solidFill>
            <a:srgbClr val="1E29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6858000" y="2628900"/>
            <a:ext cx="4780597" cy="276225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650" b="1" i="0" u="none">
                <a:solidFill>
                  <a:srgbClr val="38BDF8"/>
                </a:solidFill>
                <a:latin typeface="Plus Jakarta Sans"/>
              </a:rPr>
              <a:t>Mitigation Strategy</a:t>
            </a:r>
          </a:p>
        </p:txBody>
      </p:sp>
      <p:sp>
        <p:nvSpPr>
          <p:cNvPr id="8" name="Rectangle 7"/>
          <p:cNvSpPr/>
          <p:nvPr/>
        </p:nvSpPr>
        <p:spPr>
          <a:xfrm>
            <a:off x="6534150" y="3009900"/>
            <a:ext cx="4876800" cy="9525"/>
          </a:xfrm>
          <a:prstGeom prst="rect">
            <a:avLst/>
          </a:prstGeom>
          <a:solidFill>
            <a:srgbClr val="1E29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9" name="Picture 8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81050" y="2657475"/>
            <a:ext cx="209550" cy="209550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1009650" y="3162300"/>
            <a:ext cx="464820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800"/>
              </a:lnSpc>
            </a:pPr>
            <a:r>
              <a:rPr sz="1200" b="1" i="0" u="none">
                <a:solidFill>
                  <a:srgbClr val="CBD5E1"/>
                </a:solidFill>
                <a:latin typeface="Inter"/>
              </a:rPr>
              <a:t>WAN Outage Blind Spots:</a:t>
            </a:r>
            <a:r>
              <a:rPr sz="1200" b="0" i="0" u="none">
                <a:solidFill>
                  <a:srgbClr val="CBD5E1"/>
                </a:solidFill>
                <a:latin typeface="Inter"/>
              </a:rPr>
              <a:t> Complete loss of branch visibility if the international circuit drops.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09650" y="3733800"/>
            <a:ext cx="464820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800"/>
              </a:lnSpc>
            </a:pPr>
            <a:r>
              <a:rPr sz="1200" b="1" i="0" u="none">
                <a:solidFill>
                  <a:srgbClr val="CBD5E1"/>
                </a:solidFill>
                <a:latin typeface="Inter"/>
              </a:rPr>
              <a:t>Alert Flooding:</a:t>
            </a:r>
            <a:r>
              <a:rPr sz="1200" b="0" i="0" u="none">
                <a:solidFill>
                  <a:srgbClr val="CBD5E1"/>
                </a:solidFill>
                <a:latin typeface="Inter"/>
              </a:rPr>
              <a:t> Massive alert storms during regional carrier route flaps.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09650" y="4305300"/>
            <a:ext cx="464820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800"/>
              </a:lnSpc>
            </a:pPr>
            <a:r>
              <a:rPr sz="1200" b="1" i="0" u="none">
                <a:solidFill>
                  <a:srgbClr val="CBD5E1"/>
                </a:solidFill>
                <a:latin typeface="Inter"/>
              </a:rPr>
              <a:t>Polling Timeouts:</a:t>
            </a:r>
            <a:r>
              <a:rPr sz="1200" b="0" i="0" u="none">
                <a:solidFill>
                  <a:srgbClr val="CBD5E1"/>
                </a:solidFill>
                <a:latin typeface="Inter"/>
              </a:rPr>
              <a:t> High latency causing delayed metric collection and inaccurate threshold evaluations.</a:t>
            </a:r>
          </a:p>
        </p:txBody>
      </p:sp>
      <p:pic>
        <p:nvPicPr>
          <p:cNvPr id="13" name="Picture 12" descr="imag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534150" y="2657475"/>
            <a:ext cx="209550" cy="209550"/>
          </a:xfrm>
          <a:prstGeom prst="rect">
            <a:avLst/>
          </a:prstGeom>
        </p:spPr>
      </p:pic>
      <p:sp>
        <p:nvSpPr>
          <p:cNvPr id="14" name="TextBox 13"/>
          <p:cNvSpPr txBox="1"/>
          <p:nvPr/>
        </p:nvSpPr>
        <p:spPr>
          <a:xfrm>
            <a:off x="6762750" y="3162300"/>
            <a:ext cx="464820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800"/>
              </a:lnSpc>
            </a:pPr>
            <a:r>
              <a:rPr sz="1200" b="1" i="0" u="none">
                <a:solidFill>
                  <a:srgbClr val="CBD5E1"/>
                </a:solidFill>
                <a:latin typeface="Inter"/>
              </a:rPr>
              <a:t>Advanced Polling Settings:</a:t>
            </a:r>
            <a:r>
              <a:rPr sz="1200" b="0" i="0" u="none">
                <a:solidFill>
                  <a:srgbClr val="CBD5E1"/>
                </a:solidFill>
                <a:latin typeface="Inter"/>
              </a:rPr>
              <a:t> Increase polling intervals and warning thresholds to tolerate high-latency links.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762750" y="3733800"/>
            <a:ext cx="464820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800"/>
              </a:lnSpc>
            </a:pPr>
            <a:r>
              <a:rPr sz="1200" b="1" i="0" u="none">
                <a:solidFill>
                  <a:srgbClr val="CBD5E1"/>
                </a:solidFill>
                <a:latin typeface="Inter"/>
              </a:rPr>
              <a:t>Orion HA / Failover:</a:t>
            </a:r>
            <a:r>
              <a:rPr sz="1200" b="0" i="0" u="none">
                <a:solidFill>
                  <a:srgbClr val="CBD5E1"/>
                </a:solidFill>
                <a:latin typeface="Inter"/>
              </a:rPr>
              <a:t> Ensure redundant WAN paths (MPLS + Secure SD-WAN) connecting BKK and NDL to SNG.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762750" y="4305300"/>
            <a:ext cx="4648200" cy="6858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800"/>
              </a:lnSpc>
            </a:pPr>
            <a:r>
              <a:rPr sz="1200" b="1" i="0" u="none">
                <a:solidFill>
                  <a:srgbClr val="CBD5E1"/>
                </a:solidFill>
                <a:latin typeface="Inter"/>
              </a:rPr>
              <a:t>Dependency Mapping:</a:t>
            </a:r>
            <a:r>
              <a:rPr sz="1200" b="0" i="0" u="none">
                <a:solidFill>
                  <a:srgbClr val="CBD5E1"/>
                </a:solidFill>
                <a:latin typeface="Inter"/>
              </a:rPr>
              <a:t> Configure SolarWinds parent-child dependencies so WAN gateway failures suppress individual node alerts.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81050" y="3162300"/>
            <a:ext cx="95250" cy="1905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500"/>
              </a:lnSpc>
            </a:pPr>
            <a:r>
              <a:rPr sz="1500" b="1" i="0" u="none">
                <a:solidFill>
                  <a:srgbClr val="38BDF8"/>
                </a:solidFill>
                <a:latin typeface="Inter"/>
              </a:rPr>
              <a:t>•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81050" y="3733800"/>
            <a:ext cx="95250" cy="1905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500"/>
              </a:lnSpc>
            </a:pPr>
            <a:r>
              <a:rPr sz="1500" b="1" i="0" u="none">
                <a:solidFill>
                  <a:srgbClr val="38BDF8"/>
                </a:solidFill>
                <a:latin typeface="Inter"/>
              </a:rPr>
              <a:t>•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81050" y="4305300"/>
            <a:ext cx="95250" cy="1905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500"/>
              </a:lnSpc>
            </a:pPr>
            <a:r>
              <a:rPr sz="1500" b="1" i="0" u="none">
                <a:solidFill>
                  <a:srgbClr val="38BDF8"/>
                </a:solidFill>
                <a:latin typeface="Inter"/>
              </a:rPr>
              <a:t>•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534150" y="3162300"/>
            <a:ext cx="95250" cy="1905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500"/>
              </a:lnSpc>
            </a:pPr>
            <a:r>
              <a:rPr sz="1500" b="1" i="0" u="none">
                <a:solidFill>
                  <a:srgbClr val="38BDF8"/>
                </a:solidFill>
                <a:latin typeface="Inter"/>
              </a:rPr>
              <a:t>•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534150" y="3733800"/>
            <a:ext cx="95250" cy="1905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500"/>
              </a:lnSpc>
            </a:pPr>
            <a:r>
              <a:rPr sz="1500" b="1" i="0" u="none">
                <a:solidFill>
                  <a:srgbClr val="38BDF8"/>
                </a:solidFill>
                <a:latin typeface="Inter"/>
              </a:rPr>
              <a:t>•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534150" y="4305300"/>
            <a:ext cx="95250" cy="1905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500"/>
              </a:lnSpc>
            </a:pPr>
            <a:r>
              <a:rPr sz="1500" b="1" i="0" u="none">
                <a:solidFill>
                  <a:srgbClr val="38BDF8"/>
                </a:solidFill>
                <a:latin typeface="Inter"/>
              </a:rPr>
              <a:t>•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85775" y="485775"/>
            <a:ext cx="11706225" cy="44767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2850" b="1" i="0" u="none">
                <a:solidFill>
                  <a:srgbClr val="F8FAFC"/>
                </a:solidFill>
                <a:latin typeface="Plus Jakarta Sans"/>
              </a:rPr>
              <a:t>Option 1: </a:t>
            </a:r>
            <a:r>
              <a:rPr sz="2850" b="1" i="0" u="none">
                <a:solidFill>
                  <a:srgbClr val="38BDF8"/>
                </a:solidFill>
                <a:latin typeface="Plus Jakarta Sans"/>
              </a:rPr>
              <a:t>Risks &amp; Mitigation Plan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E293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5148262" y="2157412"/>
            <a:ext cx="1895475" cy="31432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ts val="2475"/>
              </a:lnSpc>
            </a:pPr>
            <a:r>
              <a:rPr sz="1650" b="0" i="0" u="none">
                <a:solidFill>
                  <a:srgbClr val="38BDF8"/>
                </a:solidFill>
                <a:latin typeface="Inter"/>
              </a:rPr>
              <a:t>Deep Dive Analysis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42887" y="2471737"/>
            <a:ext cx="11706225" cy="12573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3900" b="1" i="0" u="none">
                <a:solidFill>
                  <a:srgbClr val="F8FAFC"/>
                </a:solidFill>
                <a:latin typeface="Plus Jakarta Sans"/>
              </a:rPr>
              <a:t>Option 2: Distributed Monitoring with Local APE</a:t>
            </a:r>
          </a:p>
        </p:txBody>
      </p:sp>
      <p:sp>
        <p:nvSpPr>
          <p:cNvPr id="5" name="Rectangle 4"/>
          <p:cNvSpPr/>
          <p:nvPr/>
        </p:nvSpPr>
        <p:spPr>
          <a:xfrm>
            <a:off x="5715000" y="4110037"/>
            <a:ext cx="762000" cy="38100"/>
          </a:xfrm>
          <a:prstGeom prst="rect">
            <a:avLst/>
          </a:prstGeom>
          <a:solidFill>
            <a:srgbClr val="38BD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1809750" y="4386262"/>
            <a:ext cx="8572500" cy="31432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ts val="2475"/>
              </a:lnSpc>
            </a:pPr>
            <a:r>
              <a:rPr sz="1650" b="0" i="0" u="none">
                <a:solidFill>
                  <a:srgbClr val="38BDF8"/>
                </a:solidFill>
                <a:latin typeface="Inter"/>
              </a:rPr>
              <a:t>Central SNG Orion setup with a dedicated local APE setup in Bangkok forwarding alerts.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E293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85775" y="2133600"/>
            <a:ext cx="5467350" cy="3324225"/>
          </a:xfrm>
          <a:prstGeom prst="rect">
            <a:avLst/>
          </a:prstGeom>
        </p:spPr>
      </p:pic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238875" y="2133600"/>
            <a:ext cx="5467350" cy="3324225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1104900" y="2457450"/>
            <a:ext cx="4780597" cy="276225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650" b="1" i="0" u="none">
                <a:solidFill>
                  <a:srgbClr val="38BDF8"/>
                </a:solidFill>
                <a:latin typeface="Plus Jakarta Sans"/>
              </a:rPr>
              <a:t>Advantages (Pros)</a:t>
            </a:r>
          </a:p>
        </p:txBody>
      </p:sp>
      <p:sp>
        <p:nvSpPr>
          <p:cNvPr id="6" name="Rectangle 5"/>
          <p:cNvSpPr/>
          <p:nvPr/>
        </p:nvSpPr>
        <p:spPr>
          <a:xfrm>
            <a:off x="781050" y="2838450"/>
            <a:ext cx="4876800" cy="9525"/>
          </a:xfrm>
          <a:prstGeom prst="rect">
            <a:avLst/>
          </a:prstGeom>
          <a:solidFill>
            <a:srgbClr val="1E29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6858000" y="2457450"/>
            <a:ext cx="4780597" cy="276225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650" b="1" i="0" u="none">
                <a:solidFill>
                  <a:srgbClr val="38BDF8"/>
                </a:solidFill>
                <a:latin typeface="Plus Jakarta Sans"/>
              </a:rPr>
              <a:t>Disadvantages (Cons)</a:t>
            </a:r>
          </a:p>
        </p:txBody>
      </p:sp>
      <p:sp>
        <p:nvSpPr>
          <p:cNvPr id="8" name="Rectangle 7"/>
          <p:cNvSpPr/>
          <p:nvPr/>
        </p:nvSpPr>
        <p:spPr>
          <a:xfrm>
            <a:off x="6534150" y="2838450"/>
            <a:ext cx="4876800" cy="9525"/>
          </a:xfrm>
          <a:prstGeom prst="rect">
            <a:avLst/>
          </a:prstGeom>
          <a:solidFill>
            <a:srgbClr val="1E29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9" name="Picture 8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81050" y="2486025"/>
            <a:ext cx="209550" cy="209550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1009650" y="2990850"/>
            <a:ext cx="464820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800"/>
              </a:lnSpc>
            </a:pPr>
            <a:r>
              <a:rPr sz="1200" b="1" i="0" u="none">
                <a:solidFill>
                  <a:srgbClr val="CBD5E1"/>
                </a:solidFill>
                <a:latin typeface="Inter"/>
              </a:rPr>
              <a:t>WAN Resiliency &amp; Local Buffering:</a:t>
            </a:r>
            <a:r>
              <a:rPr sz="1200" b="0" i="0" u="none">
                <a:solidFill>
                  <a:srgbClr val="CBD5E1"/>
                </a:solidFill>
                <a:latin typeface="Inter"/>
              </a:rPr>
              <a:t> Local APE buffers polling data during WAN outages and syncs when restored.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09650" y="3562350"/>
            <a:ext cx="464820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800"/>
              </a:lnSpc>
            </a:pPr>
            <a:r>
              <a:rPr sz="1200" b="1" i="0" u="none">
                <a:solidFill>
                  <a:srgbClr val="CBD5E1"/>
                </a:solidFill>
                <a:latin typeface="Inter"/>
              </a:rPr>
              <a:t>Reduced False Alarms:</a:t>
            </a:r>
            <a:r>
              <a:rPr sz="1200" b="0" i="0" u="none">
                <a:solidFill>
                  <a:srgbClr val="CBD5E1"/>
                </a:solidFill>
                <a:latin typeface="Inter"/>
              </a:rPr>
              <a:t> Eliminates false positives caused by international network jitter between BKK and SNG.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09650" y="4133850"/>
            <a:ext cx="464820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800"/>
              </a:lnSpc>
            </a:pPr>
            <a:r>
              <a:rPr sz="1200" b="1" i="0" u="none">
                <a:solidFill>
                  <a:srgbClr val="CBD5E1"/>
                </a:solidFill>
                <a:latin typeface="Inter"/>
              </a:rPr>
              <a:t>Optimized Bandwidth:</a:t>
            </a:r>
            <a:r>
              <a:rPr sz="1200" b="0" i="0" u="none">
                <a:solidFill>
                  <a:srgbClr val="CBD5E1"/>
                </a:solidFill>
                <a:latin typeface="Inter"/>
              </a:rPr>
              <a:t> Raw polling stays local; only compressed telemetry and alert states traverse the WAN.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09650" y="4705350"/>
            <a:ext cx="464820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800"/>
              </a:lnSpc>
            </a:pPr>
            <a:r>
              <a:rPr sz="1200" b="1" i="0" u="none">
                <a:solidFill>
                  <a:srgbClr val="CBD5E1"/>
                </a:solidFill>
                <a:latin typeface="Inter"/>
              </a:rPr>
              <a:t>Accurate Metric Timing:</a:t>
            </a:r>
            <a:r>
              <a:rPr sz="1200" b="0" i="0" u="none">
                <a:solidFill>
                  <a:srgbClr val="CBD5E1"/>
                </a:solidFill>
                <a:latin typeface="Inter"/>
              </a:rPr>
              <a:t> Local polling engine ensures precise performance data collection for Bangkok assets.</a:t>
            </a:r>
          </a:p>
        </p:txBody>
      </p:sp>
      <p:pic>
        <p:nvPicPr>
          <p:cNvPr id="14" name="Picture 13" descr="imag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534150" y="2486025"/>
            <a:ext cx="209550" cy="209550"/>
          </a:xfrm>
          <a:prstGeom prst="rect">
            <a:avLst/>
          </a:prstGeom>
        </p:spPr>
      </p:pic>
      <p:sp>
        <p:nvSpPr>
          <p:cNvPr id="15" name="TextBox 14"/>
          <p:cNvSpPr txBox="1"/>
          <p:nvPr/>
        </p:nvSpPr>
        <p:spPr>
          <a:xfrm>
            <a:off x="6762750" y="2990850"/>
            <a:ext cx="464820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800"/>
              </a:lnSpc>
            </a:pPr>
            <a:r>
              <a:rPr sz="1200" b="1" i="0" u="none">
                <a:solidFill>
                  <a:srgbClr val="CBD5E1"/>
                </a:solidFill>
                <a:latin typeface="Inter"/>
              </a:rPr>
              <a:t>Higher Footprint &amp; Cost:</a:t>
            </a:r>
            <a:r>
              <a:rPr sz="1200" b="0" i="0" u="none">
                <a:solidFill>
                  <a:srgbClr val="CBD5E1"/>
                </a:solidFill>
                <a:latin typeface="Inter"/>
              </a:rPr>
              <a:t> Requires local hardware/VM hosting, OS licensing, and maintenance support in Bangkok.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762750" y="3562350"/>
            <a:ext cx="464820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800"/>
              </a:lnSpc>
            </a:pPr>
            <a:r>
              <a:rPr sz="1200" b="1" i="0" u="none">
                <a:solidFill>
                  <a:srgbClr val="CBD5E1"/>
                </a:solidFill>
                <a:latin typeface="Inter"/>
              </a:rPr>
              <a:t>Operational Complexity:</a:t>
            </a:r>
            <a:r>
              <a:rPr sz="1200" b="0" i="0" u="none">
                <a:solidFill>
                  <a:srgbClr val="CBD5E1"/>
                </a:solidFill>
                <a:latin typeface="Inter"/>
              </a:rPr>
              <a:t> Managing distributed software versions, patches, and local component health across borders.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762750" y="4133850"/>
            <a:ext cx="464820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800"/>
              </a:lnSpc>
            </a:pPr>
            <a:r>
              <a:rPr sz="1200" b="1" i="0" u="none">
                <a:solidFill>
                  <a:srgbClr val="CBD5E1"/>
                </a:solidFill>
                <a:latin typeface="Inter"/>
              </a:rPr>
              <a:t>Local Hands Dependency:</a:t>
            </a:r>
            <a:r>
              <a:rPr sz="1200" b="0" i="0" u="none">
                <a:solidFill>
                  <a:srgbClr val="CBD5E1"/>
                </a:solidFill>
                <a:latin typeface="Inter"/>
              </a:rPr>
              <a:t> Troubleshooting local APE host issues relies on on-site staff availability.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81050" y="2990850"/>
            <a:ext cx="95250" cy="1905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500"/>
              </a:lnSpc>
            </a:pPr>
            <a:r>
              <a:rPr sz="1500" b="1" i="0" u="none">
                <a:solidFill>
                  <a:srgbClr val="38BDF8"/>
                </a:solidFill>
                <a:latin typeface="Inter"/>
              </a:rPr>
              <a:t>•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81050" y="3562350"/>
            <a:ext cx="95250" cy="1905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500"/>
              </a:lnSpc>
            </a:pPr>
            <a:r>
              <a:rPr sz="1500" b="1" i="0" u="none">
                <a:solidFill>
                  <a:srgbClr val="38BDF8"/>
                </a:solidFill>
                <a:latin typeface="Inter"/>
              </a:rPr>
              <a:t>•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81050" y="4133850"/>
            <a:ext cx="95250" cy="1905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500"/>
              </a:lnSpc>
            </a:pPr>
            <a:r>
              <a:rPr sz="1500" b="1" i="0" u="none">
                <a:solidFill>
                  <a:srgbClr val="38BDF8"/>
                </a:solidFill>
                <a:latin typeface="Inter"/>
              </a:rPr>
              <a:t>•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81050" y="4705350"/>
            <a:ext cx="95250" cy="1905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500"/>
              </a:lnSpc>
            </a:pPr>
            <a:r>
              <a:rPr sz="1500" b="1" i="0" u="none">
                <a:solidFill>
                  <a:srgbClr val="38BDF8"/>
                </a:solidFill>
                <a:latin typeface="Inter"/>
              </a:rPr>
              <a:t>•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534150" y="2990850"/>
            <a:ext cx="95250" cy="1905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500"/>
              </a:lnSpc>
            </a:pPr>
            <a:r>
              <a:rPr sz="1500" b="1" i="0" u="none">
                <a:solidFill>
                  <a:srgbClr val="38BDF8"/>
                </a:solidFill>
                <a:latin typeface="Inter"/>
              </a:rPr>
              <a:t>•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534150" y="3562350"/>
            <a:ext cx="95250" cy="1905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500"/>
              </a:lnSpc>
            </a:pPr>
            <a:r>
              <a:rPr sz="1500" b="1" i="0" u="none">
                <a:solidFill>
                  <a:srgbClr val="38BDF8"/>
                </a:solidFill>
                <a:latin typeface="Inter"/>
              </a:rPr>
              <a:t>•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534150" y="4133850"/>
            <a:ext cx="95250" cy="1905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500"/>
              </a:lnSpc>
            </a:pPr>
            <a:r>
              <a:rPr sz="1500" b="1" i="0" u="none">
                <a:solidFill>
                  <a:srgbClr val="38BDF8"/>
                </a:solidFill>
                <a:latin typeface="Inter"/>
              </a:rPr>
              <a:t>•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85775" y="485775"/>
            <a:ext cx="11706225" cy="44767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2850" b="1" i="0" u="none">
                <a:solidFill>
                  <a:srgbClr val="F8FAFC"/>
                </a:solidFill>
                <a:latin typeface="Plus Jakarta Sans"/>
              </a:rPr>
              <a:t>Option 2: </a:t>
            </a:r>
            <a:r>
              <a:rPr sz="2850" b="1" i="0" u="none">
                <a:solidFill>
                  <a:srgbClr val="38BDF8"/>
                </a:solidFill>
                <a:latin typeface="Plus Jakarta Sans"/>
              </a:rPr>
              <a:t>Pros &amp; Cons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E293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85775" y="2190750"/>
            <a:ext cx="5467350" cy="3209925"/>
          </a:xfrm>
          <a:prstGeom prst="rect">
            <a:avLst/>
          </a:prstGeom>
        </p:spPr>
      </p:pic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238875" y="2190750"/>
            <a:ext cx="5467350" cy="3209925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1104900" y="2514600"/>
            <a:ext cx="4780597" cy="276225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650" b="1" i="0" u="none">
                <a:solidFill>
                  <a:srgbClr val="38BDF8"/>
                </a:solidFill>
                <a:latin typeface="Plus Jakarta Sans"/>
              </a:rPr>
              <a:t>Identified Risks</a:t>
            </a:r>
          </a:p>
        </p:txBody>
      </p:sp>
      <p:sp>
        <p:nvSpPr>
          <p:cNvPr id="6" name="Rectangle 5"/>
          <p:cNvSpPr/>
          <p:nvPr/>
        </p:nvSpPr>
        <p:spPr>
          <a:xfrm>
            <a:off x="781050" y="2895600"/>
            <a:ext cx="4876800" cy="9525"/>
          </a:xfrm>
          <a:prstGeom prst="rect">
            <a:avLst/>
          </a:prstGeom>
          <a:solidFill>
            <a:srgbClr val="1E29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6858000" y="2514600"/>
            <a:ext cx="4780597" cy="276225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650" b="1" i="0" u="none">
                <a:solidFill>
                  <a:srgbClr val="38BDF8"/>
                </a:solidFill>
                <a:latin typeface="Plus Jakarta Sans"/>
              </a:rPr>
              <a:t>Mitigation Strategy</a:t>
            </a:r>
          </a:p>
        </p:txBody>
      </p:sp>
      <p:sp>
        <p:nvSpPr>
          <p:cNvPr id="8" name="Rectangle 7"/>
          <p:cNvSpPr/>
          <p:nvPr/>
        </p:nvSpPr>
        <p:spPr>
          <a:xfrm>
            <a:off x="6534150" y="2895600"/>
            <a:ext cx="4876800" cy="9525"/>
          </a:xfrm>
          <a:prstGeom prst="rect">
            <a:avLst/>
          </a:prstGeom>
          <a:solidFill>
            <a:srgbClr val="1E29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9" name="Picture 8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81050" y="2543175"/>
            <a:ext cx="209550" cy="209550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1009650" y="3048000"/>
            <a:ext cx="464820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800"/>
              </a:lnSpc>
            </a:pPr>
            <a:r>
              <a:rPr sz="1200" b="1" i="0" u="none">
                <a:solidFill>
                  <a:srgbClr val="CBD5E1"/>
                </a:solidFill>
                <a:latin typeface="Inter"/>
              </a:rPr>
              <a:t>APE Service Failure:</a:t>
            </a:r>
            <a:r>
              <a:rPr sz="1200" b="0" i="0" u="none">
                <a:solidFill>
                  <a:srgbClr val="CBD5E1"/>
                </a:solidFill>
                <a:latin typeface="Inter"/>
              </a:rPr>
              <a:t> Undetected crashes of the local BKK APE causing prolonged local monitoring blind spots.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09650" y="3619500"/>
            <a:ext cx="464820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800"/>
              </a:lnSpc>
            </a:pPr>
            <a:r>
              <a:rPr sz="1200" b="1" i="0" u="none">
                <a:solidFill>
                  <a:srgbClr val="CBD5E1"/>
                </a:solidFill>
                <a:latin typeface="Inter"/>
              </a:rPr>
              <a:t>Database Synchronization Lag:</a:t>
            </a:r>
            <a:r>
              <a:rPr sz="1200" b="0" i="0" u="none">
                <a:solidFill>
                  <a:srgbClr val="CBD5E1"/>
                </a:solidFill>
                <a:latin typeface="Inter"/>
              </a:rPr>
              <a:t> Queue backups and conflicts when WAN link restores after a lengthy outage.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09650" y="4191000"/>
            <a:ext cx="464820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800"/>
              </a:lnSpc>
            </a:pPr>
            <a:r>
              <a:rPr sz="1200" b="1" i="0" u="none">
                <a:solidFill>
                  <a:srgbClr val="F59E0B"/>
                </a:solidFill>
                <a:latin typeface="Inter"/>
              </a:rPr>
              <a:t>Local Resource Constraints:</a:t>
            </a:r>
            <a:r>
              <a:rPr sz="1200" b="0" i="0" u="none">
                <a:solidFill>
                  <a:srgbClr val="CBD5E1"/>
                </a:solidFill>
                <a:latin typeface="Inter"/>
              </a:rPr>
              <a:t> Inadequate sizing of the BKK server host leading to polling bottlenecks.</a:t>
            </a:r>
          </a:p>
        </p:txBody>
      </p:sp>
      <p:pic>
        <p:nvPicPr>
          <p:cNvPr id="13" name="Picture 12" descr="imag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534150" y="2543175"/>
            <a:ext cx="209550" cy="209550"/>
          </a:xfrm>
          <a:prstGeom prst="rect">
            <a:avLst/>
          </a:prstGeom>
        </p:spPr>
      </p:pic>
      <p:sp>
        <p:nvSpPr>
          <p:cNvPr id="14" name="TextBox 13"/>
          <p:cNvSpPr txBox="1"/>
          <p:nvPr/>
        </p:nvSpPr>
        <p:spPr>
          <a:xfrm>
            <a:off x="6762750" y="3048000"/>
            <a:ext cx="4648200" cy="6858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800"/>
              </a:lnSpc>
            </a:pPr>
            <a:r>
              <a:rPr sz="1200" b="1" i="0" u="none">
                <a:solidFill>
                  <a:srgbClr val="CBD5E1"/>
                </a:solidFill>
                <a:latin typeface="Inter"/>
              </a:rPr>
              <a:t>Self-Monitoring Alerts:</a:t>
            </a:r>
            <a:r>
              <a:rPr sz="1200" b="0" i="0" u="none">
                <a:solidFill>
                  <a:srgbClr val="CBD5E1"/>
                </a:solidFill>
                <a:latin typeface="Inter"/>
              </a:rPr>
              <a:t> Set up synthetic heartbeat monitors on the central SNG server to alert immediately if BKK APE stops checking in.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762750" y="3848100"/>
            <a:ext cx="4648200" cy="6858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800"/>
              </a:lnSpc>
            </a:pPr>
            <a:r>
              <a:rPr sz="1200" b="1" i="0" u="none">
                <a:solidFill>
                  <a:srgbClr val="CBD5E1"/>
                </a:solidFill>
                <a:latin typeface="Inter"/>
              </a:rPr>
              <a:t>Standardized Deployment:</a:t>
            </a:r>
            <a:r>
              <a:rPr sz="1200" b="0" i="0" u="none">
                <a:solidFill>
                  <a:srgbClr val="CBD5E1"/>
                </a:solidFill>
                <a:latin typeface="Inter"/>
              </a:rPr>
              <a:t> Use automated configuration templates and pre-built VM images to simplify remote APE maintenance.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762750" y="4648200"/>
            <a:ext cx="464820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800"/>
              </a:lnSpc>
            </a:pPr>
            <a:r>
              <a:rPr sz="1200" b="1" i="0" u="none">
                <a:solidFill>
                  <a:srgbClr val="CBD5E1"/>
                </a:solidFill>
                <a:latin typeface="Inter"/>
              </a:rPr>
              <a:t>Queue Tuning:</a:t>
            </a:r>
            <a:r>
              <a:rPr sz="1200" b="0" i="0" u="none">
                <a:solidFill>
                  <a:srgbClr val="CBD5E1"/>
                </a:solidFill>
                <a:latin typeface="Inter"/>
              </a:rPr>
              <a:t> Configure appropriate buffer thresholds and storage allocation on the local APE node.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81050" y="3048000"/>
            <a:ext cx="95250" cy="1905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500"/>
              </a:lnSpc>
            </a:pPr>
            <a:r>
              <a:rPr sz="1500" b="1" i="0" u="none">
                <a:solidFill>
                  <a:srgbClr val="38BDF8"/>
                </a:solidFill>
                <a:latin typeface="Inter"/>
              </a:rPr>
              <a:t>•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81050" y="3619500"/>
            <a:ext cx="95250" cy="1905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500"/>
              </a:lnSpc>
            </a:pPr>
            <a:r>
              <a:rPr sz="1500" b="1" i="0" u="none">
                <a:solidFill>
                  <a:srgbClr val="38BDF8"/>
                </a:solidFill>
                <a:latin typeface="Inter"/>
              </a:rPr>
              <a:t>•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81050" y="4191000"/>
            <a:ext cx="95250" cy="1905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500"/>
              </a:lnSpc>
            </a:pPr>
            <a:r>
              <a:rPr sz="1500" b="1" i="0" u="none">
                <a:solidFill>
                  <a:srgbClr val="38BDF8"/>
                </a:solidFill>
                <a:latin typeface="Inter"/>
              </a:rPr>
              <a:t>•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534150" y="3048000"/>
            <a:ext cx="95250" cy="1905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500"/>
              </a:lnSpc>
            </a:pPr>
            <a:r>
              <a:rPr sz="1500" b="1" i="0" u="none">
                <a:solidFill>
                  <a:srgbClr val="38BDF8"/>
                </a:solidFill>
                <a:latin typeface="Inter"/>
              </a:rPr>
              <a:t>•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534150" y="3848100"/>
            <a:ext cx="95250" cy="1905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500"/>
              </a:lnSpc>
            </a:pPr>
            <a:r>
              <a:rPr sz="1500" b="1" i="0" u="none">
                <a:solidFill>
                  <a:srgbClr val="38BDF8"/>
                </a:solidFill>
                <a:latin typeface="Inter"/>
              </a:rPr>
              <a:t>•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534150" y="4648200"/>
            <a:ext cx="95250" cy="1905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500"/>
              </a:lnSpc>
            </a:pPr>
            <a:r>
              <a:rPr sz="1500" b="1" i="0" u="none">
                <a:solidFill>
                  <a:srgbClr val="38BDF8"/>
                </a:solidFill>
                <a:latin typeface="Inter"/>
              </a:rPr>
              <a:t>•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85775" y="485775"/>
            <a:ext cx="11706225" cy="44767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2850" b="1" i="0" u="none">
                <a:solidFill>
                  <a:srgbClr val="F8FAFC"/>
                </a:solidFill>
                <a:latin typeface="Plus Jakarta Sans"/>
              </a:rPr>
              <a:t>Option 2: </a:t>
            </a:r>
            <a:r>
              <a:rPr sz="2850" b="1" i="0" u="none">
                <a:solidFill>
                  <a:srgbClr val="38BDF8"/>
                </a:solidFill>
                <a:latin typeface="Plus Jakarta Sans"/>
              </a:rPr>
              <a:t>Risks &amp; Mitigation Plan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E293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Rounded Rectangle 2"/>
          <p:cNvSpPr/>
          <p:nvPr/>
        </p:nvSpPr>
        <p:spPr>
          <a:xfrm>
            <a:off x="485775" y="2462212"/>
            <a:ext cx="11220450" cy="2667000"/>
          </a:xfrm>
          <a:prstGeom prst="roundRect">
            <a:avLst>
              <a:gd name="adj" fmla="val 0"/>
            </a:avLst>
          </a:prstGeom>
          <a:solidFill>
            <a:srgbClr val="0F172A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485775" y="2462212"/>
          <a:ext cx="11210924" cy="2667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72474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000351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4485828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533400">
                <a:tc>
                  <a:txBody>
                    <a:bodyPr/>
                    <a:lstStyle/>
                    <a:p>
                      <a:pPr algn="l"/>
                      <a:r>
                        <a:rPr sz="1200" b="0" i="0" u="none">
                          <a:solidFill>
                            <a:srgbClr val="F8FAFC"/>
                          </a:solidFill>
                          <a:latin typeface="Plus Jakarta Sans SemiBold"/>
                        </a:rPr>
                        <a:t>Evaluation Criteria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111827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 i="0" u="none">
                          <a:solidFill>
                            <a:srgbClr val="F8FAFC"/>
                          </a:solidFill>
                          <a:latin typeface="Plus Jakarta Sans SemiBold"/>
                        </a:rPr>
                        <a:t>Option 1 (Centralized SNG APE)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111827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 i="0" u="none">
                          <a:solidFill>
                            <a:srgbClr val="F8FAFC"/>
                          </a:solidFill>
                          <a:latin typeface="Plus Jakarta Sans SemiBold"/>
                        </a:rPr>
                        <a:t>Option 2 (Distributed with Local BKK APE)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11182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33400">
                <a:tc>
                  <a:txBody>
                    <a:bodyPr/>
                    <a:lstStyle/>
                    <a:p>
                      <a:pPr algn="l"/>
                      <a:r>
                        <a:rPr sz="1125" b="1" i="0" u="none">
                          <a:solidFill>
                            <a:srgbClr val="CBD5E1"/>
                          </a:solidFill>
                          <a:latin typeface="Inter"/>
                        </a:rPr>
                        <a:t>Initial Setup Cost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25" b="0" i="0" u="none">
                          <a:solidFill>
                            <a:srgbClr val="10B981"/>
                          </a:solidFill>
                          <a:latin typeface="Inter SemiBold"/>
                        </a:rPr>
                        <a:t>Low</a:t>
                      </a:r>
                      <a:r>
                        <a:rPr sz="1125" b="0" i="0" u="none">
                          <a:solidFill>
                            <a:srgbClr val="CBD5E1"/>
                          </a:solidFill>
                          <a:latin typeface="Inter"/>
                        </a:rPr>
                        <a:t> (No local branch hardware needed)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25" b="0" i="0" u="none">
                          <a:solidFill>
                            <a:srgbClr val="F59E0B"/>
                          </a:solidFill>
                          <a:latin typeface="Inter SemiBold"/>
                        </a:rPr>
                        <a:t>Medium</a:t>
                      </a:r>
                      <a:r>
                        <a:rPr sz="1125" b="0" i="0" u="none">
                          <a:solidFill>
                            <a:srgbClr val="CBD5E1"/>
                          </a:solidFill>
                          <a:latin typeface="Inter"/>
                        </a:rPr>
                        <a:t> (Requires local VM/server)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33400">
                <a:tc>
                  <a:txBody>
                    <a:bodyPr/>
                    <a:lstStyle/>
                    <a:p>
                      <a:pPr algn="l"/>
                      <a:r>
                        <a:rPr sz="1125" b="1" i="0" u="none">
                          <a:solidFill>
                            <a:srgbClr val="CBD5E1"/>
                          </a:solidFill>
                          <a:latin typeface="Inter"/>
                        </a:rPr>
                        <a:t>WAN Reliability Impact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25" b="0" i="0" u="none">
                          <a:solidFill>
                            <a:srgbClr val="EF4444"/>
                          </a:solidFill>
                          <a:latin typeface="Inter SemiBold"/>
                        </a:rPr>
                        <a:t>High</a:t>
                      </a:r>
                      <a:r>
                        <a:rPr sz="1125" b="0" i="0" u="none">
                          <a:solidFill>
                            <a:srgbClr val="CBD5E1"/>
                          </a:solidFill>
                          <a:latin typeface="Inter"/>
                        </a:rPr>
                        <a:t> (Direct dependency on link stability)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25" b="0" i="0" u="none">
                          <a:solidFill>
                            <a:srgbClr val="10B981"/>
                          </a:solidFill>
                          <a:latin typeface="Inter SemiBold"/>
                        </a:rPr>
                        <a:t>Low</a:t>
                      </a:r>
                      <a:r>
                        <a:rPr sz="1125" b="0" i="0" u="none">
                          <a:solidFill>
                            <a:srgbClr val="CBD5E1"/>
                          </a:solidFill>
                          <a:latin typeface="Inter"/>
                        </a:rPr>
                        <a:t> (Local polling continues during outage)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33400">
                <a:tc>
                  <a:txBody>
                    <a:bodyPr/>
                    <a:lstStyle/>
                    <a:p>
                      <a:pPr algn="l"/>
                      <a:r>
                        <a:rPr sz="1125" b="1" i="0" u="none">
                          <a:solidFill>
                            <a:srgbClr val="CBD5E1"/>
                          </a:solidFill>
                          <a:latin typeface="Inter"/>
                        </a:rPr>
                        <a:t>Operational Overhead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25" b="0" i="0" u="none">
                          <a:solidFill>
                            <a:srgbClr val="10B981"/>
                          </a:solidFill>
                          <a:latin typeface="Inter SemiBold"/>
                        </a:rPr>
                        <a:t>Minimal</a:t>
                      </a:r>
                      <a:r>
                        <a:rPr sz="1125" b="0" i="0" u="none">
                          <a:solidFill>
                            <a:srgbClr val="CBD5E1"/>
                          </a:solidFill>
                          <a:latin typeface="Inter"/>
                        </a:rPr>
                        <a:t> (Single point of maintenance)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25" b="0" i="0" u="none">
                          <a:solidFill>
                            <a:srgbClr val="F59E0B"/>
                          </a:solidFill>
                          <a:latin typeface="Inter SemiBold"/>
                        </a:rPr>
                        <a:t>Moderate</a:t>
                      </a:r>
                      <a:r>
                        <a:rPr sz="1125" b="0" i="0" u="none">
                          <a:solidFill>
                            <a:srgbClr val="CBD5E1"/>
                          </a:solidFill>
                          <a:latin typeface="Inter"/>
                        </a:rPr>
                        <a:t> (Multi-site component management)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533400">
                <a:tc>
                  <a:txBody>
                    <a:bodyPr/>
                    <a:lstStyle/>
                    <a:p>
                      <a:pPr algn="l"/>
                      <a:r>
                        <a:rPr sz="1125" b="1" i="0" u="none">
                          <a:solidFill>
                            <a:srgbClr val="CBD5E1"/>
                          </a:solidFill>
                          <a:latin typeface="Inter"/>
                        </a:rPr>
                        <a:t>Data Integrity &amp; Accuracy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25" b="0" i="0" u="none">
                          <a:solidFill>
                            <a:srgbClr val="F59E0B"/>
                          </a:solidFill>
                          <a:latin typeface="Inter SemiBold"/>
                        </a:rPr>
                        <a:t>Vulnerable</a:t>
                      </a:r>
                      <a:r>
                        <a:rPr sz="1125" b="0" i="0" u="none">
                          <a:solidFill>
                            <a:srgbClr val="CBD5E1"/>
                          </a:solidFill>
                          <a:latin typeface="Inter"/>
                        </a:rPr>
                        <a:t> to jitter and latency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25" b="0" i="0" u="none">
                          <a:solidFill>
                            <a:srgbClr val="10B981"/>
                          </a:solidFill>
                          <a:latin typeface="Inter SemiBold"/>
                        </a:rPr>
                        <a:t>High</a:t>
                      </a:r>
                      <a:r>
                        <a:rPr sz="1125" b="0" i="0" u="none">
                          <a:solidFill>
                            <a:srgbClr val="CBD5E1"/>
                          </a:solidFill>
                          <a:latin typeface="Inter"/>
                        </a:rPr>
                        <a:t> (Local polling removes WAN delay)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5" name="Rectangle 4"/>
          <p:cNvSpPr/>
          <p:nvPr/>
        </p:nvSpPr>
        <p:spPr>
          <a:xfrm>
            <a:off x="490537" y="3000375"/>
            <a:ext cx="2724745" cy="9525"/>
          </a:xfrm>
          <a:prstGeom prst="rect">
            <a:avLst/>
          </a:prstGeom>
          <a:solidFill>
            <a:srgbClr val="3341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ectangle 5"/>
          <p:cNvSpPr/>
          <p:nvPr/>
        </p:nvSpPr>
        <p:spPr>
          <a:xfrm>
            <a:off x="3215282" y="3000375"/>
            <a:ext cx="4000351" cy="9525"/>
          </a:xfrm>
          <a:prstGeom prst="rect">
            <a:avLst/>
          </a:prstGeom>
          <a:solidFill>
            <a:srgbClr val="3341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ectangle 6"/>
          <p:cNvSpPr/>
          <p:nvPr/>
        </p:nvSpPr>
        <p:spPr>
          <a:xfrm>
            <a:off x="7215633" y="3000375"/>
            <a:ext cx="4485828" cy="9525"/>
          </a:xfrm>
          <a:prstGeom prst="rect">
            <a:avLst/>
          </a:prstGeom>
          <a:solidFill>
            <a:srgbClr val="3341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ectangle 7"/>
          <p:cNvSpPr/>
          <p:nvPr/>
        </p:nvSpPr>
        <p:spPr>
          <a:xfrm>
            <a:off x="490537" y="3529012"/>
            <a:ext cx="2724745" cy="9525"/>
          </a:xfrm>
          <a:prstGeom prst="rect">
            <a:avLst/>
          </a:prstGeom>
          <a:solidFill>
            <a:srgbClr val="3341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ectangle 8"/>
          <p:cNvSpPr/>
          <p:nvPr/>
        </p:nvSpPr>
        <p:spPr>
          <a:xfrm>
            <a:off x="3215282" y="3529012"/>
            <a:ext cx="4000351" cy="9525"/>
          </a:xfrm>
          <a:prstGeom prst="rect">
            <a:avLst/>
          </a:prstGeom>
          <a:solidFill>
            <a:srgbClr val="3341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ectangle 9"/>
          <p:cNvSpPr/>
          <p:nvPr/>
        </p:nvSpPr>
        <p:spPr>
          <a:xfrm>
            <a:off x="7215633" y="3529012"/>
            <a:ext cx="4485828" cy="9525"/>
          </a:xfrm>
          <a:prstGeom prst="rect">
            <a:avLst/>
          </a:prstGeom>
          <a:solidFill>
            <a:srgbClr val="3341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ectangle 10"/>
          <p:cNvSpPr/>
          <p:nvPr/>
        </p:nvSpPr>
        <p:spPr>
          <a:xfrm>
            <a:off x="490537" y="4057650"/>
            <a:ext cx="2724745" cy="9525"/>
          </a:xfrm>
          <a:prstGeom prst="rect">
            <a:avLst/>
          </a:prstGeom>
          <a:solidFill>
            <a:srgbClr val="3341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Rectangle 11"/>
          <p:cNvSpPr/>
          <p:nvPr/>
        </p:nvSpPr>
        <p:spPr>
          <a:xfrm>
            <a:off x="3215282" y="4057650"/>
            <a:ext cx="4000351" cy="9525"/>
          </a:xfrm>
          <a:prstGeom prst="rect">
            <a:avLst/>
          </a:prstGeom>
          <a:solidFill>
            <a:srgbClr val="3341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Rectangle 12"/>
          <p:cNvSpPr/>
          <p:nvPr/>
        </p:nvSpPr>
        <p:spPr>
          <a:xfrm>
            <a:off x="7215633" y="4057650"/>
            <a:ext cx="4485828" cy="9525"/>
          </a:xfrm>
          <a:prstGeom prst="rect">
            <a:avLst/>
          </a:prstGeom>
          <a:solidFill>
            <a:srgbClr val="3341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Rectangle 13"/>
          <p:cNvSpPr/>
          <p:nvPr/>
        </p:nvSpPr>
        <p:spPr>
          <a:xfrm>
            <a:off x="490537" y="4586287"/>
            <a:ext cx="2724745" cy="9525"/>
          </a:xfrm>
          <a:prstGeom prst="rect">
            <a:avLst/>
          </a:prstGeom>
          <a:solidFill>
            <a:srgbClr val="3341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Rectangle 14"/>
          <p:cNvSpPr/>
          <p:nvPr/>
        </p:nvSpPr>
        <p:spPr>
          <a:xfrm>
            <a:off x="3215282" y="4586287"/>
            <a:ext cx="4000351" cy="9525"/>
          </a:xfrm>
          <a:prstGeom prst="rect">
            <a:avLst/>
          </a:prstGeom>
          <a:solidFill>
            <a:srgbClr val="3341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Rectangle 15"/>
          <p:cNvSpPr/>
          <p:nvPr/>
        </p:nvSpPr>
        <p:spPr>
          <a:xfrm>
            <a:off x="7215633" y="4586287"/>
            <a:ext cx="4485828" cy="9525"/>
          </a:xfrm>
          <a:prstGeom prst="rect">
            <a:avLst/>
          </a:prstGeom>
          <a:solidFill>
            <a:srgbClr val="3341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485775" y="485775"/>
            <a:ext cx="11706225" cy="44767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2850" b="1" i="0" u="none">
                <a:solidFill>
                  <a:srgbClr val="F8FAFC"/>
                </a:solidFill>
                <a:latin typeface="Plus Jakarta Sans"/>
              </a:rPr>
              <a:t>Comparative </a:t>
            </a:r>
            <a:r>
              <a:rPr sz="2850" b="1" i="0" u="none">
                <a:solidFill>
                  <a:srgbClr val="38BDF8"/>
                </a:solidFill>
                <a:latin typeface="Plus Jakarta Sans"/>
              </a:rPr>
              <a:t>Evaluation Matrix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E293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85775" y="2693193"/>
            <a:ext cx="2662237" cy="2205037"/>
          </a:xfrm>
          <a:prstGeom prst="rect">
            <a:avLst/>
          </a:prstGeom>
        </p:spPr>
      </p:pic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338512" y="2693193"/>
            <a:ext cx="2662237" cy="2205037"/>
          </a:xfrm>
          <a:prstGeom prst="rect">
            <a:avLst/>
          </a:prstGeom>
        </p:spPr>
      </p:pic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191250" y="2693193"/>
            <a:ext cx="2662237" cy="2205037"/>
          </a:xfrm>
          <a:prstGeom prst="rect">
            <a:avLst/>
          </a:prstGeom>
        </p:spPr>
      </p:pic>
      <p:pic>
        <p:nvPicPr>
          <p:cNvPr id="6" name="Picture 5" descr="imag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9043987" y="2693193"/>
            <a:ext cx="2662237" cy="2205037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971550" y="2931318"/>
            <a:ext cx="2035254" cy="2286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350" b="1" i="0" u="none">
                <a:solidFill>
                  <a:srgbClr val="F8FAFC"/>
                </a:solidFill>
                <a:latin typeface="Plus Jakarta Sans"/>
              </a:rPr>
              <a:t>Recommended Choice</a:t>
            </a:r>
          </a:p>
        </p:txBody>
      </p:sp>
      <p:sp>
        <p:nvSpPr>
          <p:cNvPr id="8" name="Rectangle 7"/>
          <p:cNvSpPr/>
          <p:nvPr/>
        </p:nvSpPr>
        <p:spPr>
          <a:xfrm>
            <a:off x="723900" y="3245643"/>
            <a:ext cx="2185987" cy="9525"/>
          </a:xfrm>
          <a:prstGeom prst="rect">
            <a:avLst/>
          </a:prstGeom>
          <a:solidFill>
            <a:srgbClr val="1E29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3890962" y="2931318"/>
            <a:ext cx="1965245" cy="447675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350" b="1" i="0" u="none">
                <a:solidFill>
                  <a:srgbClr val="F8FAFC"/>
                </a:solidFill>
                <a:latin typeface="Plus Jakarta Sans"/>
              </a:rPr>
              <a:t>Hybrid Hybrid Approach</a:t>
            </a:r>
          </a:p>
        </p:txBody>
      </p:sp>
      <p:sp>
        <p:nvSpPr>
          <p:cNvPr id="10" name="Rectangle 9"/>
          <p:cNvSpPr/>
          <p:nvPr/>
        </p:nvSpPr>
        <p:spPr>
          <a:xfrm>
            <a:off x="3576637" y="3464718"/>
            <a:ext cx="2185987" cy="9525"/>
          </a:xfrm>
          <a:prstGeom prst="rect">
            <a:avLst/>
          </a:prstGeom>
          <a:solidFill>
            <a:srgbClr val="1E29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6696075" y="2931318"/>
            <a:ext cx="2015251" cy="2286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350" b="1" i="0" u="none">
                <a:solidFill>
                  <a:srgbClr val="F8FAFC"/>
                </a:solidFill>
                <a:latin typeface="Plus Jakarta Sans"/>
              </a:rPr>
              <a:t>Tuning &amp; Rules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429375" y="3245643"/>
            <a:ext cx="2185987" cy="9525"/>
          </a:xfrm>
          <a:prstGeom prst="rect">
            <a:avLst/>
          </a:prstGeom>
          <a:solidFill>
            <a:srgbClr val="1E29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9529762" y="2931318"/>
            <a:ext cx="2035254" cy="2286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350" b="1" i="0" u="none">
                <a:solidFill>
                  <a:srgbClr val="F8FAFC"/>
                </a:solidFill>
                <a:latin typeface="Plus Jakarta Sans"/>
              </a:rPr>
              <a:t>Implementation</a:t>
            </a:r>
          </a:p>
        </p:txBody>
      </p:sp>
      <p:sp>
        <p:nvSpPr>
          <p:cNvPr id="14" name="Rectangle 13"/>
          <p:cNvSpPr/>
          <p:nvPr/>
        </p:nvSpPr>
        <p:spPr>
          <a:xfrm>
            <a:off x="9282112" y="3245643"/>
            <a:ext cx="2185987" cy="9525"/>
          </a:xfrm>
          <a:prstGeom prst="rect">
            <a:avLst/>
          </a:prstGeom>
          <a:solidFill>
            <a:srgbClr val="1E29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15" name="Picture 14" descr="image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723900" y="2955131"/>
            <a:ext cx="152400" cy="171450"/>
          </a:xfrm>
          <a:prstGeom prst="rect">
            <a:avLst/>
          </a:prstGeom>
        </p:spPr>
      </p:pic>
      <p:sp>
        <p:nvSpPr>
          <p:cNvPr id="16" name="TextBox 15"/>
          <p:cNvSpPr txBox="1"/>
          <p:nvPr/>
        </p:nvSpPr>
        <p:spPr>
          <a:xfrm>
            <a:off x="895350" y="3369468"/>
            <a:ext cx="2014537" cy="8572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687"/>
              </a:lnSpc>
            </a:pPr>
            <a:r>
              <a:rPr sz="1125" b="1" i="0" u="none">
                <a:solidFill>
                  <a:srgbClr val="CBD5E1"/>
                </a:solidFill>
                <a:latin typeface="Inter"/>
              </a:rPr>
              <a:t>Option 2</a:t>
            </a:r>
            <a:r>
              <a:rPr sz="1125" b="0" i="0" u="none">
                <a:solidFill>
                  <a:srgbClr val="CBD5E1"/>
                </a:solidFill>
                <a:latin typeface="Inter"/>
              </a:rPr>
              <a:t> is recommended for mission-critical branch operations in Bangkok due to WAN resilience.</a:t>
            </a:r>
          </a:p>
        </p:txBody>
      </p:sp>
      <p:pic>
        <p:nvPicPr>
          <p:cNvPr id="17" name="Picture 16" descr="image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3576637" y="3064668"/>
            <a:ext cx="219075" cy="171450"/>
          </a:xfrm>
          <a:prstGeom prst="rect">
            <a:avLst/>
          </a:prstGeom>
        </p:spPr>
      </p:pic>
      <p:sp>
        <p:nvSpPr>
          <p:cNvPr id="18" name="TextBox 17"/>
          <p:cNvSpPr txBox="1"/>
          <p:nvPr/>
        </p:nvSpPr>
        <p:spPr>
          <a:xfrm>
            <a:off x="3748087" y="3588543"/>
            <a:ext cx="2014537" cy="107156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687"/>
              </a:lnSpc>
            </a:pPr>
            <a:r>
              <a:rPr sz="1125" b="0" i="0" u="none">
                <a:solidFill>
                  <a:srgbClr val="CBD5E1"/>
                </a:solidFill>
                <a:latin typeface="Inter"/>
              </a:rPr>
              <a:t>Deploy local APE in high-tier branches (BKK) while maintaining centralized polling for smaller regional offices (NDL).</a:t>
            </a:r>
          </a:p>
        </p:txBody>
      </p:sp>
      <p:pic>
        <p:nvPicPr>
          <p:cNvPr id="19" name="Picture 18" descr="image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6429375" y="2955131"/>
            <a:ext cx="171450" cy="171450"/>
          </a:xfrm>
          <a:prstGeom prst="rect">
            <a:avLst/>
          </a:prstGeom>
        </p:spPr>
      </p:pic>
      <p:sp>
        <p:nvSpPr>
          <p:cNvPr id="20" name="TextBox 19"/>
          <p:cNvSpPr txBox="1"/>
          <p:nvPr/>
        </p:nvSpPr>
        <p:spPr>
          <a:xfrm>
            <a:off x="6600825" y="3369468"/>
            <a:ext cx="2014537" cy="8572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687"/>
              </a:lnSpc>
            </a:pPr>
            <a:r>
              <a:rPr sz="1125" b="0" i="0" u="none">
                <a:solidFill>
                  <a:srgbClr val="CBD5E1"/>
                </a:solidFill>
                <a:latin typeface="Inter"/>
              </a:rPr>
              <a:t>Implement robust parent-child dependency mapping in Orion to eliminate false alarm chatter.</a:t>
            </a:r>
          </a:p>
        </p:txBody>
      </p:sp>
      <p:pic>
        <p:nvPicPr>
          <p:cNvPr id="21" name="Picture 20" descr="image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9282112" y="2955131"/>
            <a:ext cx="152400" cy="171450"/>
          </a:xfrm>
          <a:prstGeom prst="rect">
            <a:avLst/>
          </a:prstGeom>
        </p:spPr>
      </p:pic>
      <p:sp>
        <p:nvSpPr>
          <p:cNvPr id="22" name="TextBox 21"/>
          <p:cNvSpPr txBox="1"/>
          <p:nvPr/>
        </p:nvSpPr>
        <p:spPr>
          <a:xfrm>
            <a:off x="9453562" y="3369468"/>
            <a:ext cx="2014537" cy="8572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687"/>
              </a:lnSpc>
            </a:pPr>
            <a:r>
              <a:rPr sz="1125" b="0" i="0" u="none">
                <a:solidFill>
                  <a:srgbClr val="CBD5E1"/>
                </a:solidFill>
                <a:latin typeface="Inter"/>
              </a:rPr>
              <a:t>Phase 1: Pilot local APE in BKK.</a:t>
            </a:r>
            <a:r>
              <a:t>
</a:t>
            </a:r>
            <a:r>
              <a:rPr sz="1125" b="0" i="0" u="none">
                <a:solidFill>
                  <a:srgbClr val="CBD5E1"/>
                </a:solidFill>
                <a:latin typeface="Inter"/>
              </a:rPr>
              <a:t> Phase 2: Review telemetry stability and roll out alerts.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23900" y="3369468"/>
            <a:ext cx="76200" cy="21907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687"/>
              </a:lnSpc>
            </a:pPr>
            <a:r>
              <a:rPr sz="1125" b="0" i="0" u="none">
                <a:solidFill>
                  <a:srgbClr val="38BDF8"/>
                </a:solidFill>
                <a:latin typeface="Inter"/>
              </a:rPr>
              <a:t>–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3576637" y="3588543"/>
            <a:ext cx="76200" cy="21907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687"/>
              </a:lnSpc>
            </a:pPr>
            <a:r>
              <a:rPr sz="1125" b="0" i="0" u="none">
                <a:solidFill>
                  <a:srgbClr val="38BDF8"/>
                </a:solidFill>
                <a:latin typeface="Inter"/>
              </a:rPr>
              <a:t>–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429375" y="3369468"/>
            <a:ext cx="76200" cy="21907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687"/>
              </a:lnSpc>
            </a:pPr>
            <a:r>
              <a:rPr sz="1125" b="0" i="0" u="none">
                <a:solidFill>
                  <a:srgbClr val="38BDF8"/>
                </a:solidFill>
                <a:latin typeface="Inter"/>
              </a:rPr>
              <a:t>–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9282112" y="3369468"/>
            <a:ext cx="76200" cy="21907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687"/>
              </a:lnSpc>
            </a:pPr>
            <a:r>
              <a:rPr sz="1125" b="0" i="0" u="none">
                <a:solidFill>
                  <a:srgbClr val="38BDF8"/>
                </a:solidFill>
                <a:latin typeface="Inter"/>
              </a:rPr>
              <a:t>–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485775" y="485775"/>
            <a:ext cx="11706225" cy="44767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2850" b="1" i="0" u="none">
                <a:solidFill>
                  <a:srgbClr val="F8FAFC"/>
                </a:solidFill>
                <a:latin typeface="Plus Jakarta Sans"/>
              </a:rPr>
              <a:t>Strategic </a:t>
            </a:r>
            <a:r>
              <a:rPr sz="2850" b="1" i="0" u="none">
                <a:solidFill>
                  <a:srgbClr val="38BDF8"/>
                </a:solidFill>
                <a:latin typeface="Plus Jakarta Sans"/>
              </a:rPr>
              <a:t>Recommendation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E293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562350" y="3952875"/>
            <a:ext cx="5067300" cy="504825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2450544" y="2400300"/>
            <a:ext cx="7290911" cy="762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4800" b="1" i="0" u="none">
                <a:solidFill>
                  <a:srgbClr val="F8FAFC"/>
                </a:solidFill>
                <a:latin typeface="Plus Jakarta Sans"/>
              </a:rPr>
              <a:t>Questions &amp; Discussion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590800" y="3352800"/>
            <a:ext cx="7010400" cy="31432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ts val="2475"/>
              </a:lnSpc>
            </a:pPr>
            <a:r>
              <a:rPr sz="1650" b="0" i="0" u="none">
                <a:solidFill>
                  <a:srgbClr val="94A3B8"/>
                </a:solidFill>
                <a:latin typeface="Inter"/>
              </a:rPr>
              <a:t>Thank you for your time. Open for feedback and architecture alignment.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948</Words>
  <Application>Microsoft Office PowerPoint</Application>
  <PresentationFormat>Widescreen</PresentationFormat>
  <Paragraphs>121</Paragraphs>
  <Slides>13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20" baseType="lpstr">
      <vt:lpstr>Arial</vt:lpstr>
      <vt:lpstr>Calibri</vt:lpstr>
      <vt:lpstr>Inter</vt:lpstr>
      <vt:lpstr>Inter SemiBold</vt:lpstr>
      <vt:lpstr>Plus Jakarta Sans</vt:lpstr>
      <vt:lpstr>Plus Jakarta Sans SemiBold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Pankaj Gupta</cp:lastModifiedBy>
  <cp:revision>2</cp:revision>
  <dcterms:created xsi:type="dcterms:W3CDTF">2013-01-27T09:14:16Z</dcterms:created>
  <dcterms:modified xsi:type="dcterms:W3CDTF">2026-08-11T01:47:18Z</dcterms:modified>
  <cp:category/>
</cp:coreProperties>
</file>