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75F"/>
                </a:solidFill>
              </a:rPr>
              <a:t>APAC SolarWinds Orion</a:t>
            </a:r>
            <a:br/>
            <a:r>
              <a:t>Architecture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83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46E"/>
                </a:solidFill>
              </a:rPr>
              <a:t>Centralized Singapore APE vs. Bangkok local APE with centralized SNG Orion</a:t>
            </a:r>
          </a:p>
        </p:txBody>
      </p:sp>
      <p:pic>
        <p:nvPicPr>
          <p:cNvPr id="5" name="Picture 4" descr="a_clean_technical_infographic_architecture_di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1720"/>
            <a:ext cx="10972800" cy="731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3550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Decision focus: operational resilience, WAN dependency, scalability, cost, governance and alert-processing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Both options can provide centralized APAC monitoring; the key trade-off is simplicity vs. local resilience/performance.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40680" cy="4480560"/>
          </a:xfrm>
          <a:prstGeom prst="roundRect">
            <a:avLst/>
          </a:prstGeom>
          <a:solidFill>
            <a:srgbClr val="EBF3FC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44168"/>
            <a:ext cx="5111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OPTION 1 — Single SNG 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9928"/>
            <a:ext cx="50749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All APAC branches, including BKK and NDL, send alerts to the Singapore APE.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Single processing and administration model.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Lowest infrastructure footprint and operational complexity.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Strongest dependency on WAN connectivity to Singapore.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Best fit where WAN is reliable and alert latency is not business-critical.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440680" cy="4480560"/>
          </a:xfrm>
          <a:prstGeom prst="roundRect">
            <a:avLst/>
          </a:prstGeom>
          <a:solidFill>
            <a:srgbClr val="EBF7EF"/>
          </a:solidFill>
          <a:ln>
            <a:solidFill>
              <a:srgbClr val="23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344168"/>
            <a:ext cx="5111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D4B"/>
                </a:solidFill>
              </a:rPr>
              <a:t>OPTION 2 — BKK Local 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709928"/>
            <a:ext cx="50749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All branches except BKK use the Singapore APE.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BKK processes alerts locally and forwards them to Singapore Orion.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Improves local alert-processing resilience and reduces BKK dependency on WAN for initial processing.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Adds infrastructure, monitoring, patching and support overhead.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Best fit where BKK has material latency/WAN constraints or requires local autonomy.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Option 1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Centralized architecture with one APE in Singapore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486400" cy="2423160"/>
          </a:xfrm>
          <a:prstGeom prst="roundRect">
            <a:avLst/>
          </a:prstGeom>
          <a:solidFill>
            <a:srgbClr val="EBF7EF"/>
          </a:solidFill>
          <a:ln>
            <a:solidFill>
              <a:srgbClr val="23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5272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D4B"/>
                </a:solidFill>
              </a:rPr>
              <a:t>PROS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51206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Single APE and Orion architecture — simplest to design and operate.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Centralized alert processing, reporting and administration.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Lower infrastructure and licensing/support footprint.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Consistent monitoring configuration across APAC.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Easier governance, backup, DR and lifecycle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5486400" cy="2423160"/>
          </a:xfrm>
          <a:prstGeom prst="roundRect">
            <a:avLst/>
          </a:prstGeom>
          <a:solidFill>
            <a:srgbClr val="FCEEEE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90448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E3737"/>
                </a:solidFill>
              </a:rPr>
              <a:t>CONS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70248"/>
            <a:ext cx="51206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WAN connectivity becomes critical for branch-to-SNG alert delivery.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Potential alert-processing delay during WAN degradation.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SNG APE is a common dependency for all APAC branches.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BKK/NDL have less local processing autonomy.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Future branch growth increases load and network dependency on SNG.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143000"/>
            <a:ext cx="5440680" cy="5074920"/>
          </a:xfrm>
          <a:prstGeom prst="roundRect">
            <a:avLst/>
          </a:prstGeom>
          <a:solidFill>
            <a:srgbClr val="EBF3FC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52728"/>
            <a:ext cx="5111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WHEN TO PREFER 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18488"/>
            <a:ext cx="5074920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Stable and resilient APAC WAN with predictable latency.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Alert volumes are moderate and centrally manageable.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No regulatory or operational requirement for local alert processing.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Organization prioritizes standardization and lower TCO.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SNG can be engineered as HA and protected with robust DR.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Option 2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Local BKK APE with centralized SNG Orion monitoring and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486400" cy="2514600"/>
          </a:xfrm>
          <a:prstGeom prst="roundRect">
            <a:avLst/>
          </a:prstGeom>
          <a:solidFill>
            <a:srgbClr val="EBF7EF"/>
          </a:solidFill>
          <a:ln>
            <a:solidFill>
              <a:srgbClr val="23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5272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D4B"/>
                </a:solidFill>
              </a:rPr>
              <a:t>PROS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512064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BKK can process alerts locally during WAN degradation.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Lower dependency on SNG for immediate local alert processing.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Potentially faster local event ingestion and response.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Architecture can scale by adding local APEs only where justified.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Central SNG Orion remains the governance and reporting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86200"/>
            <a:ext cx="5486400" cy="2331720"/>
          </a:xfrm>
          <a:prstGeom prst="roundRect">
            <a:avLst/>
          </a:prstGeom>
          <a:solidFill>
            <a:srgbClr val="FCEEEE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99592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E3737"/>
                </a:solidFill>
              </a:rPr>
              <a:t>CONS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61688"/>
            <a:ext cx="5120640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Additional APE infrastructure and operational cost in BKK.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Requires separate patching, monitoring, backup and lifecycle management.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More complex troubleshooting and configuration synchronization.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Forwarding path from BKK APE to SNG remains important for central visibility.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Risk of configuration drift between local and central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143000"/>
            <a:ext cx="5440680" cy="5074920"/>
          </a:xfrm>
          <a:prstGeom prst="roundRect">
            <a:avLst/>
          </a:prstGeom>
          <a:solidFill>
            <a:srgbClr val="FDF4E7"/>
          </a:solidFill>
          <a:ln>
            <a:solidFill>
              <a:srgbClr val="E1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52728"/>
            <a:ext cx="5111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18223"/>
                </a:solidFill>
              </a:rPr>
              <a:t>WHEN TO PREFER OPTION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18488"/>
            <a:ext cx="5074920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BKK has unreliable/high-latency WAN connectivity to SNG.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Local alert-processing continuity is operationally important.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BKK has materially higher event volume.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There is a credible future need for additional regional/local APEs.</a:t>
            </a:r>
          </a:p>
          <a:p>
            <a:pPr>
              <a:spcAft>
                <a:spcPts val="700"/>
              </a:spcAft>
              <a:defRPr sz="1400">
                <a:solidFill>
                  <a:srgbClr val="23282D"/>
                </a:solidFill>
              </a:defRPr>
            </a:pPr>
            <a:r>
              <a:t>• Business accepts additional infrastructure and support overhead.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Rectangle 67"/>
          <p:cNvSpPr/>
          <p:nvPr/>
        </p:nvSpPr>
        <p:spPr>
          <a:xfrm>
            <a:off x="5806440" y="5413248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5413248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71800" y="5413248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2920" y="5413248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06440" y="4782312"/>
            <a:ext cx="57607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782312"/>
            <a:ext cx="14173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71800" y="4782312"/>
            <a:ext cx="14173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4782312"/>
            <a:ext cx="246888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06440" y="4151376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4151376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71800" y="4151376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151376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06440" y="3520439"/>
            <a:ext cx="57607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3520439"/>
            <a:ext cx="14173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71800" y="3520439"/>
            <a:ext cx="14173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520439"/>
            <a:ext cx="246888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06440" y="2889504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2889504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1800" y="2889504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889504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06440" y="2258568"/>
            <a:ext cx="57607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258568"/>
            <a:ext cx="14173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2258568"/>
            <a:ext cx="141732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258568"/>
            <a:ext cx="2468880" cy="62179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1627632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627632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71800" y="1627632"/>
            <a:ext cx="14173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27632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Relative risk profile assuming equivalent Orion/APE HA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2468880" cy="411480"/>
          </a:xfrm>
          <a:prstGeom prst="rect">
            <a:avLst/>
          </a:prstGeom>
          <a:solidFill>
            <a:srgbClr val="1437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188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188720"/>
            <a:ext cx="1417320" cy="411480"/>
          </a:xfrm>
          <a:prstGeom prst="rect">
            <a:avLst/>
          </a:prstGeom>
          <a:solidFill>
            <a:srgbClr val="1437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1417320" cy="411480"/>
          </a:xfrm>
          <a:prstGeom prst="rect">
            <a:avLst/>
          </a:prstGeom>
          <a:solidFill>
            <a:srgbClr val="1437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188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Primary concern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188720"/>
            <a:ext cx="5760720" cy="411480"/>
          </a:xfrm>
          <a:prstGeom prst="rect">
            <a:avLst/>
          </a:prstGeom>
          <a:solidFill>
            <a:srgbClr val="1437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1691640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WAN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1691640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1691640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1691640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Branch-to-SNG connectivity / packet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2322575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Central processing dependency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2322575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2322575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2322575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SNG APE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2953512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Infrastructure complexity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295351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3" y="295351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MEDIUM/HIGH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304" y="2953512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Additional BKK 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" y="3584447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Configuration 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6664" y="3584447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3983" y="3584447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1304" y="3584447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Multiple APE configurations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" y="4215384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Local outage resilience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26664" y="4215384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3" y="4215384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61304" y="4215384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BKK local processing continuity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" y="4846320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Operational support effort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26664" y="4846320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3983" y="4846320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304" y="4846320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Additional platform to operate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5477256"/>
            <a:ext cx="2359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282D"/>
                </a:solidFill>
              </a:rPr>
              <a:t>Scalability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26664" y="5477256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MEDIUM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43983" y="5477256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3282D"/>
                </a:solidFill>
              </a:rP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61304" y="5477256"/>
            <a:ext cx="5650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Local APEs can be added selectively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375F"/>
                </a:solidFill>
              </a:rPr>
              <a:t>Risk conclusion: Option 1 has lower complexity but higher concentration/WAN risk; Option 2 trades complexity for local resilience.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Risk Mitigation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Controls that materially reduce the key risks for either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486400" cy="5074920"/>
          </a:xfrm>
          <a:prstGeom prst="roundRect">
            <a:avLst/>
          </a:prstGeom>
          <a:solidFill>
            <a:srgbClr val="EBF3FC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5272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CONTROLS FOR BOTH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5120640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Deploy Orion/APE in HA or resilient VM design where supported.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Define alert buffering/queueing behavior for temporary connectivity loss.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Implement network QoS and monitoring for latency, packet loss and jitter.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Set alert-volume thresholds and capacity monitoring for APE/Orion.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Standardize configuration, naming, polling templates and escalation rules.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Back up Orion/APE configuration and test restoration periodically.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Create operational runbooks for WAN outage, APE failure and alert backlog.</a:t>
            </a:r>
          </a:p>
          <a:p>
            <a:pPr>
              <a:spcAft>
                <a:spcPts val="700"/>
              </a:spcAft>
              <a:defRPr sz="1200">
                <a:solidFill>
                  <a:srgbClr val="23282D"/>
                </a:solidFill>
              </a:defRPr>
            </a:pPr>
            <a:r>
              <a:t>• Integrate monitoring of the monitoring platform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143000"/>
            <a:ext cx="5440680" cy="5074920"/>
          </a:xfrm>
          <a:prstGeom prst="roundRect">
            <a:avLst/>
          </a:prstGeom>
          <a:solidFill>
            <a:srgbClr val="EBF7EF"/>
          </a:solidFill>
          <a:ln>
            <a:solidFill>
              <a:srgbClr val="23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52728"/>
            <a:ext cx="5111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D4B"/>
                </a:solidFill>
              </a:rPr>
              <a:t>OPTION-SPECIFIC MITIGATIONS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18488"/>
            <a:ext cx="5074920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Option 1: engineer redundant WAN paths from BKK/NDL to SNG where practical.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Option 1: validate maximum acceptable alert delay during WAN impairment.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Option 2: use centralized configuration governance for BKK APE.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Option 2: monitor BKK-to-SNG forwarding health and backlog.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Option 2: define local APE HA/DR expectations before production.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Option 2: establish patch/version parity controls to prevent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Decision Framework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Use measurable criteria rather than architecture preference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492240" cy="5074920"/>
          </a:xfrm>
          <a:prstGeom prst="roundRect">
            <a:avLst/>
          </a:prstGeom>
          <a:solidFill>
            <a:srgbClr val="EBF3FC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52728"/>
            <a:ext cx="61630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RECOMMENDED DECISION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6126479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WAN latency / packet loss: If consistently low → Option 1 | If unstable/high → Option 2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BKK alert criticality: Normal → Option 1 | Immediate local processing required → Option 2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Event volume: Moderate → Option 1 | High/growing materially → Option 2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Operational model: Centralized team → Option 1 | Regional/local support → Option 2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TCO priority: Minimize → Option 1 | Resilience/scalability → Option 2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Future regional expansion: Limited → Option 1 | Multiple local APE candidates → Option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2" y="1143000"/>
            <a:ext cx="4480560" cy="5074920"/>
          </a:xfrm>
          <a:prstGeom prst="roundRect">
            <a:avLst/>
          </a:prstGeom>
          <a:solidFill>
            <a:srgbClr val="EBF7EF"/>
          </a:solidFill>
          <a:ln>
            <a:solidFill>
              <a:srgbClr val="23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0064" y="1252728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D4B"/>
                </a:solidFill>
              </a:rPr>
              <a:t>PROVISIONAL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1618488"/>
            <a:ext cx="4114800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Start with OPTION 1 if APAC WAN is demonstrably resilient and BKK does not require local alert processing.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Select OPTION 2 if BKK has significant WAN risk, high alert volume, or a business requirement for local continuity.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Before final decision, run a 2–4 week baseline of BKK/SNG latency, packet loss, alert volume and peak event rates.</a:t>
            </a:r>
          </a:p>
          <a:p>
            <a:pPr>
              <a:spcAft>
                <a:spcPts val="700"/>
              </a:spcAft>
              <a:defRPr sz="1300">
                <a:solidFill>
                  <a:srgbClr val="23282D"/>
                </a:solidFill>
              </a:defRPr>
            </a:pPr>
            <a:r>
              <a:t>• Define a quantified threshold for when a local APE is justified.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75F"/>
                </a:solidFill>
              </a:rPr>
              <a:t>Implementation &amp; Validation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A short proof-of-design can validate the architecture before full APAC rollout.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1.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Measure WAN latency, loss, jitter, bandwidth and alert volumes for all branches.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23444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2.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82880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Size SNG Orion/APE and, if applicable, BKK APE against peak event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8744" y="123444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3.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182880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Test alert ingestion, forwarding, buffering and recovery under WAN impairment.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6393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4. HA/DR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690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Validate APE/Orion failure scenarios and restoration procedures.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47472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36393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5.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40690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Onboard BKK plus one low-risk APAC branch and compare operational metrics.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347472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23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36393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63AA"/>
                </a:solidFill>
              </a:rPr>
              <a:t>6. Rollout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4069080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82D"/>
                </a:solidFill>
              </a:rPr>
              <a:t>Deploy remaining branches using standardized templates and runbooks.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375F"/>
                </a:solidFill>
              </a:rPr>
              <a:t>Suggested go/no-go metrics: alert delivery success ≥99.9%, defined maximum alert delay, zero unexplained alert loss, and documented recovery within agreed RTO.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46E"/>
                </a:solidFill>
              </a:rPr>
              <a:t>APAC SolarWinds Orion – Architecture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6539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46E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