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8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7863840" y="-1097280"/>
            <a:ext cx="6400800" cy="9052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206240"/>
            <a:ext cx="4206240" cy="4206240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PROPOSAL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87782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Verification of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CyberArk PAM Sessions Against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ServiceNow Runbooks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validating that privileged session activity matches the approved change runbook — and flagging what doesn’t.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deck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545896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5349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PAM  •  ServiceNow  •  LLM-based compliance matching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PAM Compliance Verification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session review does not scale with manual effort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063240"/>
          </a:xfrm>
          <a:prstGeom prst="roundRect">
            <a:avLst>
              <a:gd name="adj" fmla="val 268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/icons/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219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260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Slow, manual review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scrub hours of PSM video to confirm a session matched its change runbook — minutes of real work stretched into hours.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737360"/>
            <a:ext cx="3520440" cy="3063240"/>
          </a:xfrm>
          <a:prstGeom prst="roundRect">
            <a:avLst>
              <a:gd name="adj" fmla="val 268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0574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eck/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22199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9260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coverage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42900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sample of sessions get reviewed. High-risk changes can go unchecked simply due to reviewer bandwidth.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737360"/>
            <a:ext cx="3520440" cy="3063240"/>
          </a:xfrm>
          <a:prstGeom prst="roundRect">
            <a:avLst>
              <a:gd name="adj" fmla="val 268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9640" y="20574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deck/icons/ale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222199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29260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Delayed detection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03920" y="342900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or out-of-scope actions during a privileged session are often found in audits, weeks or months later.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5285232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21" name="Image 3" descr="/home/claude/deck/icons/tren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43153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5074920"/>
            <a:ext cx="9784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shift from sample-based spot checks to automated, continuous verification of every privileged session against its approved runbook.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PAM Compliance Verification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 turn a runbook and a recording into a pass / fail verdict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51760" cy="4160520"/>
          </a:xfrm>
          <a:prstGeom prst="roundRect">
            <a:avLst>
              <a:gd name="adj" fmla="val 310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756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2651760"/>
            <a:ext cx="658368" cy="658368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7" name="Image 0" descr="/home/claude/deck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79806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474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393192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runbook from ServiceNow and the matching session (log + video) from CyberArk.</a:t>
            </a:r>
            <a:endParaRPr lang="en-US" sz="1150" dirty="0"/>
          </a:p>
        </p:txBody>
      </p:sp>
      <p:pic>
        <p:nvPicPr>
          <p:cNvPr id="10" name="Image 1" descr="/home/claude/deck/icons/arrow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3826764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19856" y="1874520"/>
            <a:ext cx="2651760" cy="4160520"/>
          </a:xfrm>
          <a:prstGeom prst="roundRect">
            <a:avLst>
              <a:gd name="adj" fmla="val 310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648456" y="20756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3648456" y="265176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deck/icons/filetex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2798064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48456" y="3474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3648456" y="393192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both into structured, timestamped action lists using OCR, log parsing and an LLM.</a:t>
            </a:r>
            <a:endParaRPr lang="en-US" sz="1150" dirty="0"/>
          </a:p>
        </p:txBody>
      </p:sp>
      <p:pic>
        <p:nvPicPr>
          <p:cNvPr id="17" name="Image 3" descr="/home/claude/deck/icons/arrow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04" y="3826764"/>
            <a:ext cx="256032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91072" y="1874520"/>
            <a:ext cx="2651760" cy="4160520"/>
          </a:xfrm>
          <a:prstGeom prst="roundRect">
            <a:avLst>
              <a:gd name="adj" fmla="val 310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519672" y="20756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6519672" y="2651760"/>
            <a:ext cx="658368" cy="658368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21" name="Image 4" descr="/home/claude/deck/icons/mat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976" y="2798064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19672" y="3474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6519672" y="393192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Semantically match each session action to an expected runbook step.</a:t>
            </a:r>
            <a:endParaRPr lang="en-US" sz="1150" dirty="0"/>
          </a:p>
        </p:txBody>
      </p:sp>
      <p:pic>
        <p:nvPicPr>
          <p:cNvPr id="24" name="Image 5" descr="/home/claude/deck/icons/arrow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0" y="3826764"/>
            <a:ext cx="256032" cy="25603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162288" y="1874520"/>
            <a:ext cx="2651760" cy="4160520"/>
          </a:xfrm>
          <a:prstGeom prst="roundRect">
            <a:avLst>
              <a:gd name="adj" fmla="val 310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9390888" y="20756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Shape 19"/>
          <p:cNvSpPr/>
          <p:nvPr/>
        </p:nvSpPr>
        <p:spPr>
          <a:xfrm>
            <a:off x="9390888" y="265176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6" descr="/home/claude/deck/icons/flag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7192" y="2798064"/>
            <a:ext cx="365760" cy="36576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390888" y="3474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</a:t>
            </a:r>
            <a:endParaRPr lang="en-US" sz="1700" dirty="0"/>
          </a:p>
        </p:txBody>
      </p:sp>
      <p:sp>
        <p:nvSpPr>
          <p:cNvPr id="30" name="Text 21"/>
          <p:cNvSpPr/>
          <p:nvPr/>
        </p:nvSpPr>
        <p:spPr>
          <a:xfrm>
            <a:off x="9390888" y="3931920"/>
            <a:ext cx="2194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matches, gaps and unauthorized actions to ServiceNow, SIEM and human reviewers.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PAM Compliance Verification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and session data converge, branch by recording type, and re-converge on a single verdict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7432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47675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/icons/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73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99032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43000" y="1737360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task / runbook steps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977640" y="1325880"/>
            <a:ext cx="27432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05656" y="147675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eck/icons/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5773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1399032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PAM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663440" y="1737360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metadata + recording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1737360" y="2423160"/>
            <a:ext cx="3566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865376" y="2505456"/>
            <a:ext cx="475488" cy="475488"/>
          </a:xfrm>
          <a:prstGeom prst="ellipse">
            <a:avLst/>
          </a:prstGeom>
          <a:solidFill>
            <a:srgbClr val="4A5578"/>
          </a:solidFill>
          <a:ln/>
        </p:spPr>
      </p:sp>
      <p:pic>
        <p:nvPicPr>
          <p:cNvPr id="16" name="Image 2" descr="/home/claude/deck/icons/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26060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23160" y="2496312"/>
            <a:ext cx="27614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by ticket ID / target / time window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1828800" y="2103120"/>
            <a:ext cx="0" cy="320040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349240" y="2103120"/>
            <a:ext cx="0" cy="320040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3520440" y="3063240"/>
            <a:ext cx="0" cy="320040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  <a:tailEnd type="triangle"/>
          </a:ln>
        </p:spPr>
      </p:sp>
      <p:sp>
        <p:nvSpPr>
          <p:cNvPr id="21" name="Text 16"/>
          <p:cNvSpPr/>
          <p:nvPr/>
        </p:nvSpPr>
        <p:spPr>
          <a:xfrm>
            <a:off x="1737360" y="34015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by session type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3794760"/>
            <a:ext cx="27432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85216" y="394563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/home/claude/deck/icons/termina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04622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43000" y="3867912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/ Console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143000" y="4206240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keystroke text log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977640" y="3794760"/>
            <a:ext cx="27432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105656" y="3945636"/>
            <a:ext cx="475488" cy="475488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29" name="Image 4" descr="/home/claude/deck/icons/video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4046220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663440" y="3867912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 / GUI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4663440" y="4206240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Scene-detect → OCR → vision LLM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1828800" y="3063240"/>
            <a:ext cx="0" cy="731520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5349240" y="3063240"/>
            <a:ext cx="0" cy="731520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1828800" y="4572000"/>
            <a:ext cx="0" cy="320040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5349240" y="4572000"/>
            <a:ext cx="0" cy="320040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  <a:tailEnd type="triangle"/>
          </a:ln>
        </p:spPr>
      </p:sp>
      <p:sp>
        <p:nvSpPr>
          <p:cNvPr id="36" name="Shape 29"/>
          <p:cNvSpPr/>
          <p:nvPr/>
        </p:nvSpPr>
        <p:spPr>
          <a:xfrm>
            <a:off x="1737360" y="4892040"/>
            <a:ext cx="35661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1865376" y="497433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8" name="Image 5" descr="/home/claude/deck/icons/filetex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5960" y="5074920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2423160" y="4965192"/>
            <a:ext cx="27614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action timeline (LLM)</a:t>
            </a:r>
            <a:endParaRPr lang="en-US" sz="1250" dirty="0"/>
          </a:p>
        </p:txBody>
      </p:sp>
      <p:sp>
        <p:nvSpPr>
          <p:cNvPr id="40" name="Shape 32"/>
          <p:cNvSpPr/>
          <p:nvPr/>
        </p:nvSpPr>
        <p:spPr>
          <a:xfrm>
            <a:off x="3520440" y="5532120"/>
            <a:ext cx="0" cy="320040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  <a:tailEnd type="triangle"/>
          </a:ln>
        </p:spPr>
      </p:sp>
      <p:sp>
        <p:nvSpPr>
          <p:cNvPr id="41" name="Shape 33"/>
          <p:cNvSpPr/>
          <p:nvPr/>
        </p:nvSpPr>
        <p:spPr>
          <a:xfrm>
            <a:off x="1737360" y="5852160"/>
            <a:ext cx="35661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1865376" y="5980176"/>
            <a:ext cx="475488" cy="475488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43" name="Image 6" descr="/home/claude/deck/icons/match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5960" y="6080760"/>
            <a:ext cx="274320" cy="27432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2423160" y="5925312"/>
            <a:ext cx="27614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Matching Engine</a:t>
            </a:r>
            <a:endParaRPr lang="en-US" sz="1250" dirty="0"/>
          </a:p>
        </p:txBody>
      </p:sp>
      <p:sp>
        <p:nvSpPr>
          <p:cNvPr id="45" name="Text 36"/>
          <p:cNvSpPr/>
          <p:nvPr/>
        </p:nvSpPr>
        <p:spPr>
          <a:xfrm>
            <a:off x="2423160" y="6217920"/>
            <a:ext cx="27614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LLM-as-judge vs. runbook steps</a:t>
            </a:r>
            <a:endParaRPr lang="en-US" sz="950" dirty="0"/>
          </a:p>
        </p:txBody>
      </p:sp>
      <p:sp>
        <p:nvSpPr>
          <p:cNvPr id="46" name="Shape 37"/>
          <p:cNvSpPr/>
          <p:nvPr/>
        </p:nvSpPr>
        <p:spPr>
          <a:xfrm>
            <a:off x="5303520" y="6217920"/>
            <a:ext cx="685800" cy="0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  <a:tailEnd type="triangle"/>
          </a:ln>
        </p:spPr>
      </p:sp>
      <p:sp>
        <p:nvSpPr>
          <p:cNvPr id="47" name="Shape 38"/>
          <p:cNvSpPr/>
          <p:nvPr/>
        </p:nvSpPr>
        <p:spPr>
          <a:xfrm>
            <a:off x="6080760" y="5852160"/>
            <a:ext cx="233172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6208776" y="598017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9" name="Image 7" descr="/home/claude/deck/icons/check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6080760"/>
            <a:ext cx="274320" cy="27432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6766560" y="5925312"/>
            <a:ext cx="1527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per step</a:t>
            </a:r>
            <a:endParaRPr lang="en-US" sz="1250" dirty="0"/>
          </a:p>
        </p:txBody>
      </p:sp>
      <p:sp>
        <p:nvSpPr>
          <p:cNvPr id="51" name="Text 41"/>
          <p:cNvSpPr/>
          <p:nvPr/>
        </p:nvSpPr>
        <p:spPr>
          <a:xfrm>
            <a:off x="6766560" y="6217920"/>
            <a:ext cx="1527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/ missing / unauthorized</a:t>
            </a:r>
            <a:endParaRPr lang="en-US" sz="950" dirty="0"/>
          </a:p>
        </p:txBody>
      </p:sp>
      <p:sp>
        <p:nvSpPr>
          <p:cNvPr id="52" name="Shape 42"/>
          <p:cNvSpPr/>
          <p:nvPr/>
        </p:nvSpPr>
        <p:spPr>
          <a:xfrm>
            <a:off x="9646920" y="1325880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53" name="Shape 43"/>
          <p:cNvSpPr/>
          <p:nvPr/>
        </p:nvSpPr>
        <p:spPr>
          <a:xfrm>
            <a:off x="9774936" y="147675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4" name="Image 8" descr="/home/claude/deck/icons/check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75520" y="1577340"/>
            <a:ext cx="274320" cy="274320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10332720" y="139903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1250" dirty="0"/>
          </a:p>
        </p:txBody>
      </p:sp>
      <p:sp>
        <p:nvSpPr>
          <p:cNvPr id="56" name="Text 45"/>
          <p:cNvSpPr/>
          <p:nvPr/>
        </p:nvSpPr>
        <p:spPr>
          <a:xfrm>
            <a:off x="10332720" y="17373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attached to task</a:t>
            </a:r>
            <a:endParaRPr lang="en-US" sz="950" dirty="0"/>
          </a:p>
        </p:txBody>
      </p:sp>
      <p:sp>
        <p:nvSpPr>
          <p:cNvPr id="57" name="Shape 46"/>
          <p:cNvSpPr/>
          <p:nvPr/>
        </p:nvSpPr>
        <p:spPr>
          <a:xfrm>
            <a:off x="9646920" y="2606040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58" name="Shape 47"/>
          <p:cNvSpPr/>
          <p:nvPr/>
        </p:nvSpPr>
        <p:spPr>
          <a:xfrm>
            <a:off x="9774936" y="2756916"/>
            <a:ext cx="475488" cy="475488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59" name="Image 9" descr="/home/claude/deck/icons/alert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75520" y="2857500"/>
            <a:ext cx="274320" cy="274320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10332720" y="267919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/ SOC</a:t>
            </a:r>
            <a:endParaRPr lang="en-US" sz="1250" dirty="0"/>
          </a:p>
        </p:txBody>
      </p:sp>
      <p:sp>
        <p:nvSpPr>
          <p:cNvPr id="61" name="Text 49"/>
          <p:cNvSpPr/>
          <p:nvPr/>
        </p:nvSpPr>
        <p:spPr>
          <a:xfrm>
            <a:off x="10332720" y="301752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High-severity alerts</a:t>
            </a:r>
            <a:endParaRPr lang="en-US" sz="950" dirty="0"/>
          </a:p>
        </p:txBody>
      </p:sp>
      <p:sp>
        <p:nvSpPr>
          <p:cNvPr id="62" name="Shape 50"/>
          <p:cNvSpPr/>
          <p:nvPr/>
        </p:nvSpPr>
        <p:spPr>
          <a:xfrm>
            <a:off x="9646920" y="3886200"/>
            <a:ext cx="208483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7DCEA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63" name="Shape 51"/>
          <p:cNvSpPr/>
          <p:nvPr/>
        </p:nvSpPr>
        <p:spPr>
          <a:xfrm>
            <a:off x="9774936" y="403707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4" name="Image 10" descr="/home/claude/deck/icons/usercheck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75520" y="4137660"/>
            <a:ext cx="274320" cy="274320"/>
          </a:xfrm>
          <a:prstGeom prst="rect">
            <a:avLst/>
          </a:prstGeom>
        </p:spPr>
      </p:pic>
      <p:sp>
        <p:nvSpPr>
          <p:cNvPr id="65" name="Text 52"/>
          <p:cNvSpPr/>
          <p:nvPr/>
        </p:nvSpPr>
        <p:spPr>
          <a:xfrm>
            <a:off x="10332720" y="395935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250" dirty="0"/>
          </a:p>
        </p:txBody>
      </p:sp>
      <p:sp>
        <p:nvSpPr>
          <p:cNvPr id="66" name="Text 53"/>
          <p:cNvSpPr/>
          <p:nvPr/>
        </p:nvSpPr>
        <p:spPr>
          <a:xfrm>
            <a:off x="10332720" y="429768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queue</a:t>
            </a:r>
            <a:endParaRPr lang="en-US" sz="950" dirty="0"/>
          </a:p>
        </p:txBody>
      </p:sp>
      <p:sp>
        <p:nvSpPr>
          <p:cNvPr id="67" name="Shape 54"/>
          <p:cNvSpPr/>
          <p:nvPr/>
        </p:nvSpPr>
        <p:spPr>
          <a:xfrm>
            <a:off x="8412480" y="6217920"/>
            <a:ext cx="685800" cy="0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</a:ln>
        </p:spPr>
      </p:sp>
      <p:sp>
        <p:nvSpPr>
          <p:cNvPr id="68" name="Shape 55"/>
          <p:cNvSpPr/>
          <p:nvPr/>
        </p:nvSpPr>
        <p:spPr>
          <a:xfrm>
            <a:off x="9098280" y="1714500"/>
            <a:ext cx="0" cy="4503420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</a:ln>
        </p:spPr>
      </p:sp>
      <p:sp>
        <p:nvSpPr>
          <p:cNvPr id="69" name="Shape 56"/>
          <p:cNvSpPr/>
          <p:nvPr/>
        </p:nvSpPr>
        <p:spPr>
          <a:xfrm>
            <a:off x="9098280" y="1714500"/>
            <a:ext cx="548640" cy="0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  <a:tailEnd type="triangle"/>
          </a:ln>
        </p:spPr>
      </p:sp>
      <p:sp>
        <p:nvSpPr>
          <p:cNvPr id="70" name="Shape 57"/>
          <p:cNvSpPr/>
          <p:nvPr/>
        </p:nvSpPr>
        <p:spPr>
          <a:xfrm>
            <a:off x="9098280" y="2994660"/>
            <a:ext cx="548640" cy="0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  <a:tailEnd type="triangle"/>
          </a:ln>
        </p:spPr>
      </p:sp>
      <p:sp>
        <p:nvSpPr>
          <p:cNvPr id="71" name="Shape 58"/>
          <p:cNvSpPr/>
          <p:nvPr/>
        </p:nvSpPr>
        <p:spPr>
          <a:xfrm>
            <a:off x="9098280" y="4274820"/>
            <a:ext cx="548640" cy="0"/>
          </a:xfrm>
          <a:prstGeom prst="line">
            <a:avLst/>
          </a:prstGeom>
          <a:noFill/>
          <a:ln w="19050">
            <a:solidFill>
              <a:srgbClr val="4A5578"/>
            </a:solidFill>
            <a:prstDash val="solid"/>
            <a:tailEnd type="triangle"/>
          </a:ln>
        </p:spPr>
      </p:sp>
      <p:sp>
        <p:nvSpPr>
          <p:cNvPr id="72" name="Text 5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PAM Compliance Verification</a:t>
            </a:r>
            <a:endParaRPr lang="en-US" sz="900" dirty="0"/>
          </a:p>
        </p:txBody>
      </p:sp>
      <p:sp>
        <p:nvSpPr>
          <p:cNvPr id="73" name="Text 6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Processing Paths, One Verdict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exposes text logs for most SSH sessions but only video for RDP — the pipeline branches accordingly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/icons/termin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2996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 / Console Sessions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91640" y="239572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 • LOW COST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68680" y="28803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deck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96265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85292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Text/keystroke log parsed directly — no vision model needed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68680" y="359359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deck/icons/cpu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675888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56616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segments the raw log into discrete, timestamped commands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68680" y="430682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/home/claude/deck/icons/tren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38912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427939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accuracy, low cost, fast turnaround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172200" y="173736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492240" y="2011680"/>
            <a:ext cx="640080" cy="64008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20" name="Image 4" descr="/home/claude/deck/icons/video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14884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315200" y="202996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RDP / GUI Sessions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7315200" y="239572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REASONING REQUIRED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492240" y="28803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5" descr="/home/claude/deck/icons/ey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2962656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040880" y="285292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Scene-change detection selects key frames from the video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6492240" y="359359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6" descr="/home/claude/deck/icons/search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3675888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040880" y="356616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vision-capable LLM reads window text and captions actions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6492240" y="430682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7" descr="/home/claude/deck/icons/aler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4536" y="4389120"/>
            <a:ext cx="201168" cy="20116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040880" y="4279392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cost, needs sampled human validation during rollout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PAM Compliance Verification</a:t>
            </a:r>
            <a:endParaRPr lang="en-US" sz="900" dirty="0"/>
          </a:p>
        </p:txBody>
      </p:sp>
      <p:sp>
        <p:nvSpPr>
          <p:cNvPr id="33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AI Model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models per task — cheap classical methods where possible, LLM reasoning where it earns its cost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704088"/>
          </a:xfrm>
          <a:prstGeom prst="roundRect">
            <a:avLst>
              <a:gd name="adj" fmla="val 6494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76656" y="177393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9280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91640"/>
            <a:ext cx="2331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text extraction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794760" y="1691640"/>
            <a:ext cx="35661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/ Azure AI Vision / AWS Textract (OCR)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98080" y="1691640"/>
            <a:ext cx="41148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&amp; more accurate than an LLM reading pixels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76656" y="253288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eck/icons/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6517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450592"/>
            <a:ext cx="2331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segmentation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794760" y="2450592"/>
            <a:ext cx="35661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frame-diff / scene-change detection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498080" y="2450592"/>
            <a:ext cx="41148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downstream vision-model calls small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209544"/>
            <a:ext cx="11091672" cy="704088"/>
          </a:xfrm>
          <a:prstGeom prst="roundRect">
            <a:avLst>
              <a:gd name="adj" fmla="val 6494"/>
            </a:avLst>
          </a:prstGeom>
          <a:solidFill>
            <a:srgbClr val="F4F6FB"/>
          </a:solidFill>
          <a:ln/>
        </p:spPr>
      </p:sp>
      <p:sp>
        <p:nvSpPr>
          <p:cNvPr id="16" name="Shape 12"/>
          <p:cNvSpPr/>
          <p:nvPr/>
        </p:nvSpPr>
        <p:spPr>
          <a:xfrm>
            <a:off x="676656" y="329184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deck/icons/filetex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41071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209544"/>
            <a:ext cx="2331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→ normalized actions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3794760" y="3209544"/>
            <a:ext cx="35661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/ Opus, or GPT-4.1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498080" y="3209544"/>
            <a:ext cx="41148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Long-context text reasoning; cheaper than video-native models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76656" y="4050792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deck/icons/video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169664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3968496"/>
            <a:ext cx="2331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reasoning on key frames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3794760" y="3968496"/>
            <a:ext cx="35661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(vision), GPT-4o/4.1, Gemini 2.x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498080" y="3968496"/>
            <a:ext cx="41148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sampled frames only, not full video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4727448"/>
            <a:ext cx="11091672" cy="704088"/>
          </a:xfrm>
          <a:prstGeom prst="roundRect">
            <a:avLst>
              <a:gd name="adj" fmla="val 6494"/>
            </a:avLst>
          </a:prstGeom>
          <a:solidFill>
            <a:srgbClr val="F4F6FB"/>
          </a:solidFill>
          <a:ln/>
        </p:spPr>
      </p:sp>
      <p:sp>
        <p:nvSpPr>
          <p:cNvPr id="27" name="Shape 21"/>
          <p:cNvSpPr/>
          <p:nvPr/>
        </p:nvSpPr>
        <p:spPr>
          <a:xfrm>
            <a:off x="676656" y="4809744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4" descr="/home/claude/deck/icons/mat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928616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371600" y="4727448"/>
            <a:ext cx="2331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↔ action matching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3794760" y="4727448"/>
            <a:ext cx="35661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(Voyage/OpenAI/Cohere) + LLM-as-judge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7498080" y="4727448"/>
            <a:ext cx="41148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pre-filter; LLM resolves paraphrase &amp; intent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676656" y="556869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5" descr="/home/claude/deck/icons/cpu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5687568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371600" y="5486400"/>
            <a:ext cx="2331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triage (later)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3794760" y="5486400"/>
            <a:ext cx="35661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small classifier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7498080" y="5486400"/>
            <a:ext cx="41148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it once enough analyst-labeled examples exist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PAM Compliance Verification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Data Handling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recordings are among the most sensitive data in the environment — the AI layer inherits the same controls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171700"/>
            <a:ext cx="548640" cy="54864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7" name="Image 0" descr="/home/claude/deck/icons/lo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229057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92938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model endpoints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554480" y="231343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via VPC-deployed Bedrock, Azure OpenAI, or Anthropic on Vertex/Bedrock — not public consumer APIs.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63640" y="178308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6519672" y="2171700"/>
            <a:ext cx="548640" cy="54864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2" name="Image 1" descr="/home/claude/deck/icons/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29057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92938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on inputs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269480" y="2313432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enterprise agreements that contractually exclude session data from model training.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364992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16" name="Shape 12"/>
          <p:cNvSpPr/>
          <p:nvPr/>
        </p:nvSpPr>
        <p:spPr>
          <a:xfrm>
            <a:off x="804672" y="3753612"/>
            <a:ext cx="548640" cy="54864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7" name="Image 2" descr="/home/claude/deck/icons/ey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872484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51129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RBAC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554480" y="3895344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 access mirrors who can already view session recordings today — no new exposure surface.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63640" y="3364992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21" name="Shape 16"/>
          <p:cNvSpPr/>
          <p:nvPr/>
        </p:nvSpPr>
        <p:spPr>
          <a:xfrm>
            <a:off x="6519672" y="3753612"/>
            <a:ext cx="548640" cy="54864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22" name="Image 3" descr="/home/claude/deck/icons/user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3872484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351129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269480" y="3895344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verdicts route to an analyst queue; the system never auto-closes a change on its own.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4946904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26" name="Shape 20"/>
          <p:cNvSpPr/>
          <p:nvPr/>
        </p:nvSpPr>
        <p:spPr>
          <a:xfrm>
            <a:off x="804672" y="5335524"/>
            <a:ext cx="548640" cy="54864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27" name="Image 4" descr="/home/claude/deck/icons/chec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5454396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50932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Chain-of-custody logging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554480" y="5477256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verdict is logged with evidence (timestamps, frames, log lines) for audit defensibility.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263640" y="4946904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31" name="Shape 24"/>
          <p:cNvSpPr/>
          <p:nvPr/>
        </p:nvSpPr>
        <p:spPr>
          <a:xfrm>
            <a:off x="6519672" y="5335524"/>
            <a:ext cx="548640" cy="54864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32" name="Image 5" descr="/home/claude/deck/icons/databas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5454396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269480" y="50932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rest/in transit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7269480" y="5477256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timelines and verdicts inherit the same encryption standards as the source recordings.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PAM Compliance Verification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Rollout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value on the high-confidence path before extending to video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7178" cy="4023360"/>
          </a:xfrm>
          <a:prstGeom prst="roundRect">
            <a:avLst>
              <a:gd name="adj" fmla="val 285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6197" y="2103120"/>
            <a:ext cx="512064" cy="512064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6" name="Text 4"/>
          <p:cNvSpPr/>
          <p:nvPr/>
        </p:nvSpPr>
        <p:spPr>
          <a:xfrm>
            <a:off x="1576197" y="21031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2014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220141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 / text-log pilot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3840480"/>
            <a:ext cx="216484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ingest + matching on SSH sessions only. Validate precision/recall of flags against analyst judgment.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90138" y="1828800"/>
            <a:ext cx="2567178" cy="4023360"/>
          </a:xfrm>
          <a:prstGeom prst="roundRect">
            <a:avLst>
              <a:gd name="adj" fmla="val 285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7695" y="21031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417695" y="21031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73018" y="2788920"/>
            <a:ext cx="22014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73018" y="3063240"/>
            <a:ext cx="220141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RDP / video pilot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91306" y="3840480"/>
            <a:ext cx="216484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scene-detection + OCR + vision-LLM path. Sample-validate against human review before trusting flags.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31636" y="1828800"/>
            <a:ext cx="2567178" cy="4023360"/>
          </a:xfrm>
          <a:prstGeom prst="roundRect">
            <a:avLst>
              <a:gd name="adj" fmla="val 285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59193" y="21031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259193" y="21031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14516" y="2788920"/>
            <a:ext cx="22014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14516" y="3063240"/>
            <a:ext cx="220141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Risk-based prioritization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32804" y="3840480"/>
            <a:ext cx="216484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CyberArk Threat Analytics risk scores to prioritize which sessions get full runbook-match review first.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73134" y="1828800"/>
            <a:ext cx="2567178" cy="4023360"/>
          </a:xfrm>
          <a:prstGeom prst="roundRect">
            <a:avLst>
              <a:gd name="adj" fmla="val 2850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00691" y="21031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10100691" y="21031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56014" y="2788920"/>
            <a:ext cx="22014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256014" y="3063240"/>
            <a:ext cx="220141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02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auto-triage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274302" y="3840480"/>
            <a:ext cx="216484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fine-tuned first-pass classifier for high-volume triage; LLM handles escalated, ambiguous cases.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PAM Compliance Verification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0136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coverage vs. today’s sample-based spot checks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6002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180136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Days→Hrs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617720" y="26517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detect out-of-scope privileged actions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0" y="16002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458200" y="180136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458200" y="26517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evidence trail per verdict, for compliance review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384048" cy="384048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5" name="Image 0" descr="/home/claude/deck/icons/che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4471416"/>
            <a:ext cx="219456" cy="21945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97280" y="43434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CyberArk API access + ServiceNow runbook data structure with the platform teams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5010912"/>
            <a:ext cx="384048" cy="384048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8" name="Image 1" descr="/home/claude/deck/icons/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5093208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97280" y="4965192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Phase 1 (SSH) pilot on a limited scope of change types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48640" y="5632704"/>
            <a:ext cx="384048" cy="384048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21" name="Image 2" descr="/home/claude/deck/icons/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5715000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97280" y="5586984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confidence threshold that routes to human review vs. auto-attached evidence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PAM Compliance Verification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2026-08-11T06:55:05Z</dcterms:created>
  <dcterms:modified xsi:type="dcterms:W3CDTF">2026-08-11T06:55:05Z</dcterms:modified>
</cp:coreProperties>
</file>