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91440" cy="5394960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AI-Driven PAM Session</a:t>
            </a:r>
            <a:br/>
            <a:r>
              <a:t>Runbook Compliance</a:t>
            </a:r>
          </a:p>
          <a:p>
            <a:pPr>
              <a:defRPr sz="1700">
                <a:solidFill>
                  <a:srgbClr val="C8D7E6"/>
                </a:solidFill>
                <a:latin typeface="Aptos"/>
              </a:defRPr>
            </a:pPr>
            <a:r>
              <a:t>Validate CyberArk privileged-session activity against ServiceNow-approved runbooks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2194560" cy="566928"/>
          </a:xfrm>
          <a:prstGeom prst="roundRect">
            <a:avLst/>
          </a:prstGeom>
          <a:solidFill>
            <a:srgbClr val="1D3558"/>
          </a:solidFill>
          <a:ln w="12700">
            <a:solidFill>
              <a:srgbClr val="41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CyberArk PSM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3886200"/>
            <a:ext cx="2194560" cy="566928"/>
          </a:xfrm>
          <a:prstGeom prst="roundRect">
            <a:avLst/>
          </a:prstGeom>
          <a:solidFill>
            <a:srgbClr val="1D3558"/>
          </a:solidFill>
          <a:ln w="12700">
            <a:solidFill>
              <a:srgbClr val="41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886200"/>
            <a:ext cx="2194560" cy="566928"/>
          </a:xfrm>
          <a:prstGeom prst="roundRect">
            <a:avLst/>
          </a:prstGeom>
          <a:solidFill>
            <a:srgbClr val="1D3558"/>
          </a:solidFill>
          <a:ln w="12700">
            <a:solidFill>
              <a:srgbClr val="41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AI / VLM /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886200"/>
            <a:ext cx="2194560" cy="566928"/>
          </a:xfrm>
          <a:prstGeom prst="roundRect">
            <a:avLst/>
          </a:prstGeom>
          <a:solidFill>
            <a:srgbClr val="1D3558"/>
          </a:solidFill>
          <a:ln w="12700">
            <a:solidFill>
              <a:srgbClr val="41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SIEM / 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B4C8"/>
                </a:solidFill>
              </a:defRPr>
            </a:pPr>
            <a:r>
              <a:t>Consulting architecture proposal • MVP → near-real-time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Executive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Turn privileged-session recordings into auditable evidence of runbook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468880" cy="41148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468880" cy="2011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D3746"/>
                </a:solidFill>
                <a:latin typeface="Aptos"/>
              </a:defRPr>
            </a:pPr>
            <a:r>
              <a:t>Expected activity is derived from the approved ServiceNow change/runbook.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77639"/>
            <a:ext cx="2468880" cy="38404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05CAA"/>
                </a:solidFill>
                <a:latin typeface="Aptos"/>
              </a:defRPr>
            </a:pPr>
            <a:r>
              <a:t>AI +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468880" cy="41148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468880" cy="2011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D3746"/>
                </a:solidFill>
                <a:latin typeface="Aptos"/>
              </a:defRPr>
            </a:pPr>
            <a:r>
              <a:t>CyberArk session evidence is converted into a timestamped activity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77639"/>
            <a:ext cx="2468880" cy="38404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05CAA"/>
                </a:solidFill>
                <a:latin typeface="Aptos"/>
              </a:defRPr>
            </a:pPr>
            <a:r>
              <a:t>Video +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2468880" cy="41148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2468880" cy="2011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D3746"/>
                </a:solidFill>
                <a:latin typeface="Aptos"/>
              </a:defRPr>
            </a:pPr>
            <a:r>
              <a:t>Expected vs. observed actions are reconciled across activity, sequence, target and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39"/>
            <a:ext cx="2468880" cy="38404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05CAA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25880"/>
            <a:ext cx="2468880" cy="41148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737360"/>
            <a:ext cx="2468880" cy="2011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D3746"/>
                </a:solidFill>
                <a:latin typeface="Aptos"/>
              </a:defRPr>
            </a:pPr>
            <a:r>
              <a:t>Deviations create evidence-backed alerts and ServiceNow incidents/tasks.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3977639"/>
            <a:ext cx="2468880" cy="384048"/>
          </a:xfrm>
          <a:prstGeom prst="roundRect">
            <a:avLst/>
          </a:prstGeom>
          <a:solidFill>
            <a:srgbClr val="E5F0F8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05CAA"/>
                </a:solidFill>
                <a:latin typeface="Aptos"/>
              </a:defRPr>
            </a:pPr>
            <a:r>
              <a:t>Closed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0060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D3746"/>
                </a:solidFill>
                <a:latin typeface="Aptos"/>
              </a:defRPr>
            </a:pPr>
            <a:r>
              <a:t>Design principle: AI interprets evidence; deterministic policy controls make the compliance decision.</a:t>
            </a:r>
          </a:p>
          <a:p>
            <a:pPr>
              <a:spcAft>
                <a:spcPts val="700"/>
              </a:spcAft>
              <a:defRPr sz="1200">
                <a:solidFill>
                  <a:srgbClr val="2D3746"/>
                </a:solidFill>
                <a:latin typeface="Aptos"/>
              </a:defRPr>
            </a:pPr>
            <a:r>
              <a:t>Primary outcome: reduce manual PAM review effort while improving auditability and detection of unauthorized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Target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Start with high-volume, repeatable privileged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Windows / Linux patching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Validate stop → backup → patch → restart → health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Application restart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Validate correct host, service, sequence and post-change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Database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3639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Detect approved SQL vs. destructive / out-of-scope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Firewall / network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3639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Validate target device, configuration action and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AD / IAM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4515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Detect account, group, privilege and policy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074920" cy="39319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Configuration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45152"/>
            <a:ext cx="507492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D3746"/>
                </a:solidFill>
                <a:latin typeface="Aptos"/>
              </a:defRPr>
            </a:pPr>
            <a:r>
              <a:t>Validate backup, edit, syntax check and rollback readiness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Multi-stage pipeline: expected plan → observed evidence → policy decision →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057400" cy="658368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3746"/>
                </a:solidFill>
                <a:latin typeface="Aptos"/>
              </a:defRPr>
            </a:pPr>
            <a:r>
              <a:t>ServiceNow</a:t>
            </a:r>
            <a:br/>
            <a:r>
              <a:t>Change + Runbook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143000"/>
            <a:ext cx="2057400" cy="658368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3746"/>
                </a:solidFill>
                <a:latin typeface="Aptos"/>
              </a:defRPr>
            </a:pPr>
            <a:r>
              <a:t>CyberArk PSM</a:t>
            </a:r>
            <a:br/>
            <a:r>
              <a:t>Recording + 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143000"/>
            <a:ext cx="2057400" cy="658368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3746"/>
                </a:solidFill>
                <a:latin typeface="Aptos"/>
              </a:defRPr>
            </a:pPr>
            <a:r>
              <a:t>CyberArk</a:t>
            </a:r>
            <a:br/>
            <a:r>
              <a:t>Commands / Keystrokes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143000"/>
            <a:ext cx="2057400" cy="658368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3746"/>
                </a:solidFill>
                <a:latin typeface="Aptos"/>
              </a:defRPr>
            </a:pPr>
            <a:r>
              <a:t>Policy Library</a:t>
            </a:r>
            <a:br/>
            <a:r>
              <a:t>+ Approved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143000"/>
            <a:ext cx="1508760" cy="658368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IAM / CMDB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2560320" cy="9144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Runbook AI Parser</a:t>
            </a:r>
            <a:br/>
            <a:r>
              <a:t>LLM → structured 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560320" cy="9144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Video Intelligence</a:t>
            </a:r>
            <a:br/>
            <a:r>
              <a:t>OCR + timeline +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2560320" cy="9144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Command Normalizer</a:t>
            </a:r>
            <a:br/>
            <a:r>
              <a:t>Shell / PowerShell /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40280"/>
            <a:ext cx="2194560" cy="9144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Evidence Store</a:t>
            </a:r>
            <a:br/>
            <a:r>
              <a:t>Timeline + hashes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86200"/>
            <a:ext cx="2834640" cy="960120"/>
          </a:xfrm>
          <a:prstGeom prst="roundRect">
            <a:avLst/>
          </a:prstGeom>
          <a:solidFill>
            <a:srgbClr val="EAF6F0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Activity Correlation</a:t>
            </a:r>
            <a:br/>
            <a:r>
              <a:t>Semantic + exact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886200"/>
            <a:ext cx="2834640" cy="96012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Policy / Risk Engine</a:t>
            </a:r>
            <a:br/>
            <a:r>
              <a:t>Rules + thresholds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886200"/>
            <a:ext cx="2331720" cy="960120"/>
          </a:xfrm>
          <a:prstGeom prst="roundRect">
            <a:avLst/>
          </a:prstGeom>
          <a:solidFill>
            <a:srgbClr val="F0EBFA"/>
          </a:solidFill>
          <a:ln w="12700">
            <a:solidFill>
              <a:srgbClr val="7D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3746"/>
                </a:solidFill>
                <a:latin typeface="Aptos"/>
              </a:defRPr>
            </a:pPr>
            <a:r>
              <a:t>LLM Reasoning</a:t>
            </a:r>
            <a:br/>
            <a:r>
              <a:t>Explain deviations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94960"/>
            <a:ext cx="2331720" cy="5669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PASS →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5394960"/>
            <a:ext cx="2331720" cy="566928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WARNING →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394960"/>
            <a:ext cx="2331720" cy="566928"/>
          </a:xfrm>
          <a:prstGeom prst="roundRect">
            <a:avLst/>
          </a:prstGeom>
          <a:solidFill>
            <a:srgbClr val="FBE8E8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NON-COMPLIANT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5394960"/>
            <a:ext cx="2331720" cy="566928"/>
          </a:xfrm>
          <a:prstGeom prst="roundRect">
            <a:avLst/>
          </a:prstGeom>
          <a:solidFill>
            <a:srgbClr val="FBE8E8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CRITICAL → SOC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27632" y="1801368"/>
            <a:ext cx="0" cy="438912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05072" y="1801368"/>
            <a:ext cx="0" cy="438912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82512" y="1801368"/>
            <a:ext cx="0" cy="438912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85632" y="1801368"/>
            <a:ext cx="0" cy="438912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53928" y="1801368"/>
            <a:ext cx="0" cy="438912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11680" y="3154680"/>
            <a:ext cx="1005840" cy="73152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3154680"/>
            <a:ext cx="274320" cy="73152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400800" y="3154680"/>
            <a:ext cx="1280160" cy="73152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052560" y="3154680"/>
            <a:ext cx="1234440" cy="73152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103120" y="4846320"/>
            <a:ext cx="1143000" cy="54864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00600" y="4846320"/>
            <a:ext cx="1600200" cy="54864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4846320"/>
            <a:ext cx="91440" cy="54864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26880" y="4846320"/>
            <a:ext cx="822960" cy="548640"/>
          </a:xfrm>
          <a:prstGeom prst="line">
            <a:avLst/>
          </a:prstGeom>
          <a:ln w="1524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How the AI validates a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Convert both runbook and recording into a common activity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23444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0136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ServiceNow runbook → mandatory/optional steps, sequence, target and allowed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23444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0136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CyberArk evidence → commands, screen OCR, application context and timestamps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23444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23444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80136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Map variations such as “restart IIS” and “Restart-Service W3SVC” to one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47472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4164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Check activity, sequence, target, parameters, pre/post conditions and prohibited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47472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4164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LLM produces human-readable rationale with timestamped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74720"/>
            <a:ext cx="5029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474720"/>
            <a:ext cx="274320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041648"/>
            <a:ext cx="3383280" cy="11887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D3746"/>
                </a:solidFill>
                <a:latin typeface="Aptos"/>
              </a:defRPr>
            </a:pPr>
            <a:r>
              <a:t>Rules engine applies policy thresholds and creates PASS / WARNING / NON-COMPLIANT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Illustrative compliance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Example: Linux application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42900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Runbook expectation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42900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Observed CyberArk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43000"/>
            <a:ext cx="347472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1. Login to APP01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Login to APP01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474720" cy="530352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2. Stop app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systemctl stop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240280"/>
            <a:ext cx="3474720" cy="530352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3464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3. Backup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3464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No backup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834640"/>
            <a:ext cx="3474720" cy="530352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9119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4. Modify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2900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/etc/app/config.yml edited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429000"/>
            <a:ext cx="3474720" cy="530352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2336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5. Restart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2336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systemctl restart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023360"/>
            <a:ext cx="3474720" cy="530352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6. Validate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617720"/>
            <a:ext cx="3429000" cy="53035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Health check executed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617720"/>
            <a:ext cx="3474720" cy="530352"/>
          </a:xfrm>
          <a:prstGeom prst="roundRect">
            <a:avLst/>
          </a:prstGeom>
          <a:solidFill>
            <a:srgbClr val="F2F7F3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1208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7. No DB changes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5212080"/>
            <a:ext cx="3429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DELETE FROM customer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5212080"/>
            <a:ext cx="3474720" cy="530352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97880"/>
            <a:ext cx="10698480" cy="384048"/>
          </a:xfrm>
          <a:prstGeom prst="roundRect">
            <a:avLst/>
          </a:prstGeom>
          <a:solidFill>
            <a:srgbClr val="FBE8E8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Decision: NON-COMPLIANT • Missing mandatory backup + unauthorized destructive SQL • Evidence linked to session timestamps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Recommended AI model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Use specialized components rather than one model for the entire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1965960" cy="603504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Runbook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170432"/>
            <a:ext cx="29718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GPT-5-class reasoning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170432"/>
            <a:ext cx="57150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Interpret runbook, extract activities, dependencies and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56816"/>
            <a:ext cx="19659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Video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956816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Azure AI Video Indexer /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956816"/>
            <a:ext cx="5715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OCR, transcription, scene/timeline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196596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Command parsing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743200"/>
            <a:ext cx="29718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Deterministic parsers +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743200"/>
            <a:ext cx="57150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Shell, PowerShell, SQL and network command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9584"/>
            <a:ext cx="19659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Semantic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529584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Embedding model +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529584"/>
            <a:ext cx="5715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Match equivalent activities despite wording differences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15968"/>
            <a:ext cx="1965960" cy="603504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Compliance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315968"/>
            <a:ext cx="29718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Rules / policy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4315968"/>
            <a:ext cx="5715000" cy="60350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Deterministic thresholds, mandatory controls and prohibited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102352"/>
            <a:ext cx="19659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5102352"/>
            <a:ext cx="29718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GPT-5-class reasoning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5102352"/>
            <a:ext cx="5715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Evidence-backed deviation rationale and executive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989320"/>
            <a:ext cx="10515600" cy="347472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05CAA"/>
                </a:solidFill>
                <a:latin typeface="Aptos"/>
              </a:defRPr>
            </a:pPr>
            <a:r>
              <a:t>Design principle: LLM/VLM = interpretation; policy engine = control authority; CyberArk = privileged-session evidence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Risk and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Score deviations by control impact; escalate only when evidence supports the 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Expected step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143000"/>
            <a:ext cx="914400" cy="420624"/>
          </a:xfrm>
          <a:prstGeom prst="roundRect">
            <a:avLst/>
          </a:prstGeom>
          <a:solidFill>
            <a:srgbClr val="FAF5EB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143000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A8E5B"/>
                </a:solidFill>
                <a:latin typeface="Aptos"/>
              </a:defRPr>
            </a:pPr>
            <a:r>
              <a:t>GREEN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00784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Out-of-sequence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700784"/>
            <a:ext cx="914400" cy="420624"/>
          </a:xfrm>
          <a:prstGeom prst="roundRect">
            <a:avLst/>
          </a:prstGeom>
          <a:solidFill>
            <a:srgbClr val="FAF5EB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911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700784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C9119"/>
                </a:solidFill>
                <a:latin typeface="Aptos"/>
              </a:defRPr>
            </a:pPr>
            <a:r>
              <a:t>AMBER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58568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Optional step missing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258568"/>
            <a:ext cx="914400" cy="420624"/>
          </a:xfrm>
          <a:prstGeom prst="roundRect">
            <a:avLst/>
          </a:prstGeom>
          <a:solidFill>
            <a:srgbClr val="FAF5EB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911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58568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C9119"/>
                </a:solidFill>
                <a:latin typeface="Aptos"/>
              </a:defRPr>
            </a:pPr>
            <a:r>
              <a:t>AMBER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16352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Mandatory step missing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816352"/>
            <a:ext cx="914400" cy="420624"/>
          </a:xfrm>
          <a:prstGeom prst="roundRect">
            <a:avLst/>
          </a:prstGeom>
          <a:solidFill>
            <a:srgbClr val="FAF5EB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911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816352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C9119"/>
                </a:solidFill>
                <a:latin typeface="Aptos"/>
              </a:defRPr>
            </a:pPr>
            <a:r>
              <a:t>AMBER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74136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Wrong target server /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374136"/>
            <a:ext cx="914400" cy="420624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374136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E3737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31920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Unauthorized 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931920"/>
            <a:ext cx="914400" cy="420624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931920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E3737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9704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Privilege escalation / security control disabled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489704"/>
            <a:ext cx="914400" cy="420624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489704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E3737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47488"/>
            <a:ext cx="7040880" cy="420624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Destructive DB / high-impact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5047488"/>
            <a:ext cx="914400" cy="420624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3737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047488"/>
            <a:ext cx="18288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E3737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FFF6E4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3746"/>
                </a:solidFill>
                <a:latin typeface="Aptos"/>
              </a:defRPr>
            </a:pPr>
            <a:r>
              <a:t>Guardrail: no automated session termination from an LLM alone. Any disruptive action should be policy-driven and independently authorized.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Enterprise integration and closed-loop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ServiceNow remains the system of record; SIEM/SOC receives actionable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6479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Change / task / runbook</a:t>
            </a:r>
            <a:br/>
            <a:r>
              <a:t>CMDB / CI / approvals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2588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Compliance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76479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Ingestion → AI → policy</a:t>
            </a:r>
            <a:br/>
            <a:r>
              <a:t>Evidence →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CyberArk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6479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PSM session</a:t>
            </a:r>
            <a:br/>
            <a:r>
              <a:t>recording +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SIEM / SOC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6479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Splunk / Sentinel</a:t>
            </a:r>
            <a:br/>
            <a:r>
              <a:t>alert + investigation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65760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Evidence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09651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Immutable artifacts</a:t>
            </a:r>
            <a:br/>
            <a:r>
              <a:t>hash + timestamp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657600"/>
            <a:ext cx="2011680" cy="438912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096512"/>
            <a:ext cx="20116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Compliance KPIs</a:t>
            </a:r>
            <a:br/>
            <a:r>
              <a:t>trend / exceptions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1572768"/>
            <a:ext cx="502920" cy="0"/>
          </a:xfrm>
          <a:prstGeom prst="line">
            <a:avLst/>
          </a:prstGeom>
          <a:ln w="20320">
            <a:solidFill>
              <a:srgbClr val="20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1572768"/>
            <a:ext cx="0" cy="0"/>
          </a:xfrm>
          <a:prstGeom prst="line">
            <a:avLst/>
          </a:prstGeom>
          <a:ln w="20320">
            <a:solidFill>
              <a:srgbClr val="20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1572768"/>
            <a:ext cx="502919" cy="0"/>
          </a:xfrm>
          <a:prstGeom prst="line">
            <a:avLst/>
          </a:prstGeom>
          <a:ln w="20320">
            <a:solidFill>
              <a:srgbClr val="20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2743200"/>
            <a:ext cx="0" cy="914400"/>
          </a:xfrm>
          <a:prstGeom prst="line">
            <a:avLst/>
          </a:prstGeom>
          <a:ln w="1778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0520" y="2743200"/>
            <a:ext cx="0" cy="914400"/>
          </a:xfrm>
          <a:prstGeom prst="line">
            <a:avLst/>
          </a:prstGeom>
          <a:ln w="1778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66360" y="4160520"/>
            <a:ext cx="502920" cy="0"/>
          </a:xfrm>
          <a:prstGeom prst="line">
            <a:avLst/>
          </a:prstGeom>
          <a:ln w="17780">
            <a:solidFill>
              <a:srgbClr val="697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16636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D3746"/>
                </a:solidFill>
                <a:latin typeface="Aptos"/>
              </a:defRPr>
            </a:pPr>
            <a:r>
              <a:t>Alert payload should include: Change ID, CI, session ID, user, deviation type, risk, model confidence, exact timestamp and evidence pointer.</a:t>
            </a:r>
          </a:p>
          <a:p>
            <a:pPr>
              <a:spcAft>
                <a:spcPts val="700"/>
              </a:spcAft>
              <a:defRPr sz="1050">
                <a:solidFill>
                  <a:srgbClr val="2D3746"/>
                </a:solidFill>
                <a:latin typeface="Aptos"/>
              </a:defRPr>
            </a:pPr>
            <a:r>
              <a:t>Recommended SIEM action: correlate privileged-session deviations with authentication, endpoint, database and network telemetry.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Prove value with post-session analysis before moving toward near-real-time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4173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0–4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234440"/>
            <a:ext cx="164592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722376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Select 5–10 runbooks; map ServiceNow/CyberArk identifiers; establish evidence schema and security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4173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5–8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194560"/>
            <a:ext cx="164592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194560"/>
            <a:ext cx="722376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Build runbook parser, session ingestion, command/OCR extraction, activity matching and evidence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14173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9–12 weeks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154680"/>
            <a:ext cx="164592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154680"/>
            <a:ext cx="722376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Run against real sessions; tune false positives; establish reviewer workflow and KPI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4173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3–6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14800"/>
            <a:ext cx="164592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4114800"/>
            <a:ext cx="722376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Expand runbook library; integrate SIEM; automate ServiceNow incidents; add model evaluation and drift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417320" cy="50292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F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6–12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074920"/>
            <a:ext cx="1645920" cy="502920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Near-real-time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5074920"/>
            <a:ext cx="722376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Stream activity events; policy checks during sessions; controlled response for critical deviations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Measure compliance coverage, analyst efficiency and detection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Runbook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6479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% of privileged changes with machine-readable expected activities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Session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6479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% of eligible CyberArk sessions analyzed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32588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Detection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76479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Precision / recall for missing, unauthorized and out-of-sequence activities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3756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7647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Reduction in manual video review time per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3756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MTTD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77647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Time from session deviation to SOC / ServiceNow alert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337560"/>
            <a:ext cx="3429000" cy="438912"/>
          </a:xfrm>
          <a:prstGeom prst="roundRect">
            <a:avLst/>
          </a:prstGeom>
          <a:solidFill>
            <a:srgbClr val="205CAA"/>
          </a:solidFill>
          <a:ln w="12700">
            <a:solidFill>
              <a:srgbClr val="2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Audit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776472"/>
            <a:ext cx="342900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D3746"/>
                </a:solidFill>
                <a:latin typeface="Aptos"/>
              </a:defRPr>
            </a:pPr>
            <a:r>
              <a:t>% of findings with timestamped, replayable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669280"/>
            <a:ext cx="10515600" cy="50292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2A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A8E5B"/>
                </a:solidFill>
                <a:latin typeface="Aptos"/>
              </a:defRPr>
            </a:pPr>
            <a:r>
              <a:t>Recommended pilot acceptance target: high-confidence detection of mandatory-step omissions and prohibited actions, with human review for ambiguous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E37"/>
                </a:solidFill>
                <a:latin typeface="Aptos Display"/>
              </a:rPr>
              <a:t>Key 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  <a:latin typeface="Aptos"/>
              </a:defRPr>
            </a:pPr>
            <a:r>
              <a:t>Design for explainability, privacy and operational safety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Video quality / OCR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143000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Prefer CyberArk command/keystroke evidence; use video for corroboration; retain timestamps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92807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LLM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892807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Ground every conclusion in extracted evidence; require evidence references; use deterministic policy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42615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Sensitive data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642615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Private processing, encryption, RBAC, masking, retention and audit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92424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392424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Confidence thresholds + human review + feedback loop + runbook-specific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42231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Model drift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4142231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Golden test set, regression evaluation, prompt/version control and continuous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2880360" cy="502920"/>
          </a:xfrm>
          <a:prstGeom prst="roundRect">
            <a:avLst/>
          </a:prstGeom>
          <a:solidFill>
            <a:srgbClr val="FBF2E6"/>
          </a:solidFill>
          <a:ln w="12700">
            <a:solidFill>
              <a:srgbClr val="DC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D3746"/>
                </a:solidFill>
                <a:latin typeface="Aptos"/>
              </a:defRPr>
            </a:pPr>
            <a:r>
              <a:t>Unsafe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892040"/>
            <a:ext cx="7315200" cy="5029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D3746"/>
                </a:solidFill>
                <a:latin typeface="Aptos"/>
              </a:defRPr>
            </a:pPr>
            <a:r>
              <a:t>Separate analysis from enforcement; require policy-based authorization for disruptive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697382"/>
                </a:solidFill>
              </a:defRPr>
            </a:pPr>
            <a:r>
              <a:t>CyberArk PAM × ServiceNow × AI Runbook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8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Recommended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10561320" cy="731520"/>
          </a:xfrm>
          <a:prstGeom prst="roundRect">
            <a:avLst/>
          </a:prstGeom>
          <a:solidFill>
            <a:srgbClr val="1D3558"/>
          </a:solidFill>
          <a:ln w="12700">
            <a:solidFill>
              <a:srgbClr val="0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Build an AI-assisted PAM compliance service using CyberArk evidence + ServiceNow runbooks + multimodal AI + deterministic policy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Use CyberArk session metadata / commands as the primary evidence signal; use recording/OCR for corroboration.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Use a GPT-5-class reasoning model for runbook interpretation, semantic matching and evidence-backed explanations.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Use Azure Video Indexer / Vision as the video preprocessing layer where applicable.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Keep the compliance decision and escalation thresholds deterministic and auditable.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Start post-session, then evolve to near-real-time detection after the evidence pipeline is proven.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23560"/>
            <a:ext cx="10058400" cy="457200"/>
          </a:xfrm>
          <a:prstGeom prst="roundRect">
            <a:avLst/>
          </a:prstGeom>
          <a:solidFill>
            <a:srgbClr val="184655"/>
          </a:solidFill>
          <a:ln w="12700">
            <a:solidFill>
              <a:srgbClr val="00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Outcome: scalable privileged-activity assurance with less manual review and stronger audit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