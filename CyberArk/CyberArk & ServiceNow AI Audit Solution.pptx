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75" y="2189857"/>
            <a:ext cx="2686050" cy="2952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0451" y="2675632"/>
            <a:ext cx="8771096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b="1" sz="4200" i="0" u="none">
                <a:solidFill>
                  <a:srgbClr val="F8FAFC"/>
                </a:solidFill>
                <a:latin typeface="Inter"/>
              </a:rPr>
              <a:t>Automated CyberArk PAM Audit </a:t>
            </a:r>
            <a:r>
              <a:t>
</a:t>
            </a:r>
            <a:r>
              <a:rPr b="1" sz="4200" i="0" u="none">
                <a:solidFill>
                  <a:srgbClr val="F8FAFC"/>
                </a:solidFill>
                <a:latin typeface="Inter"/>
              </a:rPr>
              <a:t> vs. </a:t>
            </a:r>
            <a:r>
              <a:rPr b="1" sz="4200" i="0" u="none">
                <a:solidFill>
                  <a:srgbClr val="38BDF8"/>
                </a:solidFill>
                <a:latin typeface="Inter"/>
              </a:rPr>
              <a:t>ServiceNow Runbooks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4039492"/>
            <a:ext cx="8096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An end-to-end multimodal AI solution to validate privileged terminal and GUI session recordings against approved operational tasks.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2275582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238375"/>
            <a:ext cx="3587799" cy="3057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174" y="2238375"/>
            <a:ext cx="3587799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574" y="2238375"/>
            <a:ext cx="3587799" cy="3057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The Compliance &amp; Audit </a:t>
            </a:r>
            <a:r>
              <a:rPr b="1" sz="2850" i="0" u="none">
                <a:solidFill>
                  <a:srgbClr val="38BDF8"/>
                </a:solidFill>
                <a:latin typeface="Inter"/>
              </a:rP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095625"/>
            <a:ext cx="314711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Inter"/>
              </a:rPr>
              <a:t>Manual Audit Bottleneck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3457575"/>
            <a:ext cx="2997249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Security teams manually review thousands of hours of CyberArk video recordings to verify if system administrators followed approved ServiceNow runbook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095625"/>
            <a:ext cx="314711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Inter"/>
              </a:rPr>
              <a:t>Blind Spots &amp; Drift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457575"/>
            <a:ext cx="2997249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Standard SIEM tools only inspect raw command logs. Subtle GUI actions, unintended database queries, or unapproved script executions easily slip past traditional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3849" y="3095625"/>
            <a:ext cx="314711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Inter"/>
              </a:rPr>
              <a:t>The AI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3849" y="3457575"/>
            <a:ext cx="2997249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Leveraging multimodal AI and Computer Vision to automate frame-by-frame and log analysis, instantly ensuring total compliance between ServiceNow and CyberArk.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562225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449" y="256222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3849" y="2562225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424112"/>
            <a:ext cx="3613100" cy="1076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375" y="2424112"/>
            <a:ext cx="3613100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975" y="2424112"/>
            <a:ext cx="3613249" cy="107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033837"/>
            <a:ext cx="3613100" cy="1076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375" y="4033837"/>
            <a:ext cx="3613100" cy="1076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4033837"/>
            <a:ext cx="3613249" cy="1076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Solution </a:t>
            </a:r>
            <a:r>
              <a:rPr b="1" sz="2850" i="0" u="none">
                <a:solidFill>
                  <a:srgbClr val="38BDF8"/>
                </a:solidFill>
                <a:latin typeface="Inter"/>
              </a:rPr>
              <a:t>Architecture</a:t>
            </a:r>
            <a:r>
              <a:rPr b="1" sz="2850" i="0" u="none">
                <a:solidFill>
                  <a:srgbClr val="F8FAFC"/>
                </a:solidFill>
                <a:latin typeface="Inter"/>
              </a:rPr>
              <a:t> Pipeline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562" y="3671887"/>
            <a:ext cx="1428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5473" y="2624137"/>
            <a:ext cx="337370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Inter"/>
              </a:rPr>
              <a:t>1. ServiceNow Webhook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00362"/>
            <a:ext cx="3213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Change/Incident status triggers script fetching step-by-step runbook instructions.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9074" y="2624137"/>
            <a:ext cx="337370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Inter"/>
              </a:rPr>
              <a:t>2. CyberArk PVWA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400" y="2900362"/>
            <a:ext cx="3213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Retrieves session video (.mp4) and PSM audit keystroke text logs securely.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2670" y="2624137"/>
            <a:ext cx="337385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Inter"/>
              </a:rPr>
              <a:t>3. Ingestion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000" y="2900362"/>
            <a:ext cx="32131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Normalizes video frame timestamps and parses raw terminal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473" y="4233862"/>
            <a:ext cx="337370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Inter"/>
              </a:rPr>
              <a:t>4. Multimodal AI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10087"/>
            <a:ext cx="3213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Vision models and OCR scan terminal screens and GUI elements for discrepancies.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9074" y="4233862"/>
            <a:ext cx="337370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Inter"/>
              </a:rPr>
              <a:t>5. Reasoning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400" y="4510087"/>
            <a:ext cx="3213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Compares executed steps sequentially against approved ServiceNow runbook steps.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2670" y="4233862"/>
            <a:ext cx="337385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Inter"/>
              </a:rPr>
              <a:t>6. Automated Remediation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000" y="4510087"/>
            <a:ext cx="32131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Passes tickets or raises high-risk security alerts in SOC tools &amp; ServiceNow.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057400"/>
            <a:ext cx="5419725" cy="34194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64556"/>
            <a:ext cx="5419725" cy="32051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Recommended </a:t>
            </a:r>
            <a:r>
              <a:rPr b="1" sz="2850" i="0" u="none">
                <a:solidFill>
                  <a:srgbClr val="38BDF8"/>
                </a:solidFill>
                <a:latin typeface="Inter"/>
              </a:rPr>
              <a:t>AI Model</a:t>
            </a:r>
            <a:r>
              <a:rPr b="1" sz="2850" i="0" u="none">
                <a:solidFill>
                  <a:srgbClr val="F8FAFC"/>
                </a:solidFill>
                <a:latin typeface="Inter"/>
              </a:rPr>
              <a:t>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050" y="2914650"/>
            <a:ext cx="507063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Inter"/>
              </a:rPr>
              <a:t>Cloud-Native (Highest Accuracy)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276600"/>
            <a:ext cx="4829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Best for rapid deployment and analyzing raw video context directly via large context windows.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021806"/>
            <a:ext cx="507063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Inter"/>
              </a:rPr>
              <a:t>On-Premises / Air-Gapped (Strict Compliance)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383756"/>
            <a:ext cx="48291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Best for financial institutions requiring zero external data transmission.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2381250"/>
            <a:ext cx="3810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6800" y="3848100"/>
            <a:ext cx="4543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Google Gemini 2.0 Flash / 1.5 Pro: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Native multi-million token context window for raw video processing.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514850"/>
            <a:ext cx="4543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Claude 3.5 Sonnet / GPT-4o: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Superior precision for dense screen OCR and GUI reasoning.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488406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67525" y="3740943"/>
            <a:ext cx="4543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OCR &amp; Parsing: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PaddleOCR v4 or Microsoft OmniParser for keyframe element extraction.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4407693"/>
            <a:ext cx="4543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Reasoning LLM:</a:t>
            </a:r>
            <a:r>
              <a:rPr b="0" sz="1350" i="0" u="none">
                <a:solidFill>
                  <a:srgbClr val="94A3B8"/>
                </a:solidFill>
                <a:latin typeface="Inter"/>
              </a:rPr>
              <a:t> Qwen2.5-Coder-32B or Llama 3.3 70B hosted locally via vLLM.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Compliance </a:t>
            </a:r>
            <a:r>
              <a:rPr b="1" sz="2850" i="0" u="none">
                <a:solidFill>
                  <a:srgbClr val="38BDF8"/>
                </a:solidFill>
                <a:latin typeface="Inter"/>
              </a:rPr>
              <a:t>Discrepancy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5775" y="2028825"/>
            <a:ext cx="11220450" cy="347662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5775" y="2028825"/>
          <a:ext cx="11210923" cy="3476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289149"/>
                <a:gridCol w="2220515"/>
                <a:gridCol w="4491483"/>
                <a:gridCol w="3209776"/>
              </a:tblGrid>
              <a:tr h="869156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AFC"/>
                          </a:solidFill>
                          <a:latin typeface="Inter SemiBold"/>
                        </a:rPr>
                        <a:t>Risk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AFC"/>
                          </a:solidFill>
                          <a:latin typeface="Inter SemiBold"/>
                        </a:rPr>
                        <a:t>Deviation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AFC"/>
                          </a:solidFill>
                          <a:latin typeface="Inter SemiBold"/>
                        </a:rPr>
                        <a:t>Example Trigger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8FAFC"/>
                          </a:solidFill>
                          <a:latin typeface="Inter SemiBold"/>
                        </a:rPr>
                        <a:t>Automated 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LOW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Informational Anomaly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Minor typo corrected, directory listing commands (</a:t>
                      </a:r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ls, pwd</a:t>
                      </a:r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Logged silently for audit record.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9156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MEDIUM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Procedural Sequence Drift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Executing runbook tasks out of order or outside maintenance window.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Flagged in ServiceNow review queue.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915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HIGH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Security Violation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Unapproved script execution, unauthorized target IP, sudo escalation.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Inter"/>
                        </a:rPr>
                        <a:t>Immediate SOC alert &amp; Incident ticket created.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90537" y="2890837"/>
            <a:ext cx="12891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79686" y="2890837"/>
            <a:ext cx="2220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00202" y="2890837"/>
            <a:ext cx="4491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91686" y="2890837"/>
            <a:ext cx="3209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0537" y="3757612"/>
            <a:ext cx="12891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9686" y="3757612"/>
            <a:ext cx="2220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00202" y="3757612"/>
            <a:ext cx="4491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91686" y="3757612"/>
            <a:ext cx="3209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0537" y="4624387"/>
            <a:ext cx="12891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9686" y="4624387"/>
            <a:ext cx="2220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00202" y="4624387"/>
            <a:ext cx="4491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91686" y="4624387"/>
            <a:ext cx="3209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3233737"/>
            <a:ext cx="762000" cy="2381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971925"/>
            <a:ext cx="581025" cy="495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967287"/>
            <a:ext cx="781050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112" y="2291655"/>
            <a:ext cx="1247775" cy="2952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0374" y="2777430"/>
            <a:ext cx="10011251" cy="50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600" i="0" u="none">
                <a:solidFill>
                  <a:srgbClr val="F8FAFC"/>
                </a:solidFill>
                <a:latin typeface="Inter"/>
              </a:rPr>
              <a:t>Ready to Secure Your </a:t>
            </a:r>
            <a:r>
              <a:rPr b="1" sz="3600" i="0" u="none">
                <a:solidFill>
                  <a:srgbClr val="38BDF8"/>
                </a:solidFill>
                <a:latin typeface="Inter"/>
              </a:rPr>
              <a:t>Privileged Sessions</a:t>
            </a:r>
            <a:r>
              <a:rPr b="1" sz="3600" i="0" u="none">
                <a:solidFill>
                  <a:srgbClr val="F8FAFC"/>
                </a:solidFill>
                <a:latin typeface="Inter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423195"/>
            <a:ext cx="8096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Transform manual video reviews into automated, lightning-fast compliance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4437" y="4337595"/>
            <a:ext cx="2143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Inter Medium"/>
              </a:rPr>
              <a:t>Questions &amp; Discussion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037" y="2377380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