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INFRASTRUCTURE  —  AI-Driven Simplification &amp; Consolidation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063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APAC Countries  •  Multi-Forest/Domain  →  Single 'S' Forest  +  Azure AD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" y="585216"/>
            <a:ext cx="2651760" cy="21945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58521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1168" y="804672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" y="84124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13 APAC countries operating 6 separate AD forests and 20+ domains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115214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Complex trust relationships causing authentication failures &amp; latency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2608" y="146304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Inconsistent security policies, duplicate accounts &amp; high admin overhead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177393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unified identity — on-prem islands with no Azure AD integration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92608" y="208483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&amp; cloud initiatives blocked by fragmented identity infrastructure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1168" y="2560320"/>
            <a:ext cx="2651760" cy="219456"/>
          </a:xfrm>
          <a:prstGeom prst="rect">
            <a:avLst/>
          </a:prstGeom>
          <a:solidFill>
            <a:srgbClr val="1A3A8A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56032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1168" y="2779776"/>
            <a:ext cx="265176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16352"/>
            <a:ext cx="256032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16352"/>
            <a:ext cx="256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85216" y="2825496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'S' Forest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216" y="2980944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6 forests → 1 common AD forest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3191256"/>
            <a:ext cx="256032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191256"/>
            <a:ext cx="256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85216" y="3200400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Connect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5216" y="3355848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identity with Azure AD / Entra ID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256032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66160"/>
            <a:ext cx="256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85216" y="3575304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Automation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5216" y="3730752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to migrate, clean &amp; reconcile accounts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3941064"/>
            <a:ext cx="256032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41064"/>
            <a:ext cx="256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85216" y="3950208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Security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216" y="4105656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uniform MFA, RBAC &amp; Conditional Access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4315968"/>
            <a:ext cx="256032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15968"/>
            <a:ext cx="256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5216" y="4325112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Admin Overhead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" y="4480560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AD admin effort by 60%+ via AI &amp; automation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74320" y="4690872"/>
            <a:ext cx="256032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690872"/>
            <a:ext cx="2560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5216" y="4700016"/>
            <a:ext cx="21762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Compliance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5216" y="4855464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data residency &amp; regulatory requirements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01168" y="5148072"/>
            <a:ext cx="2651760" cy="219456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51480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KPIs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01168" y="5367528"/>
            <a:ext cx="2651760" cy="1325880"/>
          </a:xfrm>
          <a:prstGeom prst="rect">
            <a:avLst/>
          </a:prstGeom>
          <a:solidFill>
            <a:srgbClr val="0B1F4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2608" y="540410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92608" y="567842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Forests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92608" y="5833872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→ 1 Forest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161288" y="540410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61288" y="567842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Count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161288" y="5833872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→ 5 Domains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2029968" y="540410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029968" y="567842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Overhead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029968" y="5833872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effort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292608" y="602589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92608" y="630021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Uptime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92608" y="6455664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migration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1161288" y="602589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161288" y="630021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Sync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161288" y="6455664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APAC sites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2029968" y="602589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2029968" y="630021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Links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2029968" y="6455664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trusts removed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2944368" y="585216"/>
            <a:ext cx="416052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44368" y="585216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—  Fragmented Multi-Forest / Multi-Domain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944368" y="804672"/>
            <a:ext cx="4160520" cy="5888736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035808" y="868680"/>
            <a:ext cx="3977640" cy="256032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54096" y="868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6 AD Forests  •  20+ Domains  •  Complex Trusts  •  No Azure AD  •  Siloed Identity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054096" y="1170432"/>
            <a:ext cx="192024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54096" y="1170432"/>
            <a:ext cx="1920240" cy="20116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54096" y="11704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A  (corp.asia.local)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108960" y="1417320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0" y="141732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🇸🇬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108960" y="1664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SG.corp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3712464" y="1417320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12464" y="141732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🇲🇾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712464" y="1664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MY.corp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4315968" y="1417320"/>
            <a:ext cx="56692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15968" y="141732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🇹🇭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315968" y="166420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TH.corp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3054096" y="2148840"/>
            <a:ext cx="192024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054096" y="2148840"/>
            <a:ext cx="192024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54096" y="21488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B  (apac.int.local)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3108960" y="2395728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0" y="23957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🇮🇩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3108960" y="26426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ID.apac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4014216" y="2395728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014216" y="23957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🇵🇭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4014216" y="26426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PH.apac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5093208" y="1170432"/>
            <a:ext cx="192024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093208" y="1170432"/>
            <a:ext cx="1920240" cy="20116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93208" y="11704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  (jp.local)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148072" y="1417320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2D6A9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48072" y="1417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🇯🇵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5148072" y="166420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JP.local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6053328" y="1417320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2D6A9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53328" y="1417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🇰🇷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053328" y="166420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KR.local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5093208" y="2148840"/>
            <a:ext cx="192024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93208" y="2148840"/>
            <a:ext cx="192024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93208" y="21488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D  (au.grp.local)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5148072" y="2395728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48072" y="23957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🇦🇺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5148072" y="26426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AU.grp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6053328" y="2395728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053328" y="23957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🇭🇰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6053328" y="26426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HK.grp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3054096" y="3063240"/>
            <a:ext cx="192024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54096" y="3063240"/>
            <a:ext cx="192024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054096" y="3063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E  (sea.ops.local)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3108960" y="3310128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108960" y="33101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🇻🇳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3108960" y="35570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VN.ops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4014216" y="3310128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14216" y="33101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🇹🇼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4014216" y="35570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TW.ops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5093208" y="3063240"/>
            <a:ext cx="1920240" cy="868680"/>
          </a:xfrm>
          <a:prstGeom prst="rect">
            <a:avLst/>
          </a:prstGeom>
          <a:solidFill>
            <a:srgbClr val="FAFAFA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093208" y="3063240"/>
            <a:ext cx="192024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093208" y="3063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  (in-cn.local)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5148072" y="3310128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148072" y="33101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🇮🇳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5148072" y="35570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IN.local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6053328" y="3310128"/>
            <a:ext cx="8686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053328" y="33101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🇨🇳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6053328" y="35570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CN.local</a:t>
            </a:r>
            <a:endParaRPr lang="en-US" sz="600" dirty="0"/>
          </a:p>
        </p:txBody>
      </p:sp>
      <p:sp>
        <p:nvSpPr>
          <p:cNvPr id="124" name="Shape 122"/>
          <p:cNvSpPr/>
          <p:nvPr/>
        </p:nvSpPr>
        <p:spPr>
          <a:xfrm>
            <a:off x="4014216" y="1600200"/>
            <a:ext cx="2039112" cy="0"/>
          </a:xfrm>
          <a:prstGeom prst="line">
            <a:avLst/>
          </a:prstGeom>
          <a:noFill/>
          <a:ln w="12700">
            <a:solidFill>
              <a:srgbClr val="FCA5A5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4014216" y="2560320"/>
            <a:ext cx="2039112" cy="0"/>
          </a:xfrm>
          <a:prstGeom prst="line">
            <a:avLst/>
          </a:prstGeom>
          <a:noFill/>
          <a:ln w="12700">
            <a:solidFill>
              <a:srgbClr val="FCA5A5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3447288" y="2121408"/>
            <a:ext cx="0" cy="914400"/>
          </a:xfrm>
          <a:prstGeom prst="line">
            <a:avLst/>
          </a:prstGeom>
          <a:noFill/>
          <a:ln w="12700">
            <a:solidFill>
              <a:srgbClr val="FCA5A5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>
            <a:off x="5504688" y="2121408"/>
            <a:ext cx="0" cy="914400"/>
          </a:xfrm>
          <a:prstGeom prst="line">
            <a:avLst/>
          </a:prstGeom>
          <a:noFill/>
          <a:ln w="12700">
            <a:solidFill>
              <a:srgbClr val="FCA5A5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>
            <a:off x="4014216" y="3493008"/>
            <a:ext cx="1078992" cy="0"/>
          </a:xfrm>
          <a:prstGeom prst="line">
            <a:avLst/>
          </a:prstGeom>
          <a:noFill/>
          <a:ln w="12700">
            <a:solidFill>
              <a:srgbClr val="FCA5A5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>
            <a:off x="4224528" y="4005072"/>
            <a:ext cx="1554480" cy="228600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224528" y="40050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Complex Cross-Forest Trusts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054096" y="4297680"/>
            <a:ext cx="3941064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127248" y="43159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3108960" y="4517136"/>
            <a:ext cx="3867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 failures across forest boundaries  •  Duplicate user accounts per country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3108960" y="4718304"/>
            <a:ext cx="3867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single sign-on for cloud apps  •  Manual provisioning/deprovisioning across 20+ domains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108960" y="4919472"/>
            <a:ext cx="3867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Inconsistent GPOs &amp; security baselines  •  Audit failures due to fragmented identity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3767328" y="5193792"/>
            <a:ext cx="2468880" cy="329184"/>
          </a:xfrm>
          <a:prstGeom prst="rect">
            <a:avLst/>
          </a:prstGeom>
          <a:solidFill>
            <a:srgbClr val="EFF6FF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767328" y="51937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Azure AD / Entra ID Integration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3054096" y="5577840"/>
            <a:ext cx="3941064" cy="320040"/>
          </a:xfrm>
          <a:prstGeom prst="rect">
            <a:avLst/>
          </a:prstGeom>
          <a:solidFill>
            <a:srgbClr val="EEF4FF"/>
          </a:solidFill>
          <a:ln w="10160">
            <a:solidFill>
              <a:srgbClr val="C8D9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108960" y="5577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On-Prem DC per country  |  No centralised IAM  |  Manual processes  |  High MTTR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7178040" y="3200400"/>
            <a:ext cx="502920" cy="4754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178040" y="32004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2" name="Text 140"/>
          <p:cNvSpPr/>
          <p:nvPr/>
        </p:nvSpPr>
        <p:spPr>
          <a:xfrm>
            <a:off x="7132320" y="371246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7772400" y="585216"/>
            <a:ext cx="4224528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772400" y="585216"/>
            <a:ext cx="4224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 —  Single 'S' Forest + Azure AD / Entra ID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7772400" y="804672"/>
            <a:ext cx="4224528" cy="5888736"/>
          </a:xfrm>
          <a:prstGeom prst="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6" name="Shape 144"/>
          <p:cNvSpPr/>
          <p:nvPr/>
        </p:nvSpPr>
        <p:spPr>
          <a:xfrm>
            <a:off x="7882128" y="868680"/>
            <a:ext cx="4005072" cy="804672"/>
          </a:xfrm>
          <a:prstGeom prst="rect">
            <a:avLst/>
          </a:prstGeom>
          <a:solidFill>
            <a:srgbClr val="DBEAFE"/>
          </a:solidFill>
          <a:ln w="19050">
            <a:solidFill>
              <a:srgbClr val="0078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7" name="Shape 145"/>
          <p:cNvSpPr/>
          <p:nvPr/>
        </p:nvSpPr>
        <p:spPr>
          <a:xfrm>
            <a:off x="7882128" y="868680"/>
            <a:ext cx="400507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882128" y="923544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MICROSOFT AZURE AD / ENTRA ID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7936992" y="1170432"/>
            <a:ext cx="914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78D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936992" y="11704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8942832" y="1170432"/>
            <a:ext cx="914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78D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942832" y="11704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9948672" y="1170432"/>
            <a:ext cx="914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78D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948672" y="11704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Access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0954512" y="1170432"/>
            <a:ext cx="914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0078D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0954512" y="117043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B2B/B2C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884664" y="1673352"/>
            <a:ext cx="0" cy="201168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869680" y="1874520"/>
            <a:ext cx="20116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86968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Azure AD Connect / Cloud Sync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9884664" y="2148840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882128" y="2350008"/>
            <a:ext cx="4005072" cy="1170432"/>
          </a:xfrm>
          <a:prstGeom prst="rect">
            <a:avLst/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7882128" y="2350008"/>
            <a:ext cx="400507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7882128" y="235000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SINGLE 'S' FOREST  (s.corp.local)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7936992" y="2606040"/>
            <a:ext cx="749808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36992" y="2606040"/>
            <a:ext cx="749808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936992" y="260604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APAC-HUB</a:t>
            </a:r>
            <a:endParaRPr lang="en-US" sz="650" dirty="0"/>
          </a:p>
        </p:txBody>
      </p:sp>
      <p:sp>
        <p:nvSpPr>
          <p:cNvPr id="167" name="Text 165"/>
          <p:cNvSpPr/>
          <p:nvPr/>
        </p:nvSpPr>
        <p:spPr>
          <a:xfrm>
            <a:off x="7936992" y="278892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SG,HK,AU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8741664" y="2606040"/>
            <a:ext cx="749808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41664" y="2606040"/>
            <a:ext cx="749808" cy="1645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8741664" y="260604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SEA.s.corp</a:t>
            </a:r>
            <a:endParaRPr lang="en-US" sz="650" dirty="0"/>
          </a:p>
        </p:txBody>
      </p:sp>
      <p:sp>
        <p:nvSpPr>
          <p:cNvPr id="171" name="Text 169"/>
          <p:cNvSpPr/>
          <p:nvPr/>
        </p:nvSpPr>
        <p:spPr>
          <a:xfrm>
            <a:off x="8741664" y="278892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MY,TH,VN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546336" y="2606040"/>
            <a:ext cx="749808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546336" y="2606040"/>
            <a:ext cx="749808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9546336" y="260604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NEA.s.corp</a:t>
            </a:r>
            <a:endParaRPr lang="en-US" sz="650" dirty="0"/>
          </a:p>
        </p:txBody>
      </p:sp>
      <p:sp>
        <p:nvSpPr>
          <p:cNvPr id="175" name="Text 173"/>
          <p:cNvSpPr/>
          <p:nvPr/>
        </p:nvSpPr>
        <p:spPr>
          <a:xfrm>
            <a:off x="9546336" y="278892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JP,KR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10351008" y="2606040"/>
            <a:ext cx="749808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351008" y="2606040"/>
            <a:ext cx="74980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0351008" y="260604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SPA.s.corp</a:t>
            </a:r>
            <a:endParaRPr lang="en-US" sz="650" dirty="0"/>
          </a:p>
        </p:txBody>
      </p:sp>
      <p:sp>
        <p:nvSpPr>
          <p:cNvPr id="179" name="Text 177"/>
          <p:cNvSpPr/>
          <p:nvPr/>
        </p:nvSpPr>
        <p:spPr>
          <a:xfrm>
            <a:off x="10351008" y="278892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IN,CN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11155680" y="2606040"/>
            <a:ext cx="749808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155680" y="2606040"/>
            <a:ext cx="749808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1155680" y="2606040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OPS.s.corp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11155680" y="2788920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ID,PH,TW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9884664" y="3520440"/>
            <a:ext cx="0" cy="201168"/>
          </a:xfrm>
          <a:prstGeom prst="line">
            <a:avLst/>
          </a:prstGeom>
          <a:noFill/>
          <a:ln w="19050">
            <a:solidFill>
              <a:srgbClr val="0B1F4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882128" y="3721608"/>
            <a:ext cx="4005072" cy="658368"/>
          </a:xfrm>
          <a:prstGeom prst="rect">
            <a:avLst/>
          </a:prstGeom>
          <a:solidFill>
            <a:srgbClr val="EEF4FF"/>
          </a:solidFill>
          <a:ln w="12700">
            <a:solidFill>
              <a:srgbClr val="C8D9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936992" y="373989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DOMAIN CONTROLLERS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7936992" y="3931920"/>
            <a:ext cx="74980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7936992" y="393192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(Hub)</a:t>
            </a:r>
            <a:endParaRPr lang="en-US" sz="650" dirty="0"/>
          </a:p>
        </p:txBody>
      </p:sp>
      <p:sp>
        <p:nvSpPr>
          <p:cNvPr id="189" name="Shape 187"/>
          <p:cNvSpPr/>
          <p:nvPr/>
        </p:nvSpPr>
        <p:spPr>
          <a:xfrm>
            <a:off x="8741664" y="3931920"/>
            <a:ext cx="74980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8741664" y="393192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MY/TH/VN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9546336" y="3931920"/>
            <a:ext cx="74980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9546336" y="393192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JP/KR</a:t>
            </a:r>
            <a:endParaRPr lang="en-US" sz="650" dirty="0"/>
          </a:p>
        </p:txBody>
      </p:sp>
      <p:sp>
        <p:nvSpPr>
          <p:cNvPr id="193" name="Shape 191"/>
          <p:cNvSpPr/>
          <p:nvPr/>
        </p:nvSpPr>
        <p:spPr>
          <a:xfrm>
            <a:off x="10351008" y="3931920"/>
            <a:ext cx="74980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0351008" y="393192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AU/HK</a:t>
            </a:r>
            <a:endParaRPr lang="en-US" sz="650" dirty="0"/>
          </a:p>
        </p:txBody>
      </p:sp>
      <p:sp>
        <p:nvSpPr>
          <p:cNvPr id="195" name="Shape 193"/>
          <p:cNvSpPr/>
          <p:nvPr/>
        </p:nvSpPr>
        <p:spPr>
          <a:xfrm>
            <a:off x="11155680" y="3931920"/>
            <a:ext cx="749808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11155680" y="393192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IN/CN/ID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9884664" y="4379976"/>
            <a:ext cx="0" cy="18288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882128" y="4562856"/>
            <a:ext cx="4005072" cy="530352"/>
          </a:xfrm>
          <a:prstGeom prst="rect">
            <a:avLst/>
          </a:prstGeom>
          <a:solidFill>
            <a:srgbClr val="FAF5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882128" y="45811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AI-DRIVEN IDENTITY AUTOMATION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7936992" y="4791456"/>
            <a:ext cx="9144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936992" y="47914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AI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8942832" y="4791456"/>
            <a:ext cx="9144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942832" y="47914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9948672" y="4791456"/>
            <a:ext cx="9144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9948672" y="47914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10954512" y="4791456"/>
            <a:ext cx="9144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10954512" y="47914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7882128" y="5148072"/>
            <a:ext cx="4005072" cy="804672"/>
          </a:xfrm>
          <a:prstGeom prst="rect">
            <a:avLst/>
          </a:prstGeom>
          <a:solidFill>
            <a:srgbClr val="0B1F4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936992" y="51663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750" dirty="0"/>
          </a:p>
        </p:txBody>
      </p:sp>
      <p:sp>
        <p:nvSpPr>
          <p:cNvPr id="210" name="Text 208"/>
          <p:cNvSpPr/>
          <p:nvPr/>
        </p:nvSpPr>
        <p:spPr>
          <a:xfrm>
            <a:off x="7936992" y="53675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identity across 13 APAC countries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9948672" y="53675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Seamless SSO for cloud &amp; on-prem apps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7936992" y="5550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Azure AD Conditional Access &amp; MFA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9948672" y="55504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auto-detects stale/duplicate accounts</a:t>
            </a:r>
            <a:endParaRPr lang="en-US" sz="700" dirty="0"/>
          </a:p>
        </p:txBody>
      </p:sp>
      <p:sp>
        <p:nvSpPr>
          <p:cNvPr id="214" name="Text 212"/>
          <p:cNvSpPr/>
          <p:nvPr/>
        </p:nvSpPr>
        <p:spPr>
          <a:xfrm>
            <a:off x="7936992" y="5733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Unified GPO &amp; Zero-Trust security baseline</a:t>
            </a:r>
            <a:endParaRPr lang="en-US" sz="700" dirty="0"/>
          </a:p>
        </p:txBody>
      </p:sp>
      <p:sp>
        <p:nvSpPr>
          <p:cNvPr id="215" name="Text 213"/>
          <p:cNvSpPr/>
          <p:nvPr/>
        </p:nvSpPr>
        <p:spPr>
          <a:xfrm>
            <a:off x="9948672" y="5733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EC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Regulatory compliance across APAC</a:t>
            </a:r>
            <a:endParaRPr lang="en-US" sz="700" dirty="0"/>
          </a:p>
        </p:txBody>
      </p:sp>
      <p:sp>
        <p:nvSpPr>
          <p:cNvPr id="216" name="Shape 21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2026-04-18T05:44:37Z</dcterms:created>
  <dcterms:modified xsi:type="dcterms:W3CDTF">2026-04-18T05:44:37Z</dcterms:modified>
</cp:coreProperties>
</file>