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Copilot Studio implementation guidance: https://learn.microsoft.com/en-us/microsoft-copilot-studio/guidance/overview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Azure Copilot documentation: https://learn.microsoft.com/en-us/azure/copilot/</a:t>
            </a:r>
          </a:p>
          <a:p>
            <a:r>
              <a:t>Microsoft Learn — Choose between Microsoft 365 Copilot and Copilot Studio: https://learn.microsoft.com/en-us/microsoft-365/copilot/extensibility/copilot-studio-experience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Copilot Studio tools overview: https://learn.microsoft.com/en-us/microsoft-copilot-studio/agents-experience/tools-overview</a:t>
            </a:r>
          </a:p>
          <a:p>
            <a:r>
              <a:t>Microsoft Learn — Copilot Studio integrations: https://learn.microsoft.com/en-us/microsoft-copilot-studio/guidance/integrations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Design autonomous agent capabilities: https://learn.microsoft.com/en-us/microsoft-copilot-studio/guidance/autonomous-agents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Azure Copilot documentation: https://learn.microsoft.com/en-us/azure/copilot/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Copilot Studio implementation guidance: https://learn.microsoft.com/en-us/microsoft-copilot-studio/guidance/overview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</a:t>
            </a:r>
          </a:p>
          <a:p>
            <a:r>
              <a:t>Microsoft Learn — Copilot Studio implementation guidance: https://learn.microsoft.com/en-us/microsoft-copilot-studio/guidance/overview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Copilot Studio for Azure AI Infrastructure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4688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D2E6F5"/>
                </a:solidFill>
              </a:rPr>
              <a:t>AI-assisted operations • Agentic automation • Code assistance • Enterprise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069080"/>
            <a:ext cx="2971800" cy="731520"/>
          </a:xfrm>
          <a:prstGeom prst="roundRect">
            <a:avLst/>
          </a:prstGeom>
          <a:solidFill>
            <a:srgbClr val="1E3755"/>
          </a:solidFill>
          <a:ln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0262D"/>
                </a:solidFill>
              </a:rPr>
              <a:t>Observe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4069080"/>
            <a:ext cx="2971800" cy="731520"/>
          </a:xfrm>
          <a:prstGeom prst="roundRect">
            <a:avLst/>
          </a:prstGeom>
          <a:solidFill>
            <a:srgbClr val="1E3755"/>
          </a:solidFill>
          <a:ln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0262D"/>
                </a:solidFill>
              </a:rPr>
              <a:t>Reason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4069080"/>
            <a:ext cx="2971800" cy="731520"/>
          </a:xfrm>
          <a:prstGeom prst="roundRect">
            <a:avLst/>
          </a:prstGeom>
          <a:solidFill>
            <a:srgbClr val="1E3755"/>
          </a:solidFill>
          <a:ln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0262D"/>
                </a:solidFill>
              </a:rPr>
              <a:t>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4434840"/>
            <a:ext cx="822961" cy="0"/>
          </a:xfrm>
          <a:prstGeom prst="line">
            <a:avLst/>
          </a:prstGeom>
          <a:ln w="2540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89520" y="4434840"/>
            <a:ext cx="822960" cy="0"/>
          </a:xfrm>
          <a:prstGeom prst="line">
            <a:avLst/>
          </a:prstGeom>
          <a:ln w="25400">
            <a:solidFill>
              <a:srgbClr val="00B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ECDDC"/>
                </a:solidFill>
              </a:rPr>
              <a:t>Target audience: CIO • Head of Infrastructure • Cloud Ops • NOC/SOC • Enterprise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Executive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Move from dashboard-driven operations to an AI-assisted, governed operations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73152" cy="19202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074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1. AI Operations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31546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Natural-language interface for Azure estate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Correlates alerts, logs, metrics and CMDB context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Explains probable cause and next best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19202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8074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2. Agentic Remediation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01368"/>
            <a:ext cx="31546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Runs approved runbooks through Azure Automation / Functions / Power Automate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Human approval for high-risk actions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Auditable actions and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73152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80744"/>
            <a:ext cx="3154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3. Developer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01368"/>
            <a:ext cx="31546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Azure CLI, PowerShell, Bicep, Terraform, KQL and Kubernetes assistance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Code review, test generation and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10698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73152" cy="1417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10378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Faster incident triage • Lower MTTR • Fewer repetitive tickets • Higher engineering productivity • Standardized runbooks • Safer automation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Where Microsoft Copilot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Use the right Copilot for the right operating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" cy="3383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350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Azure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3246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Best for Azure-native operational assistance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Understand Azure environment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Service health, cost, topology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VM / AKS / storage operations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Troubleshooting and optimization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Generate Azure CLI, PowerShell, Bicep, Terraform, K8s 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18872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188720"/>
            <a:ext cx="73152" cy="338328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3350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55648"/>
            <a:ext cx="3246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Best for enterprise-specific agent workflows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Custom knowledge + instructions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Connect ServiceNow, SolarWinds, Splunk, APIs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Multi-step workflows and approvals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Autonomous triggers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Role-based, governed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18872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188720"/>
            <a:ext cx="73152" cy="3383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335024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GitHub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755648"/>
            <a:ext cx="32461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Best for software / automation engineering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Code completion and generation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Refactoring and debugging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Tests and documentation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Infrastructure-as-code assistance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PR / code review workflows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Target Azure AI Infra Ops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A governed agent sits above telemetry, ITSM, automation and infrastructure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10881360" cy="640080"/>
          </a:xfrm>
          <a:prstGeom prst="roundRect">
            <a:avLst/>
          </a:prstGeom>
          <a:solidFill>
            <a:srgbClr val="E8F2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262D"/>
                </a:solidFill>
              </a:rPr>
              <a:t>Users &amp; Teams  |  Infra Engineers • NOC • Cloud Ops • Service Desk •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777240"/>
          </a:xfrm>
          <a:prstGeom prst="roundRect">
            <a:avLst/>
          </a:prstGeom>
          <a:solidFill>
            <a:srgbClr val="E1F8FC"/>
          </a:solidFill>
          <a:ln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0262D"/>
                </a:solidFill>
              </a:rPr>
              <a:t>Copilot Studio — Azure Infra Ops Agent
Knowledge • Generative orchestration • Tools • Guardrails • Approvals •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Azure Monitor
Log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306324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ServiceNow
ITSM / CMDB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306324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SolarWinds /
Instana / Splunk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063240"/>
            <a:ext cx="20574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Defender / Tenable
Security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3063240"/>
            <a:ext cx="16459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Knowledge
SharePoint / KB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2240280" cy="9601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262D"/>
                </a:solidFill>
              </a:rPr>
              <a:t>Azure Automation
Runbooks /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4343400"/>
            <a:ext cx="2240280" cy="9601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262D"/>
                </a:solidFill>
              </a:rPr>
              <a:t>Power Automate
Approvals /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343400"/>
            <a:ext cx="2240280" cy="9601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262D"/>
                </a:solidFill>
              </a:rPr>
              <a:t>Azure Arc
On-prem / edge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343400"/>
            <a:ext cx="3063240" cy="9601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Azure / VMware / Windows / Linux / AKS
Target infrastructure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37360" y="3977639"/>
            <a:ext cx="0" cy="338329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77639" y="3977639"/>
            <a:ext cx="0" cy="338329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55080" y="3977639"/>
            <a:ext cx="0" cy="338329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3977639"/>
            <a:ext cx="0" cy="338329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Priority use cases for Azure Infrastructure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Start with high-volume, low-risk workflows and progressively introduce autonomous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73152" cy="1874519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93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Incident triage &amp; 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3200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Correlate alerts + telemetry + recent changes; summarize impact; suggest probable cause; create/update incident.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43000"/>
            <a:ext cx="73152" cy="1874519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893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Alert noise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09928"/>
            <a:ext cx="3200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Deduplicate related alerts, group incidents, suppress known transient patterns and route by service ownership.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43000"/>
            <a:ext cx="73152" cy="1874519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93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Runbook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09928"/>
            <a:ext cx="3200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Restart service, clear disk, scale VM/AKS, rotate certificate, collect diagnostics — with policy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91840"/>
            <a:ext cx="73152" cy="187451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Patch &amp; vulnerability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3200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Identify exposure, map affected assets, propose maintenance windows and generate remediation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918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291840"/>
            <a:ext cx="73152" cy="1874519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3814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Capacity &amp; cost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58768"/>
            <a:ext cx="3200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Detect idle/oversized resources, forecast demand and propose rightsizing / scheduling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918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291840"/>
            <a:ext cx="73152" cy="1874519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43814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Change impact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858768"/>
            <a:ext cx="320040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Assess dependencies, recent incidents, CMDB relationships and telemetry before approving change.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Example: AI-assisted incident-to-remediation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Human-in-the-loop by default; autonomous execution only for pre-approved runbooks.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1. Detect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Azure Monitor / SolarWinds / Splunk alert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2304288"/>
            <a:ext cx="219456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84248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2. Correlate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Logs, metrics, CMDB, changes and KB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2304288"/>
            <a:ext cx="219456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48456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3. 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Impact + probable cause + confidence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65776" y="2304288"/>
            <a:ext cx="219456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12664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4. 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Next-best action + runbook + risk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9983" y="2304288"/>
            <a:ext cx="219457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76872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5. 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Engineer approves medium/high-risk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94192" y="2304288"/>
            <a:ext cx="219456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6.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Automation / Arc performs remediation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8400" y="2304288"/>
            <a:ext cx="219455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05288" y="1828800"/>
            <a:ext cx="1417320" cy="960120"/>
          </a:xfrm>
          <a:prstGeom prst="roundRect">
            <a:avLst/>
          </a:prstGeom>
          <a:solidFill>
            <a:srgbClr val="EBF5FC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262D"/>
                </a:solidFill>
              </a:rPr>
              <a:t>7.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5288" y="2907792"/>
            <a:ext cx="1417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>
                <a:solidFill>
                  <a:srgbClr val="20262D"/>
                </a:solidFill>
              </a:rPr>
              <a:t>Check telemetry; update / close ticket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8412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4572000"/>
            <a:ext cx="73152" cy="9144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4718304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Example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38928"/>
            <a:ext cx="8092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“Disk utilization reached 92% on server X. Growth is 3.1%/day. Likely cause: application logs. Proposed action: archive logs → expand disk if required → verify. Ticket updated.”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Copilot for code &amp; infrastructure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Use GitHub Copilot and Azure Copilot to accelerate the engineering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73152" cy="2148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93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Infrastructure 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Generate / explain / refactor Bicep and Terraform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Create modules and reusable patterns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Validate configuration and security intent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14300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143000"/>
            <a:ext cx="73152" cy="214884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2893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Operations Scripting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70992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PowerShell, Azure CLI and KQL assistance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Generate diagnostic scripts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Convert manual procedures into repeatable runbooks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143000"/>
            <a:ext cx="3520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143000"/>
            <a:ext cx="73152" cy="21488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2893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Kubernetes /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709928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Generate Kubernetes YAML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Troubleshoot AKS workloads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Explain manifests and errors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Assist with Helm / deployment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73152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58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Code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78808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Unit / integration test generation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Refactoring and documentation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PR review assistance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Security-focused review prompts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61188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3611880"/>
            <a:ext cx="73152" cy="1920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758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Knowledge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178808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Explain legacy scripts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Search engineering standards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Generate implementation runbooks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Create architecture decision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61188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3611880"/>
            <a:ext cx="73152" cy="1920240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375818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4178808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No direct production changes from code suggestions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Branch / PR controls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Secrets scanning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Peer review + CI/CD policy gates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Broader enterprise Copilot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The same platform pattern can extend beyond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73152" cy="201168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Service Desk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0992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Password / access requests, ticket triage, knowledge answers, routing and status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430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143000"/>
            <a:ext cx="73152" cy="2011680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Cybersecurity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0992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Alert enrichment, vulnerability prioritization, investigation summaries and response playbooks.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Network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0992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Topology questions, incident correlation, configuration checks and change impact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1430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1143000"/>
            <a:ext cx="73152" cy="2011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Database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70992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Oracle / SQL diagnostics, performance summaries, job failures and runbook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474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474720"/>
            <a:ext cx="73152" cy="201168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2102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Application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4164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Application health, dependency analysis, log interpretation and deployment checks.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474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3474720"/>
            <a:ext cx="73152" cy="201168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62102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Architecture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04164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Standards lookup, reference architectures, technology assessments and design reviews.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74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474720"/>
            <a:ext cx="73152" cy="2011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62102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FinOps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04164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Cost anomaly explanation, rightsizing proposals, budget variance and savings actions.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474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89720" y="3474720"/>
            <a:ext cx="73152" cy="2011680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62102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Compliance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041648"/>
            <a:ext cx="2331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Control evidence collection, policy Q&amp;A, audit preparation and exception tracking.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Operating model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AI agents should be managed as production technology — with identity, controls, telemetry and lifecycle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2651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73152" cy="4251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Identity &amp;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Entra ID / RBAC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Least privilege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Managed identities where supported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Separate maker vs operator roles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Environment segregation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43000"/>
            <a:ext cx="2651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143000"/>
            <a:ext cx="73152" cy="4251960"/>
          </a:xfrm>
          <a:prstGeom prst="rect">
            <a:avLst/>
          </a:prstGeom>
          <a:solidFill>
            <a:srgbClr val="C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Risk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09928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Read-only first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Approval gates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Action allowlists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Risk classification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Break-glass process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Rollback /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2651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73152" cy="4251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Data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Data residency assessment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DLP policies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Connector governance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Secrets never in prompts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Prompt / tool injection controls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Audit trail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143000"/>
            <a:ext cx="2651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143000"/>
            <a:ext cx="73152" cy="42519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89304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709928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Dev / Test / Prod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Versioning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Evaluation test sets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Monitoring &amp; analytics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KPI review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Continuous 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Phased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Build trust through measurable, low-risk use cases before expanding autonomy.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5603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160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0744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0–3 months |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2240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Select 3–5 use cases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Connect knowledge + telemetry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Read-only agent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Define governance / RBAC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Baseline MTTR, tickets, toil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5603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73152" cy="416052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80744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3–6 months | 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01368"/>
            <a:ext cx="2240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RCA assistant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Incident summaries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KQL / script assistance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ServiceNow integration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Recommended remediation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25603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73152" cy="416052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380744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6–9 months | Automate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01368"/>
            <a:ext cx="2240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Approved runbooks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Human approvals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Auto-ticket updates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Patch / vulnerability workflows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Outcome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34440"/>
            <a:ext cx="25603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234440"/>
            <a:ext cx="73152" cy="4160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380744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9–12 months |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01368"/>
            <a:ext cx="2240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Autonomous low-risk actions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Multi-agent patterns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FinOps / security agents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Enterprise KPI dashboard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Continuous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23560"/>
            <a:ext cx="2560320" cy="5029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0262D"/>
                </a:solidFill>
              </a:rPr>
              <a:t>MTTR 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5623560"/>
            <a:ext cx="2560320" cy="5029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0262D"/>
                </a:solidFill>
              </a:rPr>
              <a:t>Toil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623560"/>
            <a:ext cx="2560320" cy="5029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0262D"/>
                </a:solidFill>
              </a:rPr>
              <a:t>First-time-fix 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5623560"/>
            <a:ext cx="2560320" cy="502920"/>
          </a:xfrm>
          <a:prstGeom prst="roundRect">
            <a:avLst/>
          </a:prstGeom>
          <a:solidFill>
            <a:srgbClr val="EEF8F0"/>
          </a:solidFill>
          <a:ln>
            <a:solidFill>
              <a:srgbClr val="107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0262D"/>
                </a:solidFill>
              </a:rPr>
              <a:t>Automation rate 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Recommended first-wave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Prioritize use cases with clear data, repeatable runbooks and measurable operational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731520" cy="5029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62D"/>
                </a:solidFill>
              </a:rPr>
              <a:t>Priority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143000"/>
            <a:ext cx="1600200" cy="5029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62D"/>
                </a:solidFill>
              </a:rP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43000"/>
            <a:ext cx="2331720" cy="5029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62D"/>
                </a:solidFill>
              </a:rPr>
              <a:t>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143000"/>
            <a:ext cx="2743200" cy="5029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62D"/>
                </a:solidFill>
              </a:rPr>
              <a:t>Primary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143000"/>
            <a:ext cx="914400" cy="5029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62D"/>
                </a:solidFill>
              </a:rPr>
              <a:t>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143000"/>
            <a:ext cx="914400" cy="5029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0262D"/>
                </a:solidFill>
              </a:rPr>
              <a:t>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64208"/>
            <a:ext cx="731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0262D"/>
                </a:solidFill>
              </a:rPr>
              <a:t>P1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664208"/>
            <a:ext cx="1600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Infra Ops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664208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Incident triage + RCA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664208"/>
            <a:ext cx="2743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Azure Monitor / Log Analytics + ServiceNow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64208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664208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Low–Medium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377440"/>
            <a:ext cx="73152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0262D"/>
                </a:solidFill>
              </a:rPr>
              <a:t>P1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2377440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Runbook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377440"/>
            <a:ext cx="233172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Disk / service / VM remediation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377440"/>
            <a:ext cx="2743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Azure Automation + Arc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377440"/>
            <a:ext cx="9144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High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377440"/>
            <a:ext cx="9144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090672"/>
            <a:ext cx="731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0262D"/>
                </a:solidFill>
              </a:rPr>
              <a:t>P1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3090672"/>
            <a:ext cx="1600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Engineering Copilot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090672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PowerShell / KQL / Bicep / Terraform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20" y="3090672"/>
            <a:ext cx="2743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GitHub Copilot + Azure Copilot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090672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3090672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803904"/>
            <a:ext cx="73152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0262D"/>
                </a:solidFill>
              </a:rPr>
              <a:t>P2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3803904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Change 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803904"/>
            <a:ext cx="233172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Change impact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803904"/>
            <a:ext cx="2743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CMDB + monitoring +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3803904"/>
            <a:ext cx="9144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Medium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3803904"/>
            <a:ext cx="9144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Medium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517136"/>
            <a:ext cx="731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0262D"/>
                </a:solidFill>
              </a:rPr>
              <a:t>P2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4517136"/>
            <a:ext cx="1600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Vulnerability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4517136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Prioritize and orchestrate remediation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4517136"/>
            <a:ext cx="2743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Defender / Tenable + ITSM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517136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4517136"/>
            <a:ext cx="914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Medium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230368"/>
            <a:ext cx="73152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20262D"/>
                </a:solidFill>
              </a:rPr>
              <a:t>P3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5230368"/>
            <a:ext cx="1600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FinOps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230368"/>
            <a:ext cx="233172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Rightsizing / cost anomaly explanation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74920" y="5230368"/>
            <a:ext cx="27432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Azure Cost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5230368"/>
            <a:ext cx="9144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Medium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5230368"/>
            <a:ext cx="9144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20262D"/>
                </a:solidFill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33A"/>
                </a:solidFill>
              </a:rPr>
              <a:t>Decision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6E"/>
                </a:solidFill>
              </a:rPr>
              <a:t>Recommended direction: establish one governed Infra Ops Agent, then scale a reusable agent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356616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074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Recommended architecture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49834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1. Use Copilot Studio as the enterprise orchestration layer for custom infra workflows.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2. Use Azure Copilot for Azure-native operator assistance.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3. Use GitHub Copilot for code / IaC / scripting productivity.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4. Integrate existing observability and ITSM investments rather than replacing them.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5. Keep production actions behind RBAC, policy and approval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4406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73152" cy="356616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80744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12233A"/>
                </a:solidFill>
              </a:rPr>
              <a:t>Next 30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01368"/>
            <a:ext cx="5120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Confirm 3 P1 use cases and owners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Inventory telemetry, APIs, runbooks and knowledge sources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Define security / data / residency requirements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Build read-only prototype in non-production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Establish evaluation set and success KPIs</a:t>
            </a:r>
          </a:p>
          <a:p>
            <a:pPr>
              <a:spcAft>
                <a:spcPts val="500"/>
              </a:spcAft>
              <a:defRPr sz="1150">
                <a:solidFill>
                  <a:srgbClr val="20262D"/>
                </a:solidFill>
              </a:defRPr>
            </a:pPr>
            <a:r>
              <a:t>• Demonstrate incident → RCA → recommendation → approval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2233A"/>
                </a:solidFill>
              </a:rPr>
              <a:t>Success measure: less operator toil + faster resolution + safer standardized automation — not simply more AI interactions.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565392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646E"/>
                </a:solidFill>
              </a:rPr>
              <a:t>Azure AI / Copilot operating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