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8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54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5029200" cy="5029200"/>
          </a:xfrm>
          <a:prstGeom prst="ellipse">
            <a:avLst/>
          </a:prstGeom>
          <a:solidFill>
            <a:srgbClr val="0E4C7A">
              <a:alpha val="45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VULNERABILITY &amp; PATCH MANAGEMENT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Solution Design and Market Landscape Review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329184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Solution Proposal      </a:t>
            </a:r>
            <a:r>
              <a:rPr lang="en-US" sz="14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Market Solutions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 Principal Infrastructure &amp; Cloud Architecture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Solution Design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377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 AI solves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3154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end-to-end architecture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across the lifecycle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754880"/>
            <a:ext cx="457200" cy="45720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4709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phased rollout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Market Landscape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0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65836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2377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single-vendor match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0" y="3200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5836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3154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 by category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65836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back to the architecture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83680" y="4754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65836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0" y="4709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Problem AI Actually Solves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VM programs fail on human bottlenecks, not tooling gaps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188720"/>
          </a:xfrm>
          <a:prstGeom prst="roundRect">
            <a:avLst>
              <a:gd name="adj" fmla="val 5385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89280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is manual and CVSS-only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triage thousands of CVEs by severity score alone, missing which are actually being exploited or relevant to their asset context.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name="adj" fmla="val 5385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331012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CVE-to-patch mapping is manual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370332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has to read every advisory and figure out which package/KB/version fixes it, across every OS and application.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91672" cy="1188720"/>
          </a:xfrm>
          <a:prstGeom prst="roundRect">
            <a:avLst>
              <a:gd name="adj" fmla="val 5385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868680" y="4983480"/>
            <a:ext cx="502920" cy="502920"/>
          </a:xfrm>
          <a:prstGeom prst="ellipse">
            <a:avLst/>
          </a:prstGeom>
          <a:solidFill>
            <a:srgbClr val="D98E2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8686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72744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consumes analyst 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512064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risk assessments, change descriptions, and executive summaries every single cycle, largely by hand.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Section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End-to-End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decision layer added in front of the existing patch orchestration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96312" y="2587752"/>
            <a:ext cx="292608" cy="219456"/>
          </a:xfrm>
          <a:prstGeom prst="rightArrow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2770632" y="2103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2770632" y="21031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18304" y="2587752"/>
            <a:ext cx="292608" cy="219456"/>
          </a:xfrm>
          <a:prstGeom prst="rightArrow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4992624" y="2103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FC7B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992624" y="21031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Remediation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940296" y="2587752"/>
            <a:ext cx="292608" cy="219456"/>
          </a:xfrm>
          <a:prstGeom prst="rightArrow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7214616" y="2103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7214616" y="21031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62288" y="2587752"/>
            <a:ext cx="292608" cy="219456"/>
          </a:xfrm>
          <a:prstGeom prst="rightArrow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9436608" y="2103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9436608" y="21031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34015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scanner → CMDB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70632" y="34015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CVSS+EPSS+KEV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business context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92624" y="34015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CVE→patch,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change draft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14616" y="34015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Change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Ansible/SCCM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36608" y="340156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anomaly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0853928" cy="777240"/>
          </a:xfrm>
          <a:prstGeom prst="roundRect">
            <a:avLst>
              <a:gd name="adj" fmla="val 8235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822960" y="4434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deployment outcome (success, rollback, incident) flows back into the ML risk-scoring model, so prioritization improves every cycle instead of staying static.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the existing ServiceNow patch orchestration workflow: inventory → change → download → package → deploy → confirm → report.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Section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Capability by Lifecycle Stage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through remediation planning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881360" cy="4343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asset/vuln correlation against CMDB, auto-flags unmanaged assets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reconciliation spreadsheets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Tenable/Qualys + ServiceNow VR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model combining CVSS + EPSS + CISA KEV + business-tier/exposure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“patch critical first” triage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Predictive Intel, Tenable VPR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CVE-to-patch mapping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parses advisories, auto-matches the KB/package/version that fixes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manually researching each CVE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LLM pipeline (Claude/GPT API)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drafting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auto-writes Change description, risk statement, rollback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manually typing every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Now Assist, Claude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Section 3</a:t>
            </a:r>
            <a:endParaRPr lang="en-US" sz="1000" dirty="0"/>
          </a:p>
        </p:txBody>
      </p:sp>
      <p:sp>
        <p:nvSpPr>
          <p:cNvPr id="4" name="Text 3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Capability by Lifecycle Stage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through continuous improvement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881360" cy="4343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— AI does not touch execution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 Automation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Post-patch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AIOps anomaly detection on logs/metrics beyond binary health checks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log review after 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AIOps, Dynatrace Davis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turns compliance data into a narrative report per audience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writing reports each 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Claude/GPT API, Now Assist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retraining on deployment outcomes to refine future risk scores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rules that never improve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loop → ML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Section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Different From “Just Add AI to Patching”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design solved execution. This adds the decision layer in front of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CVSS-only prioritization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theoretical severity. Treats thousands of “critical” CVEs as equally urgent, most of which are never exploited.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47548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drown in “critical” findings; real threats hide in the noise.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76672" cy="4023360"/>
          </a:xfrm>
          <a:prstGeom prst="roundRect">
            <a:avLst>
              <a:gd name="adj" fmla="val 1818"/>
            </a:avLst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+ exploit-intel scoring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real-world exploitation probability. Combines exploit activity, CISA KEV, and business/asset context.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611880"/>
            <a:ext cx="4754880" cy="0"/>
          </a:xfrm>
          <a:prstGeom prst="line">
            <a:avLst/>
          </a:prstGeom>
          <a:noFill/>
          <a:ln w="12700">
            <a:solidFill>
              <a:srgbClr val="3E6C8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658368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0690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the top tier by exploit likelihood catches most active threats — without wasting effort on CVEs that are never actually exploited.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Section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augments the decision — it does not replace the human gate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Tier 0 / DMZ changes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prioritizes and drafts — a human still approves every Change affecting high-risk systems.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4599432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599432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2834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is logged for audit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36118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inputs and outputs are recorded, so any ranking decision can be explained after the fact.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8375904" y="2103120"/>
            <a:ext cx="548640" cy="548640"/>
          </a:xfrm>
          <a:prstGeom prst="ellipse">
            <a:avLst/>
          </a:prstGeom>
          <a:solidFill>
            <a:srgbClr val="D98E2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837590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75904" y="2834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 stays narrow, for now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5904" y="36118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auto-approve-and-deploy is reserved, if ever, for the lowest-risk asset tier only, once the model has a track record.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Section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Phasing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 rollout, reusing the existing orchestration integration at every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0570464" cy="0"/>
          </a:xfrm>
          <a:prstGeom prst="line">
            <a:avLst/>
          </a:prstGeom>
          <a:noFill/>
          <a:ln w="254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668780" y="1828800"/>
            <a:ext cx="457200" cy="45720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6687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2148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EPSS/exploit-intel scoring alongside existing CVSS — low effort, immediate prioritization lift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75988" y="1828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475988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47288" y="2377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3447288" y="25420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0168" y="2971800"/>
            <a:ext cx="2148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Change drafting + CVE-to-patch NLP mapping, integrated into the existing orchestration layer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83196" y="1828800"/>
            <a:ext cx="457200" cy="457200"/>
          </a:xfrm>
          <a:prstGeom prst="ellipse">
            <a:avLst/>
          </a:prstGeom>
          <a:solidFill>
            <a:srgbClr val="3FC7B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7283196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54496" y="2377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6254496" y="25420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37376" y="2971800"/>
            <a:ext cx="2148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validation and GenAI reporting layered on top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90404" y="1828800"/>
            <a:ext cx="457200" cy="457200"/>
          </a:xfrm>
          <a:prstGeom prst="ellipse">
            <a:avLst/>
          </a:prstGeom>
          <a:solidFill>
            <a:srgbClr val="D98E2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10090404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61704" y="23774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9061704" y="25420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44584" y="2971800"/>
            <a:ext cx="2148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outcome data for the feedback loop; revisit a custom predictive model after 12+ months of data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Section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8961120" y="3657600"/>
            <a:ext cx="5029200" cy="5029200"/>
          </a:xfrm>
          <a:prstGeom prst="ellipse">
            <a:avLst/>
          </a:prstGeom>
          <a:solidFill>
            <a:srgbClr val="0E4C7A">
              <a:alpha val="5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Off-the-Shelf AI Solutions Available in the Market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moved quickly toward this exact pattern — mapped by category against the architecture in Part 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Closest Single-Vendor Match to the Full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Ivanti Neurons for Patch Management (Autonomous Endpoint Management)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04672" y="2084832"/>
            <a:ext cx="457200" cy="45720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0467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44752" y="199339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prioritization (VRR)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exploit activity, CISA KEV data, asset criticality, and real-time threat intel — independent of NVD, so unaffected by its enrichment backlog.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3912" y="18288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6409944" y="2084832"/>
            <a:ext cx="457200" cy="45720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6409944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0024" y="199339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remediation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28232" y="26974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release: governed, automated workflows that act on trusted data with admin control.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804672" y="4050792"/>
            <a:ext cx="457200" cy="45720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804672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4752" y="395935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Compliance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Auto-patches out-of-compliance endpoints outside scheduled windows, reducing manual follow-up.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53912" y="37947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Shape 18"/>
          <p:cNvSpPr/>
          <p:nvPr/>
        </p:nvSpPr>
        <p:spPr>
          <a:xfrm>
            <a:off x="6409944" y="4050792"/>
            <a:ext cx="457200" cy="457200"/>
          </a:xfrm>
          <a:prstGeom prst="ellipse">
            <a:avLst/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6409944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50024" y="395935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discovery-to-remediation gap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28232" y="46634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explicitly around machine-speed remediation, since AI now accelerates discovery faster than manual triage can track.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Section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Scanning + AI Risk Prioritization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“front end” of the architecture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881360" cy="4663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Tenable 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 Response SLAs, prescriptive guidance, attack path blocking across hybrid domains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scanning (Nessus); needs separate remediation tooling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CrowdStrike Falcon (ExPRT.AI)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exploitation activity + endpoint visibility EPSS can't see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if already a Falcon shop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Rapid7 Command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prioritization + “Active Remediation”; 250+ orchestration plugins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orchestration/automation 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Bitsight (DVE Score)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 prediction using external/underground intel, mapped to MITRE ATT&amp;CK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threat-intel layer, not an execution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Qualys VMDR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patch-remediation built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scanning + patching from one vendor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Section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Layer &amp; ITSM-Native Options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Vendor-Agnostic Aggregation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Security aggregates findings from Tenable, Qualys, Rapid7, AWS Inspector, Microsoft Defender and others, normalizes and deduplicates them, applies risk-based prioritization, and orchestrates remediation with ITSM ticket creation and closure validation.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players: Vulcan Cyber, Seemplicity, Brinqa.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organizations with scanner sprawl needing one prioritization layer above all of them.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76672" cy="4114800"/>
          </a:xfrm>
          <a:prstGeom prst="roundRect">
            <a:avLst>
              <a:gd name="adj" fmla="val 1778"/>
            </a:avLst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ITSM-Native (ServiceNow)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Vulnerability Response pulls data from Qualys, Tenable, and Rapid7, matches findings to CMDB assets, groups them into Remediation Tasks, and prioritizes by business risk. The Tenable integration supports bi-directional CMDB sync and automated re-assessment — a full closed loop.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42519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natural fit if already standardizing on ServiceNow. Pair with Now Assist / Predictive Intelligence for GenAI drafting and risk scoring.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Section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Lighter-Weight / Mid-Market Patch Automation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teams that don't need a full enterprise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3108960"/>
          </a:xfrm>
          <a:prstGeom prst="roundRect">
            <a:avLst>
              <a:gd name="adj" fmla="val 2353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Automox &amp; Action1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Lighter, faster-to-deploy alternatives if Ivanti/Tenable/Qualys feel like too much platform for your scale.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35204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Action1 is positioned as a cloud-native alternative offering autonomous patching, vulnerability remediation, and real-time compliance reporting without requiring VPNs or on-prem infrastructure — relevant if your Tier 0/DMZ environment has connectivity constraints.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Section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Back to the Proposed Architecture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0881360" cy="43891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Stage (Part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/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 scanner + CMDB reconciliation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Tenable, Qualys, Ivanti Neurons Discovery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Risk Prioritization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EPSS/exploit-intel scoring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Ivanti VRR, CrowdStrike ExPRT.AI, Bitsight DVE, Nucleus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Drafting / GenAI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ITSM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Now Assist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/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deployment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Ivanti Neurons, Ansible AAP, Automox, Action1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Closed-Loop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Re-scan + closure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Tenable-ServiceNow integration, Nucleus, Rapid7 InsightConnect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Section 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&amp; Patch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1E2C4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existing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4688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Tenable or Qualys (scanning) + ServiceNow Vulnerability Response + Now Assist (ITSM/GenAI) + Ansible Automation Platform (execution).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4023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— reuses everything from the prior architecture rather than replacing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0E4C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vendors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Ivanti Neurons as the single product covering discovery, AI risk scoring, and autonomous patch execution.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0" y="4023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platform lock-in, but the most complete out-of-the-box coverage of the full loop.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paths: a human stays the final approval gate for Tier 0 / DMZ changes.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1599</Words>
  <Application>Microsoft Office PowerPoint</Application>
  <PresentationFormat>Widescreen</PresentationFormat>
  <Paragraphs>256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Pankaj Gupta</cp:lastModifiedBy>
  <cp:revision>1</cp:revision>
  <dcterms:created xsi:type="dcterms:W3CDTF">2026-07-29T10:42:14Z</dcterms:created>
  <dcterms:modified xsi:type="dcterms:W3CDTF">2026-07-29T10:46:43Z</dcterms:modified>
</cp:coreProperties>
</file>