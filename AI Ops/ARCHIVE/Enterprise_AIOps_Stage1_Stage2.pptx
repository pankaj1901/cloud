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7: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8: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9: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10: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11: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12: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13: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14: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15: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16: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17: Explain the business context, architecture intent, operational benefits, and assumptions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AIOps Strategy &amp;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Stage 1 &amp; 2 – Executive Architecture, Current State, and Target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Objective: Consolidate monitoring and observability into a unified AIOps platform</a:t>
            </a:r>
          </a:p>
          <a:p>
            <a:pPr>
              <a:defRPr sz="1800"/>
            </a:pPr>
            <a:r>
              <a:t>Scope: On-premises, Azure cloud, network, database, application, and container environments</a:t>
            </a:r>
          </a:p>
          <a:p>
            <a:pPr>
              <a:defRPr sz="1800"/>
            </a:pPr>
            <a:r>
              <a:t>Expected Outcomes: 50–70% alert reduction, 30–50% MTTR improvement, predictive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Business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Operational complexity across multiple monitoring tools</a:t>
            </a:r>
          </a:p>
          <a:p>
            <a:pPr>
              <a:defRPr sz="1800"/>
            </a:pPr>
            <a:r>
              <a:t>Duplicate alerts and fragmented dashboards</a:t>
            </a:r>
          </a:p>
          <a:p>
            <a:pPr>
              <a:defRPr sz="1800"/>
            </a:pPr>
            <a:r>
              <a:t>Need for AI-assisted operations and automated remediation</a:t>
            </a:r>
          </a:p>
          <a:p>
            <a:pPr>
              <a:defRPr sz="1800"/>
            </a:pPr>
            <a:r>
              <a:t>Regulatory requirements for auditability and resilience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Current Monitoring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Infrastructure Monitoring: SolarWinds, Oracle OEM, Prometheus, Grafana, Azure Monitor, IBM Instana</a:t>
            </a:r>
          </a:p>
          <a:p>
            <a:pPr>
              <a:defRPr sz="1800"/>
            </a:pPr>
            <a:r>
              <a:t>Log Platforms: Splunk, Azure Log Analytics Workspace, Syslog Servers</a:t>
            </a:r>
          </a:p>
          <a:p>
            <a:pPr>
              <a:defRPr sz="1800"/>
            </a:pPr>
            <a:r>
              <a:t>ITSM: ServiceNow</a:t>
            </a:r>
          </a:p>
          <a:p>
            <a:pPr>
              <a:defRPr sz="1800"/>
            </a:pPr>
            <a:r>
              <a:t>Cloud: Azure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Existing Monitoring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SolarWinds – Network and infrastructure monitoring</a:t>
            </a:r>
          </a:p>
          <a:p>
            <a:pPr>
              <a:defRPr sz="1800"/>
            </a:pPr>
            <a:r>
              <a:t>Oracle OEM – Oracle database and middleware monitoring</a:t>
            </a:r>
          </a:p>
          <a:p>
            <a:pPr>
              <a:defRPr sz="1800"/>
            </a:pPr>
            <a:r>
              <a:t>Prometheus &amp; Grafana – Metrics and visualization</a:t>
            </a:r>
          </a:p>
          <a:p>
            <a:pPr>
              <a:defRPr sz="1800"/>
            </a:pPr>
            <a:r>
              <a:t>Azure Monitor – Cloud-native monitoring</a:t>
            </a:r>
          </a:p>
          <a:p>
            <a:pPr>
              <a:defRPr sz="1800"/>
            </a:pPr>
            <a:r>
              <a:t>IBM Instana – Application observability and tracing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Existing Log Management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Splunk – Enterprise log analytics</a:t>
            </a:r>
          </a:p>
          <a:p>
            <a:pPr>
              <a:defRPr sz="1800"/>
            </a:pPr>
            <a:r>
              <a:t>Azure Log Analytics – Cloud log aggregation</a:t>
            </a:r>
          </a:p>
          <a:p>
            <a:pPr>
              <a:defRPr sz="1800"/>
            </a:pPr>
            <a:r>
              <a:t>Syslog – Network and Linux event collection</a:t>
            </a:r>
          </a:p>
          <a:p>
            <a:pPr>
              <a:defRPr sz="1800"/>
            </a:pPr>
            <a:r>
              <a:t>Windows Event Logs – Infrastructure and security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Multiple dashboards and operational silos</a:t>
            </a:r>
          </a:p>
          <a:p>
            <a:pPr>
              <a:defRPr sz="1800"/>
            </a:pPr>
            <a:r>
              <a:t>High alert noise and duplicate incidents</a:t>
            </a:r>
          </a:p>
          <a:p>
            <a:pPr>
              <a:defRPr sz="1800"/>
            </a:pPr>
            <a:r>
              <a:t>Limited cross-domain correlation</a:t>
            </a:r>
          </a:p>
          <a:p>
            <a:pPr>
              <a:defRPr sz="1800"/>
            </a:pPr>
            <a:r>
              <a:t>Manual root cause analysis and remediation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Why AIOps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Event correlation and noise suppression</a:t>
            </a:r>
          </a:p>
          <a:p>
            <a:pPr>
              <a:defRPr sz="1800"/>
            </a:pPr>
            <a:r>
              <a:t>Automated root cause analysis</a:t>
            </a:r>
          </a:p>
          <a:p>
            <a:pPr>
              <a:defRPr sz="1800"/>
            </a:pPr>
            <a:r>
              <a:t>Predictive analytics and capacity forecasting</a:t>
            </a:r>
          </a:p>
          <a:p>
            <a:pPr>
              <a:defRPr sz="1800"/>
            </a:pPr>
            <a:r>
              <a:t>AI-driven operational assistance and self-healing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Target Enterprise AIOps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Windows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VMware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K8s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Oracle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59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Azure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377439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SolarWinds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308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OEM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Prometheus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Grafana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AzureMon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Instana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657599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Log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Splunk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8308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Log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Syslog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App Logs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Sec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937759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AIOps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Normalize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8308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Correlate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ML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RCA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Forecast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Automation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6217919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Outputs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Exec Dash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8308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NOC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SLA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Incidents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Capacity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AI Recs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Detailed Integration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Windows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VMware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Hyper-V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69164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Firewalls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377439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Oracle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Postgres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K8s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297179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OpenShift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657599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SolarWinds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OEM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Prometheus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Grafana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AzureMon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425195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Instana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937759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AIOps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Correlation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308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Topology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Anomaly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RCA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Forecast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5532120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Runbooks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6217919"/>
            <a:ext cx="8229600" cy="4572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ITSM &amp; Collaboration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ServiceNow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8308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Teams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Jira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Email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6812279"/>
            <a:ext cx="1188720" cy="45720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PagerDuty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End-to-End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828800"/>
            <a:ext cx="914400" cy="54864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828800"/>
            <a:ext cx="914400" cy="54864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828800"/>
            <a:ext cx="914400" cy="54864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39" y="1828800"/>
            <a:ext cx="914400" cy="54864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Normalization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59" y="1828800"/>
            <a:ext cx="914400" cy="54864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Correlation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79" y="1828800"/>
            <a:ext cx="914400" cy="54864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AI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599" y="1828800"/>
            <a:ext cx="914400" cy="54864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19" y="1828800"/>
            <a:ext cx="914400" cy="54864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ITSM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828800"/>
            <a:ext cx="914400" cy="548640"/>
          </a:xfrm>
          <a:prstGeom prst="roundRect">
            <a:avLst/>
          </a:prstGeom>
          <a:solidFill>
            <a:srgbClr val="EDF2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AI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822960" cy="54864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Ingest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828800"/>
            <a:ext cx="822960" cy="54864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Normalize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828800"/>
            <a:ext cx="822960" cy="54864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Deduplicate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828800"/>
            <a:ext cx="822960" cy="54864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Topology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1828800"/>
            <a:ext cx="822960" cy="54864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ML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828800"/>
            <a:ext cx="822960" cy="54864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RCA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822960" cy="54864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Forecast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822960" cy="54864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Recommend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28800"/>
            <a:ext cx="822960" cy="54864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Automate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Event Correlation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097280" cy="640080"/>
          </a:xfrm>
          <a:prstGeom prst="roundRect">
            <a:avLst/>
          </a:prstGeom>
          <a:solidFill>
            <a:srgbClr val="C5E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500 Alerts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91640" y="1828800"/>
            <a:ext cx="1097280" cy="640080"/>
          </a:xfrm>
          <a:prstGeom prst="roundRect">
            <a:avLst/>
          </a:prstGeom>
          <a:solidFill>
            <a:srgbClr val="C5E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Dedup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828800"/>
            <a:ext cx="1097280" cy="640080"/>
          </a:xfrm>
          <a:prstGeom prst="roundRect">
            <a:avLst/>
          </a:prstGeom>
          <a:solidFill>
            <a:srgbClr val="C5E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Topology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828800"/>
            <a:ext cx="1097280" cy="640080"/>
          </a:xfrm>
          <a:prstGeom prst="roundRect">
            <a:avLst/>
          </a:prstGeom>
          <a:solidFill>
            <a:srgbClr val="C5E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Correlation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828800"/>
            <a:ext cx="1097280" cy="640080"/>
          </a:xfrm>
          <a:prstGeom prst="roundRect">
            <a:avLst/>
          </a:prstGeom>
          <a:solidFill>
            <a:srgbClr val="C5E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Root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828800"/>
            <a:ext cx="1097280" cy="640080"/>
          </a:xfrm>
          <a:prstGeom prst="roundRect">
            <a:avLst/>
          </a:prstGeom>
          <a:solidFill>
            <a:srgbClr val="C5E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Single Incident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Root Cause Analysis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18872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Alert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1828800"/>
            <a:ext cx="118872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Historical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828800"/>
            <a:ext cx="118872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Dependency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828800"/>
            <a:ext cx="118872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Pattern 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828800"/>
            <a:ext cx="118872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Confidence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118872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RCA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Automation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188720" cy="640080"/>
          </a:xfrm>
          <a:prstGeom prst="roundRect">
            <a:avLst/>
          </a:prstGeom>
          <a:solidFill>
            <a:srgbClr val="FCE4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Incident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1828800"/>
            <a:ext cx="1188720" cy="640080"/>
          </a:xfrm>
          <a:prstGeom prst="roundRect">
            <a:avLst/>
          </a:prstGeom>
          <a:solidFill>
            <a:srgbClr val="FCE4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AI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828800"/>
            <a:ext cx="1188720" cy="640080"/>
          </a:xfrm>
          <a:prstGeom prst="roundRect">
            <a:avLst/>
          </a:prstGeom>
          <a:solidFill>
            <a:srgbClr val="FCE4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Runbook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828800"/>
            <a:ext cx="1188720" cy="640080"/>
          </a:xfrm>
          <a:prstGeom prst="roundRect">
            <a:avLst/>
          </a:prstGeom>
          <a:solidFill>
            <a:srgbClr val="FCE4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828800"/>
            <a:ext cx="1188720" cy="640080"/>
          </a:xfrm>
          <a:prstGeom prst="roundRect">
            <a:avLst/>
          </a:prstGeom>
          <a:solidFill>
            <a:srgbClr val="FCE4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Execute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1188720" cy="640080"/>
          </a:xfrm>
          <a:prstGeom prst="roundRect">
            <a:avLst/>
          </a:prstGeom>
          <a:solidFill>
            <a:srgbClr val="FCE4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Close Ticket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Executive Dashboard Mockups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CIO Dashboard – Availability, MTTR, SLA compliance, operational risk</a:t>
            </a:r>
          </a:p>
          <a:p>
            <a:pPr>
              <a:defRPr sz="1800"/>
            </a:pPr>
            <a:r>
              <a:t>NOC Dashboard – Active incidents, correlated events, automation success rate</a:t>
            </a:r>
          </a:p>
          <a:p>
            <a:pPr>
              <a:defRPr sz="1800"/>
            </a:pPr>
            <a:r>
              <a:t>Capacity Dashboard – CPU, memory, storage, and forecast trends</a:t>
            </a:r>
          </a:p>
          <a:p>
            <a:pPr>
              <a:defRPr sz="1800"/>
            </a:pPr>
            <a:r>
              <a:t>Cloud Dashboard – Azure resource health and cost visibility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Expected Business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50–70% reduction in alert volume</a:t>
            </a:r>
          </a:p>
          <a:p>
            <a:pPr>
              <a:defRPr sz="1800"/>
            </a:pPr>
            <a:r>
              <a:t>30–50% improvement in MTTR</a:t>
            </a:r>
          </a:p>
          <a:p>
            <a:pPr>
              <a:defRPr sz="1800"/>
            </a:pPr>
            <a:r>
              <a:t>20–30% operational efficiency gain</a:t>
            </a:r>
          </a:p>
          <a:p>
            <a:pPr>
              <a:defRPr sz="1800"/>
            </a:pPr>
            <a:r>
              <a:t>Improved service availability and executive visibility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