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 Across 5 Operational Tracks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sit in the middle of each track — correlating context, proposing actions, and automating low-risk steps under existing governance.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57984" y="507492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50749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507492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507492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5074920"/>
            <a:ext cx="53035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507492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57216" y="507492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50749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507492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507492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legend: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5779008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5B6B7C"/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5742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5779008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187952" y="5742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47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Triage &amp; Observability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0432" y="786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• Instana • Splunk • OEM • ServiceNow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60120" cy="1417320"/>
          </a:xfrm>
          <a:prstGeom prst="roundRect">
            <a:avLst>
              <a:gd name="adj" fmla="val 7619"/>
            </a:avLst>
          </a:prstGeom>
          <a:solidFill>
            <a:srgbClr val="5B6B7C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457200" y="14173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fire noisy, duplicated alerts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24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8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88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388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triage &amp; correlate across tools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013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decision to open incident &amp; assign on-call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02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69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966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5966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66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context-gathering, diagnostics &amp; runbooks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960120" cy="169164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 rot="16200000">
            <a:off x="457200" y="3246120"/>
            <a:ext cx="960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002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99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9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99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groups related alerts &amp; suggests priority/assignment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724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91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388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3388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388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propose resolution &amp; draft KB notes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013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677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AI correlates telemetry into root-cause hypothesis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302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69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966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95966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66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auto-remediation runs within approval checkpoints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absorb the repetitive correlation, documentation, and low-risk execution work — humans stay in control of judgment calls and anything high-risk.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47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Desk &amp; Desktop Support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0432" y="786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• Now Assist • Virtual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60120" cy="1417320"/>
          </a:xfrm>
          <a:prstGeom prst="roundRect">
            <a:avLst>
              <a:gd name="adj" fmla="val 7619"/>
            </a:avLst>
          </a:prstGeom>
          <a:solidFill>
            <a:srgbClr val="5B6B7C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457200" y="14173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raise tickets via email or portal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24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8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88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388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triage manually categorizes &amp; routes queue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013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manually search KB, AD &amp; logs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02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69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966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5966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66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resolution notes &amp; KB article creation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960120" cy="169164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 rot="16200000">
            <a:off x="457200" y="3246120"/>
            <a:ext cx="960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002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99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9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99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front-door classifies requests in natural language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724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91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388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3388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388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auto-resolves common requests via predefined workflows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013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677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ITSM auto-drafts resolution notes &amp; KB articles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302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69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966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95966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66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routed to humans with AI-generated summary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absorb the repetitive correlation, documentation, and low-risk execution work — humans stay in control of judgment calls and anything high-risk.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47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Operations (Windows, Linux, SQL, Oracle)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0432" y="786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• Splunk • Instana • ServiceNow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60120" cy="1417320"/>
          </a:xfrm>
          <a:prstGeom prst="roundRect">
            <a:avLst>
              <a:gd name="adj" fmla="val 7619"/>
            </a:avLst>
          </a:prstGeom>
          <a:solidFill>
            <a:srgbClr val="5B6B7C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457200" y="14173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&amp; agents raise performance/health alerts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24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8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88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388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manually inspect dashboards and logs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013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runbooks guide diagnostics &amp; change execution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02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69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966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5966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66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learnings inconsistently codified into KB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960120" cy="169164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 rot="16200000">
            <a:off x="457200" y="3246120"/>
            <a:ext cx="960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002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99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9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99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perception layer normalizes telemetry, detects anomalies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724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91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388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3388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388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 proposes root cause &amp; remediation plan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013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677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plans become executable workflows with rollback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302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69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966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95966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66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feed back, continuously improving the agents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absorb the repetitive correlation, documentation, and low-risk execution work — humans stay in control of judgment calls and anything high-risk.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47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Operations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0432" y="786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• Cisco Crosswork • Meraki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60120" cy="1417320"/>
          </a:xfrm>
          <a:prstGeom prst="roundRect">
            <a:avLst>
              <a:gd name="adj" fmla="val 7619"/>
            </a:avLst>
          </a:prstGeom>
          <a:solidFill>
            <a:srgbClr val="5B6B7C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457200" y="14173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SolarWinds/OEM/Splunk generate device &amp; link alerts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24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8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88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388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analysts manually triage, correlate &amp; decide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013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via CLI, traceroute &amp; config diff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02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69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966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5966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66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executed via manual or semi-automated scripts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960120" cy="169164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 rot="16200000">
            <a:off x="457200" y="3246120"/>
            <a:ext cx="960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002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99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9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99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NOC correlates alerts across devices into incidents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724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91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388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3388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388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request outcomes in natural language; AI composes workflow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013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677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answers “what changed”, summarizes investigation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302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69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966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95966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66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fixes auto-execute; high-risk changes need approval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absorb the repetitive correlation, documentation, and low-risk execution work — humans stay in control of judgment calls and anything high-risk.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47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&amp; Database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0432" y="786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• ServiceNow • SIEM / Splunk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60120" cy="1417320"/>
          </a:xfrm>
          <a:prstGeom prst="roundRect">
            <a:avLst>
              <a:gd name="adj" fmla="val 7619"/>
            </a:avLst>
          </a:prstGeom>
          <a:solidFill>
            <a:srgbClr val="5B6B7C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457200" y="14173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99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requests raised in ServiceNow, fulfilled via CyberArk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24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91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8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88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388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risk checks are manual, policy-driven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013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DB/SIEM tools report anomalies for manual triage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0284" y="1997964"/>
            <a:ext cx="329184" cy="256032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6900" y="1417320"/>
            <a:ext cx="2244852" cy="1417320"/>
          </a:xfrm>
          <a:prstGeom prst="roundRect">
            <a:avLst>
              <a:gd name="adj" fmla="val 5806"/>
            </a:avLst>
          </a:prstGeom>
          <a:solidFill>
            <a:srgbClr val="EEF1F4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96628" y="1527048"/>
            <a:ext cx="292608" cy="292608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596628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6628" y="1892808"/>
            <a:ext cx="202539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DBA teams investigate manually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960120" cy="169164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 rot="16200000">
            <a:off x="457200" y="3246120"/>
            <a:ext cx="960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002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99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9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99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sessions/events, prioritizing high-risk anomalies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724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91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388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3388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388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auto-create enriched security incidents with context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013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677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action; execution stays human-approved via CyberArk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30284" y="3963924"/>
            <a:ext cx="329184" cy="256032"/>
          </a:xfrm>
          <a:prstGeom prst="rightArrow">
            <a:avLst/>
          </a:prstGeom>
          <a:solidFill>
            <a:srgbClr val="019879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6900" y="3246120"/>
            <a:ext cx="2244852" cy="1691640"/>
          </a:xfrm>
          <a:prstGeom prst="roundRect">
            <a:avLst>
              <a:gd name="adj" fmla="val 4865"/>
            </a:avLst>
          </a:prstGeom>
          <a:solidFill>
            <a:srgbClr val="E4FBF5"/>
          </a:solidFill>
          <a:ln w="12700">
            <a:solidFill>
              <a:srgbClr val="019879"/>
            </a:solidFill>
            <a:prstDash val="solid"/>
          </a:ln>
          <a:effectLst>
            <a:outerShdw sx="100000" sy="100000" kx="0" ky="0" algn="bl" rotWithShape="0" blurRad="63500" dist="25400" dir="5400000">
              <a:srgbClr val="3A3A3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96628" y="33558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95966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96628" y="3721608"/>
            <a:ext cx="202539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outcomes feed back into rules &amp; models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6F8FB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absorb the repetitive correlation, documentation, and low-risk execution work — humans stay in control of judgment calls and anything high-risk.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2026-07-24T12:18:37Z</dcterms:created>
  <dcterms:modified xsi:type="dcterms:W3CDTF">2026-07-24T12:18:37Z</dcterms:modified>
</cp:coreProperties>
</file>