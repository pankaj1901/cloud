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3.png"/><Relationship Id="rId15" Type="http://schemas.openxmlformats.org/officeDocument/2006/relationships/image" Target="../media/image15.png"/><Relationship Id="rId16" Type="http://schemas.openxmlformats.org/officeDocument/2006/relationships/image" Target="../media/image16.png"/><Relationship Id="rId17" Type="http://schemas.openxmlformats.org/officeDocument/2006/relationships/image" Target="../media/image17.png"/><Relationship Id="rId18" Type="http://schemas.openxmlformats.org/officeDocument/2006/relationships/image" Target="../media/image18.png"/><Relationship Id="rId19" Type="http://schemas.openxmlformats.org/officeDocument/2006/relationships/image" Target="../media/image19.png"/><Relationship Id="rId20"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 Id="rId11" Type="http://schemas.openxmlformats.org/officeDocument/2006/relationships/image" Target="../media/image28.png"/><Relationship Id="rId12"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png"/><Relationship Id="rId4" Type="http://schemas.openxmlformats.org/officeDocument/2006/relationships/image" Target="../media/image3.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png"/><Relationship Id="rId4" Type="http://schemas.openxmlformats.org/officeDocument/2006/relationships/image" Target="../media/image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3.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3.png"/><Relationship Id="rId6" Type="http://schemas.openxmlformats.org/officeDocument/2006/relationships/image" Target="../media/image47.png"/><Relationship Id="rId7" Type="http://schemas.openxmlformats.org/officeDocument/2006/relationships/image" Target="../media/image4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3.png"/><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76275" y="2488852"/>
            <a:ext cx="762000" cy="38100"/>
          </a:xfrm>
          <a:prstGeom prst="rect">
            <a:avLst/>
          </a:prstGeom>
        </p:spPr>
      </p:pic>
      <p:sp>
        <p:nvSpPr>
          <p:cNvPr id="4" name="TextBox 3"/>
          <p:cNvSpPr txBox="1"/>
          <p:nvPr/>
        </p:nvSpPr>
        <p:spPr>
          <a:xfrm>
            <a:off x="676275" y="2812702"/>
            <a:ext cx="11515725" cy="565695"/>
          </a:xfrm>
          <a:prstGeom prst="rect">
            <a:avLst/>
          </a:prstGeom>
          <a:noFill/>
        </p:spPr>
        <p:txBody>
          <a:bodyPr wrap="square" lIns="0" rIns="0" tIns="0" bIns="0" anchor="t">
            <a:spAutoFit/>
          </a:bodyPr>
          <a:lstStyle/>
          <a:p>
            <a:pPr algn="l">
              <a:lnSpc>
                <a:spcPts val="4455"/>
              </a:lnSpc>
            </a:pPr>
            <a:r>
              <a:rPr b="1" sz="4050" i="0" u="none">
                <a:solidFill>
                  <a:srgbClr val="FFFFFF"/>
                </a:solidFill>
                <a:latin typeface="Poppins"/>
              </a:rPr>
              <a:t>AIOps Strategy &amp; Platform Evaluation</a:t>
            </a:r>
          </a:p>
        </p:txBody>
      </p:sp>
      <p:sp>
        <p:nvSpPr>
          <p:cNvPr id="5" name="TextBox 4"/>
          <p:cNvSpPr txBox="1"/>
          <p:nvPr/>
        </p:nvSpPr>
        <p:spPr>
          <a:xfrm>
            <a:off x="676275" y="3473648"/>
            <a:ext cx="11029950" cy="257175"/>
          </a:xfrm>
          <a:prstGeom prst="rect">
            <a:avLst/>
          </a:prstGeom>
          <a:noFill/>
        </p:spPr>
        <p:txBody>
          <a:bodyPr wrap="square" lIns="0" rIns="0" tIns="0" bIns="0" anchor="t">
            <a:spAutoFit/>
          </a:bodyPr>
          <a:lstStyle/>
          <a:p>
            <a:pPr algn="l">
              <a:lnSpc>
                <a:spcPts val="2025"/>
              </a:lnSpc>
            </a:pPr>
            <a:r>
              <a:rPr b="0" sz="1350" i="0" u="none">
                <a:solidFill>
                  <a:srgbClr val="0EA5E9"/>
                </a:solidFill>
                <a:latin typeface="Inter Medium"/>
              </a:rPr>
              <a:t>Unified Telemetry, Advanced Alert Correlation, &amp; Autonomous Root-Cause Analysis</a:t>
            </a:r>
          </a:p>
        </p:txBody>
      </p:sp>
      <p:sp>
        <p:nvSpPr>
          <p:cNvPr id="6" name="TextBox 5"/>
          <p:cNvSpPr txBox="1"/>
          <p:nvPr/>
        </p:nvSpPr>
        <p:spPr>
          <a:xfrm>
            <a:off x="676275" y="3968948"/>
            <a:ext cx="5715000" cy="400050"/>
          </a:xfrm>
          <a:prstGeom prst="rect">
            <a:avLst/>
          </a:prstGeom>
          <a:noFill/>
        </p:spPr>
        <p:txBody>
          <a:bodyPr wrap="square" lIns="0" rIns="0" tIns="0" bIns="0" anchor="t">
            <a:spAutoFit/>
          </a:bodyPr>
          <a:lstStyle/>
          <a:p>
            <a:pPr algn="l">
              <a:lnSpc>
                <a:spcPts val="1575"/>
              </a:lnSpc>
            </a:pPr>
            <a:r>
              <a:rPr b="0" sz="1050" i="0" u="none">
                <a:solidFill>
                  <a:srgbClr val="64748B"/>
                </a:solidFill>
                <a:latin typeface="Inter"/>
              </a:rPr>
              <a:t>An Enterprise Integration Blueprint to transform siloed performance matrices into an intelligent, centralized Operations Center.</a:t>
            </a:r>
          </a:p>
        </p:txBody>
      </p:sp>
      <p:pic>
        <p:nvPicPr>
          <p:cNvPr id="7" name="Picture 6" descr="image.png"/>
          <p:cNvPicPr>
            <a:picLocks noChangeAspect="1"/>
          </p:cNvPicPr>
          <p:nvPr/>
        </p:nvPicPr>
        <p:blipFill>
          <a:blip r:embed="rId4"/>
          <a:stretch>
            <a:fillRect/>
          </a:stretch>
        </p:blipFill>
        <p:spPr>
          <a:xfrm>
            <a:off x="657225" y="6221908"/>
            <a:ext cx="114300" cy="152400"/>
          </a:xfrm>
          <a:prstGeom prst="rect">
            <a:avLst/>
          </a:prstGeom>
        </p:spPr>
      </p:pic>
      <p:sp>
        <p:nvSpPr>
          <p:cNvPr id="8" name="TextBox 7"/>
          <p:cNvSpPr txBox="1"/>
          <p:nvPr/>
        </p:nvSpPr>
        <p:spPr>
          <a:xfrm>
            <a:off x="914400" y="6202858"/>
            <a:ext cx="10620375" cy="293191"/>
          </a:xfrm>
          <a:prstGeom prst="rect">
            <a:avLst/>
          </a:prstGeom>
          <a:noFill/>
        </p:spPr>
        <p:txBody>
          <a:bodyPr wrap="square" lIns="0" rIns="0" tIns="0" bIns="0" anchor="t">
            <a:spAutoFit/>
          </a:bodyPr>
          <a:lstStyle/>
          <a:p>
            <a:pPr algn="l">
              <a:lnSpc>
                <a:spcPts val="1155"/>
              </a:lnSpc>
            </a:pPr>
            <a:r>
              <a:rPr b="1" sz="825" i="0" u="none">
                <a:solidFill>
                  <a:srgbClr val="F3F4F6"/>
                </a:solidFill>
                <a:latin typeface="Inter"/>
              </a:rPr>
              <a:t>Boardroom Script:</a:t>
            </a:r>
            <a:r>
              <a:rPr b="0" sz="825" i="0" u="none">
                <a:solidFill>
                  <a:srgbClr val="94A3B8"/>
                </a:solidFill>
                <a:latin typeface="Inter"/>
              </a:rPr>
              <a:t> Welcome members of the Executive Board. Today we are presenting our strategic roadmap to resolve our enterprise alert-fatigue crisis. By introducing an AIOps intelligent framework, we consolidate disjointed on-premises and cloud tools into a highly integrated "Manager of Managers". This directly targets downtime reduction and protects operational margins.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0" y="1085850"/>
            <a:ext cx="1679525" cy="2143125"/>
          </a:xfrm>
          <a:prstGeom prst="rect">
            <a:avLst/>
          </a:prstGeom>
        </p:spPr>
      </p:pic>
      <p:pic>
        <p:nvPicPr>
          <p:cNvPr id="4" name="Picture 3" descr="image.png"/>
          <p:cNvPicPr>
            <a:picLocks noChangeAspect="1"/>
          </p:cNvPicPr>
          <p:nvPr/>
        </p:nvPicPr>
        <p:blipFill>
          <a:blip r:embed="rId4"/>
          <a:stretch>
            <a:fillRect/>
          </a:stretch>
        </p:blipFill>
        <p:spPr>
          <a:xfrm>
            <a:off x="8156525" y="1085850"/>
            <a:ext cx="1679525" cy="2143125"/>
          </a:xfrm>
          <a:prstGeom prst="rect">
            <a:avLst/>
          </a:prstGeom>
        </p:spPr>
      </p:pic>
      <p:pic>
        <p:nvPicPr>
          <p:cNvPr id="5" name="Picture 4" descr="image.png"/>
          <p:cNvPicPr>
            <a:picLocks noChangeAspect="1"/>
          </p:cNvPicPr>
          <p:nvPr/>
        </p:nvPicPr>
        <p:blipFill>
          <a:blip r:embed="rId5"/>
          <a:stretch>
            <a:fillRect/>
          </a:stretch>
        </p:blipFill>
        <p:spPr>
          <a:xfrm>
            <a:off x="10026550" y="1085850"/>
            <a:ext cx="1679525" cy="2143125"/>
          </a:xfrm>
          <a:prstGeom prst="rect">
            <a:avLst/>
          </a:prstGeom>
        </p:spPr>
      </p:pic>
      <p:pic>
        <p:nvPicPr>
          <p:cNvPr id="6" name="Picture 5" descr="image.png"/>
          <p:cNvPicPr>
            <a:picLocks noChangeAspect="1"/>
          </p:cNvPicPr>
          <p:nvPr/>
        </p:nvPicPr>
        <p:blipFill>
          <a:blip r:embed="rId6"/>
          <a:stretch>
            <a:fillRect/>
          </a:stretch>
        </p:blipFill>
        <p:spPr>
          <a:xfrm>
            <a:off x="6486525" y="1771650"/>
            <a:ext cx="1279475" cy="304800"/>
          </a:xfrm>
          <a:prstGeom prst="rect">
            <a:avLst/>
          </a:prstGeom>
        </p:spPr>
      </p:pic>
      <p:pic>
        <p:nvPicPr>
          <p:cNvPr id="7" name="Picture 6" descr="image.png"/>
          <p:cNvPicPr>
            <a:picLocks noChangeAspect="1"/>
          </p:cNvPicPr>
          <p:nvPr/>
        </p:nvPicPr>
        <p:blipFill>
          <a:blip r:embed="rId7"/>
          <a:stretch>
            <a:fillRect/>
          </a:stretch>
        </p:blipFill>
        <p:spPr>
          <a:xfrm>
            <a:off x="6486525" y="2171700"/>
            <a:ext cx="1279475" cy="304800"/>
          </a:xfrm>
          <a:prstGeom prst="rect">
            <a:avLst/>
          </a:prstGeom>
        </p:spPr>
      </p:pic>
      <p:pic>
        <p:nvPicPr>
          <p:cNvPr id="8" name="Picture 7" descr="image.png"/>
          <p:cNvPicPr>
            <a:picLocks noChangeAspect="1"/>
          </p:cNvPicPr>
          <p:nvPr/>
        </p:nvPicPr>
        <p:blipFill>
          <a:blip r:embed="rId8"/>
          <a:stretch>
            <a:fillRect/>
          </a:stretch>
        </p:blipFill>
        <p:spPr>
          <a:xfrm>
            <a:off x="8356550" y="1771650"/>
            <a:ext cx="1279475" cy="304800"/>
          </a:xfrm>
          <a:prstGeom prst="rect">
            <a:avLst/>
          </a:prstGeom>
        </p:spPr>
      </p:pic>
      <p:pic>
        <p:nvPicPr>
          <p:cNvPr id="9" name="Picture 8" descr="image.png"/>
          <p:cNvPicPr>
            <a:picLocks noChangeAspect="1"/>
          </p:cNvPicPr>
          <p:nvPr/>
        </p:nvPicPr>
        <p:blipFill>
          <a:blip r:embed="rId9"/>
          <a:stretch>
            <a:fillRect/>
          </a:stretch>
        </p:blipFill>
        <p:spPr>
          <a:xfrm>
            <a:off x="8356550" y="2171700"/>
            <a:ext cx="1279475" cy="457200"/>
          </a:xfrm>
          <a:prstGeom prst="rect">
            <a:avLst/>
          </a:prstGeom>
        </p:spPr>
      </p:pic>
      <p:pic>
        <p:nvPicPr>
          <p:cNvPr id="10" name="Picture 9" descr="image.png"/>
          <p:cNvPicPr>
            <a:picLocks noChangeAspect="1"/>
          </p:cNvPicPr>
          <p:nvPr/>
        </p:nvPicPr>
        <p:blipFill>
          <a:blip r:embed="rId10"/>
          <a:stretch>
            <a:fillRect/>
          </a:stretch>
        </p:blipFill>
        <p:spPr>
          <a:xfrm>
            <a:off x="8356550" y="2724150"/>
            <a:ext cx="1279475" cy="304800"/>
          </a:xfrm>
          <a:prstGeom prst="rect">
            <a:avLst/>
          </a:prstGeom>
        </p:spPr>
      </p:pic>
      <p:pic>
        <p:nvPicPr>
          <p:cNvPr id="11" name="Picture 10" descr="image.png"/>
          <p:cNvPicPr>
            <a:picLocks noChangeAspect="1"/>
          </p:cNvPicPr>
          <p:nvPr/>
        </p:nvPicPr>
        <p:blipFill>
          <a:blip r:embed="rId11"/>
          <a:stretch>
            <a:fillRect/>
          </a:stretch>
        </p:blipFill>
        <p:spPr>
          <a:xfrm>
            <a:off x="10226575" y="1771650"/>
            <a:ext cx="1279475" cy="304800"/>
          </a:xfrm>
          <a:prstGeom prst="rect">
            <a:avLst/>
          </a:prstGeom>
        </p:spPr>
      </p:pic>
      <p:pic>
        <p:nvPicPr>
          <p:cNvPr id="12" name="Picture 11" descr="image.png"/>
          <p:cNvPicPr>
            <a:picLocks noChangeAspect="1"/>
          </p:cNvPicPr>
          <p:nvPr/>
        </p:nvPicPr>
        <p:blipFill>
          <a:blip r:embed="rId12"/>
          <a:stretch>
            <a:fillRect/>
          </a:stretch>
        </p:blipFill>
        <p:spPr>
          <a:xfrm>
            <a:off x="10226575" y="2171700"/>
            <a:ext cx="1279475" cy="304800"/>
          </a:xfrm>
          <a:prstGeom prst="rect">
            <a:avLst/>
          </a:prstGeom>
        </p:spPr>
      </p:pic>
      <p:pic>
        <p:nvPicPr>
          <p:cNvPr id="13" name="Picture 12" descr="image.png"/>
          <p:cNvPicPr>
            <a:picLocks noChangeAspect="1"/>
          </p:cNvPicPr>
          <p:nvPr/>
        </p:nvPicPr>
        <p:blipFill>
          <a:blip r:embed="rId13"/>
          <a:stretch>
            <a:fillRect/>
          </a:stretch>
        </p:blipFill>
        <p:spPr>
          <a:xfrm>
            <a:off x="10226575" y="2571750"/>
            <a:ext cx="1279475" cy="304800"/>
          </a:xfrm>
          <a:prstGeom prst="rect">
            <a:avLst/>
          </a:prstGeom>
        </p:spPr>
      </p:pic>
      <p:pic>
        <p:nvPicPr>
          <p:cNvPr id="14" name="Picture 13" descr="image.png"/>
          <p:cNvPicPr>
            <a:picLocks noChangeAspect="1"/>
          </p:cNvPicPr>
          <p:nvPr/>
        </p:nvPicPr>
        <p:blipFill>
          <a:blip r:embed="rId14"/>
          <a:stretch>
            <a:fillRect/>
          </a:stretch>
        </p:blipFill>
        <p:spPr>
          <a:xfrm>
            <a:off x="657225" y="6221908"/>
            <a:ext cx="114300" cy="152400"/>
          </a:xfrm>
          <a:prstGeom prst="rect">
            <a:avLst/>
          </a:prstGeom>
        </p:spPr>
      </p:pic>
      <p:sp>
        <p:nvSpPr>
          <p:cNvPr id="15" name="TextBox 14"/>
          <p:cNvSpPr txBox="1"/>
          <p:nvPr/>
        </p:nvSpPr>
        <p:spPr>
          <a:xfrm>
            <a:off x="914400" y="6202858"/>
            <a:ext cx="10620375" cy="293191"/>
          </a:xfrm>
          <a:prstGeom prst="rect">
            <a:avLst/>
          </a:prstGeom>
          <a:noFill/>
        </p:spPr>
        <p:txBody>
          <a:bodyPr wrap="square" lIns="0" rIns="0" tIns="0" bIns="0" anchor="t">
            <a:spAutoFit/>
          </a:bodyPr>
          <a:lstStyle/>
          <a:p>
            <a:pPr algn="l">
              <a:lnSpc>
                <a:spcPts val="1155"/>
              </a:lnSpc>
            </a:pPr>
            <a:r>
              <a:rPr b="1" sz="825" i="0" u="none">
                <a:solidFill>
                  <a:srgbClr val="F3F4F6"/>
                </a:solidFill>
                <a:latin typeface="Inter"/>
              </a:rPr>
              <a:t>Boardroom Script:</a:t>
            </a:r>
            <a:r>
              <a:rPr b="0" sz="825" i="0" u="none">
                <a:solidFill>
                  <a:srgbClr val="94A3B8"/>
                </a:solidFill>
                <a:latin typeface="Inter"/>
              </a:rPr>
              <a:t> This slide visualizes our biggest vulnerability. We have 8 distinct, disconnected data streams divided into three technical boundaries. When an API gateway fails, it sets off overlapping, red alerts in Splunk, Instana, and Syslog aggregators. Our teams waste valuable triage time determining which system generated the root-cause trigger.</a:t>
            </a:r>
          </a:p>
        </p:txBody>
      </p:sp>
      <p:sp>
        <p:nvSpPr>
          <p:cNvPr id="16" name="TextBox 15"/>
          <p:cNvSpPr txBox="1"/>
          <p:nvPr/>
        </p:nvSpPr>
        <p:spPr>
          <a:xfrm>
            <a:off x="485775" y="1185862"/>
            <a:ext cx="5690711" cy="285750"/>
          </a:xfrm>
          <a:prstGeom prst="rect">
            <a:avLst/>
          </a:prstGeom>
          <a:noFill/>
        </p:spPr>
        <p:txBody>
          <a:bodyPr wrap="square" lIns="0" rIns="0" tIns="0" bIns="0" anchor="t">
            <a:spAutoFit/>
          </a:bodyPr>
          <a:lstStyle/>
          <a:p>
            <a:pPr algn="l"/>
            <a:r>
              <a:rPr b="0" sz="1500" i="0" u="none">
                <a:solidFill>
                  <a:srgbClr val="EF4444"/>
                </a:solidFill>
                <a:latin typeface="Poppins SemiBold"/>
              </a:rPr>
              <a:t>The Cost of Fragmented Telemetry</a:t>
            </a:r>
          </a:p>
        </p:txBody>
      </p:sp>
      <p:sp>
        <p:nvSpPr>
          <p:cNvPr id="17" name="TextBox 16"/>
          <p:cNvSpPr txBox="1"/>
          <p:nvPr/>
        </p:nvSpPr>
        <p:spPr>
          <a:xfrm>
            <a:off x="752475" y="1614487"/>
            <a:ext cx="51530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Severe Alert Fatigue:</a:t>
            </a:r>
            <a:r>
              <a:rPr b="0" sz="1125" i="0" u="none">
                <a:solidFill>
                  <a:srgbClr val="CBD5E1"/>
                </a:solidFill>
                <a:latin typeface="Inter"/>
              </a:rPr>
              <a:t> Disconnected alarms from SolarWinds and Splunk duplicate incidents, raising triage complexity.</a:t>
            </a:r>
          </a:p>
        </p:txBody>
      </p:sp>
      <p:sp>
        <p:nvSpPr>
          <p:cNvPr id="18" name="TextBox 17"/>
          <p:cNvSpPr txBox="1"/>
          <p:nvPr/>
        </p:nvSpPr>
        <p:spPr>
          <a:xfrm>
            <a:off x="752475" y="2157412"/>
            <a:ext cx="51530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Data Isolation:</a:t>
            </a:r>
            <a:r>
              <a:rPr b="0" sz="1125" i="0" u="none">
                <a:solidFill>
                  <a:srgbClr val="CBD5E1"/>
                </a:solidFill>
                <a:latin typeface="Inter"/>
              </a:rPr>
              <a:t> Dynamic cloud databases monitored by Prometheus are completely invisible to core systems monitored by Oracle OEM.</a:t>
            </a:r>
          </a:p>
        </p:txBody>
      </p:sp>
      <p:sp>
        <p:nvSpPr>
          <p:cNvPr id="19" name="TextBox 18"/>
          <p:cNvSpPr txBox="1"/>
          <p:nvPr/>
        </p:nvSpPr>
        <p:spPr>
          <a:xfrm>
            <a:off x="752475" y="2700337"/>
            <a:ext cx="51530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High Operational MTTR:</a:t>
            </a:r>
            <a:r>
              <a:rPr b="0" sz="1125" i="0" u="none">
                <a:solidFill>
                  <a:srgbClr val="CBD5E1"/>
                </a:solidFill>
                <a:latin typeface="Inter"/>
              </a:rPr>
              <a:t> Engineers spend average of 90 minutes manually correlating syslog trails with live Grafana indicators.</a:t>
            </a:r>
          </a:p>
        </p:txBody>
      </p:sp>
      <p:sp>
        <p:nvSpPr>
          <p:cNvPr id="20" name="TextBox 19"/>
          <p:cNvSpPr txBox="1"/>
          <p:nvPr/>
        </p:nvSpPr>
        <p:spPr>
          <a:xfrm>
            <a:off x="6753225" y="1285875"/>
            <a:ext cx="1063414" cy="266700"/>
          </a:xfrm>
          <a:prstGeom prst="rect">
            <a:avLst/>
          </a:prstGeom>
          <a:noFill/>
        </p:spPr>
        <p:txBody>
          <a:bodyPr wrap="square" lIns="0" rIns="0" tIns="0" bIns="0" anchor="ctr">
            <a:spAutoFit/>
          </a:bodyPr>
          <a:lstStyle/>
          <a:p>
            <a:pPr algn="l"/>
            <a:r>
              <a:rPr b="0" sz="1350" i="0" u="none">
                <a:solidFill>
                  <a:srgbClr val="10B981"/>
                </a:solidFill>
                <a:latin typeface="Poppins SemiBold"/>
              </a:rPr>
              <a:t>On-Prem</a:t>
            </a:r>
          </a:p>
        </p:txBody>
      </p:sp>
      <p:sp>
        <p:nvSpPr>
          <p:cNvPr id="21" name="Rectangle 20"/>
          <p:cNvSpPr/>
          <p:nvPr/>
        </p:nvSpPr>
        <p:spPr>
          <a:xfrm>
            <a:off x="6486525" y="1619250"/>
            <a:ext cx="1279475"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70875" y="1285875"/>
            <a:ext cx="1013407" cy="266700"/>
          </a:xfrm>
          <a:prstGeom prst="rect">
            <a:avLst/>
          </a:prstGeom>
          <a:noFill/>
        </p:spPr>
        <p:txBody>
          <a:bodyPr wrap="square" lIns="0" rIns="0" tIns="0" bIns="0" anchor="ctr">
            <a:spAutoFit/>
          </a:bodyPr>
          <a:lstStyle/>
          <a:p>
            <a:pPr algn="l"/>
            <a:r>
              <a:rPr b="0" sz="1350" i="0" u="none">
                <a:solidFill>
                  <a:srgbClr val="10B981"/>
                </a:solidFill>
                <a:latin typeface="Poppins SemiBold"/>
              </a:rPr>
              <a:t>Cloud</a:t>
            </a:r>
          </a:p>
        </p:txBody>
      </p:sp>
      <p:sp>
        <p:nvSpPr>
          <p:cNvPr id="23" name="Rectangle 22"/>
          <p:cNvSpPr/>
          <p:nvPr/>
        </p:nvSpPr>
        <p:spPr>
          <a:xfrm>
            <a:off x="8356550" y="1619250"/>
            <a:ext cx="1279475"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55175" y="1285875"/>
            <a:ext cx="1103419" cy="266700"/>
          </a:xfrm>
          <a:prstGeom prst="rect">
            <a:avLst/>
          </a:prstGeom>
          <a:noFill/>
        </p:spPr>
        <p:txBody>
          <a:bodyPr wrap="square" lIns="0" rIns="0" tIns="0" bIns="0" anchor="ctr">
            <a:spAutoFit/>
          </a:bodyPr>
          <a:lstStyle/>
          <a:p>
            <a:pPr algn="l"/>
            <a:r>
              <a:rPr b="0" sz="1350" i="0" u="none">
                <a:solidFill>
                  <a:srgbClr val="10B981"/>
                </a:solidFill>
                <a:latin typeface="Poppins SemiBold"/>
              </a:rPr>
              <a:t>Logs</a:t>
            </a:r>
          </a:p>
        </p:txBody>
      </p:sp>
      <p:sp>
        <p:nvSpPr>
          <p:cNvPr id="25" name="Rectangle 24"/>
          <p:cNvSpPr/>
          <p:nvPr/>
        </p:nvSpPr>
        <p:spPr>
          <a:xfrm>
            <a:off x="10226575" y="1619250"/>
            <a:ext cx="1279475"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15"/>
          <a:stretch>
            <a:fillRect/>
          </a:stretch>
        </p:blipFill>
        <p:spPr>
          <a:xfrm>
            <a:off x="6486525" y="1328737"/>
            <a:ext cx="171450" cy="171450"/>
          </a:xfrm>
          <a:prstGeom prst="rect">
            <a:avLst/>
          </a:prstGeom>
        </p:spPr>
      </p:pic>
      <p:pic>
        <p:nvPicPr>
          <p:cNvPr id="27" name="Picture 26" descr="image.png"/>
          <p:cNvPicPr>
            <a:picLocks noChangeAspect="1"/>
          </p:cNvPicPr>
          <p:nvPr/>
        </p:nvPicPr>
        <p:blipFill>
          <a:blip r:embed="rId16"/>
          <a:stretch>
            <a:fillRect/>
          </a:stretch>
        </p:blipFill>
        <p:spPr>
          <a:xfrm>
            <a:off x="8356550" y="1328737"/>
            <a:ext cx="219075" cy="171450"/>
          </a:xfrm>
          <a:prstGeom prst="rect">
            <a:avLst/>
          </a:prstGeom>
        </p:spPr>
      </p:pic>
      <p:pic>
        <p:nvPicPr>
          <p:cNvPr id="28" name="Picture 27" descr="image.png"/>
          <p:cNvPicPr>
            <a:picLocks noChangeAspect="1"/>
          </p:cNvPicPr>
          <p:nvPr/>
        </p:nvPicPr>
        <p:blipFill>
          <a:blip r:embed="rId17"/>
          <a:stretch>
            <a:fillRect/>
          </a:stretch>
        </p:blipFill>
        <p:spPr>
          <a:xfrm>
            <a:off x="10226575" y="1328737"/>
            <a:ext cx="133350" cy="171450"/>
          </a:xfrm>
          <a:prstGeom prst="rect">
            <a:avLst/>
          </a:prstGeom>
        </p:spPr>
      </p:pic>
      <p:pic>
        <p:nvPicPr>
          <p:cNvPr id="29" name="Picture 28" descr="image.png"/>
          <p:cNvPicPr>
            <a:picLocks noChangeAspect="1"/>
          </p:cNvPicPr>
          <p:nvPr/>
        </p:nvPicPr>
        <p:blipFill>
          <a:blip r:embed="rId18"/>
          <a:stretch>
            <a:fillRect/>
          </a:stretch>
        </p:blipFill>
        <p:spPr>
          <a:xfrm>
            <a:off x="485775" y="1652587"/>
            <a:ext cx="152400" cy="152400"/>
          </a:xfrm>
          <a:prstGeom prst="rect">
            <a:avLst/>
          </a:prstGeom>
        </p:spPr>
      </p:pic>
      <p:pic>
        <p:nvPicPr>
          <p:cNvPr id="30" name="Picture 29" descr="image.png"/>
          <p:cNvPicPr>
            <a:picLocks noChangeAspect="1"/>
          </p:cNvPicPr>
          <p:nvPr/>
        </p:nvPicPr>
        <p:blipFill>
          <a:blip r:embed="rId19"/>
          <a:stretch>
            <a:fillRect/>
          </a:stretch>
        </p:blipFill>
        <p:spPr>
          <a:xfrm>
            <a:off x="485775" y="2195512"/>
            <a:ext cx="190500" cy="152400"/>
          </a:xfrm>
          <a:prstGeom prst="rect">
            <a:avLst/>
          </a:prstGeom>
        </p:spPr>
      </p:pic>
      <p:pic>
        <p:nvPicPr>
          <p:cNvPr id="31" name="Picture 30" descr="image.png"/>
          <p:cNvPicPr>
            <a:picLocks noChangeAspect="1"/>
          </p:cNvPicPr>
          <p:nvPr/>
        </p:nvPicPr>
        <p:blipFill>
          <a:blip r:embed="rId20"/>
          <a:stretch>
            <a:fillRect/>
          </a:stretch>
        </p:blipFill>
        <p:spPr>
          <a:xfrm>
            <a:off x="485775" y="2738437"/>
            <a:ext cx="114300" cy="152400"/>
          </a:xfrm>
          <a:prstGeom prst="rect">
            <a:avLst/>
          </a:prstGeom>
        </p:spPr>
      </p:pic>
      <p:sp>
        <p:nvSpPr>
          <p:cNvPr id="32" name="TextBox 31"/>
          <p:cNvSpPr txBox="1"/>
          <p:nvPr/>
        </p:nvSpPr>
        <p:spPr>
          <a:xfrm>
            <a:off x="485775" y="390525"/>
            <a:ext cx="11706225" cy="457200"/>
          </a:xfrm>
          <a:prstGeom prst="rect">
            <a:avLst/>
          </a:prstGeom>
          <a:noFill/>
        </p:spPr>
        <p:txBody>
          <a:bodyPr wrap="square" lIns="0" rIns="0" tIns="0" bIns="0" anchor="ctr">
            <a:spAutoFit/>
          </a:bodyPr>
          <a:lstStyle/>
          <a:p>
            <a:pPr algn="l"/>
            <a:r>
              <a:rPr b="1" sz="2400" i="0" u="none">
                <a:solidFill>
                  <a:srgbClr val="FFFFFF"/>
                </a:solidFill>
                <a:latin typeface="Poppins"/>
              </a:rPr>
              <a:t>Current State: Telemetry Silos</a:t>
            </a:r>
          </a:p>
        </p:txBody>
      </p:sp>
      <p:sp>
        <p:nvSpPr>
          <p:cNvPr id="33" name="Rounded Rectangle 32"/>
          <p:cNvSpPr/>
          <p:nvPr/>
        </p:nvSpPr>
        <p:spPr>
          <a:xfrm>
            <a:off x="485775" y="847725"/>
            <a:ext cx="47625"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550318"/>
            <a:ext cx="3613100" cy="2452687"/>
          </a:xfrm>
          <a:prstGeom prst="rect">
            <a:avLst/>
          </a:prstGeom>
        </p:spPr>
      </p:pic>
      <p:pic>
        <p:nvPicPr>
          <p:cNvPr id="4" name="Picture 3" descr="image.png"/>
          <p:cNvPicPr>
            <a:picLocks noChangeAspect="1"/>
          </p:cNvPicPr>
          <p:nvPr/>
        </p:nvPicPr>
        <p:blipFill>
          <a:blip r:embed="rId4"/>
          <a:stretch>
            <a:fillRect/>
          </a:stretch>
        </p:blipFill>
        <p:spPr>
          <a:xfrm>
            <a:off x="4289375" y="2550318"/>
            <a:ext cx="3613100" cy="2452687"/>
          </a:xfrm>
          <a:prstGeom prst="rect">
            <a:avLst/>
          </a:prstGeom>
        </p:spPr>
      </p:pic>
      <p:pic>
        <p:nvPicPr>
          <p:cNvPr id="5" name="Picture 4" descr="image.png"/>
          <p:cNvPicPr>
            <a:picLocks noChangeAspect="1"/>
          </p:cNvPicPr>
          <p:nvPr/>
        </p:nvPicPr>
        <p:blipFill>
          <a:blip r:embed="rId5"/>
          <a:stretch>
            <a:fillRect/>
          </a:stretch>
        </p:blipFill>
        <p:spPr>
          <a:xfrm>
            <a:off x="8092975" y="2550318"/>
            <a:ext cx="3613100" cy="2452687"/>
          </a:xfrm>
          <a:prstGeom prst="rect">
            <a:avLst/>
          </a:prstGeom>
        </p:spPr>
      </p:pic>
      <p:pic>
        <p:nvPicPr>
          <p:cNvPr id="6" name="Picture 5" descr="image.png"/>
          <p:cNvPicPr>
            <a:picLocks noChangeAspect="1"/>
          </p:cNvPicPr>
          <p:nvPr/>
        </p:nvPicPr>
        <p:blipFill>
          <a:blip r:embed="rId6"/>
          <a:stretch>
            <a:fillRect/>
          </a:stretch>
        </p:blipFill>
        <p:spPr>
          <a:xfrm>
            <a:off x="657225" y="6221908"/>
            <a:ext cx="114300" cy="152400"/>
          </a:xfrm>
          <a:prstGeom prst="rect">
            <a:avLst/>
          </a:prstGeom>
        </p:spPr>
      </p:pic>
      <p:sp>
        <p:nvSpPr>
          <p:cNvPr id="7" name="TextBox 6"/>
          <p:cNvSpPr txBox="1"/>
          <p:nvPr/>
        </p:nvSpPr>
        <p:spPr>
          <a:xfrm>
            <a:off x="914400" y="6202858"/>
            <a:ext cx="10620375" cy="293191"/>
          </a:xfrm>
          <a:prstGeom prst="rect">
            <a:avLst/>
          </a:prstGeom>
          <a:noFill/>
        </p:spPr>
        <p:txBody>
          <a:bodyPr wrap="square" lIns="0" rIns="0" tIns="0" bIns="0" anchor="t">
            <a:spAutoFit/>
          </a:bodyPr>
          <a:lstStyle/>
          <a:p>
            <a:pPr algn="l">
              <a:lnSpc>
                <a:spcPts val="1155"/>
              </a:lnSpc>
            </a:pPr>
            <a:r>
              <a:rPr b="1" sz="825" i="0" u="none">
                <a:solidFill>
                  <a:srgbClr val="F3F4F6"/>
                </a:solidFill>
                <a:latin typeface="Inter"/>
              </a:rPr>
              <a:t>Boardroom Script:</a:t>
            </a:r>
            <a:r>
              <a:rPr b="0" sz="825" i="0" u="none">
                <a:solidFill>
                  <a:srgbClr val="94A3B8"/>
                </a:solidFill>
                <a:latin typeface="Inter"/>
              </a:rPr>
              <a:t> Rather than forcing an expensive rip-and-replace of our current monitoring tools, the target architecture leverages a "Manager-of-Managers" (MoM) model. We keep our existing collectors, but ingest all event streams into an intelligent AI Core. This core automatically clusters anomalies and triggers downstream playbook integrations.</a:t>
            </a:r>
          </a:p>
        </p:txBody>
      </p:sp>
      <p:pic>
        <p:nvPicPr>
          <p:cNvPr id="8" name="Picture 7" descr="image.png"/>
          <p:cNvPicPr>
            <a:picLocks noChangeAspect="1"/>
          </p:cNvPicPr>
          <p:nvPr/>
        </p:nvPicPr>
        <p:blipFill>
          <a:blip r:embed="rId7"/>
          <a:stretch>
            <a:fillRect/>
          </a:stretch>
        </p:blipFill>
        <p:spPr>
          <a:xfrm>
            <a:off x="733425" y="2797968"/>
            <a:ext cx="457200" cy="457200"/>
          </a:xfrm>
          <a:prstGeom prst="rect">
            <a:avLst/>
          </a:prstGeom>
        </p:spPr>
      </p:pic>
      <p:sp>
        <p:nvSpPr>
          <p:cNvPr id="9" name="TextBox 8"/>
          <p:cNvSpPr txBox="1"/>
          <p:nvPr/>
        </p:nvSpPr>
        <p:spPr>
          <a:xfrm>
            <a:off x="733425" y="3445668"/>
            <a:ext cx="2390298" cy="285750"/>
          </a:xfrm>
          <a:prstGeom prst="rect">
            <a:avLst/>
          </a:prstGeom>
          <a:noFill/>
        </p:spPr>
        <p:txBody>
          <a:bodyPr wrap="square" lIns="0" rIns="0" tIns="0" bIns="0" anchor="t">
            <a:spAutoFit/>
          </a:bodyPr>
          <a:lstStyle/>
          <a:p>
            <a:pPr algn="l"/>
            <a:r>
              <a:rPr b="0" sz="1500" i="0" u="none">
                <a:solidFill>
                  <a:srgbClr val="0EA5E9"/>
                </a:solidFill>
                <a:latin typeface="Poppins SemiBold"/>
              </a:rPr>
              <a:t>1. Centralized Ingestion</a:t>
            </a:r>
          </a:p>
        </p:txBody>
      </p:sp>
      <p:sp>
        <p:nvSpPr>
          <p:cNvPr id="10" name="TextBox 9"/>
          <p:cNvSpPr txBox="1"/>
          <p:nvPr/>
        </p:nvSpPr>
        <p:spPr>
          <a:xfrm>
            <a:off x="733425" y="3826668"/>
            <a:ext cx="3117800" cy="928687"/>
          </a:xfrm>
          <a:prstGeom prst="rect">
            <a:avLst/>
          </a:prstGeom>
          <a:noFill/>
        </p:spPr>
        <p:txBody>
          <a:bodyPr wrap="square" lIns="0" rIns="0" tIns="0" bIns="0" anchor="t">
            <a:spAutoFit/>
          </a:bodyPr>
          <a:lstStyle/>
          <a:p>
            <a:pPr algn="l">
              <a:lnSpc>
                <a:spcPts val="1462"/>
              </a:lnSpc>
            </a:pPr>
            <a:r>
              <a:rPr b="0" sz="975" i="0" u="none">
                <a:solidFill>
                  <a:srgbClr val="94A3B8"/>
                </a:solidFill>
                <a:latin typeface="Inter"/>
              </a:rPr>
              <a:t>Leverages native APIs &amp; lightweight webhooks to stream metrics, syslog streams, and dynamic system traces from SolarWinds, Oracle OEM, and Prometheus into a secure, single collection boundary.</a:t>
            </a:r>
          </a:p>
        </p:txBody>
      </p:sp>
      <p:pic>
        <p:nvPicPr>
          <p:cNvPr id="11" name="Picture 10" descr="image.png"/>
          <p:cNvPicPr>
            <a:picLocks noChangeAspect="1"/>
          </p:cNvPicPr>
          <p:nvPr/>
        </p:nvPicPr>
        <p:blipFill>
          <a:blip r:embed="rId8"/>
          <a:stretch>
            <a:fillRect/>
          </a:stretch>
        </p:blipFill>
        <p:spPr>
          <a:xfrm>
            <a:off x="4537025" y="2797968"/>
            <a:ext cx="457200" cy="457200"/>
          </a:xfrm>
          <a:prstGeom prst="rect">
            <a:avLst/>
          </a:prstGeom>
        </p:spPr>
      </p:pic>
      <p:sp>
        <p:nvSpPr>
          <p:cNvPr id="12" name="TextBox 11"/>
          <p:cNvSpPr txBox="1"/>
          <p:nvPr/>
        </p:nvSpPr>
        <p:spPr>
          <a:xfrm>
            <a:off x="4537025" y="3445668"/>
            <a:ext cx="1920240" cy="285750"/>
          </a:xfrm>
          <a:prstGeom prst="rect">
            <a:avLst/>
          </a:prstGeom>
          <a:noFill/>
        </p:spPr>
        <p:txBody>
          <a:bodyPr wrap="square" lIns="0" rIns="0" tIns="0" bIns="0" anchor="t">
            <a:spAutoFit/>
          </a:bodyPr>
          <a:lstStyle/>
          <a:p>
            <a:pPr algn="l"/>
            <a:r>
              <a:rPr b="0" sz="1500" i="0" u="none">
                <a:solidFill>
                  <a:srgbClr val="0EA5E9"/>
                </a:solidFill>
                <a:latin typeface="Poppins SemiBold"/>
              </a:rPr>
              <a:t>2. Dynamic AI Core</a:t>
            </a:r>
          </a:p>
        </p:txBody>
      </p:sp>
      <p:sp>
        <p:nvSpPr>
          <p:cNvPr id="13" name="TextBox 12"/>
          <p:cNvSpPr txBox="1"/>
          <p:nvPr/>
        </p:nvSpPr>
        <p:spPr>
          <a:xfrm>
            <a:off x="4537025" y="3826668"/>
            <a:ext cx="3117800" cy="742950"/>
          </a:xfrm>
          <a:prstGeom prst="rect">
            <a:avLst/>
          </a:prstGeom>
          <a:noFill/>
        </p:spPr>
        <p:txBody>
          <a:bodyPr wrap="square" lIns="0" rIns="0" tIns="0" bIns="0" anchor="t">
            <a:spAutoFit/>
          </a:bodyPr>
          <a:lstStyle/>
          <a:p>
            <a:pPr algn="l">
              <a:lnSpc>
                <a:spcPts val="1462"/>
              </a:lnSpc>
            </a:pPr>
            <a:r>
              <a:rPr b="0" sz="975" i="0" u="none">
                <a:solidFill>
                  <a:srgbClr val="94A3B8"/>
                </a:solidFill>
                <a:latin typeface="Inter"/>
              </a:rPr>
              <a:t>Performs intelligent real-time message normalization. Evaluates network topology graphs to cluster duplicate signals, isolate background noise, and pinpoint the primary root-cause trigger.</a:t>
            </a:r>
          </a:p>
        </p:txBody>
      </p:sp>
      <p:pic>
        <p:nvPicPr>
          <p:cNvPr id="14" name="Picture 13" descr="image.png"/>
          <p:cNvPicPr>
            <a:picLocks noChangeAspect="1"/>
          </p:cNvPicPr>
          <p:nvPr/>
        </p:nvPicPr>
        <p:blipFill>
          <a:blip r:embed="rId9"/>
          <a:stretch>
            <a:fillRect/>
          </a:stretch>
        </p:blipFill>
        <p:spPr>
          <a:xfrm>
            <a:off x="8340625" y="2797968"/>
            <a:ext cx="457200" cy="457200"/>
          </a:xfrm>
          <a:prstGeom prst="rect">
            <a:avLst/>
          </a:prstGeom>
        </p:spPr>
      </p:pic>
      <p:sp>
        <p:nvSpPr>
          <p:cNvPr id="15" name="TextBox 14"/>
          <p:cNvSpPr txBox="1"/>
          <p:nvPr/>
        </p:nvSpPr>
        <p:spPr>
          <a:xfrm>
            <a:off x="8340625" y="3445668"/>
            <a:ext cx="2460307" cy="285750"/>
          </a:xfrm>
          <a:prstGeom prst="rect">
            <a:avLst/>
          </a:prstGeom>
          <a:noFill/>
        </p:spPr>
        <p:txBody>
          <a:bodyPr wrap="square" lIns="0" rIns="0" tIns="0" bIns="0" anchor="t">
            <a:spAutoFit/>
          </a:bodyPr>
          <a:lstStyle/>
          <a:p>
            <a:pPr algn="l"/>
            <a:r>
              <a:rPr b="0" sz="1500" i="0" u="none">
                <a:solidFill>
                  <a:srgbClr val="0EA5E9"/>
                </a:solidFill>
                <a:latin typeface="Poppins SemiBold"/>
              </a:rPr>
              <a:t>3. Action &amp; Remediation</a:t>
            </a:r>
          </a:p>
        </p:txBody>
      </p:sp>
      <p:sp>
        <p:nvSpPr>
          <p:cNvPr id="16" name="TextBox 15"/>
          <p:cNvSpPr txBox="1"/>
          <p:nvPr/>
        </p:nvSpPr>
        <p:spPr>
          <a:xfrm>
            <a:off x="8340625" y="3826668"/>
            <a:ext cx="3117800" cy="742950"/>
          </a:xfrm>
          <a:prstGeom prst="rect">
            <a:avLst/>
          </a:prstGeom>
          <a:noFill/>
        </p:spPr>
        <p:txBody>
          <a:bodyPr wrap="square" lIns="0" rIns="0" tIns="0" bIns="0" anchor="t">
            <a:spAutoFit/>
          </a:bodyPr>
          <a:lstStyle/>
          <a:p>
            <a:pPr algn="l">
              <a:lnSpc>
                <a:spcPts val="1462"/>
              </a:lnSpc>
            </a:pPr>
            <a:r>
              <a:rPr b="0" sz="975" i="0" u="none">
                <a:solidFill>
                  <a:srgbClr val="94A3B8"/>
                </a:solidFill>
                <a:latin typeface="Inter"/>
              </a:rPr>
              <a:t>Drives automated workflows via bidirectional integrations with enterprise ITSM engines. Safely invokes local recovery playbooks (e.g., auto-rebooting hypervisors) to drastically reduce MTTR.</a:t>
            </a:r>
          </a:p>
        </p:txBody>
      </p:sp>
      <p:pic>
        <p:nvPicPr>
          <p:cNvPr id="17" name="Picture 16" descr="image.png"/>
          <p:cNvPicPr>
            <a:picLocks noChangeAspect="1"/>
          </p:cNvPicPr>
          <p:nvPr/>
        </p:nvPicPr>
        <p:blipFill>
          <a:blip r:embed="rId10"/>
          <a:stretch>
            <a:fillRect/>
          </a:stretch>
        </p:blipFill>
        <p:spPr>
          <a:xfrm>
            <a:off x="857250" y="2921793"/>
            <a:ext cx="209550" cy="209550"/>
          </a:xfrm>
          <a:prstGeom prst="rect">
            <a:avLst/>
          </a:prstGeom>
        </p:spPr>
      </p:pic>
      <p:pic>
        <p:nvPicPr>
          <p:cNvPr id="18" name="Picture 17" descr="image.png"/>
          <p:cNvPicPr>
            <a:picLocks noChangeAspect="1"/>
          </p:cNvPicPr>
          <p:nvPr/>
        </p:nvPicPr>
        <p:blipFill>
          <a:blip r:embed="rId11"/>
          <a:stretch>
            <a:fillRect/>
          </a:stretch>
        </p:blipFill>
        <p:spPr>
          <a:xfrm>
            <a:off x="4660850" y="2921793"/>
            <a:ext cx="209550" cy="209550"/>
          </a:xfrm>
          <a:prstGeom prst="rect">
            <a:avLst/>
          </a:prstGeom>
        </p:spPr>
      </p:pic>
      <p:pic>
        <p:nvPicPr>
          <p:cNvPr id="19" name="Picture 18" descr="image.png"/>
          <p:cNvPicPr>
            <a:picLocks noChangeAspect="1"/>
          </p:cNvPicPr>
          <p:nvPr/>
        </p:nvPicPr>
        <p:blipFill>
          <a:blip r:embed="rId12"/>
          <a:stretch>
            <a:fillRect/>
          </a:stretch>
        </p:blipFill>
        <p:spPr>
          <a:xfrm>
            <a:off x="8478738" y="2921793"/>
            <a:ext cx="180975" cy="209550"/>
          </a:xfrm>
          <a:prstGeom prst="rect">
            <a:avLst/>
          </a:prstGeom>
        </p:spPr>
      </p:pic>
      <p:sp>
        <p:nvSpPr>
          <p:cNvPr id="20" name="TextBox 19"/>
          <p:cNvSpPr txBox="1"/>
          <p:nvPr/>
        </p:nvSpPr>
        <p:spPr>
          <a:xfrm>
            <a:off x="485775" y="390525"/>
            <a:ext cx="11706225" cy="457200"/>
          </a:xfrm>
          <a:prstGeom prst="rect">
            <a:avLst/>
          </a:prstGeom>
          <a:noFill/>
        </p:spPr>
        <p:txBody>
          <a:bodyPr wrap="square" lIns="0" rIns="0" tIns="0" bIns="0" anchor="ctr">
            <a:spAutoFit/>
          </a:bodyPr>
          <a:lstStyle/>
          <a:p>
            <a:pPr algn="l"/>
            <a:r>
              <a:rPr b="1" sz="2400" i="0" u="none">
                <a:solidFill>
                  <a:srgbClr val="FFFFFF"/>
                </a:solidFill>
                <a:latin typeface="Poppins"/>
              </a:rPr>
              <a:t>Target Architecture: MoM Model</a:t>
            </a:r>
          </a:p>
        </p:txBody>
      </p:sp>
      <p:sp>
        <p:nvSpPr>
          <p:cNvPr id="21" name="Rounded Rectangle 20"/>
          <p:cNvSpPr/>
          <p:nvPr/>
        </p:nvSpPr>
        <p:spPr>
          <a:xfrm>
            <a:off x="485775" y="847725"/>
            <a:ext cx="47625"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081212"/>
            <a:ext cx="11220450" cy="3390900"/>
          </a:xfrm>
          <a:prstGeom prst="rect">
            <a:avLst/>
          </a:prstGeom>
        </p:spPr>
      </p:pic>
      <p:pic>
        <p:nvPicPr>
          <p:cNvPr id="4" name="Picture 3" descr="image.png"/>
          <p:cNvPicPr>
            <a:picLocks noChangeAspect="1"/>
          </p:cNvPicPr>
          <p:nvPr/>
        </p:nvPicPr>
        <p:blipFill>
          <a:blip r:embed="rId4"/>
          <a:stretch>
            <a:fillRect/>
          </a:stretch>
        </p:blipFill>
        <p:spPr>
          <a:xfrm>
            <a:off x="657225" y="6221908"/>
            <a:ext cx="114300" cy="152400"/>
          </a:xfrm>
          <a:prstGeom prst="rect">
            <a:avLst/>
          </a:prstGeom>
        </p:spPr>
      </p:pic>
      <p:sp>
        <p:nvSpPr>
          <p:cNvPr id="5" name="TextBox 4"/>
          <p:cNvSpPr txBox="1"/>
          <p:nvPr/>
        </p:nvSpPr>
        <p:spPr>
          <a:xfrm>
            <a:off x="914400" y="6202858"/>
            <a:ext cx="10620375" cy="293191"/>
          </a:xfrm>
          <a:prstGeom prst="rect">
            <a:avLst/>
          </a:prstGeom>
          <a:noFill/>
        </p:spPr>
        <p:txBody>
          <a:bodyPr wrap="square" lIns="0" rIns="0" tIns="0" bIns="0" anchor="t">
            <a:spAutoFit/>
          </a:bodyPr>
          <a:lstStyle/>
          <a:p>
            <a:pPr algn="l">
              <a:lnSpc>
                <a:spcPts val="1155"/>
              </a:lnSpc>
            </a:pPr>
            <a:r>
              <a:rPr b="1" sz="825" i="0" u="none">
                <a:solidFill>
                  <a:srgbClr val="F3F4F6"/>
                </a:solidFill>
                <a:latin typeface="Inter"/>
              </a:rPr>
              <a:t>Boardroom Script:</a:t>
            </a:r>
            <a:r>
              <a:rPr b="0" sz="825" i="0" u="none">
                <a:solidFill>
                  <a:srgbClr val="94A3B8"/>
                </a:solidFill>
                <a:latin typeface="Inter"/>
              </a:rPr>
              <a:t> This assessment matrices how natively each AIOps candidate consumes data from our current technology portfolio. You will note that while Azure solutions are excellent for pure cloud workloads, they struggle to ingest physical legacy systems (SolarWinds &amp; Oracle OEM) without deploying complicated, expensive proxy layers.</a:t>
            </a:r>
          </a:p>
        </p:txBody>
      </p:sp>
      <p:graphicFrame>
        <p:nvGraphicFramePr>
          <p:cNvPr id="6" name="Table 5"/>
          <p:cNvGraphicFramePr>
            <a:graphicFrameLocks noGrp="1"/>
          </p:cNvGraphicFramePr>
          <p:nvPr/>
        </p:nvGraphicFramePr>
        <p:xfrm>
          <a:off x="495300" y="2090737"/>
          <a:ext cx="11201398" cy="3371850"/>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1621631"/>
                <a:gridCol w="2687389"/>
                <a:gridCol w="2631430"/>
                <a:gridCol w="2484090"/>
                <a:gridCol w="1776858"/>
              </a:tblGrid>
              <a:tr h="561975">
                <a:tc>
                  <a:txBody>
                    <a:bodyPr/>
                    <a:lstStyle/>
                    <a:p>
                      <a:pPr algn="l"/>
                      <a:r>
                        <a:rPr b="0" sz="1050" i="0" u="none">
                          <a:solidFill>
                            <a:srgbClr val="FFFFFF"/>
                          </a:solidFill>
                          <a:latin typeface="Inter SemiBold"/>
                        </a:rPr>
                        <a:t>AIOps Solution</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On-Prem Integrations (SolarWinds/OEM)</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Cloud-Native Sync (Prometheus/Grafana)</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Enterprise Log Ingestion (Splunk/Syslog)</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Integration Readiness Rating</a:t>
                      </a:r>
                    </a:p>
                  </a:txBody>
                  <a:tcPr anchor="ctr" marL="63500" marR="63500" marT="25400" marB="25400">
                    <a:lnL>
                      <a:noFill/>
                    </a:lnL>
                    <a:lnR>
                      <a:noFill/>
                    </a:lnR>
                    <a:lnT>
                      <a:noFill/>
                    </a:lnT>
                    <a:lnB>
                      <a:noFill/>
                    </a:lnB>
                    <a:solidFill>
                      <a:srgbClr val="111827"/>
                    </a:solidFill>
                  </a:tcPr>
                </a:tc>
              </a:tr>
              <a:tr h="561975">
                <a:tc>
                  <a:txBody>
                    <a:bodyPr/>
                    <a:lstStyle/>
                    <a:p>
                      <a:pPr algn="l"/>
                      <a:r>
                        <a:rPr b="1" sz="1050" i="0" u="none">
                          <a:solidFill>
                            <a:srgbClr val="CBD5E1"/>
                          </a:solidFill>
                          <a:latin typeface="Inter"/>
                        </a:rPr>
                        <a:t>Edwin AI (LogicMonitor)</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Excellent (Native SNMP &amp; Out-Of-The-Box Collector APIs)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Strong (Direct openmetrics pull endpoints)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Robust (Aggregated syslog filtering natively)</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High Ready</a:t>
                      </a:r>
                    </a:p>
                  </a:txBody>
                  <a:tcPr anchor="ctr" marL="63500" marR="63500" marT="25400" marB="25400">
                    <a:lnL>
                      <a:noFill/>
                    </a:lnL>
                    <a:lnR>
                      <a:noFill/>
                    </a:lnR>
                    <a:lnT>
                      <a:noFill/>
                    </a:lnT>
                    <a:lnB>
                      <a:noFill/>
                    </a:lnB>
                    <a:solidFill>
                      <a:srgbClr val="0B0F19"/>
                    </a:solidFill>
                  </a:tcPr>
                </a:tc>
              </a:tr>
              <a:tr h="561975">
                <a:tc>
                  <a:txBody>
                    <a:bodyPr/>
                    <a:lstStyle/>
                    <a:p>
                      <a:pPr algn="l"/>
                      <a:r>
                        <a:rPr b="1" sz="1050" i="0" u="none">
                          <a:solidFill>
                            <a:srgbClr val="CBD5E1"/>
                          </a:solidFill>
                          <a:latin typeface="Inter"/>
                        </a:rPr>
                        <a:t>Datadog AIOps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Moderate (Requires local agent/proxy bridging)</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Excellent (Industry gold-standard container metrics)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High (Fast ingestion, expensive pipeline)</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High Ready</a:t>
                      </a:r>
                    </a:p>
                  </a:txBody>
                  <a:tcPr anchor="ctr" marL="63500" marR="63500" marT="25400" marB="25400">
                    <a:lnL>
                      <a:noFill/>
                    </a:lnL>
                    <a:lnR>
                      <a:noFill/>
                    </a:lnR>
                    <a:lnT>
                      <a:noFill/>
                    </a:lnT>
                    <a:lnB>
                      <a:noFill/>
                    </a:lnB>
                    <a:solidFill>
                      <a:srgbClr val="0B0F19"/>
                    </a:solidFill>
                  </a:tcPr>
                </a:tc>
              </a:tr>
              <a:tr h="561975">
                <a:tc>
                  <a:txBody>
                    <a:bodyPr/>
                    <a:lstStyle/>
                    <a:p>
                      <a:pPr algn="l"/>
                      <a:r>
                        <a:rPr b="1" sz="1050" i="0" u="none">
                          <a:solidFill>
                            <a:srgbClr val="CBD5E1"/>
                          </a:solidFill>
                          <a:latin typeface="Inter"/>
                        </a:rPr>
                        <a:t>IBM Watson AIOps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Deep (Highly integrated enterprise middleware sync)</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Native (Via Instana platform endpoints)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Exceptional (Industry-leading unstructured log NLP)</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High Ready</a:t>
                      </a:r>
                    </a:p>
                  </a:txBody>
                  <a:tcPr anchor="ctr" marL="63500" marR="63500" marT="25400" marB="25400">
                    <a:lnL>
                      <a:noFill/>
                    </a:lnL>
                    <a:lnR>
                      <a:noFill/>
                    </a:lnR>
                    <a:lnT>
                      <a:noFill/>
                    </a:lnT>
                    <a:lnB>
                      <a:noFill/>
                    </a:lnB>
                    <a:solidFill>
                      <a:srgbClr val="0B0F19"/>
                    </a:solidFill>
                  </a:tcPr>
                </a:tc>
              </a:tr>
              <a:tr h="561975">
                <a:tc>
                  <a:txBody>
                    <a:bodyPr/>
                    <a:lstStyle/>
                    <a:p>
                      <a:pPr algn="l"/>
                      <a:r>
                        <a:rPr b="1" sz="1050" i="0" u="none">
                          <a:solidFill>
                            <a:srgbClr val="CBD5E1"/>
                          </a:solidFill>
                          <a:latin typeface="Inter"/>
                        </a:rPr>
                        <a:t>Azure Copilot for IT</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Limited (Requires heavy Azure Arc configuration)</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Azure Native (Best with Azure Monitor streams)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Targeted (Best with Sentinel &amp; LAW workspace)</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Medium Ready</a:t>
                      </a:r>
                    </a:p>
                  </a:txBody>
                  <a:tcPr anchor="ctr" marL="63500" marR="63500" marT="25400" marB="25400">
                    <a:lnL>
                      <a:noFill/>
                    </a:lnL>
                    <a:lnR>
                      <a:noFill/>
                    </a:lnR>
                    <a:lnT>
                      <a:noFill/>
                    </a:lnT>
                    <a:lnB>
                      <a:noFill/>
                    </a:lnB>
                    <a:solidFill>
                      <a:srgbClr val="0B0F19"/>
                    </a:solidFill>
                  </a:tcPr>
                </a:tc>
              </a:tr>
              <a:tr h="561975">
                <a:tc>
                  <a:txBody>
                    <a:bodyPr/>
                    <a:lstStyle/>
                    <a:p>
                      <a:pPr algn="l"/>
                      <a:r>
                        <a:rPr b="1" sz="1050" i="0" u="none">
                          <a:solidFill>
                            <a:srgbClr val="CBD5E1"/>
                          </a:solidFill>
                          <a:latin typeface="Inter"/>
                        </a:rPr>
                        <a:t>Azure Observability Suite</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Basic (Heavily dependent on Azure Arc adapters)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Excellent (Native Managed Prometheus integration)</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High (Native Azure Log Analytics Workspace pipeline)</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Low/Restricted</a:t>
                      </a:r>
                    </a:p>
                  </a:txBody>
                  <a:tcPr anchor="ctr" marL="63500" marR="63500" marT="25400" marB="25400">
                    <a:lnL>
                      <a:noFill/>
                    </a:lnL>
                    <a:lnR>
                      <a:noFill/>
                    </a:lnR>
                    <a:lnT>
                      <a:noFill/>
                    </a:lnT>
                    <a:lnB>
                      <a:noFill/>
                    </a:lnB>
                    <a:solidFill>
                      <a:srgbClr val="0B0F19"/>
                    </a:solidFill>
                  </a:tcPr>
                </a:tc>
              </a:tr>
            </a:tbl>
          </a:graphicData>
        </a:graphic>
      </p:graphicFrame>
      <p:sp>
        <p:nvSpPr>
          <p:cNvPr id="7" name="Rectangle 6"/>
          <p:cNvSpPr/>
          <p:nvPr/>
        </p:nvSpPr>
        <p:spPr>
          <a:xfrm>
            <a:off x="495300" y="2633662"/>
            <a:ext cx="1621631"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16931" y="2633662"/>
            <a:ext cx="2687389"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04320" y="2633662"/>
            <a:ext cx="2631430"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35750" y="2633662"/>
            <a:ext cx="2484090"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919841" y="2633662"/>
            <a:ext cx="1776858"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95300" y="3209925"/>
            <a:ext cx="1621631"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16931" y="3209925"/>
            <a:ext cx="2687389"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04320" y="3209925"/>
            <a:ext cx="263143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35750" y="3209925"/>
            <a:ext cx="248409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919841" y="3209925"/>
            <a:ext cx="177685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5300" y="3771900"/>
            <a:ext cx="1621631"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116931" y="3771900"/>
            <a:ext cx="2687389"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04320" y="3771900"/>
            <a:ext cx="263143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35750" y="3771900"/>
            <a:ext cx="248409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919841" y="3771900"/>
            <a:ext cx="177685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5300" y="4333875"/>
            <a:ext cx="1621631"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16931" y="4333875"/>
            <a:ext cx="2687389"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804320" y="4333875"/>
            <a:ext cx="263143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35750" y="4333875"/>
            <a:ext cx="248409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919841" y="4333875"/>
            <a:ext cx="177685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95300" y="4895850"/>
            <a:ext cx="1621631"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16931" y="4895850"/>
            <a:ext cx="2687389"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04320" y="4895850"/>
            <a:ext cx="263143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435750" y="4895850"/>
            <a:ext cx="248409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19841" y="4895850"/>
            <a:ext cx="177685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10072241" y="2833687"/>
            <a:ext cx="800100" cy="209550"/>
          </a:xfrm>
          <a:prstGeom prst="rect">
            <a:avLst/>
          </a:prstGeom>
        </p:spPr>
      </p:pic>
      <p:pic>
        <p:nvPicPr>
          <p:cNvPr id="33" name="Picture 32" descr="image.png"/>
          <p:cNvPicPr>
            <a:picLocks noChangeAspect="1"/>
          </p:cNvPicPr>
          <p:nvPr/>
        </p:nvPicPr>
        <p:blipFill>
          <a:blip r:embed="rId5"/>
          <a:stretch>
            <a:fillRect/>
          </a:stretch>
        </p:blipFill>
        <p:spPr>
          <a:xfrm>
            <a:off x="10072241" y="3395662"/>
            <a:ext cx="800100" cy="209550"/>
          </a:xfrm>
          <a:prstGeom prst="rect">
            <a:avLst/>
          </a:prstGeom>
        </p:spPr>
      </p:pic>
      <p:pic>
        <p:nvPicPr>
          <p:cNvPr id="34" name="Picture 33" descr="image.png"/>
          <p:cNvPicPr>
            <a:picLocks noChangeAspect="1"/>
          </p:cNvPicPr>
          <p:nvPr/>
        </p:nvPicPr>
        <p:blipFill>
          <a:blip r:embed="rId5"/>
          <a:stretch>
            <a:fillRect/>
          </a:stretch>
        </p:blipFill>
        <p:spPr>
          <a:xfrm>
            <a:off x="10072241" y="3957637"/>
            <a:ext cx="800100" cy="209550"/>
          </a:xfrm>
          <a:prstGeom prst="rect">
            <a:avLst/>
          </a:prstGeom>
        </p:spPr>
      </p:pic>
      <p:pic>
        <p:nvPicPr>
          <p:cNvPr id="35" name="Picture 34" descr="image.png"/>
          <p:cNvPicPr>
            <a:picLocks noChangeAspect="1"/>
          </p:cNvPicPr>
          <p:nvPr/>
        </p:nvPicPr>
        <p:blipFill>
          <a:blip r:embed="rId6"/>
          <a:stretch>
            <a:fillRect/>
          </a:stretch>
        </p:blipFill>
        <p:spPr>
          <a:xfrm>
            <a:off x="10072241" y="4519612"/>
            <a:ext cx="981075" cy="209550"/>
          </a:xfrm>
          <a:prstGeom prst="rect">
            <a:avLst/>
          </a:prstGeom>
        </p:spPr>
      </p:pic>
      <p:pic>
        <p:nvPicPr>
          <p:cNvPr id="36" name="Picture 35" descr="image.png"/>
          <p:cNvPicPr>
            <a:picLocks noChangeAspect="1"/>
          </p:cNvPicPr>
          <p:nvPr/>
        </p:nvPicPr>
        <p:blipFill>
          <a:blip r:embed="rId7"/>
          <a:stretch>
            <a:fillRect/>
          </a:stretch>
        </p:blipFill>
        <p:spPr>
          <a:xfrm>
            <a:off x="10072241" y="5081587"/>
            <a:ext cx="1076325" cy="209550"/>
          </a:xfrm>
          <a:prstGeom prst="rect">
            <a:avLst/>
          </a:prstGeom>
        </p:spPr>
      </p:pic>
      <p:sp>
        <p:nvSpPr>
          <p:cNvPr id="37" name="TextBox 36"/>
          <p:cNvSpPr txBox="1"/>
          <p:nvPr/>
        </p:nvSpPr>
        <p:spPr>
          <a:xfrm>
            <a:off x="485775" y="390525"/>
            <a:ext cx="11706225" cy="457200"/>
          </a:xfrm>
          <a:prstGeom prst="rect">
            <a:avLst/>
          </a:prstGeom>
          <a:noFill/>
        </p:spPr>
        <p:txBody>
          <a:bodyPr wrap="square" lIns="0" rIns="0" tIns="0" bIns="0" anchor="ctr">
            <a:spAutoFit/>
          </a:bodyPr>
          <a:lstStyle/>
          <a:p>
            <a:pPr algn="l"/>
            <a:r>
              <a:rPr b="1" sz="2400" i="0" u="none">
                <a:solidFill>
                  <a:srgbClr val="FFFFFF"/>
                </a:solidFill>
                <a:latin typeface="Poppins"/>
              </a:rPr>
              <a:t>Integration Capability Assessment</a:t>
            </a:r>
          </a:p>
        </p:txBody>
      </p:sp>
      <p:sp>
        <p:nvSpPr>
          <p:cNvPr id="38" name="Rounded Rectangle 37"/>
          <p:cNvSpPr/>
          <p:nvPr/>
        </p:nvSpPr>
        <p:spPr>
          <a:xfrm>
            <a:off x="485775" y="847725"/>
            <a:ext cx="47625"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081212"/>
            <a:ext cx="11220450" cy="3390900"/>
          </a:xfrm>
          <a:prstGeom prst="rect">
            <a:avLst/>
          </a:prstGeom>
        </p:spPr>
      </p:pic>
      <p:pic>
        <p:nvPicPr>
          <p:cNvPr id="4" name="Picture 3" descr="image.png"/>
          <p:cNvPicPr>
            <a:picLocks noChangeAspect="1"/>
          </p:cNvPicPr>
          <p:nvPr/>
        </p:nvPicPr>
        <p:blipFill>
          <a:blip r:embed="rId4"/>
          <a:stretch>
            <a:fillRect/>
          </a:stretch>
        </p:blipFill>
        <p:spPr>
          <a:xfrm>
            <a:off x="657225" y="6221908"/>
            <a:ext cx="114300" cy="152400"/>
          </a:xfrm>
          <a:prstGeom prst="rect">
            <a:avLst/>
          </a:prstGeom>
        </p:spPr>
      </p:pic>
      <p:sp>
        <p:nvSpPr>
          <p:cNvPr id="5" name="TextBox 4"/>
          <p:cNvSpPr txBox="1"/>
          <p:nvPr/>
        </p:nvSpPr>
        <p:spPr>
          <a:xfrm>
            <a:off x="914400" y="6202858"/>
            <a:ext cx="10620375" cy="293191"/>
          </a:xfrm>
          <a:prstGeom prst="rect">
            <a:avLst/>
          </a:prstGeom>
          <a:noFill/>
        </p:spPr>
        <p:txBody>
          <a:bodyPr wrap="square" lIns="0" rIns="0" tIns="0" bIns="0" anchor="t">
            <a:spAutoFit/>
          </a:bodyPr>
          <a:lstStyle/>
          <a:p>
            <a:pPr algn="l">
              <a:lnSpc>
                <a:spcPts val="1155"/>
              </a:lnSpc>
            </a:pPr>
            <a:r>
              <a:rPr b="1" sz="825" i="0" u="none">
                <a:solidFill>
                  <a:srgbClr val="F3F4F6"/>
                </a:solidFill>
                <a:latin typeface="Inter"/>
              </a:rPr>
              <a:t>Boardroom Script:</a:t>
            </a:r>
            <a:r>
              <a:rPr b="0" sz="825" i="0" u="none">
                <a:solidFill>
                  <a:srgbClr val="94A3B8"/>
                </a:solidFill>
                <a:latin typeface="Inter"/>
              </a:rPr>
              <a:t> In this technical comparison, we evaluate feature depth. Specifically, notice the topology mapping column. For a true Manager-of-Managers, we need the platform to automatically draw dependencies between a physical Oracle database on-prem and a microservices container in the cloud. Edwin AI and Watson score highest here.</a:t>
            </a:r>
          </a:p>
        </p:txBody>
      </p:sp>
      <p:graphicFrame>
        <p:nvGraphicFramePr>
          <p:cNvPr id="6" name="Table 5"/>
          <p:cNvGraphicFramePr>
            <a:graphicFrameLocks noGrp="1"/>
          </p:cNvGraphicFramePr>
          <p:nvPr/>
        </p:nvGraphicFramePr>
        <p:xfrm>
          <a:off x="495300" y="2090737"/>
          <a:ext cx="11201398" cy="3371850"/>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1506140"/>
                <a:gridCol w="1746349"/>
                <a:gridCol w="2311003"/>
                <a:gridCol w="1962150"/>
                <a:gridCol w="1980158"/>
                <a:gridCol w="1695598"/>
              </a:tblGrid>
              <a:tr h="561975">
                <a:tc>
                  <a:txBody>
                    <a:bodyPr/>
                    <a:lstStyle/>
                    <a:p>
                      <a:pPr algn="l"/>
                      <a:r>
                        <a:rPr b="0" sz="1050" i="0" u="none">
                          <a:solidFill>
                            <a:srgbClr val="FFFFFF"/>
                          </a:solidFill>
                          <a:latin typeface="Inter SemiBold"/>
                        </a:rPr>
                        <a:t>Platform Profile</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Ingestion Flexibility</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Noise Reduction &amp; Correlation</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Topology &amp; Dependency Map</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RCA Automation &amp; Copilot</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Hybrid / On-Prem Parity</a:t>
                      </a:r>
                    </a:p>
                  </a:txBody>
                  <a:tcPr anchor="ctr" marL="63500" marR="63500" marT="25400" marB="25400">
                    <a:lnL>
                      <a:noFill/>
                    </a:lnL>
                    <a:lnR>
                      <a:noFill/>
                    </a:lnR>
                    <a:lnT>
                      <a:noFill/>
                    </a:lnT>
                    <a:lnB>
                      <a:noFill/>
                    </a:lnB>
                    <a:solidFill>
                      <a:srgbClr val="111827"/>
                    </a:solidFill>
                  </a:tcPr>
                </a:tc>
              </a:tr>
              <a:tr h="561975">
                <a:tc>
                  <a:txBody>
                    <a:bodyPr/>
                    <a:lstStyle/>
                    <a:p>
                      <a:pPr algn="l"/>
                      <a:r>
                        <a:rPr b="1" sz="1050" i="0" u="none">
                          <a:solidFill>
                            <a:srgbClr val="CBD5E1"/>
                          </a:solidFill>
                          <a:latin typeface="Inter"/>
                        </a:rPr>
                        <a:t>Edwin AI</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Multi-source API &amp; Agents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Agentic Correlation Models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Real-time Dynamic Mapping</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Highly Automated Actions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Excellent</a:t>
                      </a:r>
                    </a:p>
                  </a:txBody>
                  <a:tcPr anchor="ctr" marL="63500" marR="63500" marT="25400" marB="25400">
                    <a:lnL>
                      <a:noFill/>
                    </a:lnL>
                    <a:lnR>
                      <a:noFill/>
                    </a:lnR>
                    <a:lnT>
                      <a:noFill/>
                    </a:lnT>
                    <a:lnB>
                      <a:noFill/>
                    </a:lnB>
                    <a:solidFill>
                      <a:srgbClr val="0B0F19"/>
                    </a:solidFill>
                  </a:tcPr>
                </a:tc>
              </a:tr>
              <a:tr h="561975">
                <a:tc>
                  <a:txBody>
                    <a:bodyPr/>
                    <a:lstStyle/>
                    <a:p>
                      <a:pPr algn="l"/>
                      <a:r>
                        <a:rPr b="1" sz="1050" i="0" u="none">
                          <a:solidFill>
                            <a:srgbClr val="CBD5E1"/>
                          </a:solidFill>
                          <a:latin typeface="Inter"/>
                        </a:rPr>
                        <a:t>Datadog</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Highly Agent-centric</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Unsupervised ML Anomaly</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Auto APM Service Maps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Interactive Insights Dashboard</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Moderate</a:t>
                      </a:r>
                    </a:p>
                  </a:txBody>
                  <a:tcPr anchor="ctr" marL="63500" marR="63500" marT="25400" marB="25400">
                    <a:lnL>
                      <a:noFill/>
                    </a:lnL>
                    <a:lnR>
                      <a:noFill/>
                    </a:lnR>
                    <a:lnT>
                      <a:noFill/>
                    </a:lnT>
                    <a:lnB>
                      <a:noFill/>
                    </a:lnB>
                    <a:solidFill>
                      <a:srgbClr val="0B0F19"/>
                    </a:solidFill>
                  </a:tcPr>
                </a:tc>
              </a:tr>
              <a:tr h="561975">
                <a:tc>
                  <a:txBody>
                    <a:bodyPr/>
                    <a:lstStyle/>
                    <a:p>
                      <a:pPr algn="l"/>
                      <a:r>
                        <a:rPr b="1" sz="1050" i="0" u="none">
                          <a:solidFill>
                            <a:srgbClr val="CBD5E1"/>
                          </a:solidFill>
                          <a:latin typeface="Inter"/>
                        </a:rPr>
                        <a:t>IBM Watson AIOps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High Ingestion Middleware</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NLP Unstructured Log Correlation</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Dynamic Cross-Domain Map</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Automatic Incident Synthesis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Excellent</a:t>
                      </a:r>
                    </a:p>
                  </a:txBody>
                  <a:tcPr anchor="ctr" marL="63500" marR="63500" marT="25400" marB="25400">
                    <a:lnL>
                      <a:noFill/>
                    </a:lnL>
                    <a:lnR>
                      <a:noFill/>
                    </a:lnR>
                    <a:lnT>
                      <a:noFill/>
                    </a:lnT>
                    <a:lnB>
                      <a:noFill/>
                    </a:lnB>
                    <a:solidFill>
                      <a:srgbClr val="0B0F19"/>
                    </a:solidFill>
                  </a:tcPr>
                </a:tc>
              </a:tr>
              <a:tr h="561975">
                <a:tc>
                  <a:txBody>
                    <a:bodyPr/>
                    <a:lstStyle/>
                    <a:p>
                      <a:pPr algn="l"/>
                      <a:r>
                        <a:rPr b="1" sz="1050" i="0" u="none">
                          <a:solidFill>
                            <a:srgbClr val="CBD5E1"/>
                          </a:solidFill>
                          <a:latin typeface="Inter"/>
                        </a:rPr>
                        <a:t>Azure Copilot</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Azure REST &amp; Arc Sync</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Context-based Generative Correlation</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Azure Resource Graph Map</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Conversational Triage Chat</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Limited</a:t>
                      </a:r>
                    </a:p>
                  </a:txBody>
                  <a:tcPr anchor="ctr" marL="63500" marR="63500" marT="25400" marB="25400">
                    <a:lnL>
                      <a:noFill/>
                    </a:lnL>
                    <a:lnR>
                      <a:noFill/>
                    </a:lnR>
                    <a:lnT>
                      <a:noFill/>
                    </a:lnT>
                    <a:lnB>
                      <a:noFill/>
                    </a:lnB>
                    <a:solidFill>
                      <a:srgbClr val="0B0F19"/>
                    </a:solidFill>
                  </a:tcPr>
                </a:tc>
              </a:tr>
              <a:tr h="561975">
                <a:tc>
                  <a:txBody>
                    <a:bodyPr/>
                    <a:lstStyle/>
                    <a:p>
                      <a:pPr algn="l"/>
                      <a:r>
                        <a:rPr b="1" sz="1050" i="0" u="none">
                          <a:solidFill>
                            <a:srgbClr val="CBD5E1"/>
                          </a:solidFill>
                          <a:latin typeface="Inter"/>
                        </a:rPr>
                        <a:t>Azure Observability</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Pipelined Event Hubs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Rule-based &amp; Basic ML</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Resource Topology Maps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Assisted Diagnostic Drills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Arc Dependent</a:t>
                      </a:r>
                    </a:p>
                  </a:txBody>
                  <a:tcPr anchor="ctr" marL="63500" marR="63500" marT="25400" marB="25400">
                    <a:lnL>
                      <a:noFill/>
                    </a:lnL>
                    <a:lnR>
                      <a:noFill/>
                    </a:lnR>
                    <a:lnT>
                      <a:noFill/>
                    </a:lnT>
                    <a:lnB>
                      <a:noFill/>
                    </a:lnB>
                    <a:solidFill>
                      <a:srgbClr val="0B0F19"/>
                    </a:solidFill>
                  </a:tcPr>
                </a:tc>
              </a:tr>
            </a:tbl>
          </a:graphicData>
        </a:graphic>
      </p:graphicFrame>
      <p:sp>
        <p:nvSpPr>
          <p:cNvPr id="7" name="Rectangle 6"/>
          <p:cNvSpPr/>
          <p:nvPr/>
        </p:nvSpPr>
        <p:spPr>
          <a:xfrm>
            <a:off x="495300" y="2633662"/>
            <a:ext cx="1506140"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01440" y="2633662"/>
            <a:ext cx="1746349"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47789" y="2633662"/>
            <a:ext cx="2311003"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58792" y="2633662"/>
            <a:ext cx="1962150"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20942" y="2633662"/>
            <a:ext cx="1980158"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01101" y="2633662"/>
            <a:ext cx="1695598"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5300" y="3209925"/>
            <a:ext cx="150614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01440" y="3209925"/>
            <a:ext cx="1746349"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747789" y="3209925"/>
            <a:ext cx="2311003"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58792" y="3209925"/>
            <a:ext cx="196215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20942" y="3209925"/>
            <a:ext cx="198015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001101" y="3209925"/>
            <a:ext cx="169559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5300" y="3771900"/>
            <a:ext cx="150614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01440" y="3771900"/>
            <a:ext cx="1746349"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747789" y="3771900"/>
            <a:ext cx="2311003"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58792" y="3771900"/>
            <a:ext cx="196215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20942" y="3771900"/>
            <a:ext cx="198015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001101" y="3771900"/>
            <a:ext cx="169559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5300" y="4333875"/>
            <a:ext cx="150614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01440" y="4333875"/>
            <a:ext cx="1746349"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747789" y="4333875"/>
            <a:ext cx="2311003"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58792" y="4333875"/>
            <a:ext cx="196215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20942" y="4333875"/>
            <a:ext cx="198015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001101" y="4333875"/>
            <a:ext cx="169559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95300" y="4895850"/>
            <a:ext cx="150614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001440" y="4895850"/>
            <a:ext cx="1746349"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47789" y="4895850"/>
            <a:ext cx="2311003"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58792" y="4895850"/>
            <a:ext cx="1962150"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20942" y="4895850"/>
            <a:ext cx="198015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001101" y="4895850"/>
            <a:ext cx="169559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5"/>
          <a:stretch>
            <a:fillRect/>
          </a:stretch>
        </p:blipFill>
        <p:spPr>
          <a:xfrm>
            <a:off x="10153501" y="2833687"/>
            <a:ext cx="752475" cy="209550"/>
          </a:xfrm>
          <a:prstGeom prst="rect">
            <a:avLst/>
          </a:prstGeom>
        </p:spPr>
      </p:pic>
      <p:pic>
        <p:nvPicPr>
          <p:cNvPr id="38" name="Picture 37" descr="image.png"/>
          <p:cNvPicPr>
            <a:picLocks noChangeAspect="1"/>
          </p:cNvPicPr>
          <p:nvPr/>
        </p:nvPicPr>
        <p:blipFill>
          <a:blip r:embed="rId6"/>
          <a:stretch>
            <a:fillRect/>
          </a:stretch>
        </p:blipFill>
        <p:spPr>
          <a:xfrm>
            <a:off x="10153501" y="3395662"/>
            <a:ext cx="733425" cy="209550"/>
          </a:xfrm>
          <a:prstGeom prst="rect">
            <a:avLst/>
          </a:prstGeom>
        </p:spPr>
      </p:pic>
      <p:pic>
        <p:nvPicPr>
          <p:cNvPr id="39" name="Picture 38" descr="image.png"/>
          <p:cNvPicPr>
            <a:picLocks noChangeAspect="1"/>
          </p:cNvPicPr>
          <p:nvPr/>
        </p:nvPicPr>
        <p:blipFill>
          <a:blip r:embed="rId5"/>
          <a:stretch>
            <a:fillRect/>
          </a:stretch>
        </p:blipFill>
        <p:spPr>
          <a:xfrm>
            <a:off x="10153501" y="3957637"/>
            <a:ext cx="752475" cy="209550"/>
          </a:xfrm>
          <a:prstGeom prst="rect">
            <a:avLst/>
          </a:prstGeom>
        </p:spPr>
      </p:pic>
      <p:pic>
        <p:nvPicPr>
          <p:cNvPr id="40" name="Picture 39" descr="image.png"/>
          <p:cNvPicPr>
            <a:picLocks noChangeAspect="1"/>
          </p:cNvPicPr>
          <p:nvPr/>
        </p:nvPicPr>
        <p:blipFill>
          <a:blip r:embed="rId7"/>
          <a:stretch>
            <a:fillRect/>
          </a:stretch>
        </p:blipFill>
        <p:spPr>
          <a:xfrm>
            <a:off x="10153501" y="4519612"/>
            <a:ext cx="571500" cy="209550"/>
          </a:xfrm>
          <a:prstGeom prst="rect">
            <a:avLst/>
          </a:prstGeom>
        </p:spPr>
      </p:pic>
      <p:pic>
        <p:nvPicPr>
          <p:cNvPr id="41" name="Picture 40" descr="image.png"/>
          <p:cNvPicPr>
            <a:picLocks noChangeAspect="1"/>
          </p:cNvPicPr>
          <p:nvPr/>
        </p:nvPicPr>
        <p:blipFill>
          <a:blip r:embed="rId8"/>
          <a:stretch>
            <a:fillRect/>
          </a:stretch>
        </p:blipFill>
        <p:spPr>
          <a:xfrm>
            <a:off x="10153501" y="5081587"/>
            <a:ext cx="1038225" cy="209550"/>
          </a:xfrm>
          <a:prstGeom prst="rect">
            <a:avLst/>
          </a:prstGeom>
        </p:spPr>
      </p:pic>
      <p:sp>
        <p:nvSpPr>
          <p:cNvPr id="42" name="TextBox 41"/>
          <p:cNvSpPr txBox="1"/>
          <p:nvPr/>
        </p:nvSpPr>
        <p:spPr>
          <a:xfrm>
            <a:off x="485775" y="390525"/>
            <a:ext cx="11706225" cy="457200"/>
          </a:xfrm>
          <a:prstGeom prst="rect">
            <a:avLst/>
          </a:prstGeom>
          <a:noFill/>
        </p:spPr>
        <p:txBody>
          <a:bodyPr wrap="square" lIns="0" rIns="0" tIns="0" bIns="0" anchor="ctr">
            <a:spAutoFit/>
          </a:bodyPr>
          <a:lstStyle/>
          <a:p>
            <a:pPr algn="l"/>
            <a:r>
              <a:rPr b="1" sz="2400" i="0" u="none">
                <a:solidFill>
                  <a:srgbClr val="FFFFFF"/>
                </a:solidFill>
                <a:latin typeface="Poppins"/>
              </a:rPr>
              <a:t>Comparative Feature Matrix</a:t>
            </a:r>
          </a:p>
        </p:txBody>
      </p:sp>
      <p:sp>
        <p:nvSpPr>
          <p:cNvPr id="43" name="Rounded Rectangle 42"/>
          <p:cNvSpPr/>
          <p:nvPr/>
        </p:nvSpPr>
        <p:spPr>
          <a:xfrm>
            <a:off x="485775" y="847725"/>
            <a:ext cx="47625"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300287"/>
            <a:ext cx="5419725" cy="2952750"/>
          </a:xfrm>
          <a:prstGeom prst="rect">
            <a:avLst/>
          </a:prstGeom>
        </p:spPr>
      </p:pic>
      <p:pic>
        <p:nvPicPr>
          <p:cNvPr id="4" name="Picture 3" descr="image.png"/>
          <p:cNvPicPr>
            <a:picLocks noChangeAspect="1"/>
          </p:cNvPicPr>
          <p:nvPr/>
        </p:nvPicPr>
        <p:blipFill>
          <a:blip r:embed="rId4"/>
          <a:stretch>
            <a:fillRect/>
          </a:stretch>
        </p:blipFill>
        <p:spPr>
          <a:xfrm>
            <a:off x="6286500" y="2300287"/>
            <a:ext cx="5419725" cy="2952750"/>
          </a:xfrm>
          <a:prstGeom prst="rect">
            <a:avLst/>
          </a:prstGeom>
        </p:spPr>
      </p:pic>
      <p:pic>
        <p:nvPicPr>
          <p:cNvPr id="5" name="Picture 4" descr="image.png"/>
          <p:cNvPicPr>
            <a:picLocks noChangeAspect="1"/>
          </p:cNvPicPr>
          <p:nvPr/>
        </p:nvPicPr>
        <p:blipFill>
          <a:blip r:embed="rId5"/>
          <a:stretch>
            <a:fillRect/>
          </a:stretch>
        </p:blipFill>
        <p:spPr>
          <a:xfrm>
            <a:off x="657225" y="6221908"/>
            <a:ext cx="114300" cy="152400"/>
          </a:xfrm>
          <a:prstGeom prst="rect">
            <a:avLst/>
          </a:prstGeom>
        </p:spPr>
      </p:pic>
      <p:sp>
        <p:nvSpPr>
          <p:cNvPr id="6" name="TextBox 5"/>
          <p:cNvSpPr txBox="1"/>
          <p:nvPr/>
        </p:nvSpPr>
        <p:spPr>
          <a:xfrm>
            <a:off x="914400" y="6202858"/>
            <a:ext cx="10620375" cy="293191"/>
          </a:xfrm>
          <a:prstGeom prst="rect">
            <a:avLst/>
          </a:prstGeom>
          <a:noFill/>
        </p:spPr>
        <p:txBody>
          <a:bodyPr wrap="square" lIns="0" rIns="0" tIns="0" bIns="0" anchor="t">
            <a:spAutoFit/>
          </a:bodyPr>
          <a:lstStyle/>
          <a:p>
            <a:pPr algn="l">
              <a:lnSpc>
                <a:spcPts val="1155"/>
              </a:lnSpc>
            </a:pPr>
            <a:r>
              <a:rPr b="1" sz="825" i="0" u="none">
                <a:solidFill>
                  <a:srgbClr val="F3F4F6"/>
                </a:solidFill>
                <a:latin typeface="Inter"/>
              </a:rPr>
              <a:t>Boardroom Script:</a:t>
            </a:r>
            <a:r>
              <a:rPr b="0" sz="825" i="0" u="none">
                <a:solidFill>
                  <a:srgbClr val="94A3B8"/>
                </a:solidFill>
                <a:latin typeface="Inter"/>
              </a:rPr>
              <a:t> This pro/con slide breaks down the operational realities. Datadog has the most beautiful interface, but ingest fees for legacy system logs will inflate our OpEx. Conversely, Edwin AI and Watson are enterprise-grade heavy hitters that can natively handle our complex hybrid-to-legacy configurations.</a:t>
            </a:r>
          </a:p>
        </p:txBody>
      </p:sp>
      <p:sp>
        <p:nvSpPr>
          <p:cNvPr id="7" name="TextBox 6"/>
          <p:cNvSpPr txBox="1"/>
          <p:nvPr/>
        </p:nvSpPr>
        <p:spPr>
          <a:xfrm>
            <a:off x="733425" y="2547937"/>
            <a:ext cx="5170646" cy="295275"/>
          </a:xfrm>
          <a:prstGeom prst="rect">
            <a:avLst/>
          </a:prstGeom>
          <a:noFill/>
        </p:spPr>
        <p:txBody>
          <a:bodyPr wrap="square" lIns="238125" rIns="0" tIns="0" bIns="0" anchor="t">
            <a:spAutoFit/>
          </a:bodyPr>
          <a:lstStyle/>
          <a:p>
            <a:pPr algn="l"/>
            <a:r>
              <a:rPr b="0" sz="1500" i="0" u="none">
                <a:solidFill>
                  <a:srgbClr val="10B981"/>
                </a:solidFill>
                <a:latin typeface="Poppins SemiBold"/>
              </a:rPr>
              <a:t>Edwin AI &amp; Watson AIOps</a:t>
            </a:r>
          </a:p>
        </p:txBody>
      </p:sp>
      <p:sp>
        <p:nvSpPr>
          <p:cNvPr id="8" name="Rectangle 7"/>
          <p:cNvSpPr/>
          <p:nvPr/>
        </p:nvSpPr>
        <p:spPr>
          <a:xfrm>
            <a:off x="733425" y="2909887"/>
            <a:ext cx="4924425"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4150" y="2547937"/>
            <a:ext cx="5170646" cy="295275"/>
          </a:xfrm>
          <a:prstGeom prst="rect">
            <a:avLst/>
          </a:prstGeom>
          <a:noFill/>
        </p:spPr>
        <p:txBody>
          <a:bodyPr wrap="square" lIns="238125" rIns="0" tIns="0" bIns="0" anchor="t">
            <a:spAutoFit/>
          </a:bodyPr>
          <a:lstStyle/>
          <a:p>
            <a:pPr algn="l"/>
            <a:r>
              <a:rPr b="0" sz="1500" i="0" u="none">
                <a:solidFill>
                  <a:srgbClr val="0EA5E9"/>
                </a:solidFill>
                <a:latin typeface="Poppins SemiBold"/>
              </a:rPr>
              <a:t>Datadog &amp; Azure Solutions</a:t>
            </a:r>
          </a:p>
        </p:txBody>
      </p:sp>
      <p:sp>
        <p:nvSpPr>
          <p:cNvPr id="10" name="Rectangle 9"/>
          <p:cNvSpPr/>
          <p:nvPr/>
        </p:nvSpPr>
        <p:spPr>
          <a:xfrm>
            <a:off x="6534150" y="2909887"/>
            <a:ext cx="4924425"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33425" y="2595562"/>
            <a:ext cx="238125" cy="190500"/>
          </a:xfrm>
          <a:prstGeom prst="rect">
            <a:avLst/>
          </a:prstGeom>
        </p:spPr>
      </p:pic>
      <p:sp>
        <p:nvSpPr>
          <p:cNvPr id="12" name="TextBox 11"/>
          <p:cNvSpPr txBox="1"/>
          <p:nvPr/>
        </p:nvSpPr>
        <p:spPr>
          <a:xfrm>
            <a:off x="1000125" y="3062287"/>
            <a:ext cx="46577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Pro:</a:t>
            </a:r>
            <a:r>
              <a:rPr b="0" sz="1125" i="0" u="none">
                <a:solidFill>
                  <a:srgbClr val="CBD5E1"/>
                </a:solidFill>
                <a:latin typeface="Inter"/>
              </a:rPr>
              <a:t> Broad, agentless integration matrix out of the box (Oracle/SolarWinds).</a:t>
            </a:r>
          </a:p>
        </p:txBody>
      </p:sp>
      <p:sp>
        <p:nvSpPr>
          <p:cNvPr id="13" name="TextBox 12"/>
          <p:cNvSpPr txBox="1"/>
          <p:nvPr/>
        </p:nvSpPr>
        <p:spPr>
          <a:xfrm>
            <a:off x="1000125" y="3567112"/>
            <a:ext cx="46577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Pro:</a:t>
            </a:r>
            <a:r>
              <a:rPr b="0" sz="1125" i="0" u="none">
                <a:solidFill>
                  <a:srgbClr val="CBD5E1"/>
                </a:solidFill>
                <a:latin typeface="Inter"/>
              </a:rPr>
              <a:t> Outstanding topology-guided correlation engine across physical &amp; virtual bounds.</a:t>
            </a:r>
          </a:p>
        </p:txBody>
      </p:sp>
      <p:sp>
        <p:nvSpPr>
          <p:cNvPr id="14" name="TextBox 13"/>
          <p:cNvSpPr txBox="1"/>
          <p:nvPr/>
        </p:nvSpPr>
        <p:spPr>
          <a:xfrm>
            <a:off x="1000125" y="4071937"/>
            <a:ext cx="46577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Con:</a:t>
            </a:r>
            <a:r>
              <a:rPr b="0" sz="1125" i="0" u="none">
                <a:solidFill>
                  <a:srgbClr val="CBD5E1"/>
                </a:solidFill>
                <a:latin typeface="Inter"/>
              </a:rPr>
              <a:t> Watson AIOps has a steep initial modeling and configuration curve.</a:t>
            </a:r>
          </a:p>
        </p:txBody>
      </p:sp>
      <p:sp>
        <p:nvSpPr>
          <p:cNvPr id="15" name="TextBox 14"/>
          <p:cNvSpPr txBox="1"/>
          <p:nvPr/>
        </p:nvSpPr>
        <p:spPr>
          <a:xfrm>
            <a:off x="1000125" y="4576762"/>
            <a:ext cx="46577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Con:</a:t>
            </a:r>
            <a:r>
              <a:rPr b="0" sz="1125" i="0" u="none">
                <a:solidFill>
                  <a:srgbClr val="CBD5E1"/>
                </a:solidFill>
                <a:latin typeface="Inter"/>
              </a:rPr>
              <a:t> Edwin AI requires highly consistent platform metadata to build graphs.</a:t>
            </a:r>
          </a:p>
        </p:txBody>
      </p:sp>
      <p:pic>
        <p:nvPicPr>
          <p:cNvPr id="16" name="Picture 15" descr="image.png"/>
          <p:cNvPicPr>
            <a:picLocks noChangeAspect="1"/>
          </p:cNvPicPr>
          <p:nvPr/>
        </p:nvPicPr>
        <p:blipFill>
          <a:blip r:embed="rId7"/>
          <a:stretch>
            <a:fillRect/>
          </a:stretch>
        </p:blipFill>
        <p:spPr>
          <a:xfrm>
            <a:off x="6534150" y="2595562"/>
            <a:ext cx="238125" cy="190500"/>
          </a:xfrm>
          <a:prstGeom prst="rect">
            <a:avLst/>
          </a:prstGeom>
        </p:spPr>
      </p:pic>
      <p:sp>
        <p:nvSpPr>
          <p:cNvPr id="17" name="TextBox 16"/>
          <p:cNvSpPr txBox="1"/>
          <p:nvPr/>
        </p:nvSpPr>
        <p:spPr>
          <a:xfrm>
            <a:off x="6800850" y="3062287"/>
            <a:ext cx="46577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Pro:</a:t>
            </a:r>
            <a:r>
              <a:rPr b="0" sz="1125" i="0" u="none">
                <a:solidFill>
                  <a:srgbClr val="CBD5E1"/>
                </a:solidFill>
                <a:latin typeface="Inter"/>
              </a:rPr>
              <a:t> Datadog offers best-in-class dashboard UI and real-time tracing.</a:t>
            </a:r>
          </a:p>
        </p:txBody>
      </p:sp>
      <p:sp>
        <p:nvSpPr>
          <p:cNvPr id="18" name="TextBox 17"/>
          <p:cNvSpPr txBox="1"/>
          <p:nvPr/>
        </p:nvSpPr>
        <p:spPr>
          <a:xfrm>
            <a:off x="6800850" y="3567112"/>
            <a:ext cx="46577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Pro:</a:t>
            </a:r>
            <a:r>
              <a:rPr b="0" sz="1125" i="0" u="none">
                <a:solidFill>
                  <a:srgbClr val="CBD5E1"/>
                </a:solidFill>
                <a:latin typeface="Inter"/>
              </a:rPr>
              <a:t> Azure Copilot delivers rapid natural-language incident drill-down.</a:t>
            </a:r>
          </a:p>
        </p:txBody>
      </p:sp>
      <p:sp>
        <p:nvSpPr>
          <p:cNvPr id="19" name="TextBox 18"/>
          <p:cNvSpPr txBox="1"/>
          <p:nvPr/>
        </p:nvSpPr>
        <p:spPr>
          <a:xfrm>
            <a:off x="6800850" y="4071937"/>
            <a:ext cx="46577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Con:</a:t>
            </a:r>
            <a:r>
              <a:rPr b="0" sz="1125" i="0" u="none">
                <a:solidFill>
                  <a:srgbClr val="CBD5E1"/>
                </a:solidFill>
                <a:latin typeface="Inter"/>
              </a:rPr>
              <a:t> Exorbitant ingestion/egress costs to pipe legacy logs to cloud platforms.</a:t>
            </a:r>
          </a:p>
        </p:txBody>
      </p:sp>
      <p:sp>
        <p:nvSpPr>
          <p:cNvPr id="20" name="TextBox 19"/>
          <p:cNvSpPr txBox="1"/>
          <p:nvPr/>
        </p:nvSpPr>
        <p:spPr>
          <a:xfrm>
            <a:off x="6800850" y="4576762"/>
            <a:ext cx="46577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Con:</a:t>
            </a:r>
            <a:r>
              <a:rPr b="0" sz="1125" i="0" u="none">
                <a:solidFill>
                  <a:srgbClr val="CBD5E1"/>
                </a:solidFill>
                <a:latin typeface="Inter"/>
              </a:rPr>
              <a:t> Walled-garden architectures make non-cloud telemetry highly restricted.</a:t>
            </a:r>
          </a:p>
        </p:txBody>
      </p:sp>
      <p:pic>
        <p:nvPicPr>
          <p:cNvPr id="21" name="Picture 20" descr="image.png"/>
          <p:cNvPicPr>
            <a:picLocks noChangeAspect="1"/>
          </p:cNvPicPr>
          <p:nvPr/>
        </p:nvPicPr>
        <p:blipFill>
          <a:blip r:embed="rId8"/>
          <a:stretch>
            <a:fillRect/>
          </a:stretch>
        </p:blipFill>
        <p:spPr>
          <a:xfrm>
            <a:off x="733425" y="3100387"/>
            <a:ext cx="152400" cy="152400"/>
          </a:xfrm>
          <a:prstGeom prst="rect">
            <a:avLst/>
          </a:prstGeom>
        </p:spPr>
      </p:pic>
      <p:pic>
        <p:nvPicPr>
          <p:cNvPr id="22" name="Picture 21" descr="image.png"/>
          <p:cNvPicPr>
            <a:picLocks noChangeAspect="1"/>
          </p:cNvPicPr>
          <p:nvPr/>
        </p:nvPicPr>
        <p:blipFill>
          <a:blip r:embed="rId8"/>
          <a:stretch>
            <a:fillRect/>
          </a:stretch>
        </p:blipFill>
        <p:spPr>
          <a:xfrm>
            <a:off x="733425" y="3605212"/>
            <a:ext cx="152400" cy="152400"/>
          </a:xfrm>
          <a:prstGeom prst="rect">
            <a:avLst/>
          </a:prstGeom>
        </p:spPr>
      </p:pic>
      <p:pic>
        <p:nvPicPr>
          <p:cNvPr id="23" name="Picture 22" descr="image.png"/>
          <p:cNvPicPr>
            <a:picLocks noChangeAspect="1"/>
          </p:cNvPicPr>
          <p:nvPr/>
        </p:nvPicPr>
        <p:blipFill>
          <a:blip r:embed="rId9"/>
          <a:stretch>
            <a:fillRect/>
          </a:stretch>
        </p:blipFill>
        <p:spPr>
          <a:xfrm>
            <a:off x="733425" y="4110037"/>
            <a:ext cx="152400" cy="152400"/>
          </a:xfrm>
          <a:prstGeom prst="rect">
            <a:avLst/>
          </a:prstGeom>
        </p:spPr>
      </p:pic>
      <p:pic>
        <p:nvPicPr>
          <p:cNvPr id="24" name="Picture 23" descr="image.png"/>
          <p:cNvPicPr>
            <a:picLocks noChangeAspect="1"/>
          </p:cNvPicPr>
          <p:nvPr/>
        </p:nvPicPr>
        <p:blipFill>
          <a:blip r:embed="rId9"/>
          <a:stretch>
            <a:fillRect/>
          </a:stretch>
        </p:blipFill>
        <p:spPr>
          <a:xfrm>
            <a:off x="733425" y="4614862"/>
            <a:ext cx="152400" cy="152400"/>
          </a:xfrm>
          <a:prstGeom prst="rect">
            <a:avLst/>
          </a:prstGeom>
        </p:spPr>
      </p:pic>
      <p:pic>
        <p:nvPicPr>
          <p:cNvPr id="25" name="Picture 24" descr="image.png"/>
          <p:cNvPicPr>
            <a:picLocks noChangeAspect="1"/>
          </p:cNvPicPr>
          <p:nvPr/>
        </p:nvPicPr>
        <p:blipFill>
          <a:blip r:embed="rId8"/>
          <a:stretch>
            <a:fillRect/>
          </a:stretch>
        </p:blipFill>
        <p:spPr>
          <a:xfrm>
            <a:off x="6534150" y="3100387"/>
            <a:ext cx="152400" cy="152400"/>
          </a:xfrm>
          <a:prstGeom prst="rect">
            <a:avLst/>
          </a:prstGeom>
        </p:spPr>
      </p:pic>
      <p:pic>
        <p:nvPicPr>
          <p:cNvPr id="26" name="Picture 25" descr="image.png"/>
          <p:cNvPicPr>
            <a:picLocks noChangeAspect="1"/>
          </p:cNvPicPr>
          <p:nvPr/>
        </p:nvPicPr>
        <p:blipFill>
          <a:blip r:embed="rId8"/>
          <a:stretch>
            <a:fillRect/>
          </a:stretch>
        </p:blipFill>
        <p:spPr>
          <a:xfrm>
            <a:off x="6534150" y="3605212"/>
            <a:ext cx="152400" cy="152400"/>
          </a:xfrm>
          <a:prstGeom prst="rect">
            <a:avLst/>
          </a:prstGeom>
        </p:spPr>
      </p:pic>
      <p:pic>
        <p:nvPicPr>
          <p:cNvPr id="27" name="Picture 26" descr="image.png"/>
          <p:cNvPicPr>
            <a:picLocks noChangeAspect="1"/>
          </p:cNvPicPr>
          <p:nvPr/>
        </p:nvPicPr>
        <p:blipFill>
          <a:blip r:embed="rId9"/>
          <a:stretch>
            <a:fillRect/>
          </a:stretch>
        </p:blipFill>
        <p:spPr>
          <a:xfrm>
            <a:off x="6534150" y="4110037"/>
            <a:ext cx="152400" cy="152400"/>
          </a:xfrm>
          <a:prstGeom prst="rect">
            <a:avLst/>
          </a:prstGeom>
        </p:spPr>
      </p:pic>
      <p:pic>
        <p:nvPicPr>
          <p:cNvPr id="28" name="Picture 27" descr="image.png"/>
          <p:cNvPicPr>
            <a:picLocks noChangeAspect="1"/>
          </p:cNvPicPr>
          <p:nvPr/>
        </p:nvPicPr>
        <p:blipFill>
          <a:blip r:embed="rId9"/>
          <a:stretch>
            <a:fillRect/>
          </a:stretch>
        </p:blipFill>
        <p:spPr>
          <a:xfrm>
            <a:off x="6534150" y="4614862"/>
            <a:ext cx="152400" cy="152400"/>
          </a:xfrm>
          <a:prstGeom prst="rect">
            <a:avLst/>
          </a:prstGeom>
        </p:spPr>
      </p:pic>
      <p:sp>
        <p:nvSpPr>
          <p:cNvPr id="29" name="TextBox 28"/>
          <p:cNvSpPr txBox="1"/>
          <p:nvPr/>
        </p:nvSpPr>
        <p:spPr>
          <a:xfrm>
            <a:off x="485775" y="390525"/>
            <a:ext cx="11706225" cy="457200"/>
          </a:xfrm>
          <a:prstGeom prst="rect">
            <a:avLst/>
          </a:prstGeom>
          <a:noFill/>
        </p:spPr>
        <p:txBody>
          <a:bodyPr wrap="square" lIns="0" rIns="0" tIns="0" bIns="0" anchor="ctr">
            <a:spAutoFit/>
          </a:bodyPr>
          <a:lstStyle/>
          <a:p>
            <a:pPr algn="l"/>
            <a:r>
              <a:rPr b="1" sz="2400" i="0" u="none">
                <a:solidFill>
                  <a:srgbClr val="FFFFFF"/>
                </a:solidFill>
                <a:latin typeface="Poppins"/>
              </a:rPr>
              <a:t>Pros &amp; Cons: Core Candidates</a:t>
            </a:r>
          </a:p>
        </p:txBody>
      </p:sp>
      <p:sp>
        <p:nvSpPr>
          <p:cNvPr id="30" name="Rounded Rectangle 29"/>
          <p:cNvSpPr/>
          <p:nvPr/>
        </p:nvSpPr>
        <p:spPr>
          <a:xfrm>
            <a:off x="485775" y="847725"/>
            <a:ext cx="47625"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286500" y="2836664"/>
            <a:ext cx="5419725" cy="1879996"/>
          </a:xfrm>
          <a:prstGeom prst="rect">
            <a:avLst/>
          </a:prstGeom>
        </p:spPr>
      </p:pic>
      <p:pic>
        <p:nvPicPr>
          <p:cNvPr id="4" name="Picture 3" descr="image.png"/>
          <p:cNvPicPr>
            <a:picLocks noChangeAspect="1"/>
          </p:cNvPicPr>
          <p:nvPr/>
        </p:nvPicPr>
        <p:blipFill>
          <a:blip r:embed="rId4"/>
          <a:stretch>
            <a:fillRect/>
          </a:stretch>
        </p:blipFill>
        <p:spPr>
          <a:xfrm>
            <a:off x="485775" y="4238922"/>
            <a:ext cx="5219700" cy="580429"/>
          </a:xfrm>
          <a:prstGeom prst="rect">
            <a:avLst/>
          </a:prstGeom>
        </p:spPr>
      </p:pic>
      <p:pic>
        <p:nvPicPr>
          <p:cNvPr id="5" name="Picture 4" descr="image.png"/>
          <p:cNvPicPr>
            <a:picLocks noChangeAspect="1"/>
          </p:cNvPicPr>
          <p:nvPr/>
        </p:nvPicPr>
        <p:blipFill>
          <a:blip r:embed="rId5"/>
          <a:stretch>
            <a:fillRect/>
          </a:stretch>
        </p:blipFill>
        <p:spPr>
          <a:xfrm>
            <a:off x="657225" y="6221908"/>
            <a:ext cx="114300" cy="152400"/>
          </a:xfrm>
          <a:prstGeom prst="rect">
            <a:avLst/>
          </a:prstGeom>
        </p:spPr>
      </p:pic>
      <p:sp>
        <p:nvSpPr>
          <p:cNvPr id="6" name="TextBox 5"/>
          <p:cNvSpPr txBox="1"/>
          <p:nvPr/>
        </p:nvSpPr>
        <p:spPr>
          <a:xfrm>
            <a:off x="914400" y="6202858"/>
            <a:ext cx="10620375" cy="293191"/>
          </a:xfrm>
          <a:prstGeom prst="rect">
            <a:avLst/>
          </a:prstGeom>
          <a:noFill/>
        </p:spPr>
        <p:txBody>
          <a:bodyPr wrap="square" lIns="0" rIns="0" tIns="0" bIns="0" anchor="t">
            <a:spAutoFit/>
          </a:bodyPr>
          <a:lstStyle/>
          <a:p>
            <a:pPr algn="l">
              <a:lnSpc>
                <a:spcPts val="1155"/>
              </a:lnSpc>
            </a:pPr>
            <a:r>
              <a:rPr b="1" sz="825" i="0" u="none">
                <a:solidFill>
                  <a:srgbClr val="F3F4F6"/>
                </a:solidFill>
                <a:latin typeface="Inter"/>
              </a:rPr>
              <a:t>Boardroom Script:</a:t>
            </a:r>
            <a:r>
              <a:rPr b="0" sz="825" i="0" u="none">
                <a:solidFill>
                  <a:srgbClr val="94A3B8"/>
                </a:solidFill>
                <a:latin typeface="Inter"/>
              </a:rPr>
              <a:t> This slide represents the financial justification. In the formula box, you will find our standardized ROI model, which is highly driven by the reduction in critical database downtime. By shifting from ingestion-based models (like Datadog) to node-based pricing (like Edwin AI), we project a 52% reduction in TCO over three years.</a:t>
            </a:r>
          </a:p>
        </p:txBody>
      </p:sp>
      <p:sp>
        <p:nvSpPr>
          <p:cNvPr id="7" name="TextBox 6"/>
          <p:cNvSpPr txBox="1"/>
          <p:nvPr/>
        </p:nvSpPr>
        <p:spPr>
          <a:xfrm>
            <a:off x="2381250" y="2591097"/>
            <a:ext cx="1428750" cy="685800"/>
          </a:xfrm>
          <a:prstGeom prst="rect">
            <a:avLst/>
          </a:prstGeom>
          <a:noFill/>
        </p:spPr>
        <p:txBody>
          <a:bodyPr wrap="square" lIns="0" rIns="0" tIns="0" bIns="0" anchor="t">
            <a:spAutoFit/>
          </a:bodyPr>
          <a:lstStyle/>
          <a:p>
            <a:pPr algn="l">
              <a:lnSpc>
                <a:spcPts val="5400"/>
              </a:lnSpc>
            </a:pPr>
            <a:r>
              <a:rPr b="1" sz="5400" i="0" u="none">
                <a:solidFill>
                  <a:srgbClr val="10B981"/>
                </a:solidFill>
                <a:latin typeface="Poppins"/>
              </a:rPr>
              <a:t>74%</a:t>
            </a:r>
          </a:p>
        </p:txBody>
      </p:sp>
      <p:sp>
        <p:nvSpPr>
          <p:cNvPr id="8" name="TextBox 7"/>
          <p:cNvSpPr txBox="1"/>
          <p:nvPr/>
        </p:nvSpPr>
        <p:spPr>
          <a:xfrm>
            <a:off x="2149226" y="3372147"/>
            <a:ext cx="1892647" cy="161925"/>
          </a:xfrm>
          <a:prstGeom prst="rect">
            <a:avLst/>
          </a:prstGeom>
          <a:noFill/>
        </p:spPr>
        <p:txBody>
          <a:bodyPr wrap="square" lIns="0" rIns="0" tIns="0" bIns="0" anchor="t">
            <a:spAutoFit/>
          </a:bodyPr>
          <a:lstStyle/>
          <a:p>
            <a:pPr algn="ctr"/>
            <a:r>
              <a:rPr b="0" sz="1050" i="0" u="none">
                <a:solidFill>
                  <a:srgbClr val="94A3B8"/>
                </a:solidFill>
                <a:latin typeface="Inter"/>
              </a:rPr>
              <a:t>TARGET MTTR REDUCTION</a:t>
            </a:r>
          </a:p>
        </p:txBody>
      </p:sp>
      <p:sp>
        <p:nvSpPr>
          <p:cNvPr id="9" name="TextBox 8"/>
          <p:cNvSpPr txBox="1"/>
          <p:nvPr/>
        </p:nvSpPr>
        <p:spPr>
          <a:xfrm>
            <a:off x="1905000" y="3676947"/>
            <a:ext cx="2381250" cy="371475"/>
          </a:xfrm>
          <a:prstGeom prst="rect">
            <a:avLst/>
          </a:prstGeom>
          <a:noFill/>
        </p:spPr>
        <p:txBody>
          <a:bodyPr wrap="square" lIns="0" rIns="0" tIns="0" bIns="0" anchor="t">
            <a:spAutoFit/>
          </a:bodyPr>
          <a:lstStyle/>
          <a:p>
            <a:pPr algn="ctr">
              <a:lnSpc>
                <a:spcPts val="1462"/>
              </a:lnSpc>
            </a:pPr>
            <a:r>
              <a:rPr b="0" sz="975" i="0" u="none">
                <a:solidFill>
                  <a:srgbClr val="94A3B8"/>
                </a:solidFill>
                <a:latin typeface="Inter"/>
              </a:rPr>
              <a:t>Consolidates tier-1 incident lifecycles from 90 mins to under 23 mins.</a:t>
            </a:r>
          </a:p>
        </p:txBody>
      </p:sp>
      <p:sp>
        <p:nvSpPr>
          <p:cNvPr id="10" name="TextBox 9"/>
          <p:cNvSpPr txBox="1"/>
          <p:nvPr/>
        </p:nvSpPr>
        <p:spPr>
          <a:xfrm>
            <a:off x="6286500" y="2836664"/>
            <a:ext cx="5690711" cy="285750"/>
          </a:xfrm>
          <a:prstGeom prst="rect">
            <a:avLst/>
          </a:prstGeom>
          <a:noFill/>
        </p:spPr>
        <p:txBody>
          <a:bodyPr wrap="square" lIns="171450" rIns="0" tIns="0" bIns="0" anchor="t">
            <a:spAutoFit/>
          </a:bodyPr>
          <a:lstStyle/>
          <a:p>
            <a:pPr algn="l"/>
            <a:r>
              <a:rPr b="0" sz="1500" i="0" u="none">
                <a:solidFill>
                  <a:srgbClr val="0EA5E9"/>
                </a:solidFill>
                <a:latin typeface="Poppins SemiBold"/>
              </a:rPr>
              <a:t>Year-3 Cumulative Cost Projections</a:t>
            </a:r>
          </a:p>
        </p:txBody>
      </p:sp>
      <p:sp>
        <p:nvSpPr>
          <p:cNvPr id="11" name="TextBox 10"/>
          <p:cNvSpPr txBox="1"/>
          <p:nvPr/>
        </p:nvSpPr>
        <p:spPr>
          <a:xfrm>
            <a:off x="6286500" y="4370189"/>
            <a:ext cx="5419725" cy="346471"/>
          </a:xfrm>
          <a:prstGeom prst="rect">
            <a:avLst/>
          </a:prstGeom>
          <a:noFill/>
        </p:spPr>
        <p:txBody>
          <a:bodyPr wrap="square" lIns="0" rIns="0" tIns="0" bIns="0" anchor="t">
            <a:spAutoFit/>
          </a:bodyPr>
          <a:lstStyle/>
          <a:p>
            <a:pPr algn="l">
              <a:lnSpc>
                <a:spcPts val="1364"/>
              </a:lnSpc>
            </a:pPr>
            <a:r>
              <a:rPr b="0" sz="975" i="0" u="none">
                <a:solidFill>
                  <a:srgbClr val="64748B"/>
                </a:solidFill>
                <a:latin typeface="Inter"/>
              </a:rPr>
              <a:t>* TCO calculations include platform software licenses, proxy egress data fees (for SaaS), and implementation integration costs over 36 months.</a:t>
            </a:r>
          </a:p>
        </p:txBody>
      </p:sp>
      <p:pic>
        <p:nvPicPr>
          <p:cNvPr id="12" name="Picture 11" descr="image.png"/>
          <p:cNvPicPr>
            <a:picLocks noChangeAspect="1"/>
          </p:cNvPicPr>
          <p:nvPr/>
        </p:nvPicPr>
        <p:blipFill>
          <a:blip r:embed="rId6"/>
          <a:stretch>
            <a:fillRect/>
          </a:stretch>
        </p:blipFill>
        <p:spPr>
          <a:xfrm>
            <a:off x="2226915" y="4438947"/>
            <a:ext cx="1737419" cy="180379"/>
          </a:xfrm>
          <a:prstGeom prst="rect">
            <a:avLst/>
          </a:prstGeom>
        </p:spPr>
      </p:pic>
      <p:pic>
        <p:nvPicPr>
          <p:cNvPr id="13" name="Picture 12" descr="image.png"/>
          <p:cNvPicPr>
            <a:picLocks noChangeAspect="1"/>
          </p:cNvPicPr>
          <p:nvPr/>
        </p:nvPicPr>
        <p:blipFill>
          <a:blip r:embed="rId7"/>
          <a:stretch>
            <a:fillRect/>
          </a:stretch>
        </p:blipFill>
        <p:spPr>
          <a:xfrm>
            <a:off x="6286500" y="2884289"/>
            <a:ext cx="171450" cy="190500"/>
          </a:xfrm>
          <a:prstGeom prst="rect">
            <a:avLst/>
          </a:prstGeom>
        </p:spPr>
      </p:pic>
      <p:sp>
        <p:nvSpPr>
          <p:cNvPr id="14" name="TextBox 13"/>
          <p:cNvSpPr txBox="1"/>
          <p:nvPr/>
        </p:nvSpPr>
        <p:spPr>
          <a:xfrm>
            <a:off x="485775" y="390525"/>
            <a:ext cx="11706225" cy="457200"/>
          </a:xfrm>
          <a:prstGeom prst="rect">
            <a:avLst/>
          </a:prstGeom>
          <a:noFill/>
        </p:spPr>
        <p:txBody>
          <a:bodyPr wrap="square" lIns="0" rIns="0" tIns="0" bIns="0" anchor="ctr">
            <a:spAutoFit/>
          </a:bodyPr>
          <a:lstStyle/>
          <a:p>
            <a:pPr algn="l"/>
            <a:r>
              <a:rPr b="1" sz="2400" i="0" u="none">
                <a:solidFill>
                  <a:srgbClr val="FFFFFF"/>
                </a:solidFill>
                <a:latin typeface="Poppins"/>
              </a:rPr>
              <a:t>TCO &amp; Financial ROI Framework</a:t>
            </a:r>
          </a:p>
        </p:txBody>
      </p:sp>
      <p:sp>
        <p:nvSpPr>
          <p:cNvPr id="15" name="Rounded Rectangle 14"/>
          <p:cNvSpPr/>
          <p:nvPr/>
        </p:nvSpPr>
        <p:spPr>
          <a:xfrm>
            <a:off x="485775" y="847725"/>
            <a:ext cx="47625"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85775" y="2767012"/>
            <a:ext cx="11220450" cy="2019300"/>
          </a:xfrm>
          <a:prstGeom prst="rect">
            <a:avLst/>
          </a:prstGeom>
        </p:spPr>
      </p:pic>
      <p:pic>
        <p:nvPicPr>
          <p:cNvPr id="4" name="Picture 3" descr="image.png"/>
          <p:cNvPicPr>
            <a:picLocks noChangeAspect="1"/>
          </p:cNvPicPr>
          <p:nvPr/>
        </p:nvPicPr>
        <p:blipFill>
          <a:blip r:embed="rId4"/>
          <a:stretch>
            <a:fillRect/>
          </a:stretch>
        </p:blipFill>
        <p:spPr>
          <a:xfrm>
            <a:off x="657225" y="6221908"/>
            <a:ext cx="114300" cy="152400"/>
          </a:xfrm>
          <a:prstGeom prst="rect">
            <a:avLst/>
          </a:prstGeom>
        </p:spPr>
      </p:pic>
      <p:sp>
        <p:nvSpPr>
          <p:cNvPr id="5" name="TextBox 4"/>
          <p:cNvSpPr txBox="1"/>
          <p:nvPr/>
        </p:nvSpPr>
        <p:spPr>
          <a:xfrm>
            <a:off x="914400" y="6202858"/>
            <a:ext cx="10620375" cy="293191"/>
          </a:xfrm>
          <a:prstGeom prst="rect">
            <a:avLst/>
          </a:prstGeom>
          <a:noFill/>
        </p:spPr>
        <p:txBody>
          <a:bodyPr wrap="square" lIns="0" rIns="0" tIns="0" bIns="0" anchor="t">
            <a:spAutoFit/>
          </a:bodyPr>
          <a:lstStyle/>
          <a:p>
            <a:pPr algn="l">
              <a:lnSpc>
                <a:spcPts val="1155"/>
              </a:lnSpc>
            </a:pPr>
            <a:r>
              <a:rPr b="1" sz="825" i="0" u="none">
                <a:solidFill>
                  <a:srgbClr val="F3F4F6"/>
                </a:solidFill>
                <a:latin typeface="Inter"/>
              </a:rPr>
              <a:t>Boardroom Script:</a:t>
            </a:r>
            <a:r>
              <a:rPr b="0" sz="825" i="0" u="none">
                <a:solidFill>
                  <a:srgbClr val="94A3B8"/>
                </a:solidFill>
                <a:latin typeface="Inter"/>
              </a:rPr>
              <a:t> Not all systems are constructed equal. If we were a pure on-premises, air-gapped secure facility, Watson would be the primary choice. If we were a cloud-only startup, Datadog would win. Because we have dynamic cloud nodes connected to critical legacy on-prem databases, Edwin AI stands out as our strategic hybrid champion.</a:t>
            </a:r>
          </a:p>
        </p:txBody>
      </p:sp>
      <p:graphicFrame>
        <p:nvGraphicFramePr>
          <p:cNvPr id="6" name="Table 5"/>
          <p:cNvGraphicFramePr>
            <a:graphicFrameLocks noGrp="1"/>
          </p:cNvGraphicFramePr>
          <p:nvPr/>
        </p:nvGraphicFramePr>
        <p:xfrm>
          <a:off x="495300" y="2776537"/>
          <a:ext cx="11201399" cy="2000250"/>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1894135"/>
                <a:gridCol w="2749748"/>
                <a:gridCol w="2509391"/>
                <a:gridCol w="4048125"/>
              </a:tblGrid>
              <a:tr h="400050">
                <a:tc>
                  <a:txBody>
                    <a:bodyPr/>
                    <a:lstStyle/>
                    <a:p>
                      <a:pPr algn="l"/>
                      <a:r>
                        <a:rPr b="0" sz="1050" i="0" u="none">
                          <a:solidFill>
                            <a:srgbClr val="FFFFFF"/>
                          </a:solidFill>
                          <a:latin typeface="Inter SemiBold"/>
                        </a:rPr>
                        <a:t>Platform Fit</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Pure On-Premises Heavy</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Multi-Cloud / Cloud Native</a:t>
                      </a:r>
                    </a:p>
                  </a:txBody>
                  <a:tcPr anchor="ctr" marL="63500" marR="63500" marT="25400" marB="25400">
                    <a:lnL>
                      <a:noFill/>
                    </a:lnL>
                    <a:lnR>
                      <a:noFill/>
                    </a:lnR>
                    <a:lnT>
                      <a:noFill/>
                    </a:lnT>
                    <a:lnB>
                      <a:noFill/>
                    </a:lnB>
                    <a:solidFill>
                      <a:srgbClr val="111827"/>
                    </a:solidFill>
                  </a:tcPr>
                </a:tc>
                <a:tc>
                  <a:txBody>
                    <a:bodyPr/>
                    <a:lstStyle/>
                    <a:p>
                      <a:pPr algn="l"/>
                      <a:r>
                        <a:rPr b="0" sz="1050" i="0" u="none">
                          <a:solidFill>
                            <a:srgbClr val="FFFFFF"/>
                          </a:solidFill>
                          <a:latin typeface="Inter SemiBold"/>
                        </a:rPr>
                        <a:t>True Hybrid Strategy (Best Fit)</a:t>
                      </a:r>
                    </a:p>
                  </a:txBody>
                  <a:tcPr anchor="ctr" marL="63500" marR="63500" marT="25400" marB="25400">
                    <a:lnL>
                      <a:noFill/>
                    </a:lnL>
                    <a:lnR>
                      <a:noFill/>
                    </a:lnR>
                    <a:lnT>
                      <a:noFill/>
                    </a:lnT>
                    <a:lnB>
                      <a:noFill/>
                    </a:lnB>
                    <a:solidFill>
                      <a:srgbClr val="111827"/>
                    </a:solidFill>
                  </a:tcPr>
                </a:tc>
              </a:tr>
              <a:tr h="400050">
                <a:tc>
                  <a:txBody>
                    <a:bodyPr/>
                    <a:lstStyle/>
                    <a:p>
                      <a:pPr algn="l"/>
                      <a:r>
                        <a:rPr b="1" sz="1050" i="0" u="none">
                          <a:solidFill>
                            <a:srgbClr val="CBD5E1"/>
                          </a:solidFill>
                          <a:latin typeface="Inter"/>
                        </a:rPr>
                        <a:t>Recommended Option</a:t>
                      </a:r>
                    </a:p>
                  </a:txBody>
                  <a:tcPr anchor="ctr" marL="63500" marR="63500" marT="25400" marB="25400">
                    <a:lnL>
                      <a:noFill/>
                    </a:lnL>
                    <a:lnR>
                      <a:noFill/>
                    </a:lnR>
                    <a:lnT>
                      <a:noFill/>
                    </a:lnT>
                    <a:lnB>
                      <a:noFill/>
                    </a:lnB>
                    <a:solidFill>
                      <a:srgbClr val="0B0F19"/>
                    </a:solidFill>
                  </a:tcPr>
                </a:tc>
                <a:tc>
                  <a:txBody>
                    <a:bodyPr/>
                    <a:lstStyle/>
                    <a:p>
                      <a:pPr algn="l"/>
                      <a:r>
                        <a:rPr b="1" sz="1050" i="0" u="none">
                          <a:solidFill>
                            <a:srgbClr val="FFFFFF"/>
                          </a:solidFill>
                          <a:latin typeface="Inter"/>
                        </a:rPr>
                        <a:t>IBM Watson AIOps</a:t>
                      </a:r>
                    </a:p>
                  </a:txBody>
                  <a:tcPr anchor="ctr" marL="63500" marR="63500" marT="25400" marB="25400">
                    <a:lnL>
                      <a:noFill/>
                    </a:lnL>
                    <a:lnR>
                      <a:noFill/>
                    </a:lnR>
                    <a:lnT>
                      <a:noFill/>
                    </a:lnT>
                    <a:lnB>
                      <a:noFill/>
                    </a:lnB>
                    <a:solidFill>
                      <a:srgbClr val="0B0F19"/>
                    </a:solidFill>
                  </a:tcPr>
                </a:tc>
                <a:tc>
                  <a:txBody>
                    <a:bodyPr/>
                    <a:lstStyle/>
                    <a:p>
                      <a:pPr algn="l"/>
                      <a:r>
                        <a:rPr b="1" sz="1050" i="0" u="none">
                          <a:solidFill>
                            <a:srgbClr val="FFFFFF"/>
                          </a:solidFill>
                          <a:latin typeface="Inter"/>
                        </a:rPr>
                        <a:t>Datadog AIOps / Copilot</a:t>
                      </a:r>
                    </a:p>
                  </a:txBody>
                  <a:tcPr anchor="ctr" marL="63500" marR="63500" marT="25400" marB="25400">
                    <a:lnL>
                      <a:noFill/>
                    </a:lnL>
                    <a:lnR>
                      <a:noFill/>
                    </a:lnR>
                    <a:lnT>
                      <a:noFill/>
                    </a:lnT>
                    <a:lnB>
                      <a:noFill/>
                    </a:lnB>
                    <a:solidFill>
                      <a:srgbClr val="0B0F19"/>
                    </a:solidFill>
                  </a:tcPr>
                </a:tc>
                <a:tc>
                  <a:txBody>
                    <a:bodyPr/>
                    <a:lstStyle/>
                    <a:p>
                      <a:pPr algn="l"/>
                      <a:r>
                        <a:rPr b="1" sz="1050" i="0" u="none">
                          <a:solidFill>
                            <a:srgbClr val="10B981"/>
                          </a:solidFill>
                          <a:latin typeface="Inter"/>
                        </a:rPr>
                        <a:t>Edwin AI (LogicMonitor)</a:t>
                      </a:r>
                    </a:p>
                  </a:txBody>
                  <a:tcPr anchor="ctr" marL="63500" marR="63500" marT="25400" marB="25400">
                    <a:lnL>
                      <a:noFill/>
                    </a:lnL>
                    <a:lnR>
                      <a:noFill/>
                    </a:lnR>
                    <a:lnT>
                      <a:noFill/>
                    </a:lnT>
                    <a:lnB>
                      <a:noFill/>
                    </a:lnB>
                    <a:solidFill>
                      <a:srgbClr val="0B0F19"/>
                    </a:solidFill>
                  </a:tcPr>
                </a:tc>
              </a:tr>
              <a:tr h="400050">
                <a:tc>
                  <a:txBody>
                    <a:bodyPr/>
                    <a:lstStyle/>
                    <a:p>
                      <a:pPr algn="l"/>
                      <a:r>
                        <a:rPr b="1" sz="1050" i="0" u="none">
                          <a:solidFill>
                            <a:srgbClr val="CBD5E1"/>
                          </a:solidFill>
                          <a:latin typeface="Inter"/>
                        </a:rPr>
                        <a:t>Architectural Fit</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Outstanding local middleware parsing</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Optimal container trace routing</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Seamless integration of legacy databases with cloud nodes</a:t>
                      </a:r>
                    </a:p>
                  </a:txBody>
                  <a:tcPr anchor="ctr" marL="63500" marR="63500" marT="25400" marB="25400">
                    <a:lnL>
                      <a:noFill/>
                    </a:lnL>
                    <a:lnR>
                      <a:noFill/>
                    </a:lnR>
                    <a:lnT>
                      <a:noFill/>
                    </a:lnT>
                    <a:lnB>
                      <a:noFill/>
                    </a:lnB>
                    <a:solidFill>
                      <a:srgbClr val="0B0F19"/>
                    </a:solidFill>
                  </a:tcPr>
                </a:tc>
              </a:tr>
              <a:tr h="400050">
                <a:tc>
                  <a:txBody>
                    <a:bodyPr/>
                    <a:lstStyle/>
                    <a:p>
                      <a:pPr algn="l"/>
                      <a:r>
                        <a:rPr b="1" sz="1050" i="0" u="none">
                          <a:solidFill>
                            <a:srgbClr val="CBD5E1"/>
                          </a:solidFill>
                          <a:latin typeface="Inter"/>
                        </a:rPr>
                        <a:t>Compliance Path</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On-prem air-gapped private cluster</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SaaS Cloud Compliance Standards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Metadata isolation model (highly secure)</a:t>
                      </a:r>
                    </a:p>
                  </a:txBody>
                  <a:tcPr anchor="ctr" marL="63500" marR="63500" marT="25400" marB="25400">
                    <a:lnL>
                      <a:noFill/>
                    </a:lnL>
                    <a:lnR>
                      <a:noFill/>
                    </a:lnR>
                    <a:lnT>
                      <a:noFill/>
                    </a:lnT>
                    <a:lnB>
                      <a:noFill/>
                    </a:lnB>
                    <a:solidFill>
                      <a:srgbClr val="0B0F19"/>
                    </a:solidFill>
                  </a:tcPr>
                </a:tc>
              </a:tr>
              <a:tr h="400050">
                <a:tc>
                  <a:txBody>
                    <a:bodyPr/>
                    <a:lstStyle/>
                    <a:p>
                      <a:pPr algn="l"/>
                      <a:r>
                        <a:rPr b="1" sz="1050" i="0" u="none">
                          <a:solidFill>
                            <a:srgbClr val="CBD5E1"/>
                          </a:solidFill>
                          <a:latin typeface="Inter"/>
                        </a:rPr>
                        <a:t>Deployment Complexity</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High - Requires dedicated VM clusters</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Low - Agent deployment is rapid</a:t>
                      </a:r>
                    </a:p>
                  </a:txBody>
                  <a:tcPr anchor="ctr" marL="63500" marR="63500" marT="25400" marB="25400">
                    <a:lnL>
                      <a:noFill/>
                    </a:lnL>
                    <a:lnR>
                      <a:noFill/>
                    </a:lnR>
                    <a:lnT>
                      <a:noFill/>
                    </a:lnT>
                    <a:lnB>
                      <a:noFill/>
                    </a:lnB>
                    <a:solidFill>
                      <a:srgbClr val="0B0F19"/>
                    </a:solidFill>
                  </a:tcPr>
                </a:tc>
                <a:tc>
                  <a:txBody>
                    <a:bodyPr/>
                    <a:lstStyle/>
                    <a:p>
                      <a:pPr algn="l"/>
                      <a:r>
                        <a:rPr b="0" sz="1050" i="0" u="none">
                          <a:solidFill>
                            <a:srgbClr val="CBD5E1"/>
                          </a:solidFill>
                          <a:latin typeface="Inter"/>
                        </a:rPr>
                        <a:t>Low - Agentless collectors with SaaS engine</a:t>
                      </a:r>
                    </a:p>
                  </a:txBody>
                  <a:tcPr anchor="ctr" marL="63500" marR="63500" marT="25400" marB="25400">
                    <a:lnL>
                      <a:noFill/>
                    </a:lnL>
                    <a:lnR>
                      <a:noFill/>
                    </a:lnR>
                    <a:lnT>
                      <a:noFill/>
                    </a:lnT>
                    <a:lnB>
                      <a:noFill/>
                    </a:lnB>
                    <a:solidFill>
                      <a:srgbClr val="0B0F19"/>
                    </a:solidFill>
                  </a:tcPr>
                </a:tc>
              </a:tr>
            </a:tbl>
          </a:graphicData>
        </a:graphic>
      </p:graphicFrame>
      <p:sp>
        <p:nvSpPr>
          <p:cNvPr id="7" name="Rectangle 6"/>
          <p:cNvSpPr/>
          <p:nvPr/>
        </p:nvSpPr>
        <p:spPr>
          <a:xfrm>
            <a:off x="495300" y="3157537"/>
            <a:ext cx="1894135"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389435" y="3157537"/>
            <a:ext cx="2749748"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39183" y="3157537"/>
            <a:ext cx="2509391"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48575" y="3157537"/>
            <a:ext cx="4048125"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5300" y="3571875"/>
            <a:ext cx="1894135"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89435" y="3571875"/>
            <a:ext cx="274974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39183" y="3571875"/>
            <a:ext cx="2509391"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48575" y="3571875"/>
            <a:ext cx="4048125"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5300" y="3971925"/>
            <a:ext cx="1894135"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89435" y="3971925"/>
            <a:ext cx="274974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39183" y="3971925"/>
            <a:ext cx="2509391"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48575" y="3971925"/>
            <a:ext cx="4048125"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5300" y="4371975"/>
            <a:ext cx="1894135"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389435" y="4371975"/>
            <a:ext cx="2749748"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39183" y="4371975"/>
            <a:ext cx="2509391"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48575" y="4371975"/>
            <a:ext cx="4048125" cy="9525"/>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5775" y="390525"/>
            <a:ext cx="11706225" cy="457200"/>
          </a:xfrm>
          <a:prstGeom prst="rect">
            <a:avLst/>
          </a:prstGeom>
          <a:noFill/>
        </p:spPr>
        <p:txBody>
          <a:bodyPr wrap="square" lIns="0" rIns="0" tIns="0" bIns="0" anchor="ctr">
            <a:spAutoFit/>
          </a:bodyPr>
          <a:lstStyle/>
          <a:p>
            <a:pPr algn="l"/>
            <a:r>
              <a:rPr b="1" sz="2400" i="0" u="none">
                <a:solidFill>
                  <a:srgbClr val="FFFFFF"/>
                </a:solidFill>
                <a:latin typeface="Poppins"/>
              </a:rPr>
              <a:t>Topology Suitability Matrix</a:t>
            </a:r>
          </a:p>
        </p:txBody>
      </p:sp>
      <p:sp>
        <p:nvSpPr>
          <p:cNvPr id="24" name="Rounded Rectangle 23"/>
          <p:cNvSpPr/>
          <p:nvPr/>
        </p:nvSpPr>
        <p:spPr>
          <a:xfrm>
            <a:off x="485775" y="847725"/>
            <a:ext cx="47625"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57225" y="6221908"/>
            <a:ext cx="114300" cy="152400"/>
          </a:xfrm>
          <a:prstGeom prst="rect">
            <a:avLst/>
          </a:prstGeom>
        </p:spPr>
      </p:pic>
      <p:sp>
        <p:nvSpPr>
          <p:cNvPr id="4" name="TextBox 3"/>
          <p:cNvSpPr txBox="1"/>
          <p:nvPr/>
        </p:nvSpPr>
        <p:spPr>
          <a:xfrm>
            <a:off x="914400" y="6202858"/>
            <a:ext cx="10620375" cy="293191"/>
          </a:xfrm>
          <a:prstGeom prst="rect">
            <a:avLst/>
          </a:prstGeom>
          <a:noFill/>
        </p:spPr>
        <p:txBody>
          <a:bodyPr wrap="square" lIns="0" rIns="0" tIns="0" bIns="0" anchor="t">
            <a:spAutoFit/>
          </a:bodyPr>
          <a:lstStyle/>
          <a:p>
            <a:pPr algn="l">
              <a:lnSpc>
                <a:spcPts val="1155"/>
              </a:lnSpc>
            </a:pPr>
            <a:r>
              <a:rPr b="1" sz="825" i="0" u="none">
                <a:solidFill>
                  <a:srgbClr val="F3F4F6"/>
                </a:solidFill>
                <a:latin typeface="Inter"/>
              </a:rPr>
              <a:t>Boardroom Script:</a:t>
            </a:r>
            <a:r>
              <a:rPr b="0" sz="825" i="0" u="none">
                <a:solidFill>
                  <a:srgbClr val="94A3B8"/>
                </a:solidFill>
                <a:latin typeface="Inter"/>
              </a:rPr>
              <a:t> This is our directive. We recommend adopting Edwin AI. It preserves the investments we have already made in tools like Splunk and Oracle OEM. Additionally, its security posture is highly favorable; it collects system metadata (like alerts and telemetry graphs) rather than parsing raw customer transactions.</a:t>
            </a:r>
          </a:p>
        </p:txBody>
      </p:sp>
      <p:sp>
        <p:nvSpPr>
          <p:cNvPr id="5" name="TextBox 4"/>
          <p:cNvSpPr txBox="1"/>
          <p:nvPr/>
        </p:nvSpPr>
        <p:spPr>
          <a:xfrm>
            <a:off x="2552700" y="1343025"/>
            <a:ext cx="1085850" cy="685800"/>
          </a:xfrm>
          <a:prstGeom prst="rect">
            <a:avLst/>
          </a:prstGeom>
          <a:noFill/>
        </p:spPr>
        <p:txBody>
          <a:bodyPr wrap="square" lIns="0" rIns="0" tIns="0" bIns="0" anchor="t">
            <a:spAutoFit/>
          </a:bodyPr>
          <a:lstStyle/>
          <a:p>
            <a:pPr algn="l">
              <a:lnSpc>
                <a:spcPts val="5400"/>
              </a:lnSpc>
            </a:pPr>
            <a:r>
              <a:rPr b="1" sz="5400" i="0" u="none">
                <a:solidFill>
                  <a:srgbClr val="10B981"/>
                </a:solidFill>
                <a:latin typeface="Poppins"/>
              </a:rPr>
              <a:t>9.4</a:t>
            </a:r>
          </a:p>
        </p:txBody>
      </p:sp>
      <p:sp>
        <p:nvSpPr>
          <p:cNvPr id="6" name="TextBox 5"/>
          <p:cNvSpPr txBox="1"/>
          <p:nvPr/>
        </p:nvSpPr>
        <p:spPr>
          <a:xfrm>
            <a:off x="2058292" y="2124075"/>
            <a:ext cx="2074664" cy="161925"/>
          </a:xfrm>
          <a:prstGeom prst="rect">
            <a:avLst/>
          </a:prstGeom>
          <a:noFill/>
        </p:spPr>
        <p:txBody>
          <a:bodyPr wrap="square" lIns="0" rIns="0" tIns="0" bIns="0" anchor="t">
            <a:spAutoFit/>
          </a:bodyPr>
          <a:lstStyle/>
          <a:p>
            <a:pPr algn="ctr"/>
            <a:r>
              <a:rPr b="0" sz="1050" i="0" u="none">
                <a:solidFill>
                  <a:srgbClr val="0EA5E9"/>
                </a:solidFill>
                <a:latin typeface="Inter"/>
              </a:rPr>
              <a:t>ARCHITECT DECISION SCORE</a:t>
            </a:r>
          </a:p>
        </p:txBody>
      </p:sp>
      <p:sp>
        <p:nvSpPr>
          <p:cNvPr id="7" name="TextBox 6"/>
          <p:cNvSpPr txBox="1"/>
          <p:nvPr/>
        </p:nvSpPr>
        <p:spPr>
          <a:xfrm>
            <a:off x="1905000" y="2428875"/>
            <a:ext cx="2381250" cy="557212"/>
          </a:xfrm>
          <a:prstGeom prst="rect">
            <a:avLst/>
          </a:prstGeom>
          <a:noFill/>
        </p:spPr>
        <p:txBody>
          <a:bodyPr wrap="square" lIns="0" rIns="0" tIns="0" bIns="0" anchor="t">
            <a:spAutoFit/>
          </a:bodyPr>
          <a:lstStyle/>
          <a:p>
            <a:pPr algn="ctr">
              <a:lnSpc>
                <a:spcPts val="1462"/>
              </a:lnSpc>
            </a:pPr>
            <a:r>
              <a:rPr b="0" sz="975" i="0" u="none">
                <a:solidFill>
                  <a:srgbClr val="94A3B8"/>
                </a:solidFill>
                <a:latin typeface="Inter"/>
              </a:rPr>
              <a:t>Consistently scored highest across compliance, multi-source ingestion, and integration metrics.</a:t>
            </a:r>
          </a:p>
        </p:txBody>
      </p:sp>
      <p:sp>
        <p:nvSpPr>
          <p:cNvPr id="8" name="TextBox 7"/>
          <p:cNvSpPr txBox="1"/>
          <p:nvPr/>
        </p:nvSpPr>
        <p:spPr>
          <a:xfrm>
            <a:off x="6286500" y="1085850"/>
            <a:ext cx="5690711" cy="285750"/>
          </a:xfrm>
          <a:prstGeom prst="rect">
            <a:avLst/>
          </a:prstGeom>
          <a:noFill/>
        </p:spPr>
        <p:txBody>
          <a:bodyPr wrap="square" lIns="190500" rIns="0" tIns="0" bIns="0" anchor="t">
            <a:spAutoFit/>
          </a:bodyPr>
          <a:lstStyle/>
          <a:p>
            <a:pPr algn="l"/>
            <a:r>
              <a:rPr b="0" sz="1500" i="0" u="none">
                <a:solidFill>
                  <a:srgbClr val="10B981"/>
                </a:solidFill>
                <a:latin typeface="Poppins SemiBold"/>
              </a:rPr>
              <a:t>Unified Recommendation: Edwin AI</a:t>
            </a:r>
          </a:p>
        </p:txBody>
      </p:sp>
      <p:pic>
        <p:nvPicPr>
          <p:cNvPr id="9" name="Picture 8" descr="image.png"/>
          <p:cNvPicPr>
            <a:picLocks noChangeAspect="1"/>
          </p:cNvPicPr>
          <p:nvPr/>
        </p:nvPicPr>
        <p:blipFill>
          <a:blip r:embed="rId4"/>
          <a:stretch>
            <a:fillRect/>
          </a:stretch>
        </p:blipFill>
        <p:spPr>
          <a:xfrm>
            <a:off x="6286500" y="1133475"/>
            <a:ext cx="190500" cy="190500"/>
          </a:xfrm>
          <a:prstGeom prst="rect">
            <a:avLst/>
          </a:prstGeom>
        </p:spPr>
      </p:pic>
      <p:sp>
        <p:nvSpPr>
          <p:cNvPr id="10" name="TextBox 9"/>
          <p:cNvSpPr txBox="1"/>
          <p:nvPr/>
        </p:nvSpPr>
        <p:spPr>
          <a:xfrm>
            <a:off x="6553200" y="1514475"/>
            <a:ext cx="51530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Preserves Existing Capital Investments:</a:t>
            </a:r>
            <a:r>
              <a:rPr b="0" sz="1125" i="0" u="none">
                <a:solidFill>
                  <a:srgbClr val="CBD5E1"/>
                </a:solidFill>
                <a:latin typeface="Inter"/>
              </a:rPr>
              <a:t> Retains SolarWinds, Oracle OEM, and Prometheus. Simply acts as a Manager-of-Managers layer over them.</a:t>
            </a:r>
          </a:p>
        </p:txBody>
      </p:sp>
      <p:sp>
        <p:nvSpPr>
          <p:cNvPr id="11" name="TextBox 10"/>
          <p:cNvSpPr txBox="1"/>
          <p:nvPr/>
        </p:nvSpPr>
        <p:spPr>
          <a:xfrm>
            <a:off x="6553200" y="2057400"/>
            <a:ext cx="5153025" cy="642937"/>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Superior Security Architecture:</a:t>
            </a:r>
            <a:r>
              <a:rPr b="0" sz="1125" i="0" u="none">
                <a:solidFill>
                  <a:srgbClr val="CBD5E1"/>
                </a:solidFill>
                <a:latin typeface="Inter"/>
              </a:rPr>
              <a:t> Only processes monitoring metadata. Sensitive, transactional financial payloads never leave our on-premises security perimeter.</a:t>
            </a:r>
          </a:p>
        </p:txBody>
      </p:sp>
      <p:sp>
        <p:nvSpPr>
          <p:cNvPr id="12" name="TextBox 11"/>
          <p:cNvSpPr txBox="1"/>
          <p:nvPr/>
        </p:nvSpPr>
        <p:spPr>
          <a:xfrm>
            <a:off x="6553200" y="2814637"/>
            <a:ext cx="5153025" cy="428625"/>
          </a:xfrm>
          <a:prstGeom prst="rect">
            <a:avLst/>
          </a:prstGeom>
          <a:noFill/>
        </p:spPr>
        <p:txBody>
          <a:bodyPr wrap="square" lIns="0" rIns="0" tIns="0" bIns="0" anchor="t">
            <a:spAutoFit/>
          </a:bodyPr>
          <a:lstStyle/>
          <a:p>
            <a:pPr algn="l">
              <a:lnSpc>
                <a:spcPts val="1687"/>
              </a:lnSpc>
            </a:pPr>
            <a:r>
              <a:rPr b="1" sz="1125" i="0" u="none">
                <a:solidFill>
                  <a:srgbClr val="CBD5E1"/>
                </a:solidFill>
                <a:latin typeface="Inter"/>
              </a:rPr>
              <a:t>Risk Mitigation:</a:t>
            </a:r>
            <a:r>
              <a:rPr b="0" sz="1125" i="0" u="none">
                <a:solidFill>
                  <a:srgbClr val="CBD5E1"/>
                </a:solidFill>
                <a:latin typeface="Inter"/>
              </a:rPr>
              <a:t> Leverages out-of-the-box ServiceNow connectors to eliminate manual typing or human error during critical P1 triage processes.</a:t>
            </a:r>
          </a:p>
        </p:txBody>
      </p:sp>
      <p:sp>
        <p:nvSpPr>
          <p:cNvPr id="13" name="TextBox 12"/>
          <p:cNvSpPr txBox="1"/>
          <p:nvPr/>
        </p:nvSpPr>
        <p:spPr>
          <a:xfrm>
            <a:off x="485775" y="390525"/>
            <a:ext cx="11706225" cy="457200"/>
          </a:xfrm>
          <a:prstGeom prst="rect">
            <a:avLst/>
          </a:prstGeom>
          <a:noFill/>
        </p:spPr>
        <p:txBody>
          <a:bodyPr wrap="square" lIns="0" rIns="0" tIns="0" bIns="0" anchor="ctr">
            <a:spAutoFit/>
          </a:bodyPr>
          <a:lstStyle/>
          <a:p>
            <a:pPr algn="l"/>
            <a:r>
              <a:rPr b="1" sz="2400" i="0" u="none">
                <a:solidFill>
                  <a:srgbClr val="FFFFFF"/>
                </a:solidFill>
                <a:latin typeface="Poppins"/>
              </a:rPr>
              <a:t>Strategic Platform Directive</a:t>
            </a:r>
          </a:p>
        </p:txBody>
      </p:sp>
      <p:sp>
        <p:nvSpPr>
          <p:cNvPr id="14" name="Rounded Rectangle 13"/>
          <p:cNvSpPr/>
          <p:nvPr/>
        </p:nvSpPr>
        <p:spPr>
          <a:xfrm>
            <a:off x="485775" y="847725"/>
            <a:ext cx="47625"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57225" y="6221908"/>
            <a:ext cx="114300" cy="152400"/>
          </a:xfrm>
          <a:prstGeom prst="rect">
            <a:avLst/>
          </a:prstGeom>
        </p:spPr>
      </p:pic>
      <p:sp>
        <p:nvSpPr>
          <p:cNvPr id="4" name="TextBox 3"/>
          <p:cNvSpPr txBox="1"/>
          <p:nvPr/>
        </p:nvSpPr>
        <p:spPr>
          <a:xfrm>
            <a:off x="914400" y="6202858"/>
            <a:ext cx="10620375" cy="293191"/>
          </a:xfrm>
          <a:prstGeom prst="rect">
            <a:avLst/>
          </a:prstGeom>
          <a:noFill/>
        </p:spPr>
        <p:txBody>
          <a:bodyPr wrap="square" lIns="0" rIns="0" tIns="0" bIns="0" anchor="t">
            <a:spAutoFit/>
          </a:bodyPr>
          <a:lstStyle/>
          <a:p>
            <a:pPr algn="l">
              <a:lnSpc>
                <a:spcPts val="1155"/>
              </a:lnSpc>
            </a:pPr>
            <a:r>
              <a:rPr b="1" sz="825" i="0" u="none">
                <a:solidFill>
                  <a:srgbClr val="F3F4F6"/>
                </a:solidFill>
                <a:latin typeface="Inter"/>
              </a:rPr>
              <a:t>Boardroom Script:</a:t>
            </a:r>
            <a:r>
              <a:rPr b="0" sz="825" i="0" u="none">
                <a:solidFill>
                  <a:srgbClr val="94A3B8"/>
                </a:solidFill>
                <a:latin typeface="Inter"/>
              </a:rPr>
              <a:t> This is our low-risk deployment roadmap. We begin with safe integrations in shadow-mode for the first six months. By Month 9, we start automating ticketing, and by the end of Year 1, we expect to go live with autonomic remediation scripts, securing our operational resilience.</a:t>
            </a:r>
          </a:p>
        </p:txBody>
      </p:sp>
      <p:sp>
        <p:nvSpPr>
          <p:cNvPr id="5" name="Rectangle 4"/>
          <p:cNvSpPr/>
          <p:nvPr/>
        </p:nvSpPr>
        <p:spPr>
          <a:xfrm>
            <a:off x="1046708" y="1704975"/>
            <a:ext cx="10098285" cy="1905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605706" y="1466850"/>
            <a:ext cx="228600" cy="228600"/>
          </a:xfrm>
          <a:prstGeom prst="roundRect">
            <a:avLst>
              <a:gd name="adj" fmla="val 50000"/>
            </a:avLst>
          </a:prstGeom>
          <a:solidFill>
            <a:srgbClr val="10B981"/>
          </a:solidFill>
          <a:ln w="381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4063" y="1838325"/>
            <a:ext cx="2591886" cy="238125"/>
          </a:xfrm>
          <a:prstGeom prst="rect">
            <a:avLst/>
          </a:prstGeom>
          <a:noFill/>
        </p:spPr>
        <p:txBody>
          <a:bodyPr wrap="square" lIns="0" rIns="0" tIns="0" bIns="0" anchor="t">
            <a:spAutoFit/>
          </a:bodyPr>
          <a:lstStyle/>
          <a:p>
            <a:pPr algn="ctr"/>
            <a:r>
              <a:rPr b="0" sz="1200" i="0" u="none">
                <a:solidFill>
                  <a:srgbClr val="0EA5E9"/>
                </a:solidFill>
                <a:latin typeface="Poppins SemiBold"/>
              </a:rPr>
              <a:t>Month 1-3</a:t>
            </a:r>
          </a:p>
        </p:txBody>
      </p:sp>
      <p:sp>
        <p:nvSpPr>
          <p:cNvPr id="8" name="TextBox 7"/>
          <p:cNvSpPr txBox="1"/>
          <p:nvPr/>
        </p:nvSpPr>
        <p:spPr>
          <a:xfrm>
            <a:off x="485775" y="2171700"/>
            <a:ext cx="2468463" cy="200025"/>
          </a:xfrm>
          <a:prstGeom prst="rect">
            <a:avLst/>
          </a:prstGeom>
          <a:noFill/>
        </p:spPr>
        <p:txBody>
          <a:bodyPr wrap="square" lIns="0" rIns="0" tIns="0" bIns="0" anchor="t">
            <a:spAutoFit/>
          </a:bodyPr>
          <a:lstStyle/>
          <a:p>
            <a:pPr algn="ctr">
              <a:lnSpc>
                <a:spcPts val="1575"/>
              </a:lnSpc>
            </a:pPr>
            <a:r>
              <a:rPr b="0" sz="1050" i="0" u="none">
                <a:solidFill>
                  <a:srgbClr val="FFFFFF"/>
                </a:solidFill>
                <a:latin typeface="Inter SemiBold"/>
              </a:rPr>
              <a:t>Pilot &amp; API Ingestion</a:t>
            </a:r>
          </a:p>
        </p:txBody>
      </p:sp>
      <p:sp>
        <p:nvSpPr>
          <p:cNvPr id="9" name="TextBox 8"/>
          <p:cNvSpPr txBox="1"/>
          <p:nvPr/>
        </p:nvSpPr>
        <p:spPr>
          <a:xfrm>
            <a:off x="485775" y="2419350"/>
            <a:ext cx="2468463" cy="342900"/>
          </a:xfrm>
          <a:prstGeom prst="rect">
            <a:avLst/>
          </a:prstGeom>
          <a:noFill/>
        </p:spPr>
        <p:txBody>
          <a:bodyPr wrap="square" lIns="0" rIns="0" tIns="0" bIns="0" anchor="t">
            <a:spAutoFit/>
          </a:bodyPr>
          <a:lstStyle/>
          <a:p>
            <a:pPr algn="ctr">
              <a:lnSpc>
                <a:spcPts val="1350"/>
              </a:lnSpc>
            </a:pPr>
            <a:r>
              <a:rPr b="0" sz="900" i="0" u="none">
                <a:solidFill>
                  <a:srgbClr val="94A3B8"/>
                </a:solidFill>
                <a:latin typeface="Inter"/>
              </a:rPr>
              <a:t>Connect high-fidelity systems (Azure &amp; Instana). Map Splunk syslog API routes.</a:t>
            </a:r>
          </a:p>
        </p:txBody>
      </p:sp>
      <p:sp>
        <p:nvSpPr>
          <p:cNvPr id="10" name="Rounded Rectangle 9"/>
          <p:cNvSpPr/>
          <p:nvPr/>
        </p:nvSpPr>
        <p:spPr>
          <a:xfrm>
            <a:off x="4523035" y="1466850"/>
            <a:ext cx="228600" cy="228600"/>
          </a:xfrm>
          <a:prstGeom prst="roundRect">
            <a:avLst>
              <a:gd name="adj" fmla="val 50000"/>
            </a:avLst>
          </a:prstGeom>
          <a:solidFill>
            <a:srgbClr val="10B981"/>
          </a:solidFill>
          <a:ln w="381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41392" y="1838325"/>
            <a:ext cx="2591886" cy="238125"/>
          </a:xfrm>
          <a:prstGeom prst="rect">
            <a:avLst/>
          </a:prstGeom>
          <a:noFill/>
        </p:spPr>
        <p:txBody>
          <a:bodyPr wrap="square" lIns="0" rIns="0" tIns="0" bIns="0" anchor="t">
            <a:spAutoFit/>
          </a:bodyPr>
          <a:lstStyle/>
          <a:p>
            <a:pPr algn="ctr"/>
            <a:r>
              <a:rPr b="0" sz="1200" i="0" u="none">
                <a:solidFill>
                  <a:srgbClr val="0EA5E9"/>
                </a:solidFill>
                <a:latin typeface="Poppins SemiBold"/>
              </a:rPr>
              <a:t>Month 4-6</a:t>
            </a:r>
          </a:p>
        </p:txBody>
      </p:sp>
      <p:sp>
        <p:nvSpPr>
          <p:cNvPr id="12" name="TextBox 11"/>
          <p:cNvSpPr txBox="1"/>
          <p:nvPr/>
        </p:nvSpPr>
        <p:spPr>
          <a:xfrm>
            <a:off x="3403103" y="2171700"/>
            <a:ext cx="2468463" cy="200025"/>
          </a:xfrm>
          <a:prstGeom prst="rect">
            <a:avLst/>
          </a:prstGeom>
          <a:noFill/>
        </p:spPr>
        <p:txBody>
          <a:bodyPr wrap="square" lIns="0" rIns="0" tIns="0" bIns="0" anchor="t">
            <a:spAutoFit/>
          </a:bodyPr>
          <a:lstStyle/>
          <a:p>
            <a:pPr algn="ctr">
              <a:lnSpc>
                <a:spcPts val="1575"/>
              </a:lnSpc>
            </a:pPr>
            <a:r>
              <a:rPr b="0" sz="1050" i="0" u="none">
                <a:solidFill>
                  <a:srgbClr val="FFFFFF"/>
                </a:solidFill>
                <a:latin typeface="Inter SemiBold"/>
              </a:rPr>
              <a:t>AI Core Baseline</a:t>
            </a:r>
          </a:p>
        </p:txBody>
      </p:sp>
      <p:sp>
        <p:nvSpPr>
          <p:cNvPr id="13" name="TextBox 12"/>
          <p:cNvSpPr txBox="1"/>
          <p:nvPr/>
        </p:nvSpPr>
        <p:spPr>
          <a:xfrm>
            <a:off x="3403103" y="2419350"/>
            <a:ext cx="2468463" cy="514350"/>
          </a:xfrm>
          <a:prstGeom prst="rect">
            <a:avLst/>
          </a:prstGeom>
          <a:noFill/>
        </p:spPr>
        <p:txBody>
          <a:bodyPr wrap="square" lIns="0" rIns="0" tIns="0" bIns="0" anchor="t">
            <a:spAutoFit/>
          </a:bodyPr>
          <a:lstStyle/>
          <a:p>
            <a:pPr algn="ctr">
              <a:lnSpc>
                <a:spcPts val="1350"/>
              </a:lnSpc>
            </a:pPr>
            <a:r>
              <a:rPr b="0" sz="900" i="0" u="none">
                <a:solidFill>
                  <a:srgbClr val="94A3B8"/>
                </a:solidFill>
                <a:latin typeface="Inter"/>
              </a:rPr>
              <a:t>Deploy Edwin AI core in shadow mode to learn normal telemetry patterns and dependencies.</a:t>
            </a:r>
          </a:p>
        </p:txBody>
      </p:sp>
      <p:sp>
        <p:nvSpPr>
          <p:cNvPr id="14" name="Rounded Rectangle 13"/>
          <p:cNvSpPr/>
          <p:nvPr/>
        </p:nvSpPr>
        <p:spPr>
          <a:xfrm>
            <a:off x="7440364" y="1466850"/>
            <a:ext cx="228600" cy="228600"/>
          </a:xfrm>
          <a:prstGeom prst="roundRect">
            <a:avLst>
              <a:gd name="adj" fmla="val 50000"/>
            </a:avLst>
          </a:prstGeom>
          <a:solidFill>
            <a:srgbClr val="0B0F19"/>
          </a:solidFill>
          <a:ln w="381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8721" y="1838325"/>
            <a:ext cx="2591886" cy="238125"/>
          </a:xfrm>
          <a:prstGeom prst="rect">
            <a:avLst/>
          </a:prstGeom>
          <a:noFill/>
        </p:spPr>
        <p:txBody>
          <a:bodyPr wrap="square" lIns="0" rIns="0" tIns="0" bIns="0" anchor="t">
            <a:spAutoFit/>
          </a:bodyPr>
          <a:lstStyle/>
          <a:p>
            <a:pPr algn="ctr"/>
            <a:r>
              <a:rPr b="0" sz="1200" i="0" u="none">
                <a:solidFill>
                  <a:srgbClr val="0EA5E9"/>
                </a:solidFill>
                <a:latin typeface="Poppins SemiBold"/>
              </a:rPr>
              <a:t>Month 7-9</a:t>
            </a:r>
          </a:p>
        </p:txBody>
      </p:sp>
      <p:sp>
        <p:nvSpPr>
          <p:cNvPr id="16" name="TextBox 15"/>
          <p:cNvSpPr txBox="1"/>
          <p:nvPr/>
        </p:nvSpPr>
        <p:spPr>
          <a:xfrm>
            <a:off x="6320432" y="2171700"/>
            <a:ext cx="2468463" cy="200025"/>
          </a:xfrm>
          <a:prstGeom prst="rect">
            <a:avLst/>
          </a:prstGeom>
          <a:noFill/>
        </p:spPr>
        <p:txBody>
          <a:bodyPr wrap="square" lIns="0" rIns="0" tIns="0" bIns="0" anchor="t">
            <a:spAutoFit/>
          </a:bodyPr>
          <a:lstStyle/>
          <a:p>
            <a:pPr algn="ctr">
              <a:lnSpc>
                <a:spcPts val="1575"/>
              </a:lnSpc>
            </a:pPr>
            <a:r>
              <a:rPr b="0" sz="1050" i="0" u="none">
                <a:solidFill>
                  <a:srgbClr val="FFFFFF"/>
                </a:solidFill>
                <a:latin typeface="Inter SemiBold"/>
              </a:rPr>
              <a:t>Remediation Automation</a:t>
            </a:r>
          </a:p>
        </p:txBody>
      </p:sp>
      <p:sp>
        <p:nvSpPr>
          <p:cNvPr id="17" name="TextBox 16"/>
          <p:cNvSpPr txBox="1"/>
          <p:nvPr/>
        </p:nvSpPr>
        <p:spPr>
          <a:xfrm>
            <a:off x="6320432" y="2419350"/>
            <a:ext cx="2468463" cy="342900"/>
          </a:xfrm>
          <a:prstGeom prst="rect">
            <a:avLst/>
          </a:prstGeom>
          <a:noFill/>
        </p:spPr>
        <p:txBody>
          <a:bodyPr wrap="square" lIns="0" rIns="0" tIns="0" bIns="0" anchor="t">
            <a:spAutoFit/>
          </a:bodyPr>
          <a:lstStyle/>
          <a:p>
            <a:pPr algn="ctr">
              <a:lnSpc>
                <a:spcPts val="1350"/>
              </a:lnSpc>
            </a:pPr>
            <a:r>
              <a:rPr b="0" sz="900" i="0" u="none">
                <a:solidFill>
                  <a:srgbClr val="94A3B8"/>
                </a:solidFill>
                <a:latin typeface="Inter"/>
              </a:rPr>
              <a:t>Activate alert suppression. Deploy dynamic ITSM routing triggers to ServiceNow.</a:t>
            </a:r>
          </a:p>
        </p:txBody>
      </p:sp>
      <p:sp>
        <p:nvSpPr>
          <p:cNvPr id="18" name="Rounded Rectangle 17"/>
          <p:cNvSpPr/>
          <p:nvPr/>
        </p:nvSpPr>
        <p:spPr>
          <a:xfrm>
            <a:off x="10357693" y="1466850"/>
            <a:ext cx="228600" cy="228600"/>
          </a:xfrm>
          <a:prstGeom prst="roundRect">
            <a:avLst>
              <a:gd name="adj" fmla="val 50000"/>
            </a:avLst>
          </a:prstGeom>
          <a:solidFill>
            <a:srgbClr val="0B0F19"/>
          </a:solidFill>
          <a:ln w="381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76050" y="1838325"/>
            <a:ext cx="2591886" cy="238125"/>
          </a:xfrm>
          <a:prstGeom prst="rect">
            <a:avLst/>
          </a:prstGeom>
          <a:noFill/>
        </p:spPr>
        <p:txBody>
          <a:bodyPr wrap="square" lIns="0" rIns="0" tIns="0" bIns="0" anchor="t">
            <a:spAutoFit/>
          </a:bodyPr>
          <a:lstStyle/>
          <a:p>
            <a:pPr algn="ctr"/>
            <a:r>
              <a:rPr b="0" sz="1200" i="0" u="none">
                <a:solidFill>
                  <a:srgbClr val="0EA5E9"/>
                </a:solidFill>
                <a:latin typeface="Poppins SemiBold"/>
              </a:rPr>
              <a:t>Month 10-12</a:t>
            </a:r>
          </a:p>
        </p:txBody>
      </p:sp>
      <p:sp>
        <p:nvSpPr>
          <p:cNvPr id="20" name="TextBox 19"/>
          <p:cNvSpPr txBox="1"/>
          <p:nvPr/>
        </p:nvSpPr>
        <p:spPr>
          <a:xfrm>
            <a:off x="9237761" y="2171700"/>
            <a:ext cx="2468463" cy="200025"/>
          </a:xfrm>
          <a:prstGeom prst="rect">
            <a:avLst/>
          </a:prstGeom>
          <a:noFill/>
        </p:spPr>
        <p:txBody>
          <a:bodyPr wrap="square" lIns="0" rIns="0" tIns="0" bIns="0" anchor="t">
            <a:spAutoFit/>
          </a:bodyPr>
          <a:lstStyle/>
          <a:p>
            <a:pPr algn="ctr">
              <a:lnSpc>
                <a:spcPts val="1575"/>
              </a:lnSpc>
            </a:pPr>
            <a:r>
              <a:rPr b="0" sz="1050" i="0" u="none">
                <a:solidFill>
                  <a:srgbClr val="FFFFFF"/>
                </a:solidFill>
                <a:latin typeface="Inter SemiBold"/>
              </a:rPr>
              <a:t>Autonomic System</a:t>
            </a:r>
          </a:p>
        </p:txBody>
      </p:sp>
      <p:sp>
        <p:nvSpPr>
          <p:cNvPr id="21" name="TextBox 20"/>
          <p:cNvSpPr txBox="1"/>
          <p:nvPr/>
        </p:nvSpPr>
        <p:spPr>
          <a:xfrm>
            <a:off x="9237761" y="2419350"/>
            <a:ext cx="2468463" cy="342900"/>
          </a:xfrm>
          <a:prstGeom prst="rect">
            <a:avLst/>
          </a:prstGeom>
          <a:noFill/>
        </p:spPr>
        <p:txBody>
          <a:bodyPr wrap="square" lIns="0" rIns="0" tIns="0" bIns="0" anchor="t">
            <a:spAutoFit/>
          </a:bodyPr>
          <a:lstStyle/>
          <a:p>
            <a:pPr algn="ctr">
              <a:lnSpc>
                <a:spcPts val="1350"/>
              </a:lnSpc>
            </a:pPr>
            <a:r>
              <a:rPr b="0" sz="900" i="0" u="none">
                <a:solidFill>
                  <a:srgbClr val="94A3B8"/>
                </a:solidFill>
                <a:latin typeface="Inter"/>
              </a:rPr>
              <a:t>Turn on automated closed-loop remediation scripts for Tier-1 common failures.</a:t>
            </a:r>
          </a:p>
        </p:txBody>
      </p:sp>
      <p:sp>
        <p:nvSpPr>
          <p:cNvPr id="22" name="TextBox 21"/>
          <p:cNvSpPr txBox="1"/>
          <p:nvPr/>
        </p:nvSpPr>
        <p:spPr>
          <a:xfrm>
            <a:off x="485775" y="390525"/>
            <a:ext cx="11706225" cy="457200"/>
          </a:xfrm>
          <a:prstGeom prst="rect">
            <a:avLst/>
          </a:prstGeom>
          <a:noFill/>
        </p:spPr>
        <p:txBody>
          <a:bodyPr wrap="square" lIns="0" rIns="0" tIns="0" bIns="0" anchor="ctr">
            <a:spAutoFit/>
          </a:bodyPr>
          <a:lstStyle/>
          <a:p>
            <a:pPr algn="l"/>
            <a:r>
              <a:rPr b="1" sz="2400" i="0" u="none">
                <a:solidFill>
                  <a:srgbClr val="FFFFFF"/>
                </a:solidFill>
                <a:latin typeface="Poppins"/>
              </a:rPr>
              <a:t>12-Month Rollout Program</a:t>
            </a:r>
          </a:p>
        </p:txBody>
      </p:sp>
      <p:sp>
        <p:nvSpPr>
          <p:cNvPr id="23" name="Rounded Rectangle 22"/>
          <p:cNvSpPr/>
          <p:nvPr/>
        </p:nvSpPr>
        <p:spPr>
          <a:xfrm>
            <a:off x="485775" y="847725"/>
            <a:ext cx="47625" cy="30480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