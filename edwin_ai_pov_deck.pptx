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12051792" cy="6858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4297680"/>
            <a:ext cx="12051792" cy="36576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Value Plan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&amp; Intelligent Observability  |  2-Week Evaluation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Confidential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5120640"/>
            <a:ext cx="2560320" cy="1280160"/>
          </a:xfrm>
          <a:prstGeom prst="rect">
            <a:avLst/>
          </a:prstGeom>
          <a:solidFill>
            <a:srgbClr val="162D45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5212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5806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5120640"/>
            <a:ext cx="2560320" cy="1280160"/>
          </a:xfrm>
          <a:prstGeom prst="rect">
            <a:avLst/>
          </a:prstGeom>
          <a:solidFill>
            <a:srgbClr val="162D45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5212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46120" y="5806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5120640"/>
            <a:ext cx="2560320" cy="1280160"/>
          </a:xfrm>
          <a:prstGeom prst="rect">
            <a:avLst/>
          </a:prstGeom>
          <a:solidFill>
            <a:srgbClr val="162D45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5212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35040" y="5806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23960" y="5120640"/>
            <a:ext cx="2560320" cy="1280160"/>
          </a:xfrm>
          <a:prstGeom prst="rect">
            <a:avLst/>
          </a:prstGeom>
          <a:solidFill>
            <a:srgbClr val="162D45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5212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min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823960" y="5806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5029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POV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568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 |  Proof of Value  |  April 2026  |  Confidential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417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pain points driving the Edwin AI evaluation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95728"/>
            <a:ext cx="54864" cy="132588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2487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8986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Edwin sits as the intelligence layer across hybrid 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877056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877056"/>
            <a:ext cx="54864" cy="132588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Use Cases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37997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P1 validation scenarios with measurable success criteria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914400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914400"/>
            <a:ext cx="54864" cy="132588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95160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KPIs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1417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targets aligned to decision criteria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395728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2395728"/>
            <a:ext cx="54864" cy="132588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2487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Timeline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289864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Session-by-session POV schedule and milestones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3877056"/>
            <a:ext cx="5669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3877056"/>
            <a:ext cx="54864" cy="132588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9516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437997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for a positive commercial recommendation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5029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 &amp; Challenges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Edwin AI?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568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 |  Proof of Value  |  April 2026  |  Confidential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96112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1872" y="1188720"/>
            <a:ext cx="731520" cy="731520"/>
          </a:xfrm>
          <a:prstGeom prst="ellipse">
            <a:avLst/>
          </a:prstGeom>
          <a:solidFill>
            <a:srgbClr val="F0F4F8"/>
          </a:solidFill>
          <a:ln w="19050">
            <a:solidFill>
              <a:srgbClr val="C0392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32588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93192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Alert Fatigue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93192" y="2743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overwhelmed by thousands of non-actionable alerts daily. Risk of missing critical events escalates as volume grows.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3192" y="5120640"/>
            <a:ext cx="2468880" cy="822960"/>
          </a:xfrm>
          <a:prstGeom prst="rect">
            <a:avLst/>
          </a:prstGeom>
          <a:solidFill>
            <a:srgbClr val="F7F9FB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5166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80% noise reduction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82112" y="896112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182112" y="896112"/>
            <a:ext cx="2743200" cy="5486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87952" y="1188720"/>
            <a:ext cx="731520" cy="731520"/>
          </a:xfrm>
          <a:prstGeom prst="ellipse">
            <a:avLst/>
          </a:prstGeom>
          <a:solidFill>
            <a:srgbClr val="F0F4F8"/>
          </a:solidFill>
          <a:ln w="19050">
            <a:solidFill>
              <a:srgbClr val="C8922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32588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19272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&amp; RCA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19272" y="2743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spend 30–90 min per incident on manual root cause investigation across siloed dashboards and tools.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19272" y="5120640"/>
            <a:ext cx="2468880" cy="822960"/>
          </a:xfrm>
          <a:prstGeom prst="rect">
            <a:avLst/>
          </a:prstGeom>
          <a:solidFill>
            <a:srgbClr val="F7F9FB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64992" y="5166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30% MTTR improvement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108192" y="896112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08192" y="896112"/>
            <a:ext cx="2743200" cy="54864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114032" y="1188720"/>
            <a:ext cx="731520" cy="731520"/>
          </a:xfrm>
          <a:prstGeom prst="ellipse">
            <a:avLst/>
          </a:prstGeom>
          <a:solidFill>
            <a:srgbClr val="F0F4F8"/>
          </a:solidFill>
          <a:ln w="19050">
            <a:solidFill>
              <a:srgbClr val="007B8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192" y="132588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45352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Cross-Platform Context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245352" y="2743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Network, infrastructure, and ITSM data are siloed. Ambiguous ownership slows escalation and prolongs outages.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245352" y="5120640"/>
            <a:ext cx="2468880" cy="822960"/>
          </a:xfrm>
          <a:prstGeom prst="rect">
            <a:avLst/>
          </a:prstGeom>
          <a:solidFill>
            <a:srgbClr val="F7F9FB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91072" y="5166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Unified AI incident view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9034272" y="896112"/>
            <a:ext cx="27432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034272" y="896112"/>
            <a:ext cx="2743200" cy="5486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0040112" y="1188720"/>
            <a:ext cx="731520" cy="731520"/>
          </a:xfrm>
          <a:prstGeom prst="ellipse">
            <a:avLst/>
          </a:prstGeom>
          <a:solidFill>
            <a:srgbClr val="F0F4F8"/>
          </a:solidFill>
          <a:ln w="19050">
            <a:solidFill>
              <a:srgbClr val="2E4057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32588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171432" y="2103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Cost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9171432" y="274320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MTTX costs are significant. Headcount growth constrained in FY26. Need to do more with the same team.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171432" y="5120640"/>
            <a:ext cx="2468880" cy="822960"/>
          </a:xfrm>
          <a:prstGeom prst="rect">
            <a:avLst/>
          </a:prstGeom>
          <a:solidFill>
            <a:srgbClr val="F7F9FB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217152" y="5166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No headcount increase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5029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— How It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568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 |  Proof of Value  |  April 2026  |  Confidential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2194560" cy="34747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41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32588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3990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(alerts, metrics, topology)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96596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39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CMDB (CI enrichment)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60604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679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 (SNMP, flows)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324612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3192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Workloads (AWS/Azure/GCP)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88620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9593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/ Log Sources (3,000+ connectors)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2926080"/>
            <a:ext cx="457200" cy="73152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6896" y="2788920"/>
            <a:ext cx="320040" cy="3200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063240" y="914400"/>
            <a:ext cx="3383280" cy="5212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063240" y="914400"/>
            <a:ext cx="3383280" cy="36576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63240" y="1097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306324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Intelligence Layer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46120" y="2011680"/>
            <a:ext cx="3017520" cy="868680"/>
          </a:xfrm>
          <a:prstGeom prst="rect">
            <a:avLst/>
          </a:prstGeom>
          <a:solidFill>
            <a:srgbClr val="162D45"/>
          </a:solidFill>
          <a:ln w="9525">
            <a:solidFill>
              <a:srgbClr val="007B8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46120" y="2011680"/>
            <a:ext cx="45720" cy="86868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37560" y="20756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Intelligence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33756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deduplication,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enrichment, adaptive clustering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246120" y="2999232"/>
            <a:ext cx="3017520" cy="868680"/>
          </a:xfrm>
          <a:prstGeom prst="rect">
            <a:avLst/>
          </a:prstGeom>
          <a:solidFill>
            <a:srgbClr val="162D45"/>
          </a:solidFill>
          <a:ln w="9525">
            <a:solidFill>
              <a:srgbClr val="007B8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46120" y="2999232"/>
            <a:ext cx="45720" cy="86868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37560" y="3063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RCA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337560" y="33649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chain tracing,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identification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46120" y="3986784"/>
            <a:ext cx="3017520" cy="868680"/>
          </a:xfrm>
          <a:prstGeom prst="rect">
            <a:avLst/>
          </a:prstGeom>
          <a:solidFill>
            <a:srgbClr val="162D45"/>
          </a:solidFill>
          <a:ln w="9525">
            <a:solidFill>
              <a:srgbClr val="007B8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46120" y="3986784"/>
            <a:ext cx="45720" cy="86868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37560" y="4050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337560" y="43525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incident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in seconds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246120" y="4974336"/>
            <a:ext cx="3017520" cy="868680"/>
          </a:xfrm>
          <a:prstGeom prst="rect">
            <a:avLst/>
          </a:prstGeom>
          <a:solidFill>
            <a:srgbClr val="162D45"/>
          </a:solidFill>
          <a:ln w="9525">
            <a:solidFill>
              <a:srgbClr val="007B8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46120" y="4974336"/>
            <a:ext cx="45720" cy="86868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337560" y="5038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3337560" y="53400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generation,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remediation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537960" y="2926080"/>
            <a:ext cx="457200" cy="73152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788920"/>
            <a:ext cx="320040" cy="320040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7086600" y="914400"/>
            <a:ext cx="219456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132320" y="941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7086600" y="132588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086600" y="1325880"/>
            <a:ext cx="4572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178040" y="13624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Insights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7178040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Noise-free, correlated alert groups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7086600" y="196596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086600" y="1965960"/>
            <a:ext cx="4572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178040" y="2002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Incident Summaries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7178040" y="2240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Human-readable, immediate context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7086600" y="260604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086600" y="2606040"/>
            <a:ext cx="4572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178040" y="26426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7178040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chain + ranked fixes</a:t>
            </a:r>
            <a:endParaRPr lang="en-US" sz="850" dirty="0"/>
          </a:p>
        </p:txBody>
      </p:sp>
      <p:sp>
        <p:nvSpPr>
          <p:cNvPr id="58" name="Shape 54"/>
          <p:cNvSpPr/>
          <p:nvPr/>
        </p:nvSpPr>
        <p:spPr>
          <a:xfrm>
            <a:off x="7086600" y="324612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7086600" y="3246120"/>
            <a:ext cx="4572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7178040" y="32826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Tickets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7178040" y="3520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with CMDB enrichment</a:t>
            </a:r>
            <a:endParaRPr lang="en-US" sz="850" dirty="0"/>
          </a:p>
        </p:txBody>
      </p:sp>
      <p:sp>
        <p:nvSpPr>
          <p:cNvPr id="62" name="Shape 58"/>
          <p:cNvSpPr/>
          <p:nvPr/>
        </p:nvSpPr>
        <p:spPr>
          <a:xfrm>
            <a:off x="7086600" y="3886200"/>
            <a:ext cx="2194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086600" y="3886200"/>
            <a:ext cx="4572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178040" y="39227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Actions</a:t>
            </a:r>
            <a:endParaRPr lang="en-US" sz="900" dirty="0"/>
          </a:p>
        </p:txBody>
      </p:sp>
      <p:sp>
        <p:nvSpPr>
          <p:cNvPr id="65" name="Text 61"/>
          <p:cNvSpPr/>
          <p:nvPr/>
        </p:nvSpPr>
        <p:spPr>
          <a:xfrm>
            <a:off x="717804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playbook execution</a:t>
            </a:r>
            <a:endParaRPr lang="en-US" sz="850" dirty="0"/>
          </a:p>
        </p:txBody>
      </p:sp>
      <p:sp>
        <p:nvSpPr>
          <p:cNvPr id="66" name="Shape 62"/>
          <p:cNvSpPr/>
          <p:nvPr/>
        </p:nvSpPr>
        <p:spPr>
          <a:xfrm>
            <a:off x="9509760" y="914400"/>
            <a:ext cx="2468880" cy="52120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CE5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509760" y="1005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68" name="Text 64"/>
          <p:cNvSpPr/>
          <p:nvPr/>
        </p:nvSpPr>
        <p:spPr>
          <a:xfrm>
            <a:off x="950976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2000" dirty="0"/>
          </a:p>
        </p:txBody>
      </p:sp>
      <p:sp>
        <p:nvSpPr>
          <p:cNvPr id="69" name="Text 65"/>
          <p:cNvSpPr/>
          <p:nvPr/>
        </p:nvSpPr>
        <p:spPr>
          <a:xfrm>
            <a:off x="950976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9509760" y="2679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</a:t>
            </a:r>
            <a:endParaRPr lang="en-US" sz="2000" dirty="0"/>
          </a:p>
        </p:txBody>
      </p:sp>
      <p:sp>
        <p:nvSpPr>
          <p:cNvPr id="71" name="Text 67"/>
          <p:cNvSpPr/>
          <p:nvPr/>
        </p:nvSpPr>
        <p:spPr>
          <a:xfrm>
            <a:off x="9509760" y="3136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72" name="Text 68"/>
          <p:cNvSpPr/>
          <p:nvPr/>
        </p:nvSpPr>
        <p:spPr>
          <a:xfrm>
            <a:off x="9509760" y="3666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000" dirty="0"/>
          </a:p>
        </p:txBody>
      </p:sp>
      <p:sp>
        <p:nvSpPr>
          <p:cNvPr id="73" name="Text 69"/>
          <p:cNvSpPr/>
          <p:nvPr/>
        </p:nvSpPr>
        <p:spPr>
          <a:xfrm>
            <a:off x="9509760" y="4123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</a:t>
            </a:r>
            <a:endParaRPr lang="en-US" sz="900" dirty="0"/>
          </a:p>
        </p:txBody>
      </p:sp>
      <p:sp>
        <p:nvSpPr>
          <p:cNvPr id="74" name="Text 70"/>
          <p:cNvSpPr/>
          <p:nvPr/>
        </p:nvSpPr>
        <p:spPr>
          <a:xfrm>
            <a:off x="9509760" y="46542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2000" dirty="0"/>
          </a:p>
        </p:txBody>
      </p:sp>
      <p:sp>
        <p:nvSpPr>
          <p:cNvPr id="75" name="Text 71"/>
          <p:cNvSpPr/>
          <p:nvPr/>
        </p:nvSpPr>
        <p:spPr>
          <a:xfrm>
            <a:off x="9509760" y="51114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900" dirty="0"/>
          </a:p>
        </p:txBody>
      </p:sp>
      <p:sp>
        <p:nvSpPr>
          <p:cNvPr id="76" name="Text 72"/>
          <p:cNvSpPr/>
          <p:nvPr/>
        </p:nvSpPr>
        <p:spPr>
          <a:xfrm>
            <a:off x="9509760" y="5641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2000" dirty="0"/>
          </a:p>
        </p:txBody>
      </p:sp>
      <p:sp>
        <p:nvSpPr>
          <p:cNvPr id="77" name="Text 73"/>
          <p:cNvSpPr/>
          <p:nvPr/>
        </p:nvSpPr>
        <p:spPr>
          <a:xfrm>
            <a:off x="9509760" y="60990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5029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Use Cases — Three Validation Scenarios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Priority | 2-Week Evaluation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568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 |  Proof of Value  |  April 2026  |  Confidential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384048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896112"/>
            <a:ext cx="3840480" cy="457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05840"/>
            <a:ext cx="548640" cy="548640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992" y="10515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24712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Intelligence &amp; Noise Reduction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93192" y="1691640"/>
            <a:ext cx="3566160" cy="457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0624" y="20299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LM instance generates thousands of daily alerts across network, server, and cloud layers. Engineers manually triage into ServiceNow.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20624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0624" y="3127248"/>
            <a:ext cx="109728" cy="109728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OOTB + custom ML correlation models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20624" y="3419856"/>
            <a:ext cx="109728" cy="109728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" y="3383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deduplicates and enriches alerts into Insights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20624" y="3712464"/>
            <a:ext cx="109728" cy="109728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" y="36758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data enriches context (owner, tier, dependencies)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20624" y="4005072"/>
            <a:ext cx="109728" cy="109728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" y="39684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re-clustering on new patterns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93192" y="4315968"/>
            <a:ext cx="3566160" cy="45720"/>
          </a:xfrm>
          <a:prstGeom prst="rect">
            <a:avLst/>
          </a:prstGeom>
          <a:solidFill>
            <a:srgbClr val="E0E8E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0624" y="4407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8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690872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58368" y="4663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alert volume reduction</a:t>
            </a:r>
            <a:endParaRPr lang="en-US" sz="9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983480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8368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correct Insight grouping (engineer-validated)</a:t>
            </a:r>
            <a:endParaRPr lang="en-US" sz="9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5276088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58368" y="52486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P1/P2 events missed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261104" y="896112"/>
            <a:ext cx="384048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261104" y="896112"/>
            <a:ext cx="384048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425696" y="1005840"/>
            <a:ext cx="548640" cy="5486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425696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1051560"/>
            <a:ext cx="457200" cy="4572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129784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RCA &amp; Incident Summary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4398264" y="1691640"/>
            <a:ext cx="3566160" cy="4572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425696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4425696" y="20299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degradation causes downstream app impact. Team currently spends 30–90 min correlating across tools to determine root cause.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4425696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425696" y="3127248"/>
            <a:ext cx="109728" cy="10972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608576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auto-generates plain-language incident summary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425696" y="3419856"/>
            <a:ext cx="109728" cy="10972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4608576" y="3383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RCA traces causal chain end-to-end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4425696" y="3712464"/>
            <a:ext cx="109728" cy="10972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4608576" y="36758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remediation recommendations surfaced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4425696" y="4005072"/>
            <a:ext cx="109728" cy="10972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4608576" y="39684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RCA context pushed into ServiceNow record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4398264" y="4315968"/>
            <a:ext cx="3566160" cy="45720"/>
          </a:xfrm>
          <a:prstGeom prst="rect">
            <a:avLst/>
          </a:prstGeom>
          <a:solidFill>
            <a:srgbClr val="E0E8E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4425696" y="4407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850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696" y="4690872"/>
            <a:ext cx="182880" cy="18288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4663440" y="4663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 MTTR improvement vs baseline</a:t>
            </a:r>
            <a:endParaRPr lang="en-US" sz="900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5696" y="4983480"/>
            <a:ext cx="182880" cy="182880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4663440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resolves ≥ 70% of cases without escalation</a:t>
            </a:r>
            <a:endParaRPr lang="en-US" sz="900" dirty="0"/>
          </a:p>
        </p:txBody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5696" y="5276088"/>
            <a:ext cx="182880" cy="18288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4663440" y="52486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 RCA accuracy (senior engineer validation)</a:t>
            </a:r>
            <a:endParaRPr lang="en-US" sz="900" dirty="0"/>
          </a:p>
        </p:txBody>
      </p:sp>
      <p:sp>
        <p:nvSpPr>
          <p:cNvPr id="60" name="Shape 50"/>
          <p:cNvSpPr/>
          <p:nvPr/>
        </p:nvSpPr>
        <p:spPr>
          <a:xfrm>
            <a:off x="8266176" y="896112"/>
            <a:ext cx="384048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8266176" y="896112"/>
            <a:ext cx="3840480" cy="4572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8430768" y="1005840"/>
            <a:ext cx="548640" cy="548640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3" name="Text 53"/>
          <p:cNvSpPr/>
          <p:nvPr/>
        </p:nvSpPr>
        <p:spPr>
          <a:xfrm>
            <a:off x="8430768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5136" y="1051560"/>
            <a:ext cx="457200" cy="457200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9134856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Outage Simulation</a:t>
            </a:r>
            <a:endParaRPr lang="en-US" sz="1200" dirty="0"/>
          </a:p>
        </p:txBody>
      </p:sp>
      <p:sp>
        <p:nvSpPr>
          <p:cNvPr id="66" name="Shape 55"/>
          <p:cNvSpPr/>
          <p:nvPr/>
        </p:nvSpPr>
        <p:spPr>
          <a:xfrm>
            <a:off x="8403336" y="1691640"/>
            <a:ext cx="3566160" cy="4572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8430768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50" dirty="0"/>
          </a:p>
        </p:txBody>
      </p:sp>
      <p:sp>
        <p:nvSpPr>
          <p:cNvPr id="68" name="Text 57"/>
          <p:cNvSpPr/>
          <p:nvPr/>
        </p:nvSpPr>
        <p:spPr>
          <a:xfrm>
            <a:off x="8430768" y="20299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network outage simulates real infrastructure failure. Validates Edwin AI's cross-domain correlation and speed of response.</a:t>
            </a:r>
            <a:endParaRPr lang="en-US" sz="900" dirty="0"/>
          </a:p>
        </p:txBody>
      </p:sp>
      <p:sp>
        <p:nvSpPr>
          <p:cNvPr id="69" name="Text 58"/>
          <p:cNvSpPr/>
          <p:nvPr/>
        </p:nvSpPr>
        <p:spPr>
          <a:xfrm>
            <a:off x="8430768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850" dirty="0"/>
          </a:p>
        </p:txBody>
      </p:sp>
      <p:sp>
        <p:nvSpPr>
          <p:cNvPr id="70" name="Shape 59"/>
          <p:cNvSpPr/>
          <p:nvPr/>
        </p:nvSpPr>
        <p:spPr>
          <a:xfrm>
            <a:off x="8430768" y="3127248"/>
            <a:ext cx="109728" cy="10972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8613648" y="3090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correlation models pre-configured</a:t>
            </a:r>
            <a:endParaRPr lang="en-US" sz="900" dirty="0"/>
          </a:p>
        </p:txBody>
      </p:sp>
      <p:sp>
        <p:nvSpPr>
          <p:cNvPr id="72" name="Shape 61"/>
          <p:cNvSpPr/>
          <p:nvPr/>
        </p:nvSpPr>
        <p:spPr>
          <a:xfrm>
            <a:off x="8430768" y="3419856"/>
            <a:ext cx="109728" cy="10972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73" name="Text 62"/>
          <p:cNvSpPr/>
          <p:nvPr/>
        </p:nvSpPr>
        <p:spPr>
          <a:xfrm>
            <a:off x="8613648" y="3383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team triggers intentional network outage</a:t>
            </a:r>
            <a:endParaRPr lang="en-US" sz="900" dirty="0"/>
          </a:p>
        </p:txBody>
      </p:sp>
      <p:sp>
        <p:nvSpPr>
          <p:cNvPr id="74" name="Shape 63"/>
          <p:cNvSpPr/>
          <p:nvPr/>
        </p:nvSpPr>
        <p:spPr>
          <a:xfrm>
            <a:off x="8430768" y="3712464"/>
            <a:ext cx="109728" cy="10972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75" name="Text 64"/>
          <p:cNvSpPr/>
          <p:nvPr/>
        </p:nvSpPr>
        <p:spPr>
          <a:xfrm>
            <a:off x="8613648" y="36758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correlates, identifies impacted services</a:t>
            </a:r>
            <a:endParaRPr lang="en-US" sz="900" dirty="0"/>
          </a:p>
        </p:txBody>
      </p:sp>
      <p:sp>
        <p:nvSpPr>
          <p:cNvPr id="76" name="Shape 65"/>
          <p:cNvSpPr/>
          <p:nvPr/>
        </p:nvSpPr>
        <p:spPr>
          <a:xfrm>
            <a:off x="8430768" y="4005072"/>
            <a:ext cx="109728" cy="109728"/>
          </a:xfrm>
          <a:prstGeom prst="ellipse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</p:sp>
      <p:sp>
        <p:nvSpPr>
          <p:cNvPr id="77" name="Text 66"/>
          <p:cNvSpPr/>
          <p:nvPr/>
        </p:nvSpPr>
        <p:spPr>
          <a:xfrm>
            <a:off x="8613648" y="39684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Insight with full RCA generated automatically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8403336" y="4315968"/>
            <a:ext cx="3566160" cy="45720"/>
          </a:xfrm>
          <a:prstGeom prst="rect">
            <a:avLst/>
          </a:prstGeom>
          <a:solidFill>
            <a:srgbClr val="E0E8E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79" name="Text 68"/>
          <p:cNvSpPr/>
          <p:nvPr/>
        </p:nvSpPr>
        <p:spPr>
          <a:xfrm>
            <a:off x="8430768" y="4407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850" dirty="0"/>
          </a:p>
        </p:txBody>
      </p:sp>
      <p:pic>
        <p:nvPicPr>
          <p:cNvPr id="8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0768" y="4690872"/>
            <a:ext cx="182880" cy="182880"/>
          </a:xfrm>
          <a:prstGeom prst="rect">
            <a:avLst/>
          </a:prstGeom>
        </p:spPr>
      </p:pic>
      <p:sp>
        <p:nvSpPr>
          <p:cNvPr id="81" name="Text 69"/>
          <p:cNvSpPr/>
          <p:nvPr/>
        </p:nvSpPr>
        <p:spPr>
          <a:xfrm>
            <a:off x="8668512" y="4663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correlated Insight within 3 minutes</a:t>
            </a:r>
            <a:endParaRPr lang="en-US" sz="900" dirty="0"/>
          </a:p>
        </p:txBody>
      </p:sp>
      <p:pic>
        <p:nvPicPr>
          <p:cNvPr id="8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0768" y="4983480"/>
            <a:ext cx="182880" cy="182880"/>
          </a:xfrm>
          <a:prstGeom prst="rect">
            <a:avLst/>
          </a:prstGeom>
        </p:spPr>
      </p:pic>
      <p:sp>
        <p:nvSpPr>
          <p:cNvPr id="83" name="Text 70"/>
          <p:cNvSpPr/>
          <p:nvPr/>
        </p:nvSpPr>
        <p:spPr>
          <a:xfrm>
            <a:off x="8668512" y="4956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 impacted device completeness</a:t>
            </a:r>
            <a:endParaRPr lang="en-US" sz="900" dirty="0"/>
          </a:p>
        </p:txBody>
      </p:sp>
      <p:pic>
        <p:nvPicPr>
          <p:cNvPr id="8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0768" y="5276088"/>
            <a:ext cx="182880" cy="182880"/>
          </a:xfrm>
          <a:prstGeom prst="rect">
            <a:avLst/>
          </a:prstGeom>
        </p:spPr>
      </p:pic>
      <p:sp>
        <p:nvSpPr>
          <p:cNvPr id="85" name="Text 71"/>
          <p:cNvSpPr/>
          <p:nvPr/>
        </p:nvSpPr>
        <p:spPr>
          <a:xfrm>
            <a:off x="8668512" y="52486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auto-created with CMDB enrichment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5029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&amp; KPIs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POV Targets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568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 |  Proof of Value  |  April 2026  |  Confidential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941832"/>
            <a:ext cx="1170432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78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978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Baseline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978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Target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978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Method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325880"/>
            <a:ext cx="11704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389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Volume Reduction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1389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raw alerts reaching engineers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389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 reduction via Edwin AI Insights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95160" y="13898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Insight vs raw alert count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1947672"/>
            <a:ext cx="11704320" cy="594360"/>
          </a:xfrm>
          <a:prstGeom prst="rect">
            <a:avLst/>
          </a:prstGeom>
          <a:solidFill>
            <a:srgbClr val="EDF2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0116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Accuracy (Correct Grouping)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77440" y="20116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engineer-dependent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0116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correctly grouped Insights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20116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validation review session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569464"/>
            <a:ext cx="11704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334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Improvement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26334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rolling average from ServiceNow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6334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 reduction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95160" y="26334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ticket open-to-close time delta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3191256"/>
            <a:ext cx="11704320" cy="594360"/>
          </a:xfrm>
          <a:prstGeom prst="rect">
            <a:avLst/>
          </a:prstGeom>
          <a:solidFill>
            <a:srgbClr val="EDF2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2552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Autonomous Resolution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77440" y="32552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most issues escalated to senior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2552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 resolved without escalation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95160" y="32552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escalation rate delta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3813048"/>
            <a:ext cx="11704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8770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Accuracy (Outage Simulation)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377440" y="38770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min manual investigation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8770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 accurate, &lt; 3 min to surface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5160" y="38770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 post-simulation review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4434840"/>
            <a:ext cx="11704320" cy="594360"/>
          </a:xfrm>
          <a:prstGeom prst="rect">
            <a:avLst/>
          </a:prstGeom>
          <a:solidFill>
            <a:srgbClr val="EDF2F7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498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 Events Missed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77440" y="4498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from 30-day alert audit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498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missed during POV window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95160" y="4498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audit log review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5056632"/>
            <a:ext cx="11704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5120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CMDB Enrichment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377440" y="5120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ticket entry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5120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auto-enriched from CMDB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95160" y="51206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field completeness audit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28600" y="6355080"/>
            <a:ext cx="1170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All 7 KPIs met. Partial success (≥ 5 of 7) triggers structured extension discussion.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5029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POV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Start: Week 0  |  POV End: Week 2, Day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568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 |  Proof of Value  |  April 2026  |  Confidential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11247120" cy="457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60120"/>
            <a:ext cx="2148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960120"/>
            <a:ext cx="2148840" cy="457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241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Go/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No-Go Call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scoping document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18470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API credentials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21854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Finalise timeline &amp; MAP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25237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mutual action plan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48740" y="3136392"/>
            <a:ext cx="274320" cy="274320"/>
          </a:xfrm>
          <a:prstGeom prst="ellipse">
            <a:avLst/>
          </a:prstGeom>
          <a:solidFill>
            <a:srgbClr val="007B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0140" y="3456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1965960" cy="320040"/>
          </a:xfrm>
          <a:prstGeom prst="rect">
            <a:avLst/>
          </a:prstGeom>
          <a:solidFill>
            <a:srgbClr val="D6E4F0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136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30 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965960" cy="411480"/>
          </a:xfrm>
          <a:prstGeom prst="rect">
            <a:avLst/>
          </a:prstGeom>
          <a:solidFill>
            <a:srgbClr val="D4EDE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79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POV green-lit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88920" y="960120"/>
            <a:ext cx="2148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88920" y="960120"/>
            <a:ext cx="2148840" cy="457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10241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(Pt.1)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8036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Edwin AI access &amp; dashboard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80360" y="18470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Insight/Singleton overview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80360" y="21854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correlation set-up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80360" y="25237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GenAI/Agentic AI walkthrough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80460" y="3136392"/>
            <a:ext cx="274320" cy="274320"/>
          </a:xfrm>
          <a:prstGeom prst="ellipse">
            <a:avLst/>
          </a:prstGeom>
          <a:solidFill>
            <a:srgbClr val="007B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1860" y="3456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80360" y="3886200"/>
            <a:ext cx="1965960" cy="320040"/>
          </a:xfrm>
          <a:prstGeom prst="rect">
            <a:avLst/>
          </a:prstGeom>
          <a:solidFill>
            <a:srgbClr val="D6E4F0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39136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hr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80360" y="4251960"/>
            <a:ext cx="1965960" cy="411480"/>
          </a:xfrm>
          <a:prstGeom prst="rect">
            <a:avLst/>
          </a:prstGeom>
          <a:solidFill>
            <a:srgbClr val="D4EDE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4279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Case 1 live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960120"/>
            <a:ext cx="2148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120640" y="960120"/>
            <a:ext cx="2148840" cy="457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0241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Sim (Pt.2)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Insight review &amp; model tune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212080" y="18470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Outage simulation execution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12080" y="21854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Edwin correlation validation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12080" y="25237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RCA accuracy review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12180" y="3136392"/>
            <a:ext cx="274320" cy="274320"/>
          </a:xfrm>
          <a:prstGeom prst="ellipse">
            <a:avLst/>
          </a:prstGeom>
          <a:solidFill>
            <a:srgbClr val="007B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83580" y="3456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12080" y="3886200"/>
            <a:ext cx="1965960" cy="320040"/>
          </a:xfrm>
          <a:prstGeom prst="rect">
            <a:avLst/>
          </a:prstGeom>
          <a:solidFill>
            <a:srgbClr val="D6E4F0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39136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hr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2080" y="4251960"/>
            <a:ext cx="1965960" cy="411480"/>
          </a:xfrm>
          <a:prstGeom prst="rect">
            <a:avLst/>
          </a:prstGeom>
          <a:solidFill>
            <a:srgbClr val="D4EDE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4279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UC 2 &amp; 3 validated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52360" y="960120"/>
            <a:ext cx="2148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52360" y="960120"/>
            <a:ext cx="2148840" cy="457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43800" y="10241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(Pt.4)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4380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ITSM integration review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543800" y="18470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Chatbot workflow demo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543800" y="21854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Prompting fundamentals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543800" y="25237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Playback &amp; KPI review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343900" y="3136392"/>
            <a:ext cx="274320" cy="274320"/>
          </a:xfrm>
          <a:prstGeom prst="ellipse">
            <a:avLst/>
          </a:prstGeom>
          <a:solidFill>
            <a:srgbClr val="007B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15300" y="3456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543800" y="3886200"/>
            <a:ext cx="1965960" cy="320040"/>
          </a:xfrm>
          <a:prstGeom prst="rect">
            <a:avLst/>
          </a:prstGeom>
          <a:solidFill>
            <a:srgbClr val="D6E4F0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0" y="39136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hr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543800" y="4251960"/>
            <a:ext cx="1965960" cy="411480"/>
          </a:xfrm>
          <a:prstGeom prst="rect">
            <a:avLst/>
          </a:prstGeom>
          <a:solidFill>
            <a:srgbClr val="D4EDE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4279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ITSM validated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784080" y="960120"/>
            <a:ext cx="2148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784080" y="960120"/>
            <a:ext cx="2148840" cy="457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75520" y="10241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(Pt.5)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875520" y="1508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portal review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875520" y="18470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POV outcomes sign-off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875520" y="21854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criteria met?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875520" y="252374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next steps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0675620" y="3136392"/>
            <a:ext cx="274320" cy="274320"/>
          </a:xfrm>
          <a:prstGeom prst="ellipse">
            <a:avLst/>
          </a:prstGeom>
          <a:solidFill>
            <a:srgbClr val="007B8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447020" y="3456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875520" y="3886200"/>
            <a:ext cx="1965960" cy="320040"/>
          </a:xfrm>
          <a:prstGeom prst="rect">
            <a:avLst/>
          </a:prstGeom>
          <a:solidFill>
            <a:srgbClr val="D6E4F0"/>
          </a:solidFill>
          <a:ln w="12700">
            <a:solidFill>
              <a:srgbClr val="B8D0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21240" y="39136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 hr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875520" y="4251960"/>
            <a:ext cx="1965960" cy="411480"/>
          </a:xfrm>
          <a:prstGeom prst="rect">
            <a:avLst/>
          </a:prstGeom>
          <a:solidFill>
            <a:srgbClr val="D4EDE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21240" y="42793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Go/No-Go decision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12161520" cy="5029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&amp; 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0972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for Commercial Recommendation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56832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LogicMonitor Edwin AI  |  Proof of Value  |  April 2026  |  Confidential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914400"/>
            <a:ext cx="557784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418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(ALL 5 MUST BE MET)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32588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1554480"/>
            <a:ext cx="292608" cy="292608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" y="14173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noise reduction of ≥ 80% demonstrated over full POV window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14884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377440"/>
            <a:ext cx="292608" cy="292608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" y="22402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 of ≥ 30% validated against ServiceNow baseline 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97180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200400"/>
            <a:ext cx="292608" cy="292608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30632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Outage simulation: correlated Insight within 3 min, no missed P1/P2 events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79476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4023360"/>
            <a:ext cx="292608" cy="292608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38862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bi-directional integration functional with CMDB enrichment confirmed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4617720"/>
            <a:ext cx="5577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4846320"/>
            <a:ext cx="292608" cy="292608"/>
          </a:xfrm>
          <a:prstGeom prst="ellipse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846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" y="47091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engineers resolve live issues using Edwin AI without senior escalation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" y="548640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success (≥ 3 of 5 criteria): triggers structured POV extension discussion.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914400"/>
            <a:ext cx="5742432" cy="347472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9418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1325880"/>
            <a:ext cx="574243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1325880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36208" y="1874520"/>
            <a:ext cx="1097280" cy="2560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5352" y="189280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06640" y="1399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Sign POV Agreement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06640" y="170992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mutual action plan and acceptance criteria. Sign off on POV scope.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2267712"/>
            <a:ext cx="574243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267712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2816352"/>
            <a:ext cx="1097280" cy="2560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45352" y="283464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Pre-POV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06640" y="2340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Pre-POV Technical Setup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06640" y="26517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enabled in Production LM portal. API credentials configured. ServiceNow sandbox connected.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72200" y="3209544"/>
            <a:ext cx="574243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3209544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36208" y="3758184"/>
            <a:ext cx="1097280" cy="2560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45352" y="37764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1, Day 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06640" y="32826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Kickoff Session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06640" y="359359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Go/No-Go call to confirm readiness. Edwin AI dashboard walkthrough.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72200" y="4151376"/>
            <a:ext cx="574243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4151376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36208" y="4700016"/>
            <a:ext cx="1097280" cy="2560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45352" y="471830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06640" y="4224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Execute POV Use Cases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406640" y="45354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3 use cases over 2 weeks. LogicMonitor POV engineer provides dedicated support.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72200" y="5093208"/>
            <a:ext cx="574243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172200" y="5093208"/>
            <a:ext cx="54864" cy="8686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36208" y="5641848"/>
            <a:ext cx="1097280" cy="2560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45352" y="56601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Post-POV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406640" y="5166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POV Outcomes Report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406640" y="547725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within 3 business days of wrap-up. Includes KPI results, ROI projection, commercial proposal.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Proactive IT Operations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transforms your LM investment into a self-healing, intelligence-first operations platform.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194560"/>
            <a:ext cx="3108960" cy="2377440"/>
          </a:xfrm>
          <a:prstGeom prst="rect">
            <a:avLst/>
          </a:prstGeom>
          <a:solidFill>
            <a:srgbClr val="162D45"/>
          </a:solidFill>
          <a:ln w="12700">
            <a:solidFill>
              <a:srgbClr val="007B8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377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9443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→ Insight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34015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80–95% of raw alerts consolidated into actionable, prioritised Insights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2194560"/>
            <a:ext cx="3108960" cy="2377440"/>
          </a:xfrm>
          <a:prstGeom prst="rect">
            <a:avLst/>
          </a:prstGeom>
          <a:solidFill>
            <a:srgbClr val="162D45"/>
          </a:solidFill>
          <a:ln w="12700">
            <a:solidFill>
              <a:srgbClr val="007B8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29443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→ Agentic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00600" y="34015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generated in &lt; 3 minutes vs 30–90 min of manual investigation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2194560"/>
            <a:ext cx="3108960" cy="2377440"/>
          </a:xfrm>
          <a:prstGeom prst="rect">
            <a:avLst/>
          </a:prstGeom>
          <a:solidFill>
            <a:srgbClr val="162D45"/>
          </a:solidFill>
          <a:ln w="12700">
            <a:solidFill>
              <a:srgbClr val="007B8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3774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92440" y="29443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→ Proactive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092440" y="34015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remediation prevents incidents before service impact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begin your POV?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14400" y="530352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LogicMonitor Account Executive  |  www.logicmonitor.com/edwin-ai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2026-03-31T23:42:01Z</dcterms:created>
  <dcterms:modified xsi:type="dcterms:W3CDTF">2026-03-31T23:42:01Z</dcterms:modified>
</cp:coreProperties>
</file>