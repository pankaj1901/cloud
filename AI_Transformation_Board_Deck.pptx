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141B4D"/>
          </a:solidFill>
          <a:ln/>
        </p:spPr>
      </p:sp>
      <p:sp>
        <p:nvSpPr>
          <p:cNvPr id="3" name="Shape 1"/>
          <p:cNvSpPr/>
          <p:nvPr/>
        </p:nvSpPr>
        <p:spPr>
          <a:xfrm>
            <a:off x="-2011680" y="4389120"/>
            <a:ext cx="4206240" cy="4206240"/>
          </a:xfrm>
          <a:prstGeom prst="ellipse">
            <a:avLst/>
          </a:prstGeom>
          <a:solidFill>
            <a:srgbClr val="141B4D"/>
          </a:solidFill>
          <a:ln/>
        </p:spPr>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BOARD &amp; IT STEERING COMMITTEE REVIEW</a:t>
            </a:r>
            <a:endParaRPr lang="en-US" sz="1300" dirty="0"/>
          </a:p>
        </p:txBody>
      </p:sp>
      <p:sp>
        <p:nvSpPr>
          <p:cNvPr id="5" name="Text 3"/>
          <p:cNvSpPr/>
          <p:nvPr/>
        </p:nvSpPr>
        <p:spPr>
          <a:xfrm>
            <a:off x="822960" y="1783080"/>
            <a:ext cx="10332720" cy="182880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AI-Powered Transformation</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of Enterprise IT Operations</a:t>
            </a:r>
            <a:endParaRPr lang="en-US" sz="4000" dirty="0"/>
          </a:p>
        </p:txBody>
      </p:sp>
      <p:sp>
        <p:nvSpPr>
          <p:cNvPr id="6" name="Text 4"/>
          <p:cNvSpPr/>
          <p:nvPr/>
        </p:nvSpPr>
        <p:spPr>
          <a:xfrm>
            <a:off x="822960" y="3703320"/>
            <a:ext cx="8961120" cy="73152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A strategic roadmap to reduce operational cost, improve service quality, increase automation, and enable predictive IT operations across the enterprise technology estate.</a:t>
            </a:r>
            <a:endParaRPr lang="en-US" sz="1400" dirty="0"/>
          </a:p>
        </p:txBody>
      </p:sp>
      <p:sp>
        <p:nvSpPr>
          <p:cNvPr id="7" name="Shape 5"/>
          <p:cNvSpPr/>
          <p:nvPr/>
        </p:nvSpPr>
        <p:spPr>
          <a:xfrm>
            <a:off x="822960" y="4617720"/>
            <a:ext cx="2926080" cy="0"/>
          </a:xfrm>
          <a:prstGeom prst="line">
            <a:avLst/>
          </a:prstGeom>
          <a:noFill/>
          <a:ln w="19050">
            <a:solidFill>
              <a:srgbClr val="02C39A"/>
            </a:solidFill>
            <a:prstDash val="solid"/>
          </a:ln>
        </p:spPr>
      </p:sp>
      <p:sp>
        <p:nvSpPr>
          <p:cNvPr id="8" name="Text 6"/>
          <p:cNvSpPr/>
          <p:nvPr/>
        </p:nvSpPr>
        <p:spPr>
          <a:xfrm>
            <a:off x="822960" y="4754880"/>
            <a:ext cx="7315200" cy="32004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IT Infrastructure &amp; Operations  |  Enterprise AIOps Strategy  |  2026</a:t>
            </a:r>
            <a:endParaRPr lang="en-US" sz="1150" dirty="0"/>
          </a:p>
        </p:txBody>
      </p:sp>
      <p:sp>
        <p:nvSpPr>
          <p:cNvPr id="9" name="Shape 7"/>
          <p:cNvSpPr/>
          <p:nvPr/>
        </p:nvSpPr>
        <p:spPr>
          <a:xfrm>
            <a:off x="822960" y="5623560"/>
            <a:ext cx="1143000" cy="365760"/>
          </a:xfrm>
          <a:prstGeom prst="roundRect">
            <a:avLst>
              <a:gd name="adj" fmla="val 50000"/>
            </a:avLst>
          </a:prstGeom>
          <a:solidFill>
            <a:srgbClr val="141B4D"/>
          </a:solidFill>
          <a:ln w="9525">
            <a:solidFill>
              <a:srgbClr val="02C39A"/>
            </a:solidFill>
            <a:prstDash val="solid"/>
          </a:ln>
        </p:spPr>
      </p:sp>
      <p:sp>
        <p:nvSpPr>
          <p:cNvPr id="10" name="Text 8"/>
          <p:cNvSpPr/>
          <p:nvPr/>
        </p:nvSpPr>
        <p:spPr>
          <a:xfrm>
            <a:off x="822960" y="5623560"/>
            <a:ext cx="1143000" cy="365760"/>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ServiceNow</a:t>
            </a:r>
            <a:endParaRPr lang="en-US" sz="1050" dirty="0"/>
          </a:p>
        </p:txBody>
      </p:sp>
      <p:sp>
        <p:nvSpPr>
          <p:cNvPr id="11" name="Shape 9"/>
          <p:cNvSpPr/>
          <p:nvPr/>
        </p:nvSpPr>
        <p:spPr>
          <a:xfrm>
            <a:off x="2112264" y="5623560"/>
            <a:ext cx="1143000" cy="365760"/>
          </a:xfrm>
          <a:prstGeom prst="roundRect">
            <a:avLst>
              <a:gd name="adj" fmla="val 50000"/>
            </a:avLst>
          </a:prstGeom>
          <a:solidFill>
            <a:srgbClr val="141B4D"/>
          </a:solidFill>
          <a:ln w="9525">
            <a:solidFill>
              <a:srgbClr val="02C39A"/>
            </a:solidFill>
            <a:prstDash val="solid"/>
          </a:ln>
        </p:spPr>
      </p:sp>
      <p:sp>
        <p:nvSpPr>
          <p:cNvPr id="12" name="Text 10"/>
          <p:cNvSpPr/>
          <p:nvPr/>
        </p:nvSpPr>
        <p:spPr>
          <a:xfrm>
            <a:off x="2112264" y="5623560"/>
            <a:ext cx="1143000" cy="365760"/>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SolarWinds</a:t>
            </a:r>
            <a:endParaRPr lang="en-US" sz="1050" dirty="0"/>
          </a:p>
        </p:txBody>
      </p:sp>
      <p:sp>
        <p:nvSpPr>
          <p:cNvPr id="13" name="Shape 11"/>
          <p:cNvSpPr/>
          <p:nvPr/>
        </p:nvSpPr>
        <p:spPr>
          <a:xfrm>
            <a:off x="3401568" y="5623560"/>
            <a:ext cx="795528" cy="365760"/>
          </a:xfrm>
          <a:prstGeom prst="roundRect">
            <a:avLst>
              <a:gd name="adj" fmla="val 50000"/>
            </a:avLst>
          </a:prstGeom>
          <a:solidFill>
            <a:srgbClr val="141B4D"/>
          </a:solidFill>
          <a:ln w="9525">
            <a:solidFill>
              <a:srgbClr val="02C39A"/>
            </a:solidFill>
            <a:prstDash val="solid"/>
          </a:ln>
        </p:spPr>
      </p:sp>
      <p:sp>
        <p:nvSpPr>
          <p:cNvPr id="14" name="Text 12"/>
          <p:cNvSpPr/>
          <p:nvPr/>
        </p:nvSpPr>
        <p:spPr>
          <a:xfrm>
            <a:off x="3401568" y="5623560"/>
            <a:ext cx="795528" cy="365760"/>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Splunk</a:t>
            </a:r>
            <a:endParaRPr lang="en-US" sz="1050" dirty="0"/>
          </a:p>
        </p:txBody>
      </p:sp>
      <p:sp>
        <p:nvSpPr>
          <p:cNvPr id="15" name="Shape 13"/>
          <p:cNvSpPr/>
          <p:nvPr/>
        </p:nvSpPr>
        <p:spPr>
          <a:xfrm>
            <a:off x="4343400" y="5623560"/>
            <a:ext cx="1143000" cy="365760"/>
          </a:xfrm>
          <a:prstGeom prst="roundRect">
            <a:avLst>
              <a:gd name="adj" fmla="val 50000"/>
            </a:avLst>
          </a:prstGeom>
          <a:solidFill>
            <a:srgbClr val="141B4D"/>
          </a:solidFill>
          <a:ln w="9525">
            <a:solidFill>
              <a:srgbClr val="02C39A"/>
            </a:solidFill>
            <a:prstDash val="solid"/>
          </a:ln>
        </p:spPr>
      </p:sp>
      <p:sp>
        <p:nvSpPr>
          <p:cNvPr id="16" name="Text 14"/>
          <p:cNvSpPr/>
          <p:nvPr/>
        </p:nvSpPr>
        <p:spPr>
          <a:xfrm>
            <a:off x="4343400" y="5623560"/>
            <a:ext cx="1143000" cy="365760"/>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Oracle OEM</a:t>
            </a:r>
            <a:endParaRPr lang="en-US" sz="1050" dirty="0"/>
          </a:p>
        </p:txBody>
      </p:sp>
      <p:sp>
        <p:nvSpPr>
          <p:cNvPr id="17" name="Shape 15"/>
          <p:cNvSpPr/>
          <p:nvPr/>
        </p:nvSpPr>
        <p:spPr>
          <a:xfrm>
            <a:off x="5632704" y="5623560"/>
            <a:ext cx="1229868" cy="365760"/>
          </a:xfrm>
          <a:prstGeom prst="roundRect">
            <a:avLst>
              <a:gd name="adj" fmla="val 50000"/>
            </a:avLst>
          </a:prstGeom>
          <a:solidFill>
            <a:srgbClr val="141B4D"/>
          </a:solidFill>
          <a:ln w="9525">
            <a:solidFill>
              <a:srgbClr val="02C39A"/>
            </a:solidFill>
            <a:prstDash val="solid"/>
          </a:ln>
        </p:spPr>
      </p:sp>
      <p:sp>
        <p:nvSpPr>
          <p:cNvPr id="18" name="Text 16"/>
          <p:cNvSpPr/>
          <p:nvPr/>
        </p:nvSpPr>
        <p:spPr>
          <a:xfrm>
            <a:off x="5632704" y="5623560"/>
            <a:ext cx="1229868" cy="365760"/>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IBM Instana</a:t>
            </a:r>
            <a:endParaRPr lang="en-US" sz="1050" dirty="0"/>
          </a:p>
        </p:txBody>
      </p:sp>
      <p:sp>
        <p:nvSpPr>
          <p:cNvPr id="19" name="Shape 17"/>
          <p:cNvSpPr/>
          <p:nvPr/>
        </p:nvSpPr>
        <p:spPr>
          <a:xfrm>
            <a:off x="7008876" y="5623560"/>
            <a:ext cx="969264" cy="365760"/>
          </a:xfrm>
          <a:prstGeom prst="roundRect">
            <a:avLst>
              <a:gd name="adj" fmla="val 50000"/>
            </a:avLst>
          </a:prstGeom>
          <a:solidFill>
            <a:srgbClr val="141B4D"/>
          </a:solidFill>
          <a:ln w="9525">
            <a:solidFill>
              <a:srgbClr val="02C39A"/>
            </a:solidFill>
            <a:prstDash val="solid"/>
          </a:ln>
        </p:spPr>
      </p:sp>
      <p:sp>
        <p:nvSpPr>
          <p:cNvPr id="20" name="Text 18"/>
          <p:cNvSpPr/>
          <p:nvPr/>
        </p:nvSpPr>
        <p:spPr>
          <a:xfrm>
            <a:off x="7008876" y="5623560"/>
            <a:ext cx="969264" cy="365760"/>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CyberArk</a:t>
            </a:r>
            <a:endParaRPr lang="en-US" sz="1050" dirty="0"/>
          </a:p>
        </p:txBody>
      </p:sp>
      <p:sp>
        <p:nvSpPr>
          <p:cNvPr id="21" name="Shape 19"/>
          <p:cNvSpPr/>
          <p:nvPr/>
        </p:nvSpPr>
        <p:spPr>
          <a:xfrm>
            <a:off x="8124444" y="5623560"/>
            <a:ext cx="1403604" cy="365760"/>
          </a:xfrm>
          <a:prstGeom prst="roundRect">
            <a:avLst>
              <a:gd name="adj" fmla="val 50000"/>
            </a:avLst>
          </a:prstGeom>
          <a:solidFill>
            <a:srgbClr val="141B4D"/>
          </a:solidFill>
          <a:ln w="9525">
            <a:solidFill>
              <a:srgbClr val="02C39A"/>
            </a:solidFill>
            <a:prstDash val="solid"/>
          </a:ln>
        </p:spPr>
      </p:sp>
      <p:sp>
        <p:nvSpPr>
          <p:cNvPr id="22" name="Text 20"/>
          <p:cNvSpPr/>
          <p:nvPr/>
        </p:nvSpPr>
        <p:spPr>
          <a:xfrm>
            <a:off x="8124444" y="5623560"/>
            <a:ext cx="1403604" cy="365760"/>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Azure Monitor</a:t>
            </a:r>
            <a:endParaRPr lang="en-US" sz="1050" dirty="0"/>
          </a:p>
        </p:txBody>
      </p:sp>
      <p:sp>
        <p:nvSpPr>
          <p:cNvPr id="23" name="Text 21"/>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TITLE</a:t>
            </a:r>
            <a:endParaRPr lang="en-US" sz="850" dirty="0"/>
          </a:p>
        </p:txBody>
      </p:sp>
      <p:sp>
        <p:nvSpPr>
          <p:cNvPr id="24" name="Text 22"/>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1 / 33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Shifting IT Operations from Reactive to Predictive with AI</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1 · EXECUTIVE SUMMARY</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2 / 33</a:t>
            </a:r>
            <a:endParaRPr lang="en-US" sz="850" dirty="0"/>
          </a:p>
        </p:txBody>
      </p:sp>
      <p:sp>
        <p:nvSpPr>
          <p:cNvPr id="7" name="Shape 5"/>
          <p:cNvSpPr/>
          <p:nvPr/>
        </p:nvSpPr>
        <p:spPr>
          <a:xfrm>
            <a:off x="502920" y="1645920"/>
            <a:ext cx="2583180" cy="1737360"/>
          </a:xfrm>
          <a:prstGeom prst="roundRect">
            <a:avLst>
              <a:gd name="adj" fmla="val 4211"/>
            </a:avLst>
          </a:prstGeom>
          <a:solidFill>
            <a:srgbClr val="EEF1F4"/>
          </a:solidFill>
          <a:ln/>
        </p:spPr>
      </p:sp>
      <p:sp>
        <p:nvSpPr>
          <p:cNvPr id="8" name="Shape 6"/>
          <p:cNvSpPr/>
          <p:nvPr/>
        </p:nvSpPr>
        <p:spPr>
          <a:xfrm>
            <a:off x="704088" y="1847088"/>
            <a:ext cx="365760" cy="365760"/>
          </a:xfrm>
          <a:prstGeom prst="ellipse">
            <a:avLst/>
          </a:prstGeom>
          <a:solidFill>
            <a:srgbClr val="1E2761"/>
          </a:solidFill>
          <a:ln/>
        </p:spPr>
      </p:sp>
      <p:sp>
        <p:nvSpPr>
          <p:cNvPr id="9" name="Text 7"/>
          <p:cNvSpPr/>
          <p:nvPr/>
        </p:nvSpPr>
        <p:spPr>
          <a:xfrm>
            <a:off x="704088" y="184708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704088" y="2304288"/>
            <a:ext cx="21808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The Challenge</a:t>
            </a:r>
            <a:endParaRPr lang="en-US" sz="1350" dirty="0"/>
          </a:p>
        </p:txBody>
      </p:sp>
      <p:sp>
        <p:nvSpPr>
          <p:cNvPr id="11" name="Text 9"/>
          <p:cNvSpPr/>
          <p:nvPr/>
        </p:nvSpPr>
        <p:spPr>
          <a:xfrm>
            <a:off x="704088" y="2633472"/>
            <a:ext cx="2180844" cy="62179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15 towers run on 10+ disconnected tools. Alert floods and manual triage drive high MTTR.</a:t>
            </a:r>
            <a:endParaRPr lang="en-US" sz="950" dirty="0"/>
          </a:p>
        </p:txBody>
      </p:sp>
      <p:sp>
        <p:nvSpPr>
          <p:cNvPr id="12" name="Shape 10"/>
          <p:cNvSpPr/>
          <p:nvPr/>
        </p:nvSpPr>
        <p:spPr>
          <a:xfrm>
            <a:off x="3360420" y="1645920"/>
            <a:ext cx="2583180" cy="1737360"/>
          </a:xfrm>
          <a:prstGeom prst="roundRect">
            <a:avLst>
              <a:gd name="adj" fmla="val 4211"/>
            </a:avLst>
          </a:prstGeom>
          <a:solidFill>
            <a:srgbClr val="EEF1F4"/>
          </a:solidFill>
          <a:ln/>
        </p:spPr>
      </p:sp>
      <p:sp>
        <p:nvSpPr>
          <p:cNvPr id="13" name="Shape 11"/>
          <p:cNvSpPr/>
          <p:nvPr/>
        </p:nvSpPr>
        <p:spPr>
          <a:xfrm>
            <a:off x="3561588" y="1847088"/>
            <a:ext cx="365760" cy="365760"/>
          </a:xfrm>
          <a:prstGeom prst="ellipse">
            <a:avLst/>
          </a:prstGeom>
          <a:solidFill>
            <a:srgbClr val="1E2761"/>
          </a:solidFill>
          <a:ln/>
        </p:spPr>
      </p:sp>
      <p:sp>
        <p:nvSpPr>
          <p:cNvPr id="14" name="Text 12"/>
          <p:cNvSpPr/>
          <p:nvPr/>
        </p:nvSpPr>
        <p:spPr>
          <a:xfrm>
            <a:off x="3561588" y="184708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3561588" y="2304288"/>
            <a:ext cx="21808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The Opportunity</a:t>
            </a:r>
            <a:endParaRPr lang="en-US" sz="1350" dirty="0"/>
          </a:p>
        </p:txBody>
      </p:sp>
      <p:sp>
        <p:nvSpPr>
          <p:cNvPr id="16" name="Text 14"/>
          <p:cNvSpPr/>
          <p:nvPr/>
        </p:nvSpPr>
        <p:spPr>
          <a:xfrm>
            <a:off x="3561588" y="2633472"/>
            <a:ext cx="2180844" cy="62179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AI can correlate 50–95% of alert noise, auto-diagnose root cause, and safely automate low-risk fixes.</a:t>
            </a:r>
            <a:endParaRPr lang="en-US" sz="950" dirty="0"/>
          </a:p>
        </p:txBody>
      </p:sp>
      <p:sp>
        <p:nvSpPr>
          <p:cNvPr id="17" name="Shape 15"/>
          <p:cNvSpPr/>
          <p:nvPr/>
        </p:nvSpPr>
        <p:spPr>
          <a:xfrm>
            <a:off x="6217920" y="1645920"/>
            <a:ext cx="2583180" cy="1737360"/>
          </a:xfrm>
          <a:prstGeom prst="roundRect">
            <a:avLst>
              <a:gd name="adj" fmla="val 4211"/>
            </a:avLst>
          </a:prstGeom>
          <a:solidFill>
            <a:srgbClr val="EEF1F4"/>
          </a:solidFill>
          <a:ln/>
        </p:spPr>
      </p:sp>
      <p:sp>
        <p:nvSpPr>
          <p:cNvPr id="18" name="Shape 16"/>
          <p:cNvSpPr/>
          <p:nvPr/>
        </p:nvSpPr>
        <p:spPr>
          <a:xfrm>
            <a:off x="6419088" y="1847088"/>
            <a:ext cx="365760" cy="365760"/>
          </a:xfrm>
          <a:prstGeom prst="ellipse">
            <a:avLst/>
          </a:prstGeom>
          <a:solidFill>
            <a:srgbClr val="1E2761"/>
          </a:solidFill>
          <a:ln/>
        </p:spPr>
      </p:sp>
      <p:sp>
        <p:nvSpPr>
          <p:cNvPr id="19" name="Text 17"/>
          <p:cNvSpPr/>
          <p:nvPr/>
        </p:nvSpPr>
        <p:spPr>
          <a:xfrm>
            <a:off x="6419088" y="184708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6419088" y="2304288"/>
            <a:ext cx="21808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The Approach</a:t>
            </a:r>
            <a:endParaRPr lang="en-US" sz="1350" dirty="0"/>
          </a:p>
        </p:txBody>
      </p:sp>
      <p:sp>
        <p:nvSpPr>
          <p:cNvPr id="21" name="Text 19"/>
          <p:cNvSpPr/>
          <p:nvPr/>
        </p:nvSpPr>
        <p:spPr>
          <a:xfrm>
            <a:off x="6419088" y="2633472"/>
            <a:ext cx="2180844" cy="62179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No rip-and-replace — add an AIOps layer over SolarWinds, OEM, Splunk, ServiceNow and CyberArk.</a:t>
            </a:r>
            <a:endParaRPr lang="en-US" sz="950" dirty="0"/>
          </a:p>
        </p:txBody>
      </p:sp>
      <p:sp>
        <p:nvSpPr>
          <p:cNvPr id="22" name="Shape 20"/>
          <p:cNvSpPr/>
          <p:nvPr/>
        </p:nvSpPr>
        <p:spPr>
          <a:xfrm>
            <a:off x="9075420" y="1645920"/>
            <a:ext cx="2583180" cy="1737360"/>
          </a:xfrm>
          <a:prstGeom prst="roundRect">
            <a:avLst>
              <a:gd name="adj" fmla="val 4211"/>
            </a:avLst>
          </a:prstGeom>
          <a:solidFill>
            <a:srgbClr val="EEF1F4"/>
          </a:solidFill>
          <a:ln/>
        </p:spPr>
      </p:sp>
      <p:sp>
        <p:nvSpPr>
          <p:cNvPr id="23" name="Shape 21"/>
          <p:cNvSpPr/>
          <p:nvPr/>
        </p:nvSpPr>
        <p:spPr>
          <a:xfrm>
            <a:off x="9276588" y="1847088"/>
            <a:ext cx="365760" cy="365760"/>
          </a:xfrm>
          <a:prstGeom prst="ellipse">
            <a:avLst/>
          </a:prstGeom>
          <a:solidFill>
            <a:srgbClr val="1E2761"/>
          </a:solidFill>
          <a:ln/>
        </p:spPr>
      </p:sp>
      <p:sp>
        <p:nvSpPr>
          <p:cNvPr id="24" name="Text 22"/>
          <p:cNvSpPr/>
          <p:nvPr/>
        </p:nvSpPr>
        <p:spPr>
          <a:xfrm>
            <a:off x="9276588" y="184708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9276588" y="2304288"/>
            <a:ext cx="21808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The Ask</a:t>
            </a:r>
            <a:endParaRPr lang="en-US" sz="1350" dirty="0"/>
          </a:p>
        </p:txBody>
      </p:sp>
      <p:sp>
        <p:nvSpPr>
          <p:cNvPr id="26" name="Text 24"/>
          <p:cNvSpPr/>
          <p:nvPr/>
        </p:nvSpPr>
        <p:spPr>
          <a:xfrm>
            <a:off x="9276588" y="2633472"/>
            <a:ext cx="2180844" cy="62179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Approve a two-platform PoC, a phased 12–24 month rollout, and an initial AI governance framework.</a:t>
            </a:r>
            <a:endParaRPr lang="en-US" sz="950" dirty="0"/>
          </a:p>
        </p:txBody>
      </p:sp>
      <p:sp>
        <p:nvSpPr>
          <p:cNvPr id="27" name="Shape 25"/>
          <p:cNvSpPr/>
          <p:nvPr/>
        </p:nvSpPr>
        <p:spPr>
          <a:xfrm>
            <a:off x="502920" y="3520440"/>
            <a:ext cx="11155680" cy="1417320"/>
          </a:xfrm>
          <a:prstGeom prst="roundRect">
            <a:avLst>
              <a:gd name="adj" fmla="val 5161"/>
            </a:avLst>
          </a:prstGeom>
          <a:solidFill>
            <a:srgbClr val="1E2761"/>
          </a:solidFill>
          <a:ln/>
        </p:spPr>
      </p:sp>
      <p:sp>
        <p:nvSpPr>
          <p:cNvPr id="28" name="Text 26"/>
          <p:cNvSpPr/>
          <p:nvPr/>
        </p:nvSpPr>
        <p:spPr>
          <a:xfrm>
            <a:off x="502920" y="3657600"/>
            <a:ext cx="2788920" cy="548640"/>
          </a:xfrm>
          <a:prstGeom prst="rect">
            <a:avLst/>
          </a:prstGeom>
          <a:noFill/>
          <a:ln/>
        </p:spPr>
        <p:txBody>
          <a:bodyPr wrap="square" rtlCol="0" anchor="ctr"/>
          <a:lstStyle/>
          <a:p>
            <a:pPr algn="ctr" indent="0" marL="0">
              <a:buNone/>
            </a:pPr>
            <a:r>
              <a:rPr lang="en-US" sz="2600" b="1" dirty="0">
                <a:solidFill>
                  <a:srgbClr val="02C39A"/>
                </a:solidFill>
                <a:latin typeface="Cambria" pitchFamily="34" charset="0"/>
                <a:ea typeface="Cambria" pitchFamily="34" charset="-122"/>
                <a:cs typeface="Cambria" pitchFamily="34" charset="-120"/>
              </a:rPr>
              <a:t>50–70%</a:t>
            </a:r>
            <a:endParaRPr lang="en-US" sz="2600" dirty="0"/>
          </a:p>
        </p:txBody>
      </p:sp>
      <p:sp>
        <p:nvSpPr>
          <p:cNvPr id="29" name="Text 27"/>
          <p:cNvSpPr/>
          <p:nvPr/>
        </p:nvSpPr>
        <p:spPr>
          <a:xfrm>
            <a:off x="640080" y="4224528"/>
            <a:ext cx="2514600" cy="594360"/>
          </a:xfrm>
          <a:prstGeom prst="rect">
            <a:avLst/>
          </a:prstGeom>
          <a:noFill/>
          <a:ln/>
        </p:spPr>
        <p:txBody>
          <a:bodyPr wrap="square" rtlCol="0" anchor="ctr"/>
          <a:lstStyle/>
          <a:p>
            <a:pPr algn="ctr" indent="0" marL="0">
              <a:lnSpc>
                <a:spcPct val="110000"/>
              </a:lnSpc>
              <a:buNone/>
            </a:pPr>
            <a:r>
              <a:rPr lang="en-US" sz="1000" dirty="0">
                <a:solidFill>
                  <a:srgbClr val="CADCFC"/>
                </a:solidFill>
                <a:latin typeface="Calibri" pitchFamily="34" charset="0"/>
                <a:ea typeface="Calibri" pitchFamily="34" charset="-122"/>
                <a:cs typeface="Calibri" pitchFamily="34" charset="-120"/>
              </a:rPr>
              <a:t>Alert volume reduction</a:t>
            </a:r>
            <a:endParaRPr lang="en-US" sz="1000" dirty="0"/>
          </a:p>
        </p:txBody>
      </p:sp>
      <p:sp>
        <p:nvSpPr>
          <p:cNvPr id="30" name="Text 28"/>
          <p:cNvSpPr/>
          <p:nvPr/>
        </p:nvSpPr>
        <p:spPr>
          <a:xfrm>
            <a:off x="3291840" y="3657600"/>
            <a:ext cx="2788920" cy="548640"/>
          </a:xfrm>
          <a:prstGeom prst="rect">
            <a:avLst/>
          </a:prstGeom>
          <a:noFill/>
          <a:ln/>
        </p:spPr>
        <p:txBody>
          <a:bodyPr wrap="square" rtlCol="0" anchor="ctr"/>
          <a:lstStyle/>
          <a:p>
            <a:pPr algn="ctr" indent="0" marL="0">
              <a:buNone/>
            </a:pPr>
            <a:r>
              <a:rPr lang="en-US" sz="2600" b="1" dirty="0">
                <a:solidFill>
                  <a:srgbClr val="02C39A"/>
                </a:solidFill>
                <a:latin typeface="Cambria" pitchFamily="34" charset="0"/>
                <a:ea typeface="Cambria" pitchFamily="34" charset="-122"/>
                <a:cs typeface="Cambria" pitchFamily="34" charset="-120"/>
              </a:rPr>
              <a:t>30–50%</a:t>
            </a:r>
            <a:endParaRPr lang="en-US" sz="2600" dirty="0"/>
          </a:p>
        </p:txBody>
      </p:sp>
      <p:sp>
        <p:nvSpPr>
          <p:cNvPr id="31" name="Text 29"/>
          <p:cNvSpPr/>
          <p:nvPr/>
        </p:nvSpPr>
        <p:spPr>
          <a:xfrm>
            <a:off x="3429000" y="4224528"/>
            <a:ext cx="2514600" cy="594360"/>
          </a:xfrm>
          <a:prstGeom prst="rect">
            <a:avLst/>
          </a:prstGeom>
          <a:noFill/>
          <a:ln/>
        </p:spPr>
        <p:txBody>
          <a:bodyPr wrap="square" rtlCol="0" anchor="ctr"/>
          <a:lstStyle/>
          <a:p>
            <a:pPr algn="ctr" indent="0" marL="0">
              <a:lnSpc>
                <a:spcPct val="110000"/>
              </a:lnSpc>
              <a:buNone/>
            </a:pPr>
            <a:r>
              <a:rPr lang="en-US" sz="1000" dirty="0">
                <a:solidFill>
                  <a:srgbClr val="CADCFC"/>
                </a:solidFill>
                <a:latin typeface="Calibri" pitchFamily="34" charset="0"/>
                <a:ea typeface="Calibri" pitchFamily="34" charset="-122"/>
                <a:cs typeface="Calibri" pitchFamily="34" charset="-120"/>
              </a:rPr>
              <a:t>MTTR improvement</a:t>
            </a:r>
            <a:endParaRPr lang="en-US" sz="1000" dirty="0"/>
          </a:p>
        </p:txBody>
      </p:sp>
      <p:sp>
        <p:nvSpPr>
          <p:cNvPr id="32" name="Shape 30"/>
          <p:cNvSpPr/>
          <p:nvPr/>
        </p:nvSpPr>
        <p:spPr>
          <a:xfrm>
            <a:off x="3291840" y="3703320"/>
            <a:ext cx="0" cy="1097280"/>
          </a:xfrm>
          <a:prstGeom prst="line">
            <a:avLst/>
          </a:prstGeom>
          <a:noFill/>
          <a:ln w="12700">
            <a:solidFill>
              <a:srgbClr val="141B4D"/>
            </a:solidFill>
            <a:prstDash val="solid"/>
          </a:ln>
        </p:spPr>
      </p:sp>
      <p:sp>
        <p:nvSpPr>
          <p:cNvPr id="33" name="Text 31"/>
          <p:cNvSpPr/>
          <p:nvPr/>
        </p:nvSpPr>
        <p:spPr>
          <a:xfrm>
            <a:off x="6080760" y="3657600"/>
            <a:ext cx="2788920" cy="548640"/>
          </a:xfrm>
          <a:prstGeom prst="rect">
            <a:avLst/>
          </a:prstGeom>
          <a:noFill/>
          <a:ln/>
        </p:spPr>
        <p:txBody>
          <a:bodyPr wrap="square" rtlCol="0" anchor="ctr"/>
          <a:lstStyle/>
          <a:p>
            <a:pPr algn="ctr" indent="0" marL="0">
              <a:buNone/>
            </a:pPr>
            <a:r>
              <a:rPr lang="en-US" sz="2600" b="1" dirty="0">
                <a:solidFill>
                  <a:srgbClr val="02C39A"/>
                </a:solidFill>
                <a:latin typeface="Cambria" pitchFamily="34" charset="0"/>
                <a:ea typeface="Cambria" pitchFamily="34" charset="-122"/>
                <a:cs typeface="Cambria" pitchFamily="34" charset="-120"/>
              </a:rPr>
              <a:t>20–30%</a:t>
            </a:r>
            <a:endParaRPr lang="en-US" sz="2600" dirty="0"/>
          </a:p>
        </p:txBody>
      </p:sp>
      <p:sp>
        <p:nvSpPr>
          <p:cNvPr id="34" name="Text 32"/>
          <p:cNvSpPr/>
          <p:nvPr/>
        </p:nvSpPr>
        <p:spPr>
          <a:xfrm>
            <a:off x="6217920" y="4224528"/>
            <a:ext cx="2514600" cy="594360"/>
          </a:xfrm>
          <a:prstGeom prst="rect">
            <a:avLst/>
          </a:prstGeom>
          <a:noFill/>
          <a:ln/>
        </p:spPr>
        <p:txBody>
          <a:bodyPr wrap="square" rtlCol="0" anchor="ctr"/>
          <a:lstStyle/>
          <a:p>
            <a:pPr algn="ctr" indent="0" marL="0">
              <a:lnSpc>
                <a:spcPct val="110000"/>
              </a:lnSpc>
              <a:buNone/>
            </a:pPr>
            <a:r>
              <a:rPr lang="en-US" sz="1000" dirty="0">
                <a:solidFill>
                  <a:srgbClr val="CADCFC"/>
                </a:solidFill>
                <a:latin typeface="Calibri" pitchFamily="34" charset="0"/>
                <a:ea typeface="Calibri" pitchFamily="34" charset="-122"/>
                <a:cs typeface="Calibri" pitchFamily="34" charset="-120"/>
              </a:rPr>
              <a:t>Operational efficiency gain</a:t>
            </a:r>
            <a:endParaRPr lang="en-US" sz="1000" dirty="0"/>
          </a:p>
        </p:txBody>
      </p:sp>
      <p:sp>
        <p:nvSpPr>
          <p:cNvPr id="35" name="Shape 33"/>
          <p:cNvSpPr/>
          <p:nvPr/>
        </p:nvSpPr>
        <p:spPr>
          <a:xfrm>
            <a:off x="6080760" y="3703320"/>
            <a:ext cx="0" cy="1097280"/>
          </a:xfrm>
          <a:prstGeom prst="line">
            <a:avLst/>
          </a:prstGeom>
          <a:noFill/>
          <a:ln w="12700">
            <a:solidFill>
              <a:srgbClr val="141B4D"/>
            </a:solidFill>
            <a:prstDash val="solid"/>
          </a:ln>
        </p:spPr>
      </p:sp>
      <p:sp>
        <p:nvSpPr>
          <p:cNvPr id="36" name="Text 34"/>
          <p:cNvSpPr/>
          <p:nvPr/>
        </p:nvSpPr>
        <p:spPr>
          <a:xfrm>
            <a:off x="8869680" y="3657600"/>
            <a:ext cx="2788920" cy="548640"/>
          </a:xfrm>
          <a:prstGeom prst="rect">
            <a:avLst/>
          </a:prstGeom>
          <a:noFill/>
          <a:ln/>
        </p:spPr>
        <p:txBody>
          <a:bodyPr wrap="square" rtlCol="0" anchor="ctr"/>
          <a:lstStyle/>
          <a:p>
            <a:pPr algn="ctr" indent="0" marL="0">
              <a:buNone/>
            </a:pPr>
            <a:r>
              <a:rPr lang="en-US" sz="2600" b="1" dirty="0">
                <a:solidFill>
                  <a:srgbClr val="02C39A"/>
                </a:solidFill>
                <a:latin typeface="Cambria" pitchFamily="34" charset="0"/>
                <a:ea typeface="Cambria" pitchFamily="34" charset="-122"/>
                <a:cs typeface="Cambria" pitchFamily="34" charset="-120"/>
              </a:rPr>
              <a:t>313%</a:t>
            </a:r>
            <a:endParaRPr lang="en-US" sz="2600" dirty="0"/>
          </a:p>
        </p:txBody>
      </p:sp>
      <p:sp>
        <p:nvSpPr>
          <p:cNvPr id="37" name="Text 35"/>
          <p:cNvSpPr/>
          <p:nvPr/>
        </p:nvSpPr>
        <p:spPr>
          <a:xfrm>
            <a:off x="9006840" y="4224528"/>
            <a:ext cx="2514600" cy="594360"/>
          </a:xfrm>
          <a:prstGeom prst="rect">
            <a:avLst/>
          </a:prstGeom>
          <a:noFill/>
          <a:ln/>
        </p:spPr>
        <p:txBody>
          <a:bodyPr wrap="square" rtlCol="0" anchor="ctr"/>
          <a:lstStyle/>
          <a:p>
            <a:pPr algn="ctr" indent="0" marL="0">
              <a:lnSpc>
                <a:spcPct val="110000"/>
              </a:lnSpc>
              <a:buNone/>
            </a:pPr>
            <a:r>
              <a:rPr lang="en-US" sz="1000" dirty="0">
                <a:solidFill>
                  <a:srgbClr val="CADCFC"/>
                </a:solidFill>
                <a:latin typeface="Calibri" pitchFamily="34" charset="0"/>
                <a:ea typeface="Calibri" pitchFamily="34" charset="-122"/>
                <a:cs typeface="Calibri" pitchFamily="34" charset="-120"/>
              </a:rPr>
              <a:t>3-yr ROI (Forrester TEI, comparable overlay deployment)</a:t>
            </a:r>
            <a:endParaRPr lang="en-US" sz="1000" dirty="0"/>
          </a:p>
        </p:txBody>
      </p:sp>
      <p:sp>
        <p:nvSpPr>
          <p:cNvPr id="38" name="Shape 36"/>
          <p:cNvSpPr/>
          <p:nvPr/>
        </p:nvSpPr>
        <p:spPr>
          <a:xfrm>
            <a:off x="8869680" y="3703320"/>
            <a:ext cx="0" cy="1097280"/>
          </a:xfrm>
          <a:prstGeom prst="line">
            <a:avLst/>
          </a:prstGeom>
          <a:noFill/>
          <a:ln w="12700">
            <a:solidFill>
              <a:srgbClr val="141B4D"/>
            </a:solidFill>
            <a:prstDash val="solid"/>
          </a:ln>
        </p:spPr>
      </p:sp>
      <p:sp>
        <p:nvSpPr>
          <p:cNvPr id="39" name="Text 37"/>
          <p:cNvSpPr/>
          <p:nvPr/>
        </p:nvSpPr>
        <p:spPr>
          <a:xfrm>
            <a:off x="502920" y="5166360"/>
            <a:ext cx="11155680" cy="777240"/>
          </a:xfrm>
          <a:prstGeom prst="rect">
            <a:avLst/>
          </a:prstGeom>
          <a:noFill/>
          <a:ln/>
        </p:spPr>
        <p:txBody>
          <a:bodyPr wrap="square" rtlCol="0" anchor="t"/>
          <a:lstStyle/>
          <a:p>
            <a:pPr indent="0" marL="0">
              <a:lnSpc>
                <a:spcPct val="120000"/>
              </a:lnSpc>
              <a:buNone/>
            </a:pPr>
            <a:r>
              <a:rPr lang="en-US" sz="1200" b="1" dirty="0">
                <a:solidFill>
                  <a:srgbClr val="1E2761"/>
                </a:solidFill>
                <a:latin typeface="Calibri" pitchFamily="34" charset="0"/>
                <a:ea typeface="Calibri" pitchFamily="34" charset="-122"/>
                <a:cs typeface="Calibri" pitchFamily="34" charset="-120"/>
              </a:rPr>
              <a:t>Executive recommendation:  </a:t>
            </a:r>
            <a:pPr indent="0" marL="0">
              <a:lnSpc>
                <a:spcPct val="120000"/>
              </a:lnSpc>
              <a:buNone/>
            </a:pPr>
            <a:r>
              <a:rPr lang="en-US" sz="1200" dirty="0">
                <a:solidFill>
                  <a:srgbClr val="6B7684"/>
                </a:solidFill>
                <a:latin typeface="Calibri" pitchFamily="34" charset="0"/>
                <a:ea typeface="Calibri" pitchFamily="34" charset="-122"/>
                <a:cs typeface="Calibri" pitchFamily="34" charset="-120"/>
              </a:rPr>
              <a:t>Deploy an AI correlation and automation layer over the current toolchain, phased from assistive AI (low risk) to controlled autonomous operations (governed), starting with Incident Triage, Service Desk and Platform Operations.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CURRENT STATE ASSESSMENT</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A Reactive, Manually-Correlated Operating Model</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2 · CURRENT STATE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3 / 33</a:t>
            </a:r>
            <a:endParaRPr lang="en-US" sz="850" dirty="0"/>
          </a:p>
        </p:txBody>
      </p:sp>
      <p:sp>
        <p:nvSpPr>
          <p:cNvPr id="7" name="Shape 5"/>
          <p:cNvSpPr/>
          <p:nvPr/>
        </p:nvSpPr>
        <p:spPr>
          <a:xfrm>
            <a:off x="502920" y="1691640"/>
            <a:ext cx="5577840" cy="4206240"/>
          </a:xfrm>
          <a:prstGeom prst="roundRect">
            <a:avLst>
              <a:gd name="adj" fmla="val 1739"/>
            </a:avLst>
          </a:prstGeom>
          <a:solidFill>
            <a:srgbClr val="EEF1F4"/>
          </a:solidFill>
          <a:ln/>
        </p:spPr>
      </p:sp>
      <p:sp>
        <p:nvSpPr>
          <p:cNvPr id="8" name="Text 6"/>
          <p:cNvSpPr/>
          <p:nvPr/>
        </p:nvSpPr>
        <p:spPr>
          <a:xfrm>
            <a:off x="777240" y="1874520"/>
            <a:ext cx="5120640" cy="365760"/>
          </a:xfrm>
          <a:prstGeom prst="rect">
            <a:avLst/>
          </a:prstGeom>
          <a:noFill/>
          <a:ln/>
        </p:spPr>
        <p:txBody>
          <a:bodyPr wrap="square" rtlCol="0" anchor="ctr"/>
          <a:lstStyle/>
          <a:p>
            <a:pPr indent="0" marL="0">
              <a:buNone/>
            </a:pPr>
            <a:r>
              <a:rPr lang="en-US" sz="1500" b="1" dirty="0">
                <a:solidFill>
                  <a:srgbClr val="232B3A"/>
                </a:solidFill>
                <a:latin typeface="Cambria" pitchFamily="34" charset="0"/>
                <a:ea typeface="Cambria" pitchFamily="34" charset="-122"/>
                <a:cs typeface="Cambria" pitchFamily="34" charset="-120"/>
              </a:rPr>
              <a:t>Operational Reality Today</a:t>
            </a:r>
            <a:endParaRPr lang="en-US" sz="1500" dirty="0"/>
          </a:p>
        </p:txBody>
      </p:sp>
      <p:sp>
        <p:nvSpPr>
          <p:cNvPr id="9" name="Shape 7"/>
          <p:cNvSpPr/>
          <p:nvPr/>
        </p:nvSpPr>
        <p:spPr>
          <a:xfrm>
            <a:off x="777240" y="2359152"/>
            <a:ext cx="128016" cy="128016"/>
          </a:xfrm>
          <a:prstGeom prst="ellipse">
            <a:avLst/>
          </a:prstGeom>
          <a:solidFill>
            <a:srgbClr val="5B6B7C"/>
          </a:solidFill>
          <a:ln/>
        </p:spPr>
      </p:sp>
      <p:sp>
        <p:nvSpPr>
          <p:cNvPr id="10" name="Text 8"/>
          <p:cNvSpPr/>
          <p:nvPr/>
        </p:nvSpPr>
        <p:spPr>
          <a:xfrm>
            <a:off x="1005840" y="2258568"/>
            <a:ext cx="4937760" cy="502920"/>
          </a:xfrm>
          <a:prstGeom prst="rect">
            <a:avLst/>
          </a:prstGeom>
          <a:noFill/>
          <a:ln/>
        </p:spPr>
        <p:txBody>
          <a:bodyPr wrap="square" rtlCol="0" anchor="t"/>
          <a:lstStyle/>
          <a:p>
            <a:pPr indent="0" marL="0">
              <a:lnSpc>
                <a:spcPct val="105000"/>
              </a:lnSpc>
              <a:buNone/>
            </a:pPr>
            <a:r>
              <a:rPr lang="en-US" sz="1100" dirty="0">
                <a:solidFill>
                  <a:srgbClr val="232B3A"/>
                </a:solidFill>
                <a:latin typeface="Calibri" pitchFamily="34" charset="0"/>
                <a:ea typeface="Calibri" pitchFamily="34" charset="-122"/>
                <a:cs typeface="Calibri" pitchFamily="34" charset="-120"/>
              </a:rPr>
              <a:t>Reactive support model — engineers respond after alerts fire, rarely before</a:t>
            </a:r>
            <a:endParaRPr lang="en-US" sz="1100" dirty="0"/>
          </a:p>
        </p:txBody>
      </p:sp>
      <p:sp>
        <p:nvSpPr>
          <p:cNvPr id="11" name="Shape 9"/>
          <p:cNvSpPr/>
          <p:nvPr/>
        </p:nvSpPr>
        <p:spPr>
          <a:xfrm>
            <a:off x="777240" y="2926080"/>
            <a:ext cx="128016" cy="128016"/>
          </a:xfrm>
          <a:prstGeom prst="ellipse">
            <a:avLst/>
          </a:prstGeom>
          <a:solidFill>
            <a:srgbClr val="5B6B7C"/>
          </a:solidFill>
          <a:ln/>
        </p:spPr>
      </p:sp>
      <p:sp>
        <p:nvSpPr>
          <p:cNvPr id="12" name="Text 10"/>
          <p:cNvSpPr/>
          <p:nvPr/>
        </p:nvSpPr>
        <p:spPr>
          <a:xfrm>
            <a:off x="1005840" y="2825496"/>
            <a:ext cx="4937760" cy="502920"/>
          </a:xfrm>
          <a:prstGeom prst="rect">
            <a:avLst/>
          </a:prstGeom>
          <a:noFill/>
          <a:ln/>
        </p:spPr>
        <p:txBody>
          <a:bodyPr wrap="square" rtlCol="0" anchor="t"/>
          <a:lstStyle/>
          <a:p>
            <a:pPr indent="0" marL="0">
              <a:lnSpc>
                <a:spcPct val="105000"/>
              </a:lnSpc>
              <a:buNone/>
            </a:pPr>
            <a:r>
              <a:rPr lang="en-US" sz="1100" dirty="0">
                <a:solidFill>
                  <a:srgbClr val="232B3A"/>
                </a:solidFill>
                <a:latin typeface="Calibri" pitchFamily="34" charset="0"/>
                <a:ea typeface="Calibri" pitchFamily="34" charset="-122"/>
                <a:cs typeface="Calibri" pitchFamily="34" charset="-120"/>
              </a:rPr>
              <a:t>9+ monitoring &amp; logging consoles touched per major incident</a:t>
            </a:r>
            <a:endParaRPr lang="en-US" sz="1100" dirty="0"/>
          </a:p>
        </p:txBody>
      </p:sp>
      <p:sp>
        <p:nvSpPr>
          <p:cNvPr id="13" name="Shape 11"/>
          <p:cNvSpPr/>
          <p:nvPr/>
        </p:nvSpPr>
        <p:spPr>
          <a:xfrm>
            <a:off x="777240" y="3493008"/>
            <a:ext cx="128016" cy="128016"/>
          </a:xfrm>
          <a:prstGeom prst="ellipse">
            <a:avLst/>
          </a:prstGeom>
          <a:solidFill>
            <a:srgbClr val="5B6B7C"/>
          </a:solidFill>
          <a:ln/>
        </p:spPr>
      </p:sp>
      <p:sp>
        <p:nvSpPr>
          <p:cNvPr id="14" name="Text 12"/>
          <p:cNvSpPr/>
          <p:nvPr/>
        </p:nvSpPr>
        <p:spPr>
          <a:xfrm>
            <a:off x="1005840" y="3392424"/>
            <a:ext cx="4937760" cy="502920"/>
          </a:xfrm>
          <a:prstGeom prst="rect">
            <a:avLst/>
          </a:prstGeom>
          <a:noFill/>
          <a:ln/>
        </p:spPr>
        <p:txBody>
          <a:bodyPr wrap="square" rtlCol="0" anchor="t"/>
          <a:lstStyle/>
          <a:p>
            <a:pPr indent="0" marL="0">
              <a:lnSpc>
                <a:spcPct val="105000"/>
              </a:lnSpc>
              <a:buNone/>
            </a:pPr>
            <a:r>
              <a:rPr lang="en-US" sz="1100" dirty="0">
                <a:solidFill>
                  <a:srgbClr val="232B3A"/>
                </a:solidFill>
                <a:latin typeface="Calibri" pitchFamily="34" charset="0"/>
                <a:ea typeface="Calibri" pitchFamily="34" charset="-122"/>
                <a:cs typeface="Calibri" pitchFamily="34" charset="-120"/>
              </a:rPr>
              <a:t>Manual ticket triage, routing and escalation across L1/L2/L3</a:t>
            </a:r>
            <a:endParaRPr lang="en-US" sz="1100" dirty="0"/>
          </a:p>
        </p:txBody>
      </p:sp>
      <p:sp>
        <p:nvSpPr>
          <p:cNvPr id="15" name="Shape 13"/>
          <p:cNvSpPr/>
          <p:nvPr/>
        </p:nvSpPr>
        <p:spPr>
          <a:xfrm>
            <a:off x="777240" y="4059936"/>
            <a:ext cx="128016" cy="128016"/>
          </a:xfrm>
          <a:prstGeom prst="ellipse">
            <a:avLst/>
          </a:prstGeom>
          <a:solidFill>
            <a:srgbClr val="5B6B7C"/>
          </a:solidFill>
          <a:ln/>
        </p:spPr>
      </p:sp>
      <p:sp>
        <p:nvSpPr>
          <p:cNvPr id="16" name="Text 14"/>
          <p:cNvSpPr/>
          <p:nvPr/>
        </p:nvSpPr>
        <p:spPr>
          <a:xfrm>
            <a:off x="1005840" y="3959352"/>
            <a:ext cx="4937760" cy="502920"/>
          </a:xfrm>
          <a:prstGeom prst="rect">
            <a:avLst/>
          </a:prstGeom>
          <a:noFill/>
          <a:ln/>
        </p:spPr>
        <p:txBody>
          <a:bodyPr wrap="square" rtlCol="0" anchor="t"/>
          <a:lstStyle/>
          <a:p>
            <a:pPr indent="0" marL="0">
              <a:lnSpc>
                <a:spcPct val="105000"/>
              </a:lnSpc>
              <a:buNone/>
            </a:pPr>
            <a:r>
              <a:rPr lang="en-US" sz="1100" dirty="0">
                <a:solidFill>
                  <a:srgbClr val="232B3A"/>
                </a:solidFill>
                <a:latin typeface="Calibri" pitchFamily="34" charset="0"/>
                <a:ea typeface="Calibri" pitchFamily="34" charset="-122"/>
                <a:cs typeface="Calibri" pitchFamily="34" charset="-120"/>
              </a:rPr>
              <a:t>Knowledge held in individual experience, not systematized</a:t>
            </a:r>
            <a:endParaRPr lang="en-US" sz="1100" dirty="0"/>
          </a:p>
        </p:txBody>
      </p:sp>
      <p:sp>
        <p:nvSpPr>
          <p:cNvPr id="17" name="Shape 15"/>
          <p:cNvSpPr/>
          <p:nvPr/>
        </p:nvSpPr>
        <p:spPr>
          <a:xfrm>
            <a:off x="777240" y="4626864"/>
            <a:ext cx="128016" cy="128016"/>
          </a:xfrm>
          <a:prstGeom prst="ellipse">
            <a:avLst/>
          </a:prstGeom>
          <a:solidFill>
            <a:srgbClr val="5B6B7C"/>
          </a:solidFill>
          <a:ln/>
        </p:spPr>
      </p:sp>
      <p:sp>
        <p:nvSpPr>
          <p:cNvPr id="18" name="Text 16"/>
          <p:cNvSpPr/>
          <p:nvPr/>
        </p:nvSpPr>
        <p:spPr>
          <a:xfrm>
            <a:off x="1005840" y="4526280"/>
            <a:ext cx="4937760" cy="502920"/>
          </a:xfrm>
          <a:prstGeom prst="rect">
            <a:avLst/>
          </a:prstGeom>
          <a:noFill/>
          <a:ln/>
        </p:spPr>
        <p:txBody>
          <a:bodyPr wrap="square" rtlCol="0" anchor="t"/>
          <a:lstStyle/>
          <a:p>
            <a:pPr indent="0" marL="0">
              <a:lnSpc>
                <a:spcPct val="105000"/>
              </a:lnSpc>
              <a:buNone/>
            </a:pPr>
            <a:r>
              <a:rPr lang="en-US" sz="1100" dirty="0">
                <a:solidFill>
                  <a:srgbClr val="232B3A"/>
                </a:solidFill>
                <a:latin typeface="Calibri" pitchFamily="34" charset="0"/>
                <a:ea typeface="Calibri" pitchFamily="34" charset="-122"/>
                <a:cs typeface="Calibri" pitchFamily="34" charset="-120"/>
              </a:rPr>
              <a:t>Duplicate alerts across SolarWinds, Splunk, Instana for the same root cause</a:t>
            </a:r>
            <a:endParaRPr lang="en-US" sz="1100" dirty="0"/>
          </a:p>
        </p:txBody>
      </p:sp>
      <p:sp>
        <p:nvSpPr>
          <p:cNvPr id="19" name="Shape 17"/>
          <p:cNvSpPr/>
          <p:nvPr/>
        </p:nvSpPr>
        <p:spPr>
          <a:xfrm>
            <a:off x="777240" y="5193792"/>
            <a:ext cx="128016" cy="128016"/>
          </a:xfrm>
          <a:prstGeom prst="ellipse">
            <a:avLst/>
          </a:prstGeom>
          <a:solidFill>
            <a:srgbClr val="5B6B7C"/>
          </a:solidFill>
          <a:ln/>
        </p:spPr>
      </p:sp>
      <p:sp>
        <p:nvSpPr>
          <p:cNvPr id="20" name="Text 18"/>
          <p:cNvSpPr/>
          <p:nvPr/>
        </p:nvSpPr>
        <p:spPr>
          <a:xfrm>
            <a:off x="1005840" y="5093208"/>
            <a:ext cx="4937760" cy="502920"/>
          </a:xfrm>
          <a:prstGeom prst="rect">
            <a:avLst/>
          </a:prstGeom>
          <a:noFill/>
          <a:ln/>
        </p:spPr>
        <p:txBody>
          <a:bodyPr wrap="square" rtlCol="0" anchor="t"/>
          <a:lstStyle/>
          <a:p>
            <a:pPr indent="0" marL="0">
              <a:lnSpc>
                <a:spcPct val="105000"/>
              </a:lnSpc>
              <a:buNone/>
            </a:pPr>
            <a:r>
              <a:rPr lang="en-US" sz="1100" dirty="0">
                <a:solidFill>
                  <a:srgbClr val="232B3A"/>
                </a:solidFill>
                <a:latin typeface="Calibri" pitchFamily="34" charset="0"/>
                <a:ea typeface="Calibri" pitchFamily="34" charset="-122"/>
                <a:cs typeface="Calibri" pitchFamily="34" charset="-120"/>
              </a:rPr>
              <a:t>High MTTR driven by manual cross-tool correlation (avg. ~90 min per major incident)</a:t>
            </a:r>
            <a:endParaRPr lang="en-US" sz="1100" dirty="0"/>
          </a:p>
        </p:txBody>
      </p:sp>
      <p:sp>
        <p:nvSpPr>
          <p:cNvPr id="21" name="Shape 19"/>
          <p:cNvSpPr/>
          <p:nvPr/>
        </p:nvSpPr>
        <p:spPr>
          <a:xfrm>
            <a:off x="6263640" y="1691640"/>
            <a:ext cx="5422392" cy="4206240"/>
          </a:xfrm>
          <a:prstGeom prst="roundRect">
            <a:avLst>
              <a:gd name="adj" fmla="val 1739"/>
            </a:avLst>
          </a:prstGeom>
          <a:solidFill>
            <a:srgbClr val="1E2761"/>
          </a:solidFill>
          <a:ln/>
        </p:spPr>
      </p:sp>
      <p:sp>
        <p:nvSpPr>
          <p:cNvPr id="22" name="Text 20"/>
          <p:cNvSpPr/>
          <p:nvPr/>
        </p:nvSpPr>
        <p:spPr>
          <a:xfrm>
            <a:off x="6537960" y="1874520"/>
            <a:ext cx="493776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Operational Impact</a:t>
            </a:r>
            <a:endParaRPr lang="en-US" sz="1500" dirty="0"/>
          </a:p>
        </p:txBody>
      </p:sp>
      <p:sp>
        <p:nvSpPr>
          <p:cNvPr id="23" name="Shape 21"/>
          <p:cNvSpPr/>
          <p:nvPr/>
        </p:nvSpPr>
        <p:spPr>
          <a:xfrm>
            <a:off x="6537960" y="2377440"/>
            <a:ext cx="82296" cy="502920"/>
          </a:xfrm>
          <a:prstGeom prst="roundRect">
            <a:avLst/>
          </a:prstGeom>
          <a:solidFill>
            <a:srgbClr val="02C39A"/>
          </a:solidFill>
          <a:ln/>
        </p:spPr>
      </p:sp>
      <p:sp>
        <p:nvSpPr>
          <p:cNvPr id="24" name="Text 22"/>
          <p:cNvSpPr/>
          <p:nvPr/>
        </p:nvSpPr>
        <p:spPr>
          <a:xfrm>
            <a:off x="6766560" y="2340864"/>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Higher MTTR</a:t>
            </a:r>
            <a:endParaRPr lang="en-US" sz="1200" dirty="0"/>
          </a:p>
        </p:txBody>
      </p:sp>
      <p:sp>
        <p:nvSpPr>
          <p:cNvPr id="25" name="Text 23"/>
          <p:cNvSpPr/>
          <p:nvPr/>
        </p:nvSpPr>
        <p:spPr>
          <a:xfrm>
            <a:off x="6766560" y="2596896"/>
            <a:ext cx="4800600" cy="365760"/>
          </a:xfrm>
          <a:prstGeom prst="rect">
            <a:avLst/>
          </a:prstGeom>
          <a:noFill/>
          <a:ln/>
        </p:spPr>
        <p:txBody>
          <a:bodyPr wrap="square" rtlCol="0" anchor="ctr"/>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Manual evidence-gathering across tools before diagnosis even begins</a:t>
            </a:r>
            <a:endParaRPr lang="en-US" sz="1000" dirty="0"/>
          </a:p>
        </p:txBody>
      </p:sp>
      <p:sp>
        <p:nvSpPr>
          <p:cNvPr id="26" name="Shape 24"/>
          <p:cNvSpPr/>
          <p:nvPr/>
        </p:nvSpPr>
        <p:spPr>
          <a:xfrm>
            <a:off x="6537960" y="3035808"/>
            <a:ext cx="82296" cy="502920"/>
          </a:xfrm>
          <a:prstGeom prst="roundRect">
            <a:avLst/>
          </a:prstGeom>
          <a:solidFill>
            <a:srgbClr val="02C39A"/>
          </a:solidFill>
          <a:ln/>
        </p:spPr>
      </p:sp>
      <p:sp>
        <p:nvSpPr>
          <p:cNvPr id="27" name="Text 25"/>
          <p:cNvSpPr/>
          <p:nvPr/>
        </p:nvSpPr>
        <p:spPr>
          <a:xfrm>
            <a:off x="6766560" y="2999232"/>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Lower alert fidelity</a:t>
            </a:r>
            <a:endParaRPr lang="en-US" sz="1200" dirty="0"/>
          </a:p>
        </p:txBody>
      </p:sp>
      <p:sp>
        <p:nvSpPr>
          <p:cNvPr id="28" name="Text 26"/>
          <p:cNvSpPr/>
          <p:nvPr/>
        </p:nvSpPr>
        <p:spPr>
          <a:xfrm>
            <a:off x="6766560" y="3255264"/>
            <a:ext cx="4800600" cy="365760"/>
          </a:xfrm>
          <a:prstGeom prst="rect">
            <a:avLst/>
          </a:prstGeom>
          <a:noFill/>
          <a:ln/>
        </p:spPr>
        <p:txBody>
          <a:bodyPr wrap="square" rtlCol="0" anchor="ctr"/>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Duplicate/noisy alerts erode trust and slow response</a:t>
            </a:r>
            <a:endParaRPr lang="en-US" sz="1000" dirty="0"/>
          </a:p>
        </p:txBody>
      </p:sp>
      <p:sp>
        <p:nvSpPr>
          <p:cNvPr id="29" name="Shape 27"/>
          <p:cNvSpPr/>
          <p:nvPr/>
        </p:nvSpPr>
        <p:spPr>
          <a:xfrm>
            <a:off x="6537960" y="3694176"/>
            <a:ext cx="82296" cy="502920"/>
          </a:xfrm>
          <a:prstGeom prst="roundRect">
            <a:avLst/>
          </a:prstGeom>
          <a:solidFill>
            <a:srgbClr val="02C39A"/>
          </a:solidFill>
          <a:ln/>
        </p:spPr>
      </p:sp>
      <p:sp>
        <p:nvSpPr>
          <p:cNvPr id="30" name="Text 28"/>
          <p:cNvSpPr/>
          <p:nvPr/>
        </p:nvSpPr>
        <p:spPr>
          <a:xfrm>
            <a:off x="6766560" y="3657600"/>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Escalation-heavy</a:t>
            </a:r>
            <a:endParaRPr lang="en-US" sz="1200" dirty="0"/>
          </a:p>
        </p:txBody>
      </p:sp>
      <p:sp>
        <p:nvSpPr>
          <p:cNvPr id="31" name="Text 29"/>
          <p:cNvSpPr/>
          <p:nvPr/>
        </p:nvSpPr>
        <p:spPr>
          <a:xfrm>
            <a:off x="6766560" y="3913632"/>
            <a:ext cx="4800600" cy="365760"/>
          </a:xfrm>
          <a:prstGeom prst="rect">
            <a:avLst/>
          </a:prstGeom>
          <a:noFill/>
          <a:ln/>
        </p:spPr>
        <p:txBody>
          <a:bodyPr wrap="square" rtlCol="0" anchor="ctr"/>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Senior engineers pulled into routine triage work</a:t>
            </a:r>
            <a:endParaRPr lang="en-US" sz="1000" dirty="0"/>
          </a:p>
        </p:txBody>
      </p:sp>
      <p:sp>
        <p:nvSpPr>
          <p:cNvPr id="32" name="Shape 30"/>
          <p:cNvSpPr/>
          <p:nvPr/>
        </p:nvSpPr>
        <p:spPr>
          <a:xfrm>
            <a:off x="6537960" y="4352544"/>
            <a:ext cx="82296" cy="502920"/>
          </a:xfrm>
          <a:prstGeom prst="roundRect">
            <a:avLst/>
          </a:prstGeom>
          <a:solidFill>
            <a:srgbClr val="02C39A"/>
          </a:solidFill>
          <a:ln/>
        </p:spPr>
      </p:sp>
      <p:sp>
        <p:nvSpPr>
          <p:cNvPr id="33" name="Text 31"/>
          <p:cNvSpPr/>
          <p:nvPr/>
        </p:nvSpPr>
        <p:spPr>
          <a:xfrm>
            <a:off x="6766560" y="4315968"/>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Limited automation</a:t>
            </a:r>
            <a:endParaRPr lang="en-US" sz="1200" dirty="0"/>
          </a:p>
        </p:txBody>
      </p:sp>
      <p:sp>
        <p:nvSpPr>
          <p:cNvPr id="34" name="Text 32"/>
          <p:cNvSpPr/>
          <p:nvPr/>
        </p:nvSpPr>
        <p:spPr>
          <a:xfrm>
            <a:off x="6766560" y="4572000"/>
            <a:ext cx="4800600" cy="365760"/>
          </a:xfrm>
          <a:prstGeom prst="rect">
            <a:avLst/>
          </a:prstGeom>
          <a:noFill/>
          <a:ln/>
        </p:spPr>
        <p:txBody>
          <a:bodyPr wrap="square" rtlCol="0" anchor="ctr"/>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Fragmented data model blocks safe closed-loop remediation</a:t>
            </a:r>
            <a:endParaRPr lang="en-US" sz="1000" dirty="0"/>
          </a:p>
        </p:txBody>
      </p:sp>
      <p:sp>
        <p:nvSpPr>
          <p:cNvPr id="35" name="Shape 33"/>
          <p:cNvSpPr/>
          <p:nvPr/>
        </p:nvSpPr>
        <p:spPr>
          <a:xfrm>
            <a:off x="6537960" y="5010912"/>
            <a:ext cx="82296" cy="502920"/>
          </a:xfrm>
          <a:prstGeom prst="roundRect">
            <a:avLst/>
          </a:prstGeom>
          <a:solidFill>
            <a:srgbClr val="02C39A"/>
          </a:solidFill>
          <a:ln/>
        </p:spPr>
      </p:sp>
      <p:sp>
        <p:nvSpPr>
          <p:cNvPr id="36" name="Text 34"/>
          <p:cNvSpPr/>
          <p:nvPr/>
        </p:nvSpPr>
        <p:spPr>
          <a:xfrm>
            <a:off x="6766560" y="4974336"/>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Rising support cost</a:t>
            </a:r>
            <a:endParaRPr lang="en-US" sz="1200" dirty="0"/>
          </a:p>
        </p:txBody>
      </p:sp>
      <p:sp>
        <p:nvSpPr>
          <p:cNvPr id="37" name="Text 35"/>
          <p:cNvSpPr/>
          <p:nvPr/>
        </p:nvSpPr>
        <p:spPr>
          <a:xfrm>
            <a:off x="6766560" y="5230368"/>
            <a:ext cx="4800600" cy="365760"/>
          </a:xfrm>
          <a:prstGeom prst="rect">
            <a:avLst/>
          </a:prstGeom>
          <a:noFill/>
          <a:ln/>
        </p:spPr>
        <p:txBody>
          <a:bodyPr wrap="square" rtlCol="0" anchor="ctr"/>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Headcount scales with ticket volume, not with efficiency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CURRENT STATE ASSESSMENT</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IT Operations Maturity — Where We Stand Today</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2 · CURRENT STATE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4 / 33</a:t>
            </a:r>
            <a:endParaRPr lang="en-US" sz="850" dirty="0"/>
          </a:p>
        </p:txBody>
      </p:sp>
      <p:sp>
        <p:nvSpPr>
          <p:cNvPr id="7" name="Shape 5"/>
          <p:cNvSpPr/>
          <p:nvPr/>
        </p:nvSpPr>
        <p:spPr>
          <a:xfrm>
            <a:off x="502920" y="2103120"/>
            <a:ext cx="2048256" cy="1554480"/>
          </a:xfrm>
          <a:prstGeom prst="roundRect">
            <a:avLst>
              <a:gd name="adj" fmla="val 4706"/>
            </a:avLst>
          </a:prstGeom>
          <a:solidFill>
            <a:srgbClr val="EEF1F4"/>
          </a:solidFill>
          <a:ln/>
        </p:spPr>
      </p:sp>
      <p:sp>
        <p:nvSpPr>
          <p:cNvPr id="8" name="Text 6"/>
          <p:cNvSpPr/>
          <p:nvPr/>
        </p:nvSpPr>
        <p:spPr>
          <a:xfrm>
            <a:off x="502920" y="2267712"/>
            <a:ext cx="2048256" cy="365760"/>
          </a:xfrm>
          <a:prstGeom prst="rect">
            <a:avLst/>
          </a:prstGeom>
          <a:noFill/>
          <a:ln/>
        </p:spPr>
        <p:txBody>
          <a:bodyPr wrap="square" rtlCol="0" anchor="ctr"/>
          <a:lstStyle/>
          <a:p>
            <a:pPr algn="ctr" indent="0" marL="0">
              <a:buNone/>
            </a:pPr>
            <a:r>
              <a:rPr lang="en-US" sz="1400" b="1" dirty="0">
                <a:solidFill>
                  <a:srgbClr val="232B3A"/>
                </a:solidFill>
                <a:latin typeface="Cambria" pitchFamily="34" charset="0"/>
                <a:ea typeface="Cambria" pitchFamily="34" charset="-122"/>
                <a:cs typeface="Cambria" pitchFamily="34" charset="-120"/>
              </a:rPr>
              <a:t>Reactive</a:t>
            </a:r>
            <a:endParaRPr lang="en-US" sz="1400" dirty="0"/>
          </a:p>
        </p:txBody>
      </p:sp>
      <p:sp>
        <p:nvSpPr>
          <p:cNvPr id="9" name="Text 7"/>
          <p:cNvSpPr/>
          <p:nvPr/>
        </p:nvSpPr>
        <p:spPr>
          <a:xfrm>
            <a:off x="612648" y="2670048"/>
            <a:ext cx="1828800" cy="914400"/>
          </a:xfrm>
          <a:prstGeom prst="rect">
            <a:avLst/>
          </a:prstGeom>
          <a:noFill/>
          <a:ln/>
        </p:spPr>
        <p:txBody>
          <a:bodyPr wrap="square" rtlCol="0" anchor="ctr"/>
          <a:lstStyle/>
          <a:p>
            <a:pPr algn="ctr" indent="0" marL="0">
              <a:lnSpc>
                <a:spcPct val="110000"/>
              </a:lnSpc>
              <a:buNone/>
            </a:pPr>
            <a:r>
              <a:rPr lang="en-US" sz="950" dirty="0">
                <a:solidFill>
                  <a:srgbClr val="6B7684"/>
                </a:solidFill>
                <a:latin typeface="Calibri" pitchFamily="34" charset="0"/>
                <a:ea typeface="Calibri" pitchFamily="34" charset="-122"/>
                <a:cs typeface="Calibri" pitchFamily="34" charset="-120"/>
              </a:rPr>
              <a:t>Manual detection after impact; siloed tools</a:t>
            </a:r>
            <a:endParaRPr lang="en-US" sz="950" dirty="0"/>
          </a:p>
        </p:txBody>
      </p:sp>
      <p:sp>
        <p:nvSpPr>
          <p:cNvPr id="10" name="Shape 8"/>
          <p:cNvSpPr/>
          <p:nvPr/>
        </p:nvSpPr>
        <p:spPr>
          <a:xfrm>
            <a:off x="2569464" y="2761488"/>
            <a:ext cx="192024" cy="237744"/>
          </a:xfrm>
          <a:prstGeom prst="rightArrow">
            <a:avLst/>
          </a:prstGeom>
          <a:solidFill>
            <a:srgbClr val="5B6B7C"/>
          </a:solidFill>
          <a:ln/>
        </p:spPr>
      </p:sp>
      <p:sp>
        <p:nvSpPr>
          <p:cNvPr id="11" name="Shape 9"/>
          <p:cNvSpPr/>
          <p:nvPr/>
        </p:nvSpPr>
        <p:spPr>
          <a:xfrm>
            <a:off x="2779776" y="2103120"/>
            <a:ext cx="2048256" cy="1554480"/>
          </a:xfrm>
          <a:prstGeom prst="roundRect">
            <a:avLst>
              <a:gd name="adj" fmla="val 4706"/>
            </a:avLst>
          </a:prstGeom>
          <a:solidFill>
            <a:srgbClr val="1E2761"/>
          </a:solidFill>
          <a:ln/>
        </p:spPr>
      </p:sp>
      <p:sp>
        <p:nvSpPr>
          <p:cNvPr id="12" name="Text 10"/>
          <p:cNvSpPr/>
          <p:nvPr/>
        </p:nvSpPr>
        <p:spPr>
          <a:xfrm>
            <a:off x="2779776" y="2267712"/>
            <a:ext cx="2048256" cy="36576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Proactive</a:t>
            </a:r>
            <a:endParaRPr lang="en-US" sz="1400" dirty="0"/>
          </a:p>
        </p:txBody>
      </p:sp>
      <p:sp>
        <p:nvSpPr>
          <p:cNvPr id="13" name="Text 11"/>
          <p:cNvSpPr/>
          <p:nvPr/>
        </p:nvSpPr>
        <p:spPr>
          <a:xfrm>
            <a:off x="2889504" y="2670048"/>
            <a:ext cx="1828800" cy="914400"/>
          </a:xfrm>
          <a:prstGeom prst="rect">
            <a:avLst/>
          </a:prstGeom>
          <a:noFill/>
          <a:ln/>
        </p:spPr>
        <p:txBody>
          <a:bodyPr wrap="square" rtlCol="0" anchor="ctr"/>
          <a:lstStyle/>
          <a:p>
            <a:pPr algn="ctr" indent="0" marL="0">
              <a:lnSpc>
                <a:spcPct val="110000"/>
              </a:lnSpc>
              <a:buNone/>
            </a:pPr>
            <a:r>
              <a:rPr lang="en-US" sz="950" dirty="0">
                <a:solidFill>
                  <a:srgbClr val="CADCFC"/>
                </a:solidFill>
                <a:latin typeface="Calibri" pitchFamily="34" charset="0"/>
                <a:ea typeface="Calibri" pitchFamily="34" charset="-122"/>
                <a:cs typeface="Calibri" pitchFamily="34" charset="-120"/>
              </a:rPr>
              <a:t>Static thresholds &amp; runbooks; manual correlation</a:t>
            </a:r>
            <a:endParaRPr lang="en-US" sz="950" dirty="0"/>
          </a:p>
        </p:txBody>
      </p:sp>
      <p:sp>
        <p:nvSpPr>
          <p:cNvPr id="14" name="Shape 12"/>
          <p:cNvSpPr/>
          <p:nvPr/>
        </p:nvSpPr>
        <p:spPr>
          <a:xfrm>
            <a:off x="4846320" y="2761488"/>
            <a:ext cx="192024" cy="237744"/>
          </a:xfrm>
          <a:prstGeom prst="rightArrow">
            <a:avLst/>
          </a:prstGeom>
          <a:solidFill>
            <a:srgbClr val="5B6B7C"/>
          </a:solidFill>
          <a:ln/>
        </p:spPr>
      </p:sp>
      <p:sp>
        <p:nvSpPr>
          <p:cNvPr id="15" name="Text 13"/>
          <p:cNvSpPr/>
          <p:nvPr/>
        </p:nvSpPr>
        <p:spPr>
          <a:xfrm>
            <a:off x="2779776" y="1755648"/>
            <a:ext cx="2048256" cy="274320"/>
          </a:xfrm>
          <a:prstGeom prst="rect">
            <a:avLst/>
          </a:prstGeom>
          <a:noFill/>
          <a:ln/>
        </p:spPr>
        <p:txBody>
          <a:bodyPr wrap="square"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WE ARE HERE</a:t>
            </a:r>
            <a:endParaRPr lang="en-US" sz="1000" dirty="0"/>
          </a:p>
        </p:txBody>
      </p:sp>
      <p:sp>
        <p:nvSpPr>
          <p:cNvPr id="16" name="Shape 14"/>
          <p:cNvSpPr/>
          <p:nvPr/>
        </p:nvSpPr>
        <p:spPr>
          <a:xfrm>
            <a:off x="5056632" y="2103120"/>
            <a:ext cx="2048256" cy="1554480"/>
          </a:xfrm>
          <a:prstGeom prst="roundRect">
            <a:avLst>
              <a:gd name="adj" fmla="val 4706"/>
            </a:avLst>
          </a:prstGeom>
          <a:solidFill>
            <a:srgbClr val="EEF1F4"/>
          </a:solidFill>
          <a:ln/>
        </p:spPr>
      </p:sp>
      <p:sp>
        <p:nvSpPr>
          <p:cNvPr id="17" name="Text 15"/>
          <p:cNvSpPr/>
          <p:nvPr/>
        </p:nvSpPr>
        <p:spPr>
          <a:xfrm>
            <a:off x="5056632" y="2267712"/>
            <a:ext cx="2048256" cy="365760"/>
          </a:xfrm>
          <a:prstGeom prst="rect">
            <a:avLst/>
          </a:prstGeom>
          <a:noFill/>
          <a:ln/>
        </p:spPr>
        <p:txBody>
          <a:bodyPr wrap="square" rtlCol="0" anchor="ctr"/>
          <a:lstStyle/>
          <a:p>
            <a:pPr algn="ctr" indent="0" marL="0">
              <a:buNone/>
            </a:pPr>
            <a:r>
              <a:rPr lang="en-US" sz="1400" b="1" dirty="0">
                <a:solidFill>
                  <a:srgbClr val="232B3A"/>
                </a:solidFill>
                <a:latin typeface="Cambria" pitchFamily="34" charset="0"/>
                <a:ea typeface="Cambria" pitchFamily="34" charset="-122"/>
                <a:cs typeface="Cambria" pitchFamily="34" charset="-120"/>
              </a:rPr>
              <a:t>Assistive AI</a:t>
            </a:r>
            <a:endParaRPr lang="en-US" sz="1400" dirty="0"/>
          </a:p>
        </p:txBody>
      </p:sp>
      <p:sp>
        <p:nvSpPr>
          <p:cNvPr id="18" name="Text 16"/>
          <p:cNvSpPr/>
          <p:nvPr/>
        </p:nvSpPr>
        <p:spPr>
          <a:xfrm>
            <a:off x="5166360" y="2670048"/>
            <a:ext cx="1828800" cy="914400"/>
          </a:xfrm>
          <a:prstGeom prst="rect">
            <a:avLst/>
          </a:prstGeom>
          <a:noFill/>
          <a:ln/>
        </p:spPr>
        <p:txBody>
          <a:bodyPr wrap="square" rtlCol="0" anchor="ctr"/>
          <a:lstStyle/>
          <a:p>
            <a:pPr algn="ctr" indent="0" marL="0">
              <a:lnSpc>
                <a:spcPct val="110000"/>
              </a:lnSpc>
              <a:buNone/>
            </a:pPr>
            <a:r>
              <a:rPr lang="en-US" sz="950" dirty="0">
                <a:solidFill>
                  <a:srgbClr val="6B7684"/>
                </a:solidFill>
                <a:latin typeface="Calibri" pitchFamily="34" charset="0"/>
                <a:ea typeface="Calibri" pitchFamily="34" charset="-122"/>
                <a:cs typeface="Calibri" pitchFamily="34" charset="-120"/>
              </a:rPr>
              <a:t>AI summarizes, drafts, and recommends; human executes</a:t>
            </a:r>
            <a:endParaRPr lang="en-US" sz="950" dirty="0"/>
          </a:p>
        </p:txBody>
      </p:sp>
      <p:sp>
        <p:nvSpPr>
          <p:cNvPr id="19" name="Shape 17"/>
          <p:cNvSpPr/>
          <p:nvPr/>
        </p:nvSpPr>
        <p:spPr>
          <a:xfrm>
            <a:off x="7123176" y="2761488"/>
            <a:ext cx="192024" cy="237744"/>
          </a:xfrm>
          <a:prstGeom prst="rightArrow">
            <a:avLst/>
          </a:prstGeom>
          <a:solidFill>
            <a:srgbClr val="5B6B7C"/>
          </a:solidFill>
          <a:ln/>
        </p:spPr>
      </p:sp>
      <p:sp>
        <p:nvSpPr>
          <p:cNvPr id="20" name="Shape 18"/>
          <p:cNvSpPr/>
          <p:nvPr/>
        </p:nvSpPr>
        <p:spPr>
          <a:xfrm>
            <a:off x="7333488" y="2103120"/>
            <a:ext cx="2048256" cy="1554480"/>
          </a:xfrm>
          <a:prstGeom prst="roundRect">
            <a:avLst>
              <a:gd name="adj" fmla="val 4706"/>
            </a:avLst>
          </a:prstGeom>
          <a:solidFill>
            <a:srgbClr val="E4FBF5"/>
          </a:solidFill>
          <a:ln w="19050">
            <a:solidFill>
              <a:srgbClr val="019879"/>
            </a:solidFill>
            <a:prstDash val="solid"/>
          </a:ln>
        </p:spPr>
      </p:sp>
      <p:sp>
        <p:nvSpPr>
          <p:cNvPr id="21" name="Text 19"/>
          <p:cNvSpPr/>
          <p:nvPr/>
        </p:nvSpPr>
        <p:spPr>
          <a:xfrm>
            <a:off x="7333488" y="2267712"/>
            <a:ext cx="2048256" cy="365760"/>
          </a:xfrm>
          <a:prstGeom prst="rect">
            <a:avLst/>
          </a:prstGeom>
          <a:noFill/>
          <a:ln/>
        </p:spPr>
        <p:txBody>
          <a:bodyPr wrap="square" rtlCol="0" anchor="ctr"/>
          <a:lstStyle/>
          <a:p>
            <a:pPr algn="ctr" indent="0" marL="0">
              <a:buNone/>
            </a:pPr>
            <a:r>
              <a:rPr lang="en-US" sz="1400" b="1" dirty="0">
                <a:solidFill>
                  <a:srgbClr val="232B3A"/>
                </a:solidFill>
                <a:latin typeface="Cambria" pitchFamily="34" charset="0"/>
                <a:ea typeface="Cambria" pitchFamily="34" charset="-122"/>
                <a:cs typeface="Cambria" pitchFamily="34" charset="-120"/>
              </a:rPr>
              <a:t>Predictive</a:t>
            </a:r>
            <a:endParaRPr lang="en-US" sz="1400" dirty="0"/>
          </a:p>
        </p:txBody>
      </p:sp>
      <p:sp>
        <p:nvSpPr>
          <p:cNvPr id="22" name="Text 20"/>
          <p:cNvSpPr/>
          <p:nvPr/>
        </p:nvSpPr>
        <p:spPr>
          <a:xfrm>
            <a:off x="7443216" y="2670048"/>
            <a:ext cx="1828800" cy="914400"/>
          </a:xfrm>
          <a:prstGeom prst="rect">
            <a:avLst/>
          </a:prstGeom>
          <a:noFill/>
          <a:ln/>
        </p:spPr>
        <p:txBody>
          <a:bodyPr wrap="square" rtlCol="0" anchor="ctr"/>
          <a:lstStyle/>
          <a:p>
            <a:pPr algn="ctr" indent="0" marL="0">
              <a:lnSpc>
                <a:spcPct val="110000"/>
              </a:lnSpc>
              <a:buNone/>
            </a:pPr>
            <a:r>
              <a:rPr lang="en-US" sz="950" dirty="0">
                <a:solidFill>
                  <a:srgbClr val="6B7684"/>
                </a:solidFill>
                <a:latin typeface="Calibri" pitchFamily="34" charset="0"/>
                <a:ea typeface="Calibri" pitchFamily="34" charset="-122"/>
                <a:cs typeface="Calibri" pitchFamily="34" charset="-120"/>
              </a:rPr>
              <a:t>ML forecasts issues; AI recommends pre-emptive action</a:t>
            </a:r>
            <a:endParaRPr lang="en-US" sz="950" dirty="0"/>
          </a:p>
        </p:txBody>
      </p:sp>
      <p:sp>
        <p:nvSpPr>
          <p:cNvPr id="23" name="Shape 21"/>
          <p:cNvSpPr/>
          <p:nvPr/>
        </p:nvSpPr>
        <p:spPr>
          <a:xfrm>
            <a:off x="9400032" y="2761488"/>
            <a:ext cx="192024" cy="237744"/>
          </a:xfrm>
          <a:prstGeom prst="rightArrow">
            <a:avLst/>
          </a:prstGeom>
          <a:solidFill>
            <a:srgbClr val="5B6B7C"/>
          </a:solidFill>
          <a:ln/>
        </p:spPr>
      </p:sp>
      <p:sp>
        <p:nvSpPr>
          <p:cNvPr id="24" name="Text 22"/>
          <p:cNvSpPr/>
          <p:nvPr/>
        </p:nvSpPr>
        <p:spPr>
          <a:xfrm>
            <a:off x="7333488" y="1755648"/>
            <a:ext cx="2048256" cy="274320"/>
          </a:xfrm>
          <a:prstGeom prst="rect">
            <a:avLst/>
          </a:prstGeom>
          <a:noFill/>
          <a:ln/>
        </p:spPr>
        <p:txBody>
          <a:bodyPr wrap="square" rtlCol="0" anchor="ctr"/>
          <a:lstStyle/>
          <a:p>
            <a:pPr algn="ctr" indent="0" marL="0">
              <a:buNone/>
            </a:pPr>
            <a:r>
              <a:rPr lang="en-US" sz="1000" b="1" dirty="0">
                <a:solidFill>
                  <a:srgbClr val="019879"/>
                </a:solidFill>
                <a:latin typeface="Calibri" pitchFamily="34" charset="0"/>
                <a:ea typeface="Calibri" pitchFamily="34" charset="-122"/>
                <a:cs typeface="Calibri" pitchFamily="34" charset="-120"/>
              </a:rPr>
              <a:t>18-MONTH TARGET</a:t>
            </a:r>
            <a:endParaRPr lang="en-US" sz="1000" dirty="0"/>
          </a:p>
        </p:txBody>
      </p:sp>
      <p:sp>
        <p:nvSpPr>
          <p:cNvPr id="25" name="Shape 23"/>
          <p:cNvSpPr/>
          <p:nvPr/>
        </p:nvSpPr>
        <p:spPr>
          <a:xfrm>
            <a:off x="9610344" y="2103120"/>
            <a:ext cx="2048256" cy="1554480"/>
          </a:xfrm>
          <a:prstGeom prst="roundRect">
            <a:avLst>
              <a:gd name="adj" fmla="val 4706"/>
            </a:avLst>
          </a:prstGeom>
          <a:solidFill>
            <a:srgbClr val="EEF1F4"/>
          </a:solidFill>
          <a:ln/>
        </p:spPr>
      </p:sp>
      <p:sp>
        <p:nvSpPr>
          <p:cNvPr id="26" name="Text 24"/>
          <p:cNvSpPr/>
          <p:nvPr/>
        </p:nvSpPr>
        <p:spPr>
          <a:xfrm>
            <a:off x="9610344" y="2267712"/>
            <a:ext cx="2048256" cy="365760"/>
          </a:xfrm>
          <a:prstGeom prst="rect">
            <a:avLst/>
          </a:prstGeom>
          <a:noFill/>
          <a:ln/>
        </p:spPr>
        <p:txBody>
          <a:bodyPr wrap="square" rtlCol="0" anchor="ctr"/>
          <a:lstStyle/>
          <a:p>
            <a:pPr algn="ctr" indent="0" marL="0">
              <a:buNone/>
            </a:pPr>
            <a:r>
              <a:rPr lang="en-US" sz="1400" b="1" dirty="0">
                <a:solidFill>
                  <a:srgbClr val="232B3A"/>
                </a:solidFill>
                <a:latin typeface="Cambria" pitchFamily="34" charset="0"/>
                <a:ea typeface="Cambria" pitchFamily="34" charset="-122"/>
                <a:cs typeface="Cambria" pitchFamily="34" charset="-120"/>
              </a:rPr>
              <a:t>Autonomous</a:t>
            </a:r>
            <a:endParaRPr lang="en-US" sz="1400" dirty="0"/>
          </a:p>
        </p:txBody>
      </p:sp>
      <p:sp>
        <p:nvSpPr>
          <p:cNvPr id="27" name="Text 25"/>
          <p:cNvSpPr/>
          <p:nvPr/>
        </p:nvSpPr>
        <p:spPr>
          <a:xfrm>
            <a:off x="9720072" y="2670048"/>
            <a:ext cx="1828800" cy="914400"/>
          </a:xfrm>
          <a:prstGeom prst="rect">
            <a:avLst/>
          </a:prstGeom>
          <a:noFill/>
          <a:ln/>
        </p:spPr>
        <p:txBody>
          <a:bodyPr wrap="square" rtlCol="0" anchor="ctr"/>
          <a:lstStyle/>
          <a:p>
            <a:pPr algn="ctr" indent="0" marL="0">
              <a:lnSpc>
                <a:spcPct val="110000"/>
              </a:lnSpc>
              <a:buNone/>
            </a:pPr>
            <a:r>
              <a:rPr lang="en-US" sz="950" dirty="0">
                <a:solidFill>
                  <a:srgbClr val="6B7684"/>
                </a:solidFill>
                <a:latin typeface="Calibri" pitchFamily="34" charset="0"/>
                <a:ea typeface="Calibri" pitchFamily="34" charset="-122"/>
                <a:cs typeface="Calibri" pitchFamily="34" charset="-120"/>
              </a:rPr>
              <a:t>Closed-loop self-healing under policy guardrails</a:t>
            </a:r>
            <a:endParaRPr lang="en-US" sz="950" dirty="0"/>
          </a:p>
        </p:txBody>
      </p:sp>
      <p:sp>
        <p:nvSpPr>
          <p:cNvPr id="28" name="Text 26"/>
          <p:cNvSpPr/>
          <p:nvPr/>
        </p:nvSpPr>
        <p:spPr>
          <a:xfrm>
            <a:off x="502920" y="3977640"/>
            <a:ext cx="5486400" cy="320040"/>
          </a:xfrm>
          <a:prstGeom prst="rect">
            <a:avLst/>
          </a:prstGeom>
          <a:noFill/>
          <a:ln/>
        </p:spPr>
        <p:txBody>
          <a:bodyPr wrap="square" rtlCol="0" anchor="ctr"/>
          <a:lstStyle/>
          <a:p>
            <a:pPr indent="0" marL="0">
              <a:buNone/>
            </a:pPr>
            <a:r>
              <a:rPr lang="en-US" sz="1400" b="1" dirty="0">
                <a:solidFill>
                  <a:srgbClr val="232B3A"/>
                </a:solidFill>
                <a:latin typeface="Cambria" pitchFamily="34" charset="0"/>
                <a:ea typeface="Cambria" pitchFamily="34" charset="-122"/>
                <a:cs typeface="Cambria" pitchFamily="34" charset="-120"/>
              </a:rPr>
              <a:t>Maturity Dimensions Assessed</a:t>
            </a:r>
            <a:endParaRPr lang="en-US" sz="1400" dirty="0"/>
          </a:p>
        </p:txBody>
      </p:sp>
      <p:sp>
        <p:nvSpPr>
          <p:cNvPr id="29" name="Text 27"/>
          <p:cNvSpPr/>
          <p:nvPr/>
        </p:nvSpPr>
        <p:spPr>
          <a:xfrm>
            <a:off x="502920" y="4434840"/>
            <a:ext cx="2834640" cy="384048"/>
          </a:xfrm>
          <a:prstGeom prst="rect">
            <a:avLst/>
          </a:prstGeom>
          <a:noFill/>
          <a:ln/>
        </p:spPr>
        <p:txBody>
          <a:bodyPr wrap="square" rtlCol="0" anchor="ctr"/>
          <a:lstStyle/>
          <a:p>
            <a:pPr indent="0" marL="0">
              <a:buNone/>
            </a:pPr>
            <a:r>
              <a:rPr lang="en-US" sz="1050" dirty="0">
                <a:solidFill>
                  <a:srgbClr val="232B3A"/>
                </a:solidFill>
                <a:latin typeface="Calibri" pitchFamily="34" charset="0"/>
                <a:ea typeface="Calibri" pitchFamily="34" charset="-122"/>
                <a:cs typeface="Calibri" pitchFamily="34" charset="-120"/>
              </a:rPr>
              <a:t>Monitoring &amp; Observability</a:t>
            </a:r>
            <a:endParaRPr lang="en-US" sz="1050" dirty="0"/>
          </a:p>
        </p:txBody>
      </p:sp>
      <p:sp>
        <p:nvSpPr>
          <p:cNvPr id="30" name="Shape 28"/>
          <p:cNvSpPr/>
          <p:nvPr/>
        </p:nvSpPr>
        <p:spPr>
          <a:xfrm>
            <a:off x="3474720" y="4498848"/>
            <a:ext cx="475488" cy="237744"/>
          </a:xfrm>
          <a:prstGeom prst="roundRect">
            <a:avLst>
              <a:gd name="adj" fmla="val 15385"/>
            </a:avLst>
          </a:prstGeom>
          <a:solidFill>
            <a:srgbClr val="1E2761"/>
          </a:solidFill>
          <a:ln/>
        </p:spPr>
      </p:sp>
      <p:sp>
        <p:nvSpPr>
          <p:cNvPr id="31" name="Shape 29"/>
          <p:cNvSpPr/>
          <p:nvPr/>
        </p:nvSpPr>
        <p:spPr>
          <a:xfrm>
            <a:off x="4041648" y="4498848"/>
            <a:ext cx="475488" cy="237744"/>
          </a:xfrm>
          <a:prstGeom prst="roundRect">
            <a:avLst>
              <a:gd name="adj" fmla="val 15385"/>
            </a:avLst>
          </a:prstGeom>
          <a:solidFill>
            <a:srgbClr val="1E2761"/>
          </a:solidFill>
          <a:ln/>
        </p:spPr>
      </p:sp>
      <p:sp>
        <p:nvSpPr>
          <p:cNvPr id="32" name="Shape 30"/>
          <p:cNvSpPr/>
          <p:nvPr/>
        </p:nvSpPr>
        <p:spPr>
          <a:xfrm>
            <a:off x="4608576" y="4498848"/>
            <a:ext cx="475488" cy="237744"/>
          </a:xfrm>
          <a:prstGeom prst="roundRect">
            <a:avLst>
              <a:gd name="adj" fmla="val 15385"/>
            </a:avLst>
          </a:prstGeom>
          <a:solidFill>
            <a:srgbClr val="E2E6EC"/>
          </a:solidFill>
          <a:ln/>
        </p:spPr>
      </p:sp>
      <p:sp>
        <p:nvSpPr>
          <p:cNvPr id="33" name="Shape 31"/>
          <p:cNvSpPr/>
          <p:nvPr/>
        </p:nvSpPr>
        <p:spPr>
          <a:xfrm>
            <a:off x="5175504" y="4498848"/>
            <a:ext cx="475488" cy="237744"/>
          </a:xfrm>
          <a:prstGeom prst="roundRect">
            <a:avLst>
              <a:gd name="adj" fmla="val 15385"/>
            </a:avLst>
          </a:prstGeom>
          <a:solidFill>
            <a:srgbClr val="E2E6EC"/>
          </a:solidFill>
          <a:ln/>
        </p:spPr>
      </p:sp>
      <p:sp>
        <p:nvSpPr>
          <p:cNvPr id="34" name="Shape 32"/>
          <p:cNvSpPr/>
          <p:nvPr/>
        </p:nvSpPr>
        <p:spPr>
          <a:xfrm>
            <a:off x="5742432" y="4498848"/>
            <a:ext cx="475488" cy="237744"/>
          </a:xfrm>
          <a:prstGeom prst="roundRect">
            <a:avLst>
              <a:gd name="adj" fmla="val 15385"/>
            </a:avLst>
          </a:prstGeom>
          <a:solidFill>
            <a:srgbClr val="E2E6EC"/>
          </a:solidFill>
          <a:ln/>
        </p:spPr>
      </p:sp>
      <p:sp>
        <p:nvSpPr>
          <p:cNvPr id="35" name="Text 33"/>
          <p:cNvSpPr/>
          <p:nvPr/>
        </p:nvSpPr>
        <p:spPr>
          <a:xfrm>
            <a:off x="6446520" y="4434840"/>
            <a:ext cx="5212080" cy="384048"/>
          </a:xfrm>
          <a:prstGeom prst="rect">
            <a:avLst/>
          </a:prstGeom>
          <a:noFill/>
          <a:ln/>
        </p:spPr>
        <p:txBody>
          <a:bodyPr wrap="square" rtlCol="0" anchor="ctr"/>
          <a:lstStyle/>
          <a:p>
            <a:pPr indent="0" marL="0">
              <a:buNone/>
            </a:pPr>
            <a:r>
              <a:rPr lang="en-US" sz="1000" i="1" dirty="0">
                <a:solidFill>
                  <a:srgbClr val="6B7684"/>
                </a:solidFill>
                <a:latin typeface="Calibri" pitchFamily="34" charset="0"/>
                <a:ea typeface="Calibri" pitchFamily="34" charset="-122"/>
                <a:cs typeface="Calibri" pitchFamily="34" charset="-120"/>
              </a:rPr>
              <a:t>9+ siloed tools, partial coverage</a:t>
            </a:r>
            <a:endParaRPr lang="en-US" sz="1000" dirty="0"/>
          </a:p>
        </p:txBody>
      </p:sp>
      <p:sp>
        <p:nvSpPr>
          <p:cNvPr id="36" name="Text 34"/>
          <p:cNvSpPr/>
          <p:nvPr/>
        </p:nvSpPr>
        <p:spPr>
          <a:xfrm>
            <a:off x="502920" y="4818888"/>
            <a:ext cx="2834640" cy="384048"/>
          </a:xfrm>
          <a:prstGeom prst="rect">
            <a:avLst/>
          </a:prstGeom>
          <a:noFill/>
          <a:ln/>
        </p:spPr>
        <p:txBody>
          <a:bodyPr wrap="square" rtlCol="0" anchor="ctr"/>
          <a:lstStyle/>
          <a:p>
            <a:pPr indent="0" marL="0">
              <a:buNone/>
            </a:pPr>
            <a:r>
              <a:rPr lang="en-US" sz="1050" dirty="0">
                <a:solidFill>
                  <a:srgbClr val="232B3A"/>
                </a:solidFill>
                <a:latin typeface="Calibri" pitchFamily="34" charset="0"/>
                <a:ea typeface="Calibri" pitchFamily="34" charset="-122"/>
                <a:cs typeface="Calibri" pitchFamily="34" charset="-120"/>
              </a:rPr>
              <a:t>Event Correlation</a:t>
            </a:r>
            <a:endParaRPr lang="en-US" sz="1050" dirty="0"/>
          </a:p>
        </p:txBody>
      </p:sp>
      <p:sp>
        <p:nvSpPr>
          <p:cNvPr id="37" name="Shape 35"/>
          <p:cNvSpPr/>
          <p:nvPr/>
        </p:nvSpPr>
        <p:spPr>
          <a:xfrm>
            <a:off x="3474720" y="4882896"/>
            <a:ext cx="475488" cy="237744"/>
          </a:xfrm>
          <a:prstGeom prst="roundRect">
            <a:avLst>
              <a:gd name="adj" fmla="val 15385"/>
            </a:avLst>
          </a:prstGeom>
          <a:solidFill>
            <a:srgbClr val="1E2761"/>
          </a:solidFill>
          <a:ln/>
        </p:spPr>
      </p:sp>
      <p:sp>
        <p:nvSpPr>
          <p:cNvPr id="38" name="Shape 36"/>
          <p:cNvSpPr/>
          <p:nvPr/>
        </p:nvSpPr>
        <p:spPr>
          <a:xfrm>
            <a:off x="4041648" y="4882896"/>
            <a:ext cx="475488" cy="237744"/>
          </a:xfrm>
          <a:prstGeom prst="roundRect">
            <a:avLst>
              <a:gd name="adj" fmla="val 15385"/>
            </a:avLst>
          </a:prstGeom>
          <a:solidFill>
            <a:srgbClr val="E2E6EC"/>
          </a:solidFill>
          <a:ln/>
        </p:spPr>
      </p:sp>
      <p:sp>
        <p:nvSpPr>
          <p:cNvPr id="39" name="Shape 37"/>
          <p:cNvSpPr/>
          <p:nvPr/>
        </p:nvSpPr>
        <p:spPr>
          <a:xfrm>
            <a:off x="4608576" y="4882896"/>
            <a:ext cx="475488" cy="237744"/>
          </a:xfrm>
          <a:prstGeom prst="roundRect">
            <a:avLst>
              <a:gd name="adj" fmla="val 15385"/>
            </a:avLst>
          </a:prstGeom>
          <a:solidFill>
            <a:srgbClr val="E2E6EC"/>
          </a:solidFill>
          <a:ln/>
        </p:spPr>
      </p:sp>
      <p:sp>
        <p:nvSpPr>
          <p:cNvPr id="40" name="Shape 38"/>
          <p:cNvSpPr/>
          <p:nvPr/>
        </p:nvSpPr>
        <p:spPr>
          <a:xfrm>
            <a:off x="5175504" y="4882896"/>
            <a:ext cx="475488" cy="237744"/>
          </a:xfrm>
          <a:prstGeom prst="roundRect">
            <a:avLst>
              <a:gd name="adj" fmla="val 15385"/>
            </a:avLst>
          </a:prstGeom>
          <a:solidFill>
            <a:srgbClr val="E2E6EC"/>
          </a:solidFill>
          <a:ln/>
        </p:spPr>
      </p:sp>
      <p:sp>
        <p:nvSpPr>
          <p:cNvPr id="41" name="Shape 39"/>
          <p:cNvSpPr/>
          <p:nvPr/>
        </p:nvSpPr>
        <p:spPr>
          <a:xfrm>
            <a:off x="5742432" y="4882896"/>
            <a:ext cx="475488" cy="237744"/>
          </a:xfrm>
          <a:prstGeom prst="roundRect">
            <a:avLst>
              <a:gd name="adj" fmla="val 15385"/>
            </a:avLst>
          </a:prstGeom>
          <a:solidFill>
            <a:srgbClr val="E2E6EC"/>
          </a:solidFill>
          <a:ln/>
        </p:spPr>
      </p:sp>
      <p:sp>
        <p:nvSpPr>
          <p:cNvPr id="42" name="Text 40"/>
          <p:cNvSpPr/>
          <p:nvPr/>
        </p:nvSpPr>
        <p:spPr>
          <a:xfrm>
            <a:off x="6446520" y="4818888"/>
            <a:ext cx="5212080" cy="384048"/>
          </a:xfrm>
          <a:prstGeom prst="rect">
            <a:avLst/>
          </a:prstGeom>
          <a:noFill/>
          <a:ln/>
        </p:spPr>
        <p:txBody>
          <a:bodyPr wrap="square" rtlCol="0" anchor="ctr"/>
          <a:lstStyle/>
          <a:p>
            <a:pPr indent="0" marL="0">
              <a:buNone/>
            </a:pPr>
            <a:r>
              <a:rPr lang="en-US" sz="1000" i="1" dirty="0">
                <a:solidFill>
                  <a:srgbClr val="6B7684"/>
                </a:solidFill>
                <a:latin typeface="Calibri" pitchFamily="34" charset="0"/>
                <a:ea typeface="Calibri" pitchFamily="34" charset="-122"/>
                <a:cs typeface="Calibri" pitchFamily="34" charset="-120"/>
              </a:rPr>
              <a:t>Manual, tribal-knowledge driven</a:t>
            </a:r>
            <a:endParaRPr lang="en-US" sz="1000" dirty="0"/>
          </a:p>
        </p:txBody>
      </p:sp>
      <p:sp>
        <p:nvSpPr>
          <p:cNvPr id="43" name="Text 41"/>
          <p:cNvSpPr/>
          <p:nvPr/>
        </p:nvSpPr>
        <p:spPr>
          <a:xfrm>
            <a:off x="502920" y="5202936"/>
            <a:ext cx="2834640" cy="384048"/>
          </a:xfrm>
          <a:prstGeom prst="rect">
            <a:avLst/>
          </a:prstGeom>
          <a:noFill/>
          <a:ln/>
        </p:spPr>
        <p:txBody>
          <a:bodyPr wrap="square" rtlCol="0" anchor="ctr"/>
          <a:lstStyle/>
          <a:p>
            <a:pPr indent="0" marL="0">
              <a:buNone/>
            </a:pPr>
            <a:r>
              <a:rPr lang="en-US" sz="1050" dirty="0">
                <a:solidFill>
                  <a:srgbClr val="232B3A"/>
                </a:solidFill>
                <a:latin typeface="Calibri" pitchFamily="34" charset="0"/>
                <a:ea typeface="Calibri" pitchFamily="34" charset="-122"/>
                <a:cs typeface="Calibri" pitchFamily="34" charset="-120"/>
              </a:rPr>
              <a:t>Root Cause Analysis</a:t>
            </a:r>
            <a:endParaRPr lang="en-US" sz="1050" dirty="0"/>
          </a:p>
        </p:txBody>
      </p:sp>
      <p:sp>
        <p:nvSpPr>
          <p:cNvPr id="44" name="Shape 42"/>
          <p:cNvSpPr/>
          <p:nvPr/>
        </p:nvSpPr>
        <p:spPr>
          <a:xfrm>
            <a:off x="3474720" y="5266944"/>
            <a:ext cx="475488" cy="237744"/>
          </a:xfrm>
          <a:prstGeom prst="roundRect">
            <a:avLst>
              <a:gd name="adj" fmla="val 15385"/>
            </a:avLst>
          </a:prstGeom>
          <a:solidFill>
            <a:srgbClr val="1E2761"/>
          </a:solidFill>
          <a:ln/>
        </p:spPr>
      </p:sp>
      <p:sp>
        <p:nvSpPr>
          <p:cNvPr id="45" name="Shape 43"/>
          <p:cNvSpPr/>
          <p:nvPr/>
        </p:nvSpPr>
        <p:spPr>
          <a:xfrm>
            <a:off x="4041648" y="5266944"/>
            <a:ext cx="475488" cy="237744"/>
          </a:xfrm>
          <a:prstGeom prst="roundRect">
            <a:avLst>
              <a:gd name="adj" fmla="val 15385"/>
            </a:avLst>
          </a:prstGeom>
          <a:solidFill>
            <a:srgbClr val="E2E6EC"/>
          </a:solidFill>
          <a:ln/>
        </p:spPr>
      </p:sp>
      <p:sp>
        <p:nvSpPr>
          <p:cNvPr id="46" name="Shape 44"/>
          <p:cNvSpPr/>
          <p:nvPr/>
        </p:nvSpPr>
        <p:spPr>
          <a:xfrm>
            <a:off x="4608576" y="5266944"/>
            <a:ext cx="475488" cy="237744"/>
          </a:xfrm>
          <a:prstGeom prst="roundRect">
            <a:avLst>
              <a:gd name="adj" fmla="val 15385"/>
            </a:avLst>
          </a:prstGeom>
          <a:solidFill>
            <a:srgbClr val="E2E6EC"/>
          </a:solidFill>
          <a:ln/>
        </p:spPr>
      </p:sp>
      <p:sp>
        <p:nvSpPr>
          <p:cNvPr id="47" name="Shape 45"/>
          <p:cNvSpPr/>
          <p:nvPr/>
        </p:nvSpPr>
        <p:spPr>
          <a:xfrm>
            <a:off x="5175504" y="5266944"/>
            <a:ext cx="475488" cy="237744"/>
          </a:xfrm>
          <a:prstGeom prst="roundRect">
            <a:avLst>
              <a:gd name="adj" fmla="val 15385"/>
            </a:avLst>
          </a:prstGeom>
          <a:solidFill>
            <a:srgbClr val="E2E6EC"/>
          </a:solidFill>
          <a:ln/>
        </p:spPr>
      </p:sp>
      <p:sp>
        <p:nvSpPr>
          <p:cNvPr id="48" name="Shape 46"/>
          <p:cNvSpPr/>
          <p:nvPr/>
        </p:nvSpPr>
        <p:spPr>
          <a:xfrm>
            <a:off x="5742432" y="5266944"/>
            <a:ext cx="475488" cy="237744"/>
          </a:xfrm>
          <a:prstGeom prst="roundRect">
            <a:avLst>
              <a:gd name="adj" fmla="val 15385"/>
            </a:avLst>
          </a:prstGeom>
          <a:solidFill>
            <a:srgbClr val="E2E6EC"/>
          </a:solidFill>
          <a:ln/>
        </p:spPr>
      </p:sp>
      <p:sp>
        <p:nvSpPr>
          <p:cNvPr id="49" name="Text 47"/>
          <p:cNvSpPr/>
          <p:nvPr/>
        </p:nvSpPr>
        <p:spPr>
          <a:xfrm>
            <a:off x="6446520" y="5202936"/>
            <a:ext cx="5212080" cy="384048"/>
          </a:xfrm>
          <a:prstGeom prst="rect">
            <a:avLst/>
          </a:prstGeom>
          <a:noFill/>
          <a:ln/>
        </p:spPr>
        <p:txBody>
          <a:bodyPr wrap="square" rtlCol="0" anchor="ctr"/>
          <a:lstStyle/>
          <a:p>
            <a:pPr indent="0" marL="0">
              <a:buNone/>
            </a:pPr>
            <a:r>
              <a:rPr lang="en-US" sz="1000" i="1" dirty="0">
                <a:solidFill>
                  <a:srgbClr val="6B7684"/>
                </a:solidFill>
                <a:latin typeface="Calibri" pitchFamily="34" charset="0"/>
                <a:ea typeface="Calibri" pitchFamily="34" charset="-122"/>
                <a:cs typeface="Calibri" pitchFamily="34" charset="-120"/>
              </a:rPr>
              <a:t>Manual log/metric review</a:t>
            </a:r>
            <a:endParaRPr lang="en-US" sz="1000" dirty="0"/>
          </a:p>
        </p:txBody>
      </p:sp>
      <p:sp>
        <p:nvSpPr>
          <p:cNvPr id="50" name="Text 48"/>
          <p:cNvSpPr/>
          <p:nvPr/>
        </p:nvSpPr>
        <p:spPr>
          <a:xfrm>
            <a:off x="502920" y="5586984"/>
            <a:ext cx="2834640" cy="384048"/>
          </a:xfrm>
          <a:prstGeom prst="rect">
            <a:avLst/>
          </a:prstGeom>
          <a:noFill/>
          <a:ln/>
        </p:spPr>
        <p:txBody>
          <a:bodyPr wrap="square" rtlCol="0" anchor="ctr"/>
          <a:lstStyle/>
          <a:p>
            <a:pPr indent="0" marL="0">
              <a:buNone/>
            </a:pPr>
            <a:r>
              <a:rPr lang="en-US" sz="1050" dirty="0">
                <a:solidFill>
                  <a:srgbClr val="232B3A"/>
                </a:solidFill>
                <a:latin typeface="Calibri" pitchFamily="34" charset="0"/>
                <a:ea typeface="Calibri" pitchFamily="34" charset="-122"/>
                <a:cs typeface="Calibri" pitchFamily="34" charset="-120"/>
              </a:rPr>
              <a:t>Automation &amp; Remediation</a:t>
            </a:r>
            <a:endParaRPr lang="en-US" sz="1050" dirty="0"/>
          </a:p>
        </p:txBody>
      </p:sp>
      <p:sp>
        <p:nvSpPr>
          <p:cNvPr id="51" name="Shape 49"/>
          <p:cNvSpPr/>
          <p:nvPr/>
        </p:nvSpPr>
        <p:spPr>
          <a:xfrm>
            <a:off x="3474720" y="5650992"/>
            <a:ext cx="475488" cy="237744"/>
          </a:xfrm>
          <a:prstGeom prst="roundRect">
            <a:avLst>
              <a:gd name="adj" fmla="val 15385"/>
            </a:avLst>
          </a:prstGeom>
          <a:solidFill>
            <a:srgbClr val="1E2761"/>
          </a:solidFill>
          <a:ln/>
        </p:spPr>
      </p:sp>
      <p:sp>
        <p:nvSpPr>
          <p:cNvPr id="52" name="Shape 50"/>
          <p:cNvSpPr/>
          <p:nvPr/>
        </p:nvSpPr>
        <p:spPr>
          <a:xfrm>
            <a:off x="4041648" y="5650992"/>
            <a:ext cx="475488" cy="237744"/>
          </a:xfrm>
          <a:prstGeom prst="roundRect">
            <a:avLst>
              <a:gd name="adj" fmla="val 15385"/>
            </a:avLst>
          </a:prstGeom>
          <a:solidFill>
            <a:srgbClr val="1E2761"/>
          </a:solidFill>
          <a:ln/>
        </p:spPr>
      </p:sp>
      <p:sp>
        <p:nvSpPr>
          <p:cNvPr id="53" name="Shape 51"/>
          <p:cNvSpPr/>
          <p:nvPr/>
        </p:nvSpPr>
        <p:spPr>
          <a:xfrm>
            <a:off x="4608576" y="5650992"/>
            <a:ext cx="475488" cy="237744"/>
          </a:xfrm>
          <a:prstGeom prst="roundRect">
            <a:avLst>
              <a:gd name="adj" fmla="val 15385"/>
            </a:avLst>
          </a:prstGeom>
          <a:solidFill>
            <a:srgbClr val="E2E6EC"/>
          </a:solidFill>
          <a:ln/>
        </p:spPr>
      </p:sp>
      <p:sp>
        <p:nvSpPr>
          <p:cNvPr id="54" name="Shape 52"/>
          <p:cNvSpPr/>
          <p:nvPr/>
        </p:nvSpPr>
        <p:spPr>
          <a:xfrm>
            <a:off x="5175504" y="5650992"/>
            <a:ext cx="475488" cy="237744"/>
          </a:xfrm>
          <a:prstGeom prst="roundRect">
            <a:avLst>
              <a:gd name="adj" fmla="val 15385"/>
            </a:avLst>
          </a:prstGeom>
          <a:solidFill>
            <a:srgbClr val="E2E6EC"/>
          </a:solidFill>
          <a:ln/>
        </p:spPr>
      </p:sp>
      <p:sp>
        <p:nvSpPr>
          <p:cNvPr id="55" name="Shape 53"/>
          <p:cNvSpPr/>
          <p:nvPr/>
        </p:nvSpPr>
        <p:spPr>
          <a:xfrm>
            <a:off x="5742432" y="5650992"/>
            <a:ext cx="475488" cy="237744"/>
          </a:xfrm>
          <a:prstGeom prst="roundRect">
            <a:avLst>
              <a:gd name="adj" fmla="val 15385"/>
            </a:avLst>
          </a:prstGeom>
          <a:solidFill>
            <a:srgbClr val="E2E6EC"/>
          </a:solidFill>
          <a:ln/>
        </p:spPr>
      </p:sp>
      <p:sp>
        <p:nvSpPr>
          <p:cNvPr id="56" name="Text 54"/>
          <p:cNvSpPr/>
          <p:nvPr/>
        </p:nvSpPr>
        <p:spPr>
          <a:xfrm>
            <a:off x="6446520" y="5586984"/>
            <a:ext cx="5212080" cy="384048"/>
          </a:xfrm>
          <a:prstGeom prst="rect">
            <a:avLst/>
          </a:prstGeom>
          <a:noFill/>
          <a:ln/>
        </p:spPr>
        <p:txBody>
          <a:bodyPr wrap="square" rtlCol="0" anchor="ctr"/>
          <a:lstStyle/>
          <a:p>
            <a:pPr indent="0" marL="0">
              <a:buNone/>
            </a:pPr>
            <a:r>
              <a:rPr lang="en-US" sz="1000" i="1" dirty="0">
                <a:solidFill>
                  <a:srgbClr val="6B7684"/>
                </a:solidFill>
                <a:latin typeface="Calibri" pitchFamily="34" charset="0"/>
                <a:ea typeface="Calibri" pitchFamily="34" charset="-122"/>
                <a:cs typeface="Calibri" pitchFamily="34" charset="-120"/>
              </a:rPr>
              <a:t>Scripted runbooks, human-triggered</a:t>
            </a:r>
            <a:endParaRPr lang="en-US" sz="1000" dirty="0"/>
          </a:p>
        </p:txBody>
      </p:sp>
      <p:sp>
        <p:nvSpPr>
          <p:cNvPr id="57" name="Text 55"/>
          <p:cNvSpPr/>
          <p:nvPr/>
        </p:nvSpPr>
        <p:spPr>
          <a:xfrm>
            <a:off x="502920" y="5971032"/>
            <a:ext cx="2834640" cy="384048"/>
          </a:xfrm>
          <a:prstGeom prst="rect">
            <a:avLst/>
          </a:prstGeom>
          <a:noFill/>
          <a:ln/>
        </p:spPr>
        <p:txBody>
          <a:bodyPr wrap="square" rtlCol="0" anchor="ctr"/>
          <a:lstStyle/>
          <a:p>
            <a:pPr indent="0" marL="0">
              <a:buNone/>
            </a:pPr>
            <a:r>
              <a:rPr lang="en-US" sz="1050" dirty="0">
                <a:solidFill>
                  <a:srgbClr val="232B3A"/>
                </a:solidFill>
                <a:latin typeface="Calibri" pitchFamily="34" charset="0"/>
                <a:ea typeface="Calibri" pitchFamily="34" charset="-122"/>
                <a:cs typeface="Calibri" pitchFamily="34" charset="-120"/>
              </a:rPr>
              <a:t>Knowledge Management</a:t>
            </a:r>
            <a:endParaRPr lang="en-US" sz="1050" dirty="0"/>
          </a:p>
        </p:txBody>
      </p:sp>
      <p:sp>
        <p:nvSpPr>
          <p:cNvPr id="58" name="Shape 56"/>
          <p:cNvSpPr/>
          <p:nvPr/>
        </p:nvSpPr>
        <p:spPr>
          <a:xfrm>
            <a:off x="3474720" y="6035040"/>
            <a:ext cx="475488" cy="237744"/>
          </a:xfrm>
          <a:prstGeom prst="roundRect">
            <a:avLst>
              <a:gd name="adj" fmla="val 15385"/>
            </a:avLst>
          </a:prstGeom>
          <a:solidFill>
            <a:srgbClr val="1E2761"/>
          </a:solidFill>
          <a:ln/>
        </p:spPr>
      </p:sp>
      <p:sp>
        <p:nvSpPr>
          <p:cNvPr id="59" name="Shape 57"/>
          <p:cNvSpPr/>
          <p:nvPr/>
        </p:nvSpPr>
        <p:spPr>
          <a:xfrm>
            <a:off x="4041648" y="6035040"/>
            <a:ext cx="475488" cy="237744"/>
          </a:xfrm>
          <a:prstGeom prst="roundRect">
            <a:avLst>
              <a:gd name="adj" fmla="val 15385"/>
            </a:avLst>
          </a:prstGeom>
          <a:solidFill>
            <a:srgbClr val="1E2761"/>
          </a:solidFill>
          <a:ln/>
        </p:spPr>
      </p:sp>
      <p:sp>
        <p:nvSpPr>
          <p:cNvPr id="60" name="Shape 58"/>
          <p:cNvSpPr/>
          <p:nvPr/>
        </p:nvSpPr>
        <p:spPr>
          <a:xfrm>
            <a:off x="4608576" y="6035040"/>
            <a:ext cx="475488" cy="237744"/>
          </a:xfrm>
          <a:prstGeom prst="roundRect">
            <a:avLst>
              <a:gd name="adj" fmla="val 15385"/>
            </a:avLst>
          </a:prstGeom>
          <a:solidFill>
            <a:srgbClr val="E2E6EC"/>
          </a:solidFill>
          <a:ln/>
        </p:spPr>
      </p:sp>
      <p:sp>
        <p:nvSpPr>
          <p:cNvPr id="61" name="Shape 59"/>
          <p:cNvSpPr/>
          <p:nvPr/>
        </p:nvSpPr>
        <p:spPr>
          <a:xfrm>
            <a:off x="5175504" y="6035040"/>
            <a:ext cx="475488" cy="237744"/>
          </a:xfrm>
          <a:prstGeom prst="roundRect">
            <a:avLst>
              <a:gd name="adj" fmla="val 15385"/>
            </a:avLst>
          </a:prstGeom>
          <a:solidFill>
            <a:srgbClr val="E2E6EC"/>
          </a:solidFill>
          <a:ln/>
        </p:spPr>
      </p:sp>
      <p:sp>
        <p:nvSpPr>
          <p:cNvPr id="62" name="Shape 60"/>
          <p:cNvSpPr/>
          <p:nvPr/>
        </p:nvSpPr>
        <p:spPr>
          <a:xfrm>
            <a:off x="5742432" y="6035040"/>
            <a:ext cx="475488" cy="237744"/>
          </a:xfrm>
          <a:prstGeom prst="roundRect">
            <a:avLst>
              <a:gd name="adj" fmla="val 15385"/>
            </a:avLst>
          </a:prstGeom>
          <a:solidFill>
            <a:srgbClr val="E2E6EC"/>
          </a:solidFill>
          <a:ln/>
        </p:spPr>
      </p:sp>
      <p:sp>
        <p:nvSpPr>
          <p:cNvPr id="63" name="Text 61"/>
          <p:cNvSpPr/>
          <p:nvPr/>
        </p:nvSpPr>
        <p:spPr>
          <a:xfrm>
            <a:off x="6446520" y="5971032"/>
            <a:ext cx="5212080" cy="384048"/>
          </a:xfrm>
          <a:prstGeom prst="rect">
            <a:avLst/>
          </a:prstGeom>
          <a:noFill/>
          <a:ln/>
        </p:spPr>
        <p:txBody>
          <a:bodyPr wrap="square" rtlCol="0" anchor="ctr"/>
          <a:lstStyle/>
          <a:p>
            <a:pPr indent="0" marL="0">
              <a:buNone/>
            </a:pPr>
            <a:r>
              <a:rPr lang="en-US" sz="1000" i="1" dirty="0">
                <a:solidFill>
                  <a:srgbClr val="6B7684"/>
                </a:solidFill>
                <a:latin typeface="Calibri" pitchFamily="34" charset="0"/>
                <a:ea typeface="Calibri" pitchFamily="34" charset="-122"/>
                <a:cs typeface="Calibri" pitchFamily="34" charset="-120"/>
              </a:rPr>
              <a:t>Inconsistent KB, tacit knowledge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CURRENT TOOL LANDSCAPE</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Nine Consoles, No Single Source of Truth</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2 · CURRENT STATE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5 / 33</a:t>
            </a:r>
            <a:endParaRPr lang="en-US" sz="850" dirty="0"/>
          </a:p>
        </p:txBody>
      </p:sp>
      <p:sp>
        <p:nvSpPr>
          <p:cNvPr id="7" name="Text 5"/>
          <p:cNvSpPr/>
          <p:nvPr/>
        </p:nvSpPr>
        <p:spPr>
          <a:xfrm>
            <a:off x="502920" y="1691640"/>
            <a:ext cx="2331720" cy="274320"/>
          </a:xfrm>
          <a:prstGeom prst="rect">
            <a:avLst/>
          </a:prstGeom>
          <a:noFill/>
          <a:ln/>
        </p:spPr>
        <p:txBody>
          <a:bodyPr wrap="square" rtlCol="0" anchor="ctr"/>
          <a:lstStyle/>
          <a:p>
            <a:pPr indent="0" marL="0">
              <a:buNone/>
            </a:pPr>
            <a:r>
              <a:rPr lang="en-US" sz="1000" b="1" spc="100" kern="0" dirty="0">
                <a:solidFill>
                  <a:srgbClr val="1E2761"/>
                </a:solidFill>
                <a:latin typeface="Calibri" pitchFamily="34" charset="0"/>
                <a:ea typeface="Calibri" pitchFamily="34" charset="-122"/>
                <a:cs typeface="Calibri" pitchFamily="34" charset="-120"/>
              </a:rPr>
              <a:t>MONITORING</a:t>
            </a:r>
            <a:endParaRPr lang="en-US" sz="1000" dirty="0"/>
          </a:p>
        </p:txBody>
      </p:sp>
      <p:sp>
        <p:nvSpPr>
          <p:cNvPr id="8" name="Shape 6"/>
          <p:cNvSpPr/>
          <p:nvPr/>
        </p:nvSpPr>
        <p:spPr>
          <a:xfrm>
            <a:off x="502920" y="2011680"/>
            <a:ext cx="2331720" cy="365760"/>
          </a:xfrm>
          <a:prstGeom prst="roundRect">
            <a:avLst>
              <a:gd name="adj" fmla="val 15000"/>
            </a:avLst>
          </a:prstGeom>
          <a:solidFill>
            <a:srgbClr val="EEF1F4"/>
          </a:solidFill>
          <a:ln w="12700">
            <a:solidFill>
              <a:srgbClr val="1E2761"/>
            </a:solidFill>
            <a:prstDash val="solid"/>
          </a:ln>
        </p:spPr>
      </p:sp>
      <p:sp>
        <p:nvSpPr>
          <p:cNvPr id="9" name="Text 7"/>
          <p:cNvSpPr/>
          <p:nvPr/>
        </p:nvSpPr>
        <p:spPr>
          <a:xfrm>
            <a:off x="502920" y="2011680"/>
            <a:ext cx="233172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SolarWinds</a:t>
            </a:r>
            <a:endParaRPr lang="en-US" sz="1050" dirty="0"/>
          </a:p>
        </p:txBody>
      </p:sp>
      <p:sp>
        <p:nvSpPr>
          <p:cNvPr id="10" name="Shape 8"/>
          <p:cNvSpPr/>
          <p:nvPr/>
        </p:nvSpPr>
        <p:spPr>
          <a:xfrm>
            <a:off x="502920" y="2468880"/>
            <a:ext cx="2331720" cy="365760"/>
          </a:xfrm>
          <a:prstGeom prst="roundRect">
            <a:avLst>
              <a:gd name="adj" fmla="val 15000"/>
            </a:avLst>
          </a:prstGeom>
          <a:solidFill>
            <a:srgbClr val="EEF1F4"/>
          </a:solidFill>
          <a:ln w="12700">
            <a:solidFill>
              <a:srgbClr val="1E2761"/>
            </a:solidFill>
            <a:prstDash val="solid"/>
          </a:ln>
        </p:spPr>
      </p:sp>
      <p:sp>
        <p:nvSpPr>
          <p:cNvPr id="11" name="Text 9"/>
          <p:cNvSpPr/>
          <p:nvPr/>
        </p:nvSpPr>
        <p:spPr>
          <a:xfrm>
            <a:off x="502920" y="2468880"/>
            <a:ext cx="233172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Oracle OEM</a:t>
            </a:r>
            <a:endParaRPr lang="en-US" sz="1050" dirty="0"/>
          </a:p>
        </p:txBody>
      </p:sp>
      <p:sp>
        <p:nvSpPr>
          <p:cNvPr id="12" name="Shape 10"/>
          <p:cNvSpPr/>
          <p:nvPr/>
        </p:nvSpPr>
        <p:spPr>
          <a:xfrm>
            <a:off x="502920" y="2926080"/>
            <a:ext cx="2331720" cy="365760"/>
          </a:xfrm>
          <a:prstGeom prst="roundRect">
            <a:avLst>
              <a:gd name="adj" fmla="val 15000"/>
            </a:avLst>
          </a:prstGeom>
          <a:solidFill>
            <a:srgbClr val="EEF1F4"/>
          </a:solidFill>
          <a:ln w="12700">
            <a:solidFill>
              <a:srgbClr val="1E2761"/>
            </a:solidFill>
            <a:prstDash val="solid"/>
          </a:ln>
        </p:spPr>
      </p:sp>
      <p:sp>
        <p:nvSpPr>
          <p:cNvPr id="13" name="Text 11"/>
          <p:cNvSpPr/>
          <p:nvPr/>
        </p:nvSpPr>
        <p:spPr>
          <a:xfrm>
            <a:off x="502920" y="2926080"/>
            <a:ext cx="233172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IBM Instana</a:t>
            </a:r>
            <a:endParaRPr lang="en-US" sz="1050" dirty="0"/>
          </a:p>
        </p:txBody>
      </p:sp>
      <p:sp>
        <p:nvSpPr>
          <p:cNvPr id="14" name="Shape 12"/>
          <p:cNvSpPr/>
          <p:nvPr/>
        </p:nvSpPr>
        <p:spPr>
          <a:xfrm>
            <a:off x="502920" y="3383280"/>
            <a:ext cx="2331720" cy="365760"/>
          </a:xfrm>
          <a:prstGeom prst="roundRect">
            <a:avLst>
              <a:gd name="adj" fmla="val 15000"/>
            </a:avLst>
          </a:prstGeom>
          <a:solidFill>
            <a:srgbClr val="EEF1F4"/>
          </a:solidFill>
          <a:ln w="12700">
            <a:solidFill>
              <a:srgbClr val="1E2761"/>
            </a:solidFill>
            <a:prstDash val="solid"/>
          </a:ln>
        </p:spPr>
      </p:sp>
      <p:sp>
        <p:nvSpPr>
          <p:cNvPr id="15" name="Text 13"/>
          <p:cNvSpPr/>
          <p:nvPr/>
        </p:nvSpPr>
        <p:spPr>
          <a:xfrm>
            <a:off x="502920" y="3383280"/>
            <a:ext cx="233172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Azure Monitor</a:t>
            </a:r>
            <a:endParaRPr lang="en-US" sz="1050" dirty="0"/>
          </a:p>
        </p:txBody>
      </p:sp>
      <p:sp>
        <p:nvSpPr>
          <p:cNvPr id="16" name="Shape 14"/>
          <p:cNvSpPr/>
          <p:nvPr/>
        </p:nvSpPr>
        <p:spPr>
          <a:xfrm>
            <a:off x="502920" y="3840480"/>
            <a:ext cx="2331720" cy="365760"/>
          </a:xfrm>
          <a:prstGeom prst="roundRect">
            <a:avLst>
              <a:gd name="adj" fmla="val 15000"/>
            </a:avLst>
          </a:prstGeom>
          <a:solidFill>
            <a:srgbClr val="EEF1F4"/>
          </a:solidFill>
          <a:ln w="12700">
            <a:solidFill>
              <a:srgbClr val="1E2761"/>
            </a:solidFill>
            <a:prstDash val="solid"/>
          </a:ln>
        </p:spPr>
      </p:sp>
      <p:sp>
        <p:nvSpPr>
          <p:cNvPr id="17" name="Text 15"/>
          <p:cNvSpPr/>
          <p:nvPr/>
        </p:nvSpPr>
        <p:spPr>
          <a:xfrm>
            <a:off x="502920" y="3840480"/>
            <a:ext cx="233172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Prometheus/Grafana</a:t>
            </a:r>
            <a:endParaRPr lang="en-US" sz="1050" dirty="0"/>
          </a:p>
        </p:txBody>
      </p:sp>
      <p:sp>
        <p:nvSpPr>
          <p:cNvPr id="18" name="Text 16"/>
          <p:cNvSpPr/>
          <p:nvPr/>
        </p:nvSpPr>
        <p:spPr>
          <a:xfrm>
            <a:off x="3063240" y="1691640"/>
            <a:ext cx="1965960" cy="274320"/>
          </a:xfrm>
          <a:prstGeom prst="rect">
            <a:avLst/>
          </a:prstGeom>
          <a:noFill/>
          <a:ln/>
        </p:spPr>
        <p:txBody>
          <a:bodyPr wrap="square" rtlCol="0" anchor="ctr"/>
          <a:lstStyle/>
          <a:p>
            <a:pPr indent="0" marL="0">
              <a:buNone/>
            </a:pPr>
            <a:r>
              <a:rPr lang="en-US" sz="1000" b="1" spc="100" kern="0" dirty="0">
                <a:solidFill>
                  <a:srgbClr val="5B6B7C"/>
                </a:solidFill>
                <a:latin typeface="Calibri" pitchFamily="34" charset="0"/>
                <a:ea typeface="Calibri" pitchFamily="34" charset="-122"/>
                <a:cs typeface="Calibri" pitchFamily="34" charset="-120"/>
              </a:rPr>
              <a:t>LOGGING</a:t>
            </a:r>
            <a:endParaRPr lang="en-US" sz="1000" dirty="0"/>
          </a:p>
        </p:txBody>
      </p:sp>
      <p:sp>
        <p:nvSpPr>
          <p:cNvPr id="19" name="Shape 17"/>
          <p:cNvSpPr/>
          <p:nvPr/>
        </p:nvSpPr>
        <p:spPr>
          <a:xfrm>
            <a:off x="3063240" y="2011680"/>
            <a:ext cx="1965960" cy="365760"/>
          </a:xfrm>
          <a:prstGeom prst="roundRect">
            <a:avLst>
              <a:gd name="adj" fmla="val 15000"/>
            </a:avLst>
          </a:prstGeom>
          <a:solidFill>
            <a:srgbClr val="EEF1F4"/>
          </a:solidFill>
          <a:ln w="12700">
            <a:solidFill>
              <a:srgbClr val="5B6B7C"/>
            </a:solidFill>
            <a:prstDash val="solid"/>
          </a:ln>
        </p:spPr>
      </p:sp>
      <p:sp>
        <p:nvSpPr>
          <p:cNvPr id="20" name="Text 18"/>
          <p:cNvSpPr/>
          <p:nvPr/>
        </p:nvSpPr>
        <p:spPr>
          <a:xfrm>
            <a:off x="3063240" y="2011680"/>
            <a:ext cx="196596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Splunk</a:t>
            </a:r>
            <a:endParaRPr lang="en-US" sz="1050" dirty="0"/>
          </a:p>
        </p:txBody>
      </p:sp>
      <p:sp>
        <p:nvSpPr>
          <p:cNvPr id="21" name="Shape 19"/>
          <p:cNvSpPr/>
          <p:nvPr/>
        </p:nvSpPr>
        <p:spPr>
          <a:xfrm>
            <a:off x="3063240" y="2468880"/>
            <a:ext cx="1965960" cy="365760"/>
          </a:xfrm>
          <a:prstGeom prst="roundRect">
            <a:avLst>
              <a:gd name="adj" fmla="val 15000"/>
            </a:avLst>
          </a:prstGeom>
          <a:solidFill>
            <a:srgbClr val="EEF1F4"/>
          </a:solidFill>
          <a:ln w="12700">
            <a:solidFill>
              <a:srgbClr val="5B6B7C"/>
            </a:solidFill>
            <a:prstDash val="solid"/>
          </a:ln>
        </p:spPr>
      </p:sp>
      <p:sp>
        <p:nvSpPr>
          <p:cNvPr id="22" name="Text 20"/>
          <p:cNvSpPr/>
          <p:nvPr/>
        </p:nvSpPr>
        <p:spPr>
          <a:xfrm>
            <a:off x="3063240" y="2468880"/>
            <a:ext cx="196596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Log Analytics WS</a:t>
            </a:r>
            <a:endParaRPr lang="en-US" sz="1050" dirty="0"/>
          </a:p>
        </p:txBody>
      </p:sp>
      <p:sp>
        <p:nvSpPr>
          <p:cNvPr id="23" name="Shape 21"/>
          <p:cNvSpPr/>
          <p:nvPr/>
        </p:nvSpPr>
        <p:spPr>
          <a:xfrm>
            <a:off x="3063240" y="2926080"/>
            <a:ext cx="1965960" cy="365760"/>
          </a:xfrm>
          <a:prstGeom prst="roundRect">
            <a:avLst>
              <a:gd name="adj" fmla="val 15000"/>
            </a:avLst>
          </a:prstGeom>
          <a:solidFill>
            <a:srgbClr val="EEF1F4"/>
          </a:solidFill>
          <a:ln w="12700">
            <a:solidFill>
              <a:srgbClr val="5B6B7C"/>
            </a:solidFill>
            <a:prstDash val="solid"/>
          </a:ln>
        </p:spPr>
      </p:sp>
      <p:sp>
        <p:nvSpPr>
          <p:cNvPr id="24" name="Text 22"/>
          <p:cNvSpPr/>
          <p:nvPr/>
        </p:nvSpPr>
        <p:spPr>
          <a:xfrm>
            <a:off x="3063240" y="2926080"/>
            <a:ext cx="196596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Syslog</a:t>
            </a:r>
            <a:endParaRPr lang="en-US" sz="1050" dirty="0"/>
          </a:p>
        </p:txBody>
      </p:sp>
      <p:sp>
        <p:nvSpPr>
          <p:cNvPr id="25" name="Shape 23"/>
          <p:cNvSpPr/>
          <p:nvPr/>
        </p:nvSpPr>
        <p:spPr>
          <a:xfrm>
            <a:off x="3063240" y="3383280"/>
            <a:ext cx="1965960" cy="365760"/>
          </a:xfrm>
          <a:prstGeom prst="roundRect">
            <a:avLst>
              <a:gd name="adj" fmla="val 15000"/>
            </a:avLst>
          </a:prstGeom>
          <a:solidFill>
            <a:srgbClr val="EEF1F4"/>
          </a:solidFill>
          <a:ln w="12700">
            <a:solidFill>
              <a:srgbClr val="5B6B7C"/>
            </a:solidFill>
            <a:prstDash val="solid"/>
          </a:ln>
        </p:spPr>
      </p:sp>
      <p:sp>
        <p:nvSpPr>
          <p:cNvPr id="26" name="Text 24"/>
          <p:cNvSpPr/>
          <p:nvPr/>
        </p:nvSpPr>
        <p:spPr>
          <a:xfrm>
            <a:off x="3063240" y="3383280"/>
            <a:ext cx="196596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Windows Event Logs</a:t>
            </a:r>
            <a:endParaRPr lang="en-US" sz="1050" dirty="0"/>
          </a:p>
        </p:txBody>
      </p:sp>
      <p:sp>
        <p:nvSpPr>
          <p:cNvPr id="27" name="Text 25"/>
          <p:cNvSpPr/>
          <p:nvPr/>
        </p:nvSpPr>
        <p:spPr>
          <a:xfrm>
            <a:off x="5257800" y="1691640"/>
            <a:ext cx="1965960" cy="274320"/>
          </a:xfrm>
          <a:prstGeom prst="rect">
            <a:avLst/>
          </a:prstGeom>
          <a:noFill/>
          <a:ln/>
        </p:spPr>
        <p:txBody>
          <a:bodyPr wrap="square" rtlCol="0" anchor="ctr"/>
          <a:lstStyle/>
          <a:p>
            <a:pPr indent="0" marL="0">
              <a:buNone/>
            </a:pPr>
            <a:r>
              <a:rPr lang="en-US" sz="1000" b="1" spc="100" kern="0" dirty="0">
                <a:solidFill>
                  <a:srgbClr val="C0392B"/>
                </a:solidFill>
                <a:latin typeface="Calibri" pitchFamily="34" charset="0"/>
                <a:ea typeface="Calibri" pitchFamily="34" charset="-122"/>
                <a:cs typeface="Calibri" pitchFamily="34" charset="-120"/>
              </a:rPr>
              <a:t>SECURITY &amp; ACCESS</a:t>
            </a:r>
            <a:endParaRPr lang="en-US" sz="1000" dirty="0"/>
          </a:p>
        </p:txBody>
      </p:sp>
      <p:sp>
        <p:nvSpPr>
          <p:cNvPr id="28" name="Shape 26"/>
          <p:cNvSpPr/>
          <p:nvPr/>
        </p:nvSpPr>
        <p:spPr>
          <a:xfrm>
            <a:off x="5257800" y="2011680"/>
            <a:ext cx="1965960" cy="365760"/>
          </a:xfrm>
          <a:prstGeom prst="roundRect">
            <a:avLst>
              <a:gd name="adj" fmla="val 15000"/>
            </a:avLst>
          </a:prstGeom>
          <a:solidFill>
            <a:srgbClr val="EEF1F4"/>
          </a:solidFill>
          <a:ln w="12700">
            <a:solidFill>
              <a:srgbClr val="C0392B"/>
            </a:solidFill>
            <a:prstDash val="solid"/>
          </a:ln>
        </p:spPr>
      </p:sp>
      <p:sp>
        <p:nvSpPr>
          <p:cNvPr id="29" name="Text 27"/>
          <p:cNvSpPr/>
          <p:nvPr/>
        </p:nvSpPr>
        <p:spPr>
          <a:xfrm>
            <a:off x="5257800" y="2011680"/>
            <a:ext cx="196596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CyberArk PAM</a:t>
            </a:r>
            <a:endParaRPr lang="en-US" sz="1050" dirty="0"/>
          </a:p>
        </p:txBody>
      </p:sp>
      <p:sp>
        <p:nvSpPr>
          <p:cNvPr id="30" name="Shape 28"/>
          <p:cNvSpPr/>
          <p:nvPr/>
        </p:nvSpPr>
        <p:spPr>
          <a:xfrm>
            <a:off x="5257800" y="2468880"/>
            <a:ext cx="1965960" cy="365760"/>
          </a:xfrm>
          <a:prstGeom prst="roundRect">
            <a:avLst>
              <a:gd name="adj" fmla="val 15000"/>
            </a:avLst>
          </a:prstGeom>
          <a:solidFill>
            <a:srgbClr val="EEF1F4"/>
          </a:solidFill>
          <a:ln w="12700">
            <a:solidFill>
              <a:srgbClr val="C0392B"/>
            </a:solidFill>
            <a:prstDash val="solid"/>
          </a:ln>
        </p:spPr>
      </p:sp>
      <p:sp>
        <p:nvSpPr>
          <p:cNvPr id="31" name="Text 29"/>
          <p:cNvSpPr/>
          <p:nvPr/>
        </p:nvSpPr>
        <p:spPr>
          <a:xfrm>
            <a:off x="5257800" y="2468880"/>
            <a:ext cx="196596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DB Access Mon.</a:t>
            </a:r>
            <a:endParaRPr lang="en-US" sz="1050" dirty="0"/>
          </a:p>
        </p:txBody>
      </p:sp>
      <p:sp>
        <p:nvSpPr>
          <p:cNvPr id="32" name="Shape 30"/>
          <p:cNvSpPr/>
          <p:nvPr/>
        </p:nvSpPr>
        <p:spPr>
          <a:xfrm>
            <a:off x="5257800" y="2926080"/>
            <a:ext cx="1965960" cy="365760"/>
          </a:xfrm>
          <a:prstGeom prst="roundRect">
            <a:avLst>
              <a:gd name="adj" fmla="val 15000"/>
            </a:avLst>
          </a:prstGeom>
          <a:solidFill>
            <a:srgbClr val="EEF1F4"/>
          </a:solidFill>
          <a:ln w="12700">
            <a:solidFill>
              <a:srgbClr val="C0392B"/>
            </a:solidFill>
            <a:prstDash val="solid"/>
          </a:ln>
        </p:spPr>
      </p:sp>
      <p:sp>
        <p:nvSpPr>
          <p:cNvPr id="33" name="Text 31"/>
          <p:cNvSpPr/>
          <p:nvPr/>
        </p:nvSpPr>
        <p:spPr>
          <a:xfrm>
            <a:off x="5257800" y="2926080"/>
            <a:ext cx="196596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Entra ID / AD</a:t>
            </a:r>
            <a:endParaRPr lang="en-US" sz="1050" dirty="0"/>
          </a:p>
        </p:txBody>
      </p:sp>
      <p:sp>
        <p:nvSpPr>
          <p:cNvPr id="34" name="Text 32"/>
          <p:cNvSpPr/>
          <p:nvPr/>
        </p:nvSpPr>
        <p:spPr>
          <a:xfrm>
            <a:off x="7452360" y="1691640"/>
            <a:ext cx="1965960" cy="274320"/>
          </a:xfrm>
          <a:prstGeom prst="rect">
            <a:avLst/>
          </a:prstGeom>
          <a:noFill/>
          <a:ln/>
        </p:spPr>
        <p:txBody>
          <a:bodyPr wrap="square" rtlCol="0" anchor="ctr"/>
          <a:lstStyle/>
          <a:p>
            <a:pPr indent="0" marL="0">
              <a:buNone/>
            </a:pPr>
            <a:r>
              <a:rPr lang="en-US" sz="1000" b="1" spc="100" kern="0" dirty="0">
                <a:solidFill>
                  <a:srgbClr val="019879"/>
                </a:solidFill>
                <a:latin typeface="Calibri" pitchFamily="34" charset="0"/>
                <a:ea typeface="Calibri" pitchFamily="34" charset="-122"/>
                <a:cs typeface="Calibri" pitchFamily="34" charset="-120"/>
              </a:rPr>
              <a:t>ITSM</a:t>
            </a:r>
            <a:endParaRPr lang="en-US" sz="1000" dirty="0"/>
          </a:p>
        </p:txBody>
      </p:sp>
      <p:sp>
        <p:nvSpPr>
          <p:cNvPr id="35" name="Shape 33"/>
          <p:cNvSpPr/>
          <p:nvPr/>
        </p:nvSpPr>
        <p:spPr>
          <a:xfrm>
            <a:off x="7452360" y="2011680"/>
            <a:ext cx="1965960" cy="365760"/>
          </a:xfrm>
          <a:prstGeom prst="roundRect">
            <a:avLst>
              <a:gd name="adj" fmla="val 15000"/>
            </a:avLst>
          </a:prstGeom>
          <a:solidFill>
            <a:srgbClr val="EEF1F4"/>
          </a:solidFill>
          <a:ln w="12700">
            <a:solidFill>
              <a:srgbClr val="019879"/>
            </a:solidFill>
            <a:prstDash val="solid"/>
          </a:ln>
        </p:spPr>
      </p:sp>
      <p:sp>
        <p:nvSpPr>
          <p:cNvPr id="36" name="Text 34"/>
          <p:cNvSpPr/>
          <p:nvPr/>
        </p:nvSpPr>
        <p:spPr>
          <a:xfrm>
            <a:off x="7452360" y="2011680"/>
            <a:ext cx="1965960" cy="365760"/>
          </a:xfrm>
          <a:prstGeom prst="rect">
            <a:avLst/>
          </a:prstGeom>
          <a:noFill/>
          <a:ln/>
        </p:spPr>
        <p:txBody>
          <a:bodyPr wrap="square" rtlCol="0" anchor="ctr"/>
          <a:lstStyle/>
          <a:p>
            <a:pPr algn="ctr" indent="0" marL="0">
              <a:buNone/>
            </a:pPr>
            <a:r>
              <a:rPr lang="en-US" sz="1050" dirty="0">
                <a:solidFill>
                  <a:srgbClr val="232B3A"/>
                </a:solidFill>
                <a:latin typeface="Calibri" pitchFamily="34" charset="0"/>
                <a:ea typeface="Calibri" pitchFamily="34" charset="-122"/>
                <a:cs typeface="Calibri" pitchFamily="34" charset="-120"/>
              </a:rPr>
              <a:t>ServiceNow</a:t>
            </a:r>
            <a:endParaRPr lang="en-US" sz="1050" dirty="0"/>
          </a:p>
        </p:txBody>
      </p:sp>
      <p:sp>
        <p:nvSpPr>
          <p:cNvPr id="37" name="Shape 35"/>
          <p:cNvSpPr/>
          <p:nvPr/>
        </p:nvSpPr>
        <p:spPr>
          <a:xfrm>
            <a:off x="502920" y="4480560"/>
            <a:ext cx="8915400" cy="777240"/>
          </a:xfrm>
          <a:prstGeom prst="roundRect">
            <a:avLst>
              <a:gd name="adj" fmla="val 9412"/>
            </a:avLst>
          </a:prstGeom>
          <a:solidFill>
            <a:srgbClr val="1E2761"/>
          </a:solidFill>
          <a:ln/>
        </p:spPr>
      </p:sp>
      <p:sp>
        <p:nvSpPr>
          <p:cNvPr id="38" name="Text 36"/>
          <p:cNvSpPr/>
          <p:nvPr/>
        </p:nvSpPr>
        <p:spPr>
          <a:xfrm>
            <a:off x="777240" y="4480560"/>
            <a:ext cx="8412480" cy="777240"/>
          </a:xfrm>
          <a:prstGeom prst="rect">
            <a:avLst/>
          </a:prstGeom>
          <a:noFill/>
          <a:ln/>
        </p:spPr>
        <p:txBody>
          <a:bodyPr wrap="square"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Each tool is excellent at its job — none of them talk to each other. Humans are the correlation engine.</a:t>
            </a:r>
            <a:endParaRPr lang="en-US" sz="1400" dirty="0"/>
          </a:p>
        </p:txBody>
      </p:sp>
      <p:sp>
        <p:nvSpPr>
          <p:cNvPr id="39" name="Shape 37"/>
          <p:cNvSpPr/>
          <p:nvPr/>
        </p:nvSpPr>
        <p:spPr>
          <a:xfrm>
            <a:off x="9646920" y="1691640"/>
            <a:ext cx="2011680" cy="1005840"/>
          </a:xfrm>
          <a:prstGeom prst="roundRect">
            <a:avLst>
              <a:gd name="adj" fmla="val 7273"/>
            </a:avLst>
          </a:prstGeom>
          <a:solidFill>
            <a:srgbClr val="E4FBF5"/>
          </a:solidFill>
          <a:ln/>
        </p:spPr>
      </p:sp>
      <p:sp>
        <p:nvSpPr>
          <p:cNvPr id="40" name="Text 38"/>
          <p:cNvSpPr/>
          <p:nvPr/>
        </p:nvSpPr>
        <p:spPr>
          <a:xfrm>
            <a:off x="9646920" y="1764792"/>
            <a:ext cx="2011680" cy="411480"/>
          </a:xfrm>
          <a:prstGeom prst="rect">
            <a:avLst/>
          </a:prstGeom>
          <a:noFill/>
          <a:ln/>
        </p:spPr>
        <p:txBody>
          <a:bodyPr wrap="square" rtlCol="0" anchor="ctr"/>
          <a:lstStyle/>
          <a:p>
            <a:pPr algn="ctr" indent="0" marL="0">
              <a:buNone/>
            </a:pPr>
            <a:r>
              <a:rPr lang="en-US" sz="1900" b="1" dirty="0">
                <a:solidFill>
                  <a:srgbClr val="019879"/>
                </a:solidFill>
                <a:latin typeface="Cambria" pitchFamily="34" charset="0"/>
                <a:ea typeface="Cambria" pitchFamily="34" charset="-122"/>
                <a:cs typeface="Cambria" pitchFamily="34" charset="-120"/>
              </a:rPr>
              <a:t>10,000s</a:t>
            </a:r>
            <a:endParaRPr lang="en-US" sz="1900" dirty="0"/>
          </a:p>
        </p:txBody>
      </p:sp>
      <p:sp>
        <p:nvSpPr>
          <p:cNvPr id="41" name="Text 39"/>
          <p:cNvSpPr/>
          <p:nvPr/>
        </p:nvSpPr>
        <p:spPr>
          <a:xfrm>
            <a:off x="9738360" y="2167128"/>
            <a:ext cx="1828800" cy="457200"/>
          </a:xfrm>
          <a:prstGeom prst="rect">
            <a:avLst/>
          </a:prstGeom>
          <a:noFill/>
          <a:ln/>
        </p:spPr>
        <p:txBody>
          <a:bodyPr wrap="square" rtlCol="0" anchor="ctr"/>
          <a:lstStyle/>
          <a:p>
            <a:pPr algn="ctr" indent="0" marL="0">
              <a:lnSpc>
                <a:spcPct val="105000"/>
              </a:lnSpc>
              <a:buNone/>
            </a:pPr>
            <a:r>
              <a:rPr lang="en-US" sz="850" dirty="0">
                <a:solidFill>
                  <a:srgbClr val="232B3A"/>
                </a:solidFill>
                <a:latin typeface="Calibri" pitchFamily="34" charset="0"/>
                <a:ea typeface="Calibri" pitchFamily="34" charset="-122"/>
                <a:cs typeface="Calibri" pitchFamily="34" charset="-120"/>
              </a:rPr>
              <a:t>raw alerts / month, mostly noise</a:t>
            </a:r>
            <a:endParaRPr lang="en-US" sz="850" dirty="0"/>
          </a:p>
        </p:txBody>
      </p:sp>
      <p:sp>
        <p:nvSpPr>
          <p:cNvPr id="42" name="Shape 40"/>
          <p:cNvSpPr/>
          <p:nvPr/>
        </p:nvSpPr>
        <p:spPr>
          <a:xfrm>
            <a:off x="9646920" y="2862072"/>
            <a:ext cx="2011680" cy="1005840"/>
          </a:xfrm>
          <a:prstGeom prst="roundRect">
            <a:avLst>
              <a:gd name="adj" fmla="val 7273"/>
            </a:avLst>
          </a:prstGeom>
          <a:solidFill>
            <a:srgbClr val="E4FBF5"/>
          </a:solidFill>
          <a:ln/>
        </p:spPr>
      </p:sp>
      <p:sp>
        <p:nvSpPr>
          <p:cNvPr id="43" name="Text 41"/>
          <p:cNvSpPr/>
          <p:nvPr/>
        </p:nvSpPr>
        <p:spPr>
          <a:xfrm>
            <a:off x="9646920" y="2935224"/>
            <a:ext cx="2011680" cy="411480"/>
          </a:xfrm>
          <a:prstGeom prst="rect">
            <a:avLst/>
          </a:prstGeom>
          <a:noFill/>
          <a:ln/>
        </p:spPr>
        <p:txBody>
          <a:bodyPr wrap="square" rtlCol="0" anchor="ctr"/>
          <a:lstStyle/>
          <a:p>
            <a:pPr algn="ctr" indent="0" marL="0">
              <a:buNone/>
            </a:pPr>
            <a:r>
              <a:rPr lang="en-US" sz="1900" b="1" dirty="0">
                <a:solidFill>
                  <a:srgbClr val="019879"/>
                </a:solidFill>
                <a:latin typeface="Cambria" pitchFamily="34" charset="0"/>
                <a:ea typeface="Cambria" pitchFamily="34" charset="-122"/>
                <a:cs typeface="Cambria" pitchFamily="34" charset="-120"/>
              </a:rPr>
              <a:t>5–9</a:t>
            </a:r>
            <a:endParaRPr lang="en-US" sz="1900" dirty="0"/>
          </a:p>
        </p:txBody>
      </p:sp>
      <p:sp>
        <p:nvSpPr>
          <p:cNvPr id="44" name="Text 42"/>
          <p:cNvSpPr/>
          <p:nvPr/>
        </p:nvSpPr>
        <p:spPr>
          <a:xfrm>
            <a:off x="9738360" y="3337560"/>
            <a:ext cx="1828800" cy="457200"/>
          </a:xfrm>
          <a:prstGeom prst="rect">
            <a:avLst/>
          </a:prstGeom>
          <a:noFill/>
          <a:ln/>
        </p:spPr>
        <p:txBody>
          <a:bodyPr wrap="square" rtlCol="0" anchor="ctr"/>
          <a:lstStyle/>
          <a:p>
            <a:pPr algn="ctr" indent="0" marL="0">
              <a:lnSpc>
                <a:spcPct val="105000"/>
              </a:lnSpc>
              <a:buNone/>
            </a:pPr>
            <a:r>
              <a:rPr lang="en-US" sz="850" dirty="0">
                <a:solidFill>
                  <a:srgbClr val="232B3A"/>
                </a:solidFill>
                <a:latin typeface="Calibri" pitchFamily="34" charset="0"/>
                <a:ea typeface="Calibri" pitchFamily="34" charset="-122"/>
                <a:cs typeface="Calibri" pitchFamily="34" charset="-120"/>
              </a:rPr>
              <a:t>consoles touched per major incident</a:t>
            </a:r>
            <a:endParaRPr lang="en-US" sz="850" dirty="0"/>
          </a:p>
        </p:txBody>
      </p:sp>
      <p:sp>
        <p:nvSpPr>
          <p:cNvPr id="45" name="Shape 43"/>
          <p:cNvSpPr/>
          <p:nvPr/>
        </p:nvSpPr>
        <p:spPr>
          <a:xfrm>
            <a:off x="9646920" y="4032504"/>
            <a:ext cx="2011680" cy="1005840"/>
          </a:xfrm>
          <a:prstGeom prst="roundRect">
            <a:avLst>
              <a:gd name="adj" fmla="val 7273"/>
            </a:avLst>
          </a:prstGeom>
          <a:solidFill>
            <a:srgbClr val="E4FBF5"/>
          </a:solidFill>
          <a:ln/>
        </p:spPr>
      </p:sp>
      <p:sp>
        <p:nvSpPr>
          <p:cNvPr id="46" name="Text 44"/>
          <p:cNvSpPr/>
          <p:nvPr/>
        </p:nvSpPr>
        <p:spPr>
          <a:xfrm>
            <a:off x="9646920" y="4105656"/>
            <a:ext cx="2011680" cy="411480"/>
          </a:xfrm>
          <a:prstGeom prst="rect">
            <a:avLst/>
          </a:prstGeom>
          <a:noFill/>
          <a:ln/>
        </p:spPr>
        <p:txBody>
          <a:bodyPr wrap="square" rtlCol="0" anchor="ctr"/>
          <a:lstStyle/>
          <a:p>
            <a:pPr algn="ctr" indent="0" marL="0">
              <a:buNone/>
            </a:pPr>
            <a:r>
              <a:rPr lang="en-US" sz="1900" b="1" dirty="0">
                <a:solidFill>
                  <a:srgbClr val="019879"/>
                </a:solidFill>
                <a:latin typeface="Cambria" pitchFamily="34" charset="0"/>
                <a:ea typeface="Cambria" pitchFamily="34" charset="-122"/>
                <a:cs typeface="Cambria" pitchFamily="34" charset="-120"/>
              </a:rPr>
              <a:t>Hours</a:t>
            </a:r>
            <a:endParaRPr lang="en-US" sz="1900" dirty="0"/>
          </a:p>
        </p:txBody>
      </p:sp>
      <p:sp>
        <p:nvSpPr>
          <p:cNvPr id="47" name="Text 45"/>
          <p:cNvSpPr/>
          <p:nvPr/>
        </p:nvSpPr>
        <p:spPr>
          <a:xfrm>
            <a:off x="9738360" y="4507992"/>
            <a:ext cx="1828800" cy="457200"/>
          </a:xfrm>
          <a:prstGeom prst="rect">
            <a:avLst/>
          </a:prstGeom>
          <a:noFill/>
          <a:ln/>
        </p:spPr>
        <p:txBody>
          <a:bodyPr wrap="square" rtlCol="0" anchor="ctr"/>
          <a:lstStyle/>
          <a:p>
            <a:pPr algn="ctr" indent="0" marL="0">
              <a:lnSpc>
                <a:spcPct val="105000"/>
              </a:lnSpc>
              <a:buNone/>
            </a:pPr>
            <a:r>
              <a:rPr lang="en-US" sz="850" dirty="0">
                <a:solidFill>
                  <a:srgbClr val="232B3A"/>
                </a:solidFill>
                <a:latin typeface="Calibri" pitchFamily="34" charset="0"/>
                <a:ea typeface="Calibri" pitchFamily="34" charset="-122"/>
                <a:cs typeface="Calibri" pitchFamily="34" charset="-120"/>
              </a:rPr>
              <a:t>MTTR driven by manual correlation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INDUSTRY TRENDS</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The Shift to Autonomous, AI-Native IT Operations</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2 · CURRENT STATE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6 / 33</a:t>
            </a:r>
            <a:endParaRPr lang="en-US" sz="850" dirty="0"/>
          </a:p>
        </p:txBody>
      </p:sp>
      <p:sp>
        <p:nvSpPr>
          <p:cNvPr id="7" name="Shape 5"/>
          <p:cNvSpPr/>
          <p:nvPr/>
        </p:nvSpPr>
        <p:spPr>
          <a:xfrm>
            <a:off x="502920" y="1737360"/>
            <a:ext cx="3535680" cy="1965960"/>
          </a:xfrm>
          <a:prstGeom prst="roundRect">
            <a:avLst>
              <a:gd name="adj" fmla="val 3721"/>
            </a:avLst>
          </a:prstGeom>
          <a:solidFill>
            <a:srgbClr val="EEF1F4"/>
          </a:solidFill>
          <a:ln/>
        </p:spPr>
      </p:sp>
      <p:sp>
        <p:nvSpPr>
          <p:cNvPr id="8" name="Shape 6"/>
          <p:cNvSpPr/>
          <p:nvPr/>
        </p:nvSpPr>
        <p:spPr>
          <a:xfrm>
            <a:off x="685800" y="1920240"/>
            <a:ext cx="384048" cy="384048"/>
          </a:xfrm>
          <a:prstGeom prst="roundRect">
            <a:avLst>
              <a:gd name="adj" fmla="val 21429"/>
            </a:avLst>
          </a:prstGeom>
          <a:solidFill>
            <a:srgbClr val="02C39A"/>
          </a:solidFill>
          <a:ln/>
        </p:spPr>
      </p:sp>
      <p:sp>
        <p:nvSpPr>
          <p:cNvPr id="9" name="Text 7"/>
          <p:cNvSpPr/>
          <p:nvPr/>
        </p:nvSpPr>
        <p:spPr>
          <a:xfrm>
            <a:off x="685800" y="192024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0" name="Text 8"/>
          <p:cNvSpPr/>
          <p:nvPr/>
        </p:nvSpPr>
        <p:spPr>
          <a:xfrm>
            <a:off x="685800" y="2395728"/>
            <a:ext cx="3169920" cy="411480"/>
          </a:xfrm>
          <a:prstGeom prst="rect">
            <a:avLst/>
          </a:prstGeom>
          <a:noFill/>
          <a:ln/>
        </p:spPr>
        <p:txBody>
          <a:bodyPr wrap="square" rtlCol="0" anchor="ctr"/>
          <a:lstStyle/>
          <a:p>
            <a:pPr indent="0" marL="0">
              <a:buNone/>
            </a:pPr>
            <a:r>
              <a:rPr lang="en-US" sz="1250" b="1" dirty="0">
                <a:solidFill>
                  <a:srgbClr val="232B3A"/>
                </a:solidFill>
                <a:latin typeface="Cambria" pitchFamily="34" charset="0"/>
                <a:ea typeface="Cambria" pitchFamily="34" charset="-122"/>
                <a:cs typeface="Cambria" pitchFamily="34" charset="-120"/>
              </a:rPr>
              <a:t>Generative &amp; Agentic AI</a:t>
            </a:r>
            <a:endParaRPr lang="en-US" sz="1250" dirty="0"/>
          </a:p>
        </p:txBody>
      </p:sp>
      <p:sp>
        <p:nvSpPr>
          <p:cNvPr id="11" name="Text 9"/>
          <p:cNvSpPr/>
          <p:nvPr/>
        </p:nvSpPr>
        <p:spPr>
          <a:xfrm>
            <a:off x="685800" y="2816352"/>
            <a:ext cx="3169920" cy="777240"/>
          </a:xfrm>
          <a:prstGeom prst="rect">
            <a:avLst/>
          </a:prstGeom>
          <a:noFill/>
          <a:ln/>
        </p:spPr>
        <p:txBody>
          <a:bodyPr wrap="square" rtlCol="0" anchor="ctr"/>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LLM-based agents that plan, act, and self-correct across IT workflows, not just answer questions.</a:t>
            </a:r>
            <a:endParaRPr lang="en-US" sz="950" dirty="0"/>
          </a:p>
        </p:txBody>
      </p:sp>
      <p:sp>
        <p:nvSpPr>
          <p:cNvPr id="12" name="Shape 10"/>
          <p:cNvSpPr/>
          <p:nvPr/>
        </p:nvSpPr>
        <p:spPr>
          <a:xfrm>
            <a:off x="4312920" y="1737360"/>
            <a:ext cx="3535680" cy="1965960"/>
          </a:xfrm>
          <a:prstGeom prst="roundRect">
            <a:avLst>
              <a:gd name="adj" fmla="val 3721"/>
            </a:avLst>
          </a:prstGeom>
          <a:solidFill>
            <a:srgbClr val="EEF1F4"/>
          </a:solidFill>
          <a:ln/>
        </p:spPr>
      </p:sp>
      <p:sp>
        <p:nvSpPr>
          <p:cNvPr id="13" name="Shape 11"/>
          <p:cNvSpPr/>
          <p:nvPr/>
        </p:nvSpPr>
        <p:spPr>
          <a:xfrm>
            <a:off x="4495800" y="1920240"/>
            <a:ext cx="384048" cy="384048"/>
          </a:xfrm>
          <a:prstGeom prst="roundRect">
            <a:avLst>
              <a:gd name="adj" fmla="val 21429"/>
            </a:avLst>
          </a:prstGeom>
          <a:solidFill>
            <a:srgbClr val="02C39A"/>
          </a:solidFill>
          <a:ln/>
        </p:spPr>
      </p:sp>
      <p:sp>
        <p:nvSpPr>
          <p:cNvPr id="14" name="Text 12"/>
          <p:cNvSpPr/>
          <p:nvPr/>
        </p:nvSpPr>
        <p:spPr>
          <a:xfrm>
            <a:off x="4495800" y="192024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p:nvPr/>
        </p:nvSpPr>
        <p:spPr>
          <a:xfrm>
            <a:off x="4495800" y="2395728"/>
            <a:ext cx="3169920" cy="411480"/>
          </a:xfrm>
          <a:prstGeom prst="rect">
            <a:avLst/>
          </a:prstGeom>
          <a:noFill/>
          <a:ln/>
        </p:spPr>
        <p:txBody>
          <a:bodyPr wrap="square" rtlCol="0" anchor="ctr"/>
          <a:lstStyle/>
          <a:p>
            <a:pPr indent="0" marL="0">
              <a:buNone/>
            </a:pPr>
            <a:r>
              <a:rPr lang="en-US" sz="1250" b="1" dirty="0">
                <a:solidFill>
                  <a:srgbClr val="232B3A"/>
                </a:solidFill>
                <a:latin typeface="Cambria" pitchFamily="34" charset="0"/>
                <a:ea typeface="Cambria" pitchFamily="34" charset="-122"/>
                <a:cs typeface="Cambria" pitchFamily="34" charset="-120"/>
              </a:rPr>
              <a:t>AIOps &amp; Hyperautomation</a:t>
            </a:r>
            <a:endParaRPr lang="en-US" sz="1250" dirty="0"/>
          </a:p>
        </p:txBody>
      </p:sp>
      <p:sp>
        <p:nvSpPr>
          <p:cNvPr id="16" name="Text 14"/>
          <p:cNvSpPr/>
          <p:nvPr/>
        </p:nvSpPr>
        <p:spPr>
          <a:xfrm>
            <a:off x="4495800" y="2816352"/>
            <a:ext cx="3169920" cy="777240"/>
          </a:xfrm>
          <a:prstGeom prst="rect">
            <a:avLst/>
          </a:prstGeom>
          <a:noFill/>
          <a:ln/>
        </p:spPr>
        <p:txBody>
          <a:bodyPr wrap="square" rtlCol="0" anchor="ctr"/>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AI-driven correlation, RCA and workflow automation layered above existing monitoring investments.</a:t>
            </a:r>
            <a:endParaRPr lang="en-US" sz="950" dirty="0"/>
          </a:p>
        </p:txBody>
      </p:sp>
      <p:sp>
        <p:nvSpPr>
          <p:cNvPr id="17" name="Shape 15"/>
          <p:cNvSpPr/>
          <p:nvPr/>
        </p:nvSpPr>
        <p:spPr>
          <a:xfrm>
            <a:off x="8122920" y="1737360"/>
            <a:ext cx="3535680" cy="1965960"/>
          </a:xfrm>
          <a:prstGeom prst="roundRect">
            <a:avLst>
              <a:gd name="adj" fmla="val 3721"/>
            </a:avLst>
          </a:prstGeom>
          <a:solidFill>
            <a:srgbClr val="EEF1F4"/>
          </a:solidFill>
          <a:ln/>
        </p:spPr>
      </p:sp>
      <p:sp>
        <p:nvSpPr>
          <p:cNvPr id="18" name="Shape 16"/>
          <p:cNvSpPr/>
          <p:nvPr/>
        </p:nvSpPr>
        <p:spPr>
          <a:xfrm>
            <a:off x="8305800" y="1920240"/>
            <a:ext cx="384048" cy="384048"/>
          </a:xfrm>
          <a:prstGeom prst="roundRect">
            <a:avLst>
              <a:gd name="adj" fmla="val 21429"/>
            </a:avLst>
          </a:prstGeom>
          <a:solidFill>
            <a:srgbClr val="02C39A"/>
          </a:solidFill>
          <a:ln/>
        </p:spPr>
      </p:sp>
      <p:sp>
        <p:nvSpPr>
          <p:cNvPr id="19" name="Text 17"/>
          <p:cNvSpPr/>
          <p:nvPr/>
        </p:nvSpPr>
        <p:spPr>
          <a:xfrm>
            <a:off x="8305800" y="192024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Text 18"/>
          <p:cNvSpPr/>
          <p:nvPr/>
        </p:nvSpPr>
        <p:spPr>
          <a:xfrm>
            <a:off x="8305800" y="2395728"/>
            <a:ext cx="3169920" cy="411480"/>
          </a:xfrm>
          <a:prstGeom prst="rect">
            <a:avLst/>
          </a:prstGeom>
          <a:noFill/>
          <a:ln/>
        </p:spPr>
        <p:txBody>
          <a:bodyPr wrap="square" rtlCol="0" anchor="ctr"/>
          <a:lstStyle/>
          <a:p>
            <a:pPr indent="0" marL="0">
              <a:buNone/>
            </a:pPr>
            <a:r>
              <a:rPr lang="en-US" sz="1250" b="1" dirty="0">
                <a:solidFill>
                  <a:srgbClr val="232B3A"/>
                </a:solidFill>
                <a:latin typeface="Cambria" pitchFamily="34" charset="0"/>
                <a:ea typeface="Cambria" pitchFamily="34" charset="-122"/>
                <a:cs typeface="Cambria" pitchFamily="34" charset="-120"/>
              </a:rPr>
              <a:t>Autonomous IT / Self-Healing</a:t>
            </a:r>
            <a:endParaRPr lang="en-US" sz="1250" dirty="0"/>
          </a:p>
        </p:txBody>
      </p:sp>
      <p:sp>
        <p:nvSpPr>
          <p:cNvPr id="21" name="Text 19"/>
          <p:cNvSpPr/>
          <p:nvPr/>
        </p:nvSpPr>
        <p:spPr>
          <a:xfrm>
            <a:off x="8305800" y="2816352"/>
            <a:ext cx="3169920" cy="777240"/>
          </a:xfrm>
          <a:prstGeom prst="rect">
            <a:avLst/>
          </a:prstGeom>
          <a:noFill/>
          <a:ln/>
        </p:spPr>
        <p:txBody>
          <a:bodyPr wrap="square" rtlCol="0" anchor="ctr"/>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Closed-loop remediation for known-pattern failures, executed under policy guardrails.</a:t>
            </a:r>
            <a:endParaRPr lang="en-US" sz="950" dirty="0"/>
          </a:p>
        </p:txBody>
      </p:sp>
      <p:sp>
        <p:nvSpPr>
          <p:cNvPr id="22" name="Shape 20"/>
          <p:cNvSpPr/>
          <p:nvPr/>
        </p:nvSpPr>
        <p:spPr>
          <a:xfrm>
            <a:off x="502920" y="3977640"/>
            <a:ext cx="3535680" cy="1965960"/>
          </a:xfrm>
          <a:prstGeom prst="roundRect">
            <a:avLst>
              <a:gd name="adj" fmla="val 3721"/>
            </a:avLst>
          </a:prstGeom>
          <a:solidFill>
            <a:srgbClr val="EEF1F4"/>
          </a:solidFill>
          <a:ln/>
        </p:spPr>
      </p:sp>
      <p:sp>
        <p:nvSpPr>
          <p:cNvPr id="23" name="Shape 21"/>
          <p:cNvSpPr/>
          <p:nvPr/>
        </p:nvSpPr>
        <p:spPr>
          <a:xfrm>
            <a:off x="685800" y="4160520"/>
            <a:ext cx="384048" cy="384048"/>
          </a:xfrm>
          <a:prstGeom prst="roundRect">
            <a:avLst>
              <a:gd name="adj" fmla="val 21429"/>
            </a:avLst>
          </a:prstGeom>
          <a:solidFill>
            <a:srgbClr val="02C39A"/>
          </a:solidFill>
          <a:ln/>
        </p:spPr>
      </p:sp>
      <p:sp>
        <p:nvSpPr>
          <p:cNvPr id="24" name="Text 22"/>
          <p:cNvSpPr/>
          <p:nvPr/>
        </p:nvSpPr>
        <p:spPr>
          <a:xfrm>
            <a:off x="685800" y="416052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3"/>
          <p:cNvSpPr/>
          <p:nvPr/>
        </p:nvSpPr>
        <p:spPr>
          <a:xfrm>
            <a:off x="685800" y="4636008"/>
            <a:ext cx="3169920" cy="411480"/>
          </a:xfrm>
          <a:prstGeom prst="rect">
            <a:avLst/>
          </a:prstGeom>
          <a:noFill/>
          <a:ln/>
        </p:spPr>
        <p:txBody>
          <a:bodyPr wrap="square" rtlCol="0" anchor="ctr"/>
          <a:lstStyle/>
          <a:p>
            <a:pPr indent="0" marL="0">
              <a:buNone/>
            </a:pPr>
            <a:r>
              <a:rPr lang="en-US" sz="1250" b="1" dirty="0">
                <a:solidFill>
                  <a:srgbClr val="232B3A"/>
                </a:solidFill>
                <a:latin typeface="Cambria" pitchFamily="34" charset="0"/>
                <a:ea typeface="Cambria" pitchFamily="34" charset="-122"/>
                <a:cs typeface="Cambria" pitchFamily="34" charset="-120"/>
              </a:rPr>
              <a:t>Unified Observability</a:t>
            </a:r>
            <a:endParaRPr lang="en-US" sz="1250" dirty="0"/>
          </a:p>
        </p:txBody>
      </p:sp>
      <p:sp>
        <p:nvSpPr>
          <p:cNvPr id="26" name="Text 24"/>
          <p:cNvSpPr/>
          <p:nvPr/>
        </p:nvSpPr>
        <p:spPr>
          <a:xfrm>
            <a:off x="685800" y="5056632"/>
            <a:ext cx="3169920" cy="777240"/>
          </a:xfrm>
          <a:prstGeom prst="rect">
            <a:avLst/>
          </a:prstGeom>
          <a:noFill/>
          <a:ln/>
        </p:spPr>
        <p:txBody>
          <a:bodyPr wrap="square" rtlCol="0" anchor="ctr"/>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Metrics, logs, traces and events normalized into one correlated data model, not nine consoles.</a:t>
            </a:r>
            <a:endParaRPr lang="en-US" sz="950" dirty="0"/>
          </a:p>
        </p:txBody>
      </p:sp>
      <p:sp>
        <p:nvSpPr>
          <p:cNvPr id="27" name="Shape 25"/>
          <p:cNvSpPr/>
          <p:nvPr/>
        </p:nvSpPr>
        <p:spPr>
          <a:xfrm>
            <a:off x="4312920" y="3977640"/>
            <a:ext cx="3535680" cy="1965960"/>
          </a:xfrm>
          <a:prstGeom prst="roundRect">
            <a:avLst>
              <a:gd name="adj" fmla="val 3721"/>
            </a:avLst>
          </a:prstGeom>
          <a:solidFill>
            <a:srgbClr val="EEF1F4"/>
          </a:solidFill>
          <a:ln/>
        </p:spPr>
      </p:sp>
      <p:sp>
        <p:nvSpPr>
          <p:cNvPr id="28" name="Shape 26"/>
          <p:cNvSpPr/>
          <p:nvPr/>
        </p:nvSpPr>
        <p:spPr>
          <a:xfrm>
            <a:off x="4495800" y="4160520"/>
            <a:ext cx="384048" cy="384048"/>
          </a:xfrm>
          <a:prstGeom prst="roundRect">
            <a:avLst>
              <a:gd name="adj" fmla="val 21429"/>
            </a:avLst>
          </a:prstGeom>
          <a:solidFill>
            <a:srgbClr val="02C39A"/>
          </a:solidFill>
          <a:ln/>
        </p:spPr>
      </p:sp>
      <p:sp>
        <p:nvSpPr>
          <p:cNvPr id="29" name="Text 27"/>
          <p:cNvSpPr/>
          <p:nvPr/>
        </p:nvSpPr>
        <p:spPr>
          <a:xfrm>
            <a:off x="4495800" y="416052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0" name="Text 28"/>
          <p:cNvSpPr/>
          <p:nvPr/>
        </p:nvSpPr>
        <p:spPr>
          <a:xfrm>
            <a:off x="4495800" y="4636008"/>
            <a:ext cx="3169920" cy="411480"/>
          </a:xfrm>
          <a:prstGeom prst="rect">
            <a:avLst/>
          </a:prstGeom>
          <a:noFill/>
          <a:ln/>
        </p:spPr>
        <p:txBody>
          <a:bodyPr wrap="square" rtlCol="0" anchor="ctr"/>
          <a:lstStyle/>
          <a:p>
            <a:pPr indent="0" marL="0">
              <a:buNone/>
            </a:pPr>
            <a:r>
              <a:rPr lang="en-US" sz="1250" b="1" dirty="0">
                <a:solidFill>
                  <a:srgbClr val="232B3A"/>
                </a:solidFill>
                <a:latin typeface="Cambria" pitchFamily="34" charset="0"/>
                <a:ea typeface="Cambria" pitchFamily="34" charset="-122"/>
                <a:cs typeface="Cambria" pitchFamily="34" charset="-120"/>
              </a:rPr>
              <a:t>Digital Employees / Copilots</a:t>
            </a:r>
            <a:endParaRPr lang="en-US" sz="1250" dirty="0"/>
          </a:p>
        </p:txBody>
      </p:sp>
      <p:sp>
        <p:nvSpPr>
          <p:cNvPr id="31" name="Text 29"/>
          <p:cNvSpPr/>
          <p:nvPr/>
        </p:nvSpPr>
        <p:spPr>
          <a:xfrm>
            <a:off x="4495800" y="5056632"/>
            <a:ext cx="3169920" cy="777240"/>
          </a:xfrm>
          <a:prstGeom prst="rect">
            <a:avLst/>
          </a:prstGeom>
          <a:noFill/>
          <a:ln/>
        </p:spPr>
        <p:txBody>
          <a:bodyPr wrap="square" rtlCol="0" anchor="ctr"/>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AI assistants embedded in ITSM, DBA, network and security workflows as a force multiplier.</a:t>
            </a:r>
            <a:endParaRPr lang="en-US" sz="950" dirty="0"/>
          </a:p>
        </p:txBody>
      </p:sp>
      <p:sp>
        <p:nvSpPr>
          <p:cNvPr id="32" name="Shape 30"/>
          <p:cNvSpPr/>
          <p:nvPr/>
        </p:nvSpPr>
        <p:spPr>
          <a:xfrm>
            <a:off x="8122920" y="3977640"/>
            <a:ext cx="3535680" cy="1965960"/>
          </a:xfrm>
          <a:prstGeom prst="roundRect">
            <a:avLst>
              <a:gd name="adj" fmla="val 3721"/>
            </a:avLst>
          </a:prstGeom>
          <a:solidFill>
            <a:srgbClr val="EEF1F4"/>
          </a:solidFill>
          <a:ln/>
        </p:spPr>
      </p:sp>
      <p:sp>
        <p:nvSpPr>
          <p:cNvPr id="33" name="Shape 31"/>
          <p:cNvSpPr/>
          <p:nvPr/>
        </p:nvSpPr>
        <p:spPr>
          <a:xfrm>
            <a:off x="8305800" y="4160520"/>
            <a:ext cx="384048" cy="384048"/>
          </a:xfrm>
          <a:prstGeom prst="roundRect">
            <a:avLst>
              <a:gd name="adj" fmla="val 21429"/>
            </a:avLst>
          </a:prstGeom>
          <a:solidFill>
            <a:srgbClr val="02C39A"/>
          </a:solidFill>
          <a:ln/>
        </p:spPr>
      </p:sp>
      <p:sp>
        <p:nvSpPr>
          <p:cNvPr id="34" name="Text 32"/>
          <p:cNvSpPr/>
          <p:nvPr/>
        </p:nvSpPr>
        <p:spPr>
          <a:xfrm>
            <a:off x="8305800" y="416052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5" name="Text 33"/>
          <p:cNvSpPr/>
          <p:nvPr/>
        </p:nvSpPr>
        <p:spPr>
          <a:xfrm>
            <a:off x="8305800" y="4636008"/>
            <a:ext cx="3169920" cy="411480"/>
          </a:xfrm>
          <a:prstGeom prst="rect">
            <a:avLst/>
          </a:prstGeom>
          <a:noFill/>
          <a:ln/>
        </p:spPr>
        <p:txBody>
          <a:bodyPr wrap="square" rtlCol="0" anchor="ctr"/>
          <a:lstStyle/>
          <a:p>
            <a:pPr indent="0" marL="0">
              <a:buNone/>
            </a:pPr>
            <a:r>
              <a:rPr lang="en-US" sz="1250" b="1" dirty="0">
                <a:solidFill>
                  <a:srgbClr val="232B3A"/>
                </a:solidFill>
                <a:latin typeface="Cambria" pitchFamily="34" charset="0"/>
                <a:ea typeface="Cambria" pitchFamily="34" charset="-122"/>
                <a:cs typeface="Cambria" pitchFamily="34" charset="-120"/>
              </a:rPr>
              <a:t>Predictive Operations</a:t>
            </a:r>
            <a:endParaRPr lang="en-US" sz="1250" dirty="0"/>
          </a:p>
        </p:txBody>
      </p:sp>
      <p:sp>
        <p:nvSpPr>
          <p:cNvPr id="36" name="Text 34"/>
          <p:cNvSpPr/>
          <p:nvPr/>
        </p:nvSpPr>
        <p:spPr>
          <a:xfrm>
            <a:off x="8305800" y="5056632"/>
            <a:ext cx="3169920" cy="777240"/>
          </a:xfrm>
          <a:prstGeom prst="rect">
            <a:avLst/>
          </a:prstGeom>
          <a:noFill/>
          <a:ln/>
        </p:spPr>
        <p:txBody>
          <a:bodyPr wrap="square" rtlCol="0" anchor="ctr"/>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ML forecasting of capacity, failure and demand — shifting operations from reactive to preventive.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828800"/>
            <a:ext cx="5486400" cy="5486400"/>
          </a:xfrm>
          <a:prstGeom prst="ellipse">
            <a:avLst/>
          </a:prstGeom>
          <a:solidFill>
            <a:srgbClr val="141B4D"/>
          </a:solidFill>
          <a:ln/>
        </p:spPr>
      </p:sp>
      <p:sp>
        <p:nvSpPr>
          <p:cNvPr id="3" name="Shape 1"/>
          <p:cNvSpPr/>
          <p:nvPr/>
        </p:nvSpPr>
        <p:spPr>
          <a:xfrm>
            <a:off x="822960" y="2331720"/>
            <a:ext cx="822960" cy="822960"/>
          </a:xfrm>
          <a:prstGeom prst="roundRect">
            <a:avLst>
              <a:gd name="adj" fmla="val 13333"/>
            </a:avLst>
          </a:prstGeom>
          <a:solidFill>
            <a:srgbClr val="02C39A"/>
          </a:solidFill>
          <a:ln/>
        </p:spPr>
      </p:sp>
      <p:sp>
        <p:nvSpPr>
          <p:cNvPr id="4" name="Text 2"/>
          <p:cNvSpPr/>
          <p:nvPr/>
        </p:nvSpPr>
        <p:spPr>
          <a:xfrm>
            <a:off x="822960" y="2331720"/>
            <a:ext cx="822960" cy="822960"/>
          </a:xfrm>
          <a:prstGeom prst="rect">
            <a:avLst/>
          </a:prstGeom>
          <a:noFill/>
          <a:ln/>
        </p:spPr>
        <p:txBody>
          <a:bodyPr wrap="square" rtlCol="0" anchor="ctr"/>
          <a:lstStyle/>
          <a:p>
            <a:pPr algn="ctr" indent="0" marL="0">
              <a:buNone/>
            </a:pPr>
            <a:r>
              <a:rPr lang="en-US" sz="3200" b="1" dirty="0">
                <a:solidFill>
                  <a:srgbClr val="141B4D"/>
                </a:solidFill>
                <a:latin typeface="Cambria" pitchFamily="34" charset="0"/>
                <a:ea typeface="Cambria" pitchFamily="34" charset="-122"/>
                <a:cs typeface="Cambria" pitchFamily="34" charset="-120"/>
              </a:rPr>
              <a:t>7</a:t>
            </a:r>
            <a:endParaRPr lang="en-US" sz="3200" dirty="0"/>
          </a:p>
        </p:txBody>
      </p:sp>
      <p:sp>
        <p:nvSpPr>
          <p:cNvPr id="5" name="Text 3"/>
          <p:cNvSpPr/>
          <p:nvPr/>
        </p:nvSpPr>
        <p:spPr>
          <a:xfrm>
            <a:off x="1874520" y="237744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SECTION 3</a:t>
            </a:r>
            <a:endParaRPr lang="en-US" sz="1300" dirty="0"/>
          </a:p>
        </p:txBody>
      </p:sp>
      <p:sp>
        <p:nvSpPr>
          <p:cNvPr id="6" name="Text 4"/>
          <p:cNvSpPr/>
          <p:nvPr/>
        </p:nvSpPr>
        <p:spPr>
          <a:xfrm>
            <a:off x="1874520" y="2697480"/>
            <a:ext cx="9418320" cy="10058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Functional Tower Analysis</a:t>
            </a:r>
            <a:endParaRPr lang="en-US" sz="3400" dirty="0"/>
          </a:p>
        </p:txBody>
      </p:sp>
      <p:sp>
        <p:nvSpPr>
          <p:cNvPr id="7" name="Text 5"/>
          <p:cNvSpPr/>
          <p:nvPr/>
        </p:nvSpPr>
        <p:spPr>
          <a:xfrm>
            <a:off x="1874520" y="3611880"/>
            <a:ext cx="8778240" cy="54864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AI opportunity, recommended platform and expected benefit — across all 14 operational towers</a:t>
            </a:r>
            <a:endParaRPr lang="en-US" sz="1400" dirty="0"/>
          </a:p>
        </p:txBody>
      </p:sp>
      <p:sp>
        <p:nvSpPr>
          <p:cNvPr id="8" name="Text 6"/>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SECTION</a:t>
            </a:r>
            <a:endParaRPr lang="en-US" sz="850" dirty="0"/>
          </a:p>
        </p:txBody>
      </p:sp>
      <p:sp>
        <p:nvSpPr>
          <p:cNvPr id="9" name="Text 7"/>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FUNCTIONAL TOWER ANALYSIS</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AI Opportunity by Tower — Service, Desktop, Identity &amp; Windows</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3 · TOWER ANALYSIS</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8 / 33</a:t>
            </a:r>
            <a:endParaRPr lang="en-US" sz="850" dirty="0"/>
          </a:p>
        </p:txBody>
      </p:sp>
      <p:sp>
        <p:nvSpPr>
          <p:cNvPr id="7" name="Shape 5"/>
          <p:cNvSpPr/>
          <p:nvPr/>
        </p:nvSpPr>
        <p:spPr>
          <a:xfrm>
            <a:off x="502920" y="1691640"/>
            <a:ext cx="1691640" cy="347472"/>
          </a:xfrm>
          <a:prstGeom prst="rect">
            <a:avLst/>
          </a:prstGeom>
          <a:solidFill>
            <a:srgbClr val="1E2761"/>
          </a:solidFill>
          <a:ln w="6350">
            <a:solidFill>
              <a:srgbClr val="FFFFFF"/>
            </a:solidFill>
            <a:prstDash val="solid"/>
          </a:ln>
        </p:spPr>
      </p:sp>
      <p:sp>
        <p:nvSpPr>
          <p:cNvPr id="8" name="Text 6"/>
          <p:cNvSpPr/>
          <p:nvPr/>
        </p:nvSpPr>
        <p:spPr>
          <a:xfrm>
            <a:off x="557784" y="1691640"/>
            <a:ext cx="158191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Tower</a:t>
            </a:r>
            <a:endParaRPr lang="en-US" sz="1000" dirty="0"/>
          </a:p>
        </p:txBody>
      </p:sp>
      <p:sp>
        <p:nvSpPr>
          <p:cNvPr id="9" name="Shape 7"/>
          <p:cNvSpPr/>
          <p:nvPr/>
        </p:nvSpPr>
        <p:spPr>
          <a:xfrm>
            <a:off x="2194560" y="1691640"/>
            <a:ext cx="2331720" cy="347472"/>
          </a:xfrm>
          <a:prstGeom prst="rect">
            <a:avLst/>
          </a:prstGeom>
          <a:solidFill>
            <a:srgbClr val="1E2761"/>
          </a:solidFill>
          <a:ln w="6350">
            <a:solidFill>
              <a:srgbClr val="FFFFFF"/>
            </a:solidFill>
            <a:prstDash val="solid"/>
          </a:ln>
        </p:spPr>
      </p:sp>
      <p:sp>
        <p:nvSpPr>
          <p:cNvPr id="10" name="Text 8"/>
          <p:cNvSpPr/>
          <p:nvPr/>
        </p:nvSpPr>
        <p:spPr>
          <a:xfrm>
            <a:off x="2249424" y="1691640"/>
            <a:ext cx="222199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Current Pain Point</a:t>
            </a:r>
            <a:endParaRPr lang="en-US" sz="1000" dirty="0"/>
          </a:p>
        </p:txBody>
      </p:sp>
      <p:sp>
        <p:nvSpPr>
          <p:cNvPr id="11" name="Shape 9"/>
          <p:cNvSpPr/>
          <p:nvPr/>
        </p:nvSpPr>
        <p:spPr>
          <a:xfrm>
            <a:off x="4526280" y="1691640"/>
            <a:ext cx="2880360" cy="347472"/>
          </a:xfrm>
          <a:prstGeom prst="rect">
            <a:avLst/>
          </a:prstGeom>
          <a:solidFill>
            <a:srgbClr val="1E2761"/>
          </a:solidFill>
          <a:ln w="6350">
            <a:solidFill>
              <a:srgbClr val="FFFFFF"/>
            </a:solidFill>
            <a:prstDash val="solid"/>
          </a:ln>
        </p:spPr>
      </p:sp>
      <p:sp>
        <p:nvSpPr>
          <p:cNvPr id="12" name="Text 10"/>
          <p:cNvSpPr/>
          <p:nvPr/>
        </p:nvSpPr>
        <p:spPr>
          <a:xfrm>
            <a:off x="4581144" y="1691640"/>
            <a:ext cx="277063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AI Opportunity</a:t>
            </a:r>
            <a:endParaRPr lang="en-US" sz="1000" dirty="0"/>
          </a:p>
        </p:txBody>
      </p:sp>
      <p:sp>
        <p:nvSpPr>
          <p:cNvPr id="13" name="Shape 11"/>
          <p:cNvSpPr/>
          <p:nvPr/>
        </p:nvSpPr>
        <p:spPr>
          <a:xfrm>
            <a:off x="7406640" y="1691640"/>
            <a:ext cx="2331720" cy="347472"/>
          </a:xfrm>
          <a:prstGeom prst="rect">
            <a:avLst/>
          </a:prstGeom>
          <a:solidFill>
            <a:srgbClr val="1E2761"/>
          </a:solidFill>
          <a:ln w="6350">
            <a:solidFill>
              <a:srgbClr val="FFFFFF"/>
            </a:solidFill>
            <a:prstDash val="solid"/>
          </a:ln>
        </p:spPr>
      </p:sp>
      <p:sp>
        <p:nvSpPr>
          <p:cNvPr id="14" name="Text 12"/>
          <p:cNvSpPr/>
          <p:nvPr/>
        </p:nvSpPr>
        <p:spPr>
          <a:xfrm>
            <a:off x="7461504" y="1691640"/>
            <a:ext cx="222199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Recommended Platform</a:t>
            </a:r>
            <a:endParaRPr lang="en-US" sz="1000" dirty="0"/>
          </a:p>
        </p:txBody>
      </p:sp>
      <p:sp>
        <p:nvSpPr>
          <p:cNvPr id="15" name="Shape 13"/>
          <p:cNvSpPr/>
          <p:nvPr/>
        </p:nvSpPr>
        <p:spPr>
          <a:xfrm>
            <a:off x="9738360" y="1691640"/>
            <a:ext cx="1920240" cy="347472"/>
          </a:xfrm>
          <a:prstGeom prst="rect">
            <a:avLst/>
          </a:prstGeom>
          <a:solidFill>
            <a:srgbClr val="1E2761"/>
          </a:solidFill>
          <a:ln w="6350">
            <a:solidFill>
              <a:srgbClr val="FFFFFF"/>
            </a:solidFill>
            <a:prstDash val="solid"/>
          </a:ln>
        </p:spPr>
      </p:sp>
      <p:sp>
        <p:nvSpPr>
          <p:cNvPr id="16" name="Text 14"/>
          <p:cNvSpPr/>
          <p:nvPr/>
        </p:nvSpPr>
        <p:spPr>
          <a:xfrm>
            <a:off x="9793224" y="1691640"/>
            <a:ext cx="181051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Expected Benefit</a:t>
            </a:r>
            <a:endParaRPr lang="en-US" sz="1000" dirty="0"/>
          </a:p>
        </p:txBody>
      </p:sp>
      <p:sp>
        <p:nvSpPr>
          <p:cNvPr id="17" name="Shape 15"/>
          <p:cNvSpPr/>
          <p:nvPr/>
        </p:nvSpPr>
        <p:spPr>
          <a:xfrm>
            <a:off x="502920" y="2039112"/>
            <a:ext cx="1691640" cy="1113282"/>
          </a:xfrm>
          <a:prstGeom prst="rect">
            <a:avLst/>
          </a:prstGeom>
          <a:solidFill>
            <a:srgbClr val="FFFFFF"/>
          </a:solidFill>
          <a:ln w="6350">
            <a:solidFill>
              <a:srgbClr val="DDE2E8"/>
            </a:solidFill>
            <a:prstDash val="solid"/>
          </a:ln>
        </p:spPr>
      </p:sp>
      <p:sp>
        <p:nvSpPr>
          <p:cNvPr id="18" name="Text 16"/>
          <p:cNvSpPr/>
          <p:nvPr/>
        </p:nvSpPr>
        <p:spPr>
          <a:xfrm>
            <a:off x="566928" y="2039112"/>
            <a:ext cx="1563624" cy="1113282"/>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Service Desk / ITSM</a:t>
            </a:r>
            <a:endParaRPr lang="en-US" sz="1050" dirty="0"/>
          </a:p>
        </p:txBody>
      </p:sp>
      <p:sp>
        <p:nvSpPr>
          <p:cNvPr id="19" name="Shape 17"/>
          <p:cNvSpPr/>
          <p:nvPr/>
        </p:nvSpPr>
        <p:spPr>
          <a:xfrm>
            <a:off x="2194560" y="2039112"/>
            <a:ext cx="2331720" cy="1113282"/>
          </a:xfrm>
          <a:prstGeom prst="rect">
            <a:avLst/>
          </a:prstGeom>
          <a:solidFill>
            <a:srgbClr val="FFFFFF"/>
          </a:solidFill>
          <a:ln w="6350">
            <a:solidFill>
              <a:srgbClr val="DDE2E8"/>
            </a:solidFill>
            <a:prstDash val="solid"/>
          </a:ln>
        </p:spPr>
      </p:sp>
      <p:sp>
        <p:nvSpPr>
          <p:cNvPr id="20" name="Text 18"/>
          <p:cNvSpPr/>
          <p:nvPr/>
        </p:nvSpPr>
        <p:spPr>
          <a:xfrm>
            <a:off x="2258568" y="2039112"/>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Manual intake, triage &amp; routing of tickets</a:t>
            </a:r>
            <a:endParaRPr lang="en-US" sz="950" dirty="0"/>
          </a:p>
        </p:txBody>
      </p:sp>
      <p:sp>
        <p:nvSpPr>
          <p:cNvPr id="21" name="Shape 19"/>
          <p:cNvSpPr/>
          <p:nvPr/>
        </p:nvSpPr>
        <p:spPr>
          <a:xfrm>
            <a:off x="4526280" y="2039112"/>
            <a:ext cx="2880360" cy="1113282"/>
          </a:xfrm>
          <a:prstGeom prst="rect">
            <a:avLst/>
          </a:prstGeom>
          <a:solidFill>
            <a:srgbClr val="FFFFFF"/>
          </a:solidFill>
          <a:ln w="6350">
            <a:solidFill>
              <a:srgbClr val="DDE2E8"/>
            </a:solidFill>
            <a:prstDash val="solid"/>
          </a:ln>
        </p:spPr>
      </p:sp>
      <p:sp>
        <p:nvSpPr>
          <p:cNvPr id="22" name="Text 20"/>
          <p:cNvSpPr/>
          <p:nvPr/>
        </p:nvSpPr>
        <p:spPr>
          <a:xfrm>
            <a:off x="4590288" y="2039112"/>
            <a:ext cx="275234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Virtual-agent front door; auto-classification, auto KB drafting</a:t>
            </a:r>
            <a:endParaRPr lang="en-US" sz="950" dirty="0"/>
          </a:p>
        </p:txBody>
      </p:sp>
      <p:sp>
        <p:nvSpPr>
          <p:cNvPr id="23" name="Shape 21"/>
          <p:cNvSpPr/>
          <p:nvPr/>
        </p:nvSpPr>
        <p:spPr>
          <a:xfrm>
            <a:off x="7406640" y="2039112"/>
            <a:ext cx="2331720" cy="1113282"/>
          </a:xfrm>
          <a:prstGeom prst="rect">
            <a:avLst/>
          </a:prstGeom>
          <a:solidFill>
            <a:srgbClr val="FFFFFF"/>
          </a:solidFill>
          <a:ln w="6350">
            <a:solidFill>
              <a:srgbClr val="DDE2E8"/>
            </a:solidFill>
            <a:prstDash val="solid"/>
          </a:ln>
        </p:spPr>
      </p:sp>
      <p:sp>
        <p:nvSpPr>
          <p:cNvPr id="24" name="Text 22"/>
          <p:cNvSpPr/>
          <p:nvPr/>
        </p:nvSpPr>
        <p:spPr>
          <a:xfrm>
            <a:off x="7470648" y="2039112"/>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ServiceNow Now Assist / Virtual Agent</a:t>
            </a:r>
            <a:endParaRPr lang="en-US" sz="950" dirty="0"/>
          </a:p>
        </p:txBody>
      </p:sp>
      <p:sp>
        <p:nvSpPr>
          <p:cNvPr id="25" name="Shape 23"/>
          <p:cNvSpPr/>
          <p:nvPr/>
        </p:nvSpPr>
        <p:spPr>
          <a:xfrm>
            <a:off x="9738360" y="2039112"/>
            <a:ext cx="1920240" cy="1113282"/>
          </a:xfrm>
          <a:prstGeom prst="rect">
            <a:avLst/>
          </a:prstGeom>
          <a:solidFill>
            <a:srgbClr val="FFFFFF"/>
          </a:solidFill>
          <a:ln w="6350">
            <a:solidFill>
              <a:srgbClr val="DDE2E8"/>
            </a:solidFill>
            <a:prstDash val="solid"/>
          </a:ln>
        </p:spPr>
      </p:sp>
      <p:sp>
        <p:nvSpPr>
          <p:cNvPr id="26" name="Text 24"/>
          <p:cNvSpPr/>
          <p:nvPr/>
        </p:nvSpPr>
        <p:spPr>
          <a:xfrm>
            <a:off x="9802368" y="2039112"/>
            <a:ext cx="179222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Lower ticket recurrence, higher DEX</a:t>
            </a:r>
            <a:endParaRPr lang="en-US" sz="950" dirty="0"/>
          </a:p>
        </p:txBody>
      </p:sp>
      <p:sp>
        <p:nvSpPr>
          <p:cNvPr id="27" name="Shape 25"/>
          <p:cNvSpPr/>
          <p:nvPr/>
        </p:nvSpPr>
        <p:spPr>
          <a:xfrm>
            <a:off x="502920" y="3152394"/>
            <a:ext cx="1691640" cy="1113282"/>
          </a:xfrm>
          <a:prstGeom prst="rect">
            <a:avLst/>
          </a:prstGeom>
          <a:solidFill>
            <a:srgbClr val="EEF1F4"/>
          </a:solidFill>
          <a:ln w="6350">
            <a:solidFill>
              <a:srgbClr val="DDE2E8"/>
            </a:solidFill>
            <a:prstDash val="solid"/>
          </a:ln>
        </p:spPr>
      </p:sp>
      <p:sp>
        <p:nvSpPr>
          <p:cNvPr id="28" name="Text 26"/>
          <p:cNvSpPr/>
          <p:nvPr/>
        </p:nvSpPr>
        <p:spPr>
          <a:xfrm>
            <a:off x="566928" y="3152394"/>
            <a:ext cx="1563624" cy="1113282"/>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Desktop Support</a:t>
            </a:r>
            <a:endParaRPr lang="en-US" sz="1050" dirty="0"/>
          </a:p>
        </p:txBody>
      </p:sp>
      <p:sp>
        <p:nvSpPr>
          <p:cNvPr id="29" name="Shape 27"/>
          <p:cNvSpPr/>
          <p:nvPr/>
        </p:nvSpPr>
        <p:spPr>
          <a:xfrm>
            <a:off x="2194560" y="3152394"/>
            <a:ext cx="2331720" cy="1113282"/>
          </a:xfrm>
          <a:prstGeom prst="rect">
            <a:avLst/>
          </a:prstGeom>
          <a:solidFill>
            <a:srgbClr val="EEF1F4"/>
          </a:solidFill>
          <a:ln w="6350">
            <a:solidFill>
              <a:srgbClr val="DDE2E8"/>
            </a:solidFill>
            <a:prstDash val="solid"/>
          </a:ln>
        </p:spPr>
      </p:sp>
      <p:sp>
        <p:nvSpPr>
          <p:cNvPr id="30" name="Text 28"/>
          <p:cNvSpPr/>
          <p:nvPr/>
        </p:nvSpPr>
        <p:spPr>
          <a:xfrm>
            <a:off x="2258568" y="3152394"/>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High device-ticket volume, manual fixes</a:t>
            </a:r>
            <a:endParaRPr lang="en-US" sz="950" dirty="0"/>
          </a:p>
        </p:txBody>
      </p:sp>
      <p:sp>
        <p:nvSpPr>
          <p:cNvPr id="31" name="Shape 29"/>
          <p:cNvSpPr/>
          <p:nvPr/>
        </p:nvSpPr>
        <p:spPr>
          <a:xfrm>
            <a:off x="4526280" y="3152394"/>
            <a:ext cx="2880360" cy="1113282"/>
          </a:xfrm>
          <a:prstGeom prst="rect">
            <a:avLst/>
          </a:prstGeom>
          <a:solidFill>
            <a:srgbClr val="EEF1F4"/>
          </a:solidFill>
          <a:ln w="6350">
            <a:solidFill>
              <a:srgbClr val="DDE2E8"/>
            </a:solidFill>
            <a:prstDash val="solid"/>
          </a:ln>
        </p:spPr>
      </p:sp>
      <p:sp>
        <p:nvSpPr>
          <p:cNvPr id="32" name="Text 30"/>
          <p:cNvSpPr/>
          <p:nvPr/>
        </p:nvSpPr>
        <p:spPr>
          <a:xfrm>
            <a:off x="4590288" y="3152394"/>
            <a:ext cx="275234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Endpoint anomaly detection, guided self-heal</a:t>
            </a:r>
            <a:endParaRPr lang="en-US" sz="950" dirty="0"/>
          </a:p>
        </p:txBody>
      </p:sp>
      <p:sp>
        <p:nvSpPr>
          <p:cNvPr id="33" name="Shape 31"/>
          <p:cNvSpPr/>
          <p:nvPr/>
        </p:nvSpPr>
        <p:spPr>
          <a:xfrm>
            <a:off x="7406640" y="3152394"/>
            <a:ext cx="2331720" cy="1113282"/>
          </a:xfrm>
          <a:prstGeom prst="rect">
            <a:avLst/>
          </a:prstGeom>
          <a:solidFill>
            <a:srgbClr val="EEF1F4"/>
          </a:solidFill>
          <a:ln w="6350">
            <a:solidFill>
              <a:srgbClr val="DDE2E8"/>
            </a:solidFill>
            <a:prstDash val="solid"/>
          </a:ln>
        </p:spPr>
      </p:sp>
      <p:sp>
        <p:nvSpPr>
          <p:cNvPr id="34" name="Text 32"/>
          <p:cNvSpPr/>
          <p:nvPr/>
        </p:nvSpPr>
        <p:spPr>
          <a:xfrm>
            <a:off x="7470648" y="3152394"/>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Endpoint Analytics + AI remediation</a:t>
            </a:r>
            <a:endParaRPr lang="en-US" sz="950" dirty="0"/>
          </a:p>
        </p:txBody>
      </p:sp>
      <p:sp>
        <p:nvSpPr>
          <p:cNvPr id="35" name="Shape 33"/>
          <p:cNvSpPr/>
          <p:nvPr/>
        </p:nvSpPr>
        <p:spPr>
          <a:xfrm>
            <a:off x="9738360" y="3152394"/>
            <a:ext cx="1920240" cy="1113282"/>
          </a:xfrm>
          <a:prstGeom prst="rect">
            <a:avLst/>
          </a:prstGeom>
          <a:solidFill>
            <a:srgbClr val="EEF1F4"/>
          </a:solidFill>
          <a:ln w="6350">
            <a:solidFill>
              <a:srgbClr val="DDE2E8"/>
            </a:solidFill>
            <a:prstDash val="solid"/>
          </a:ln>
        </p:spPr>
      </p:sp>
      <p:sp>
        <p:nvSpPr>
          <p:cNvPr id="36" name="Text 34"/>
          <p:cNvSpPr/>
          <p:nvPr/>
        </p:nvSpPr>
        <p:spPr>
          <a:xfrm>
            <a:off x="9802368" y="3152394"/>
            <a:ext cx="179222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30–40% less L1 manual effort</a:t>
            </a:r>
            <a:endParaRPr lang="en-US" sz="950" dirty="0"/>
          </a:p>
        </p:txBody>
      </p:sp>
      <p:sp>
        <p:nvSpPr>
          <p:cNvPr id="37" name="Shape 35"/>
          <p:cNvSpPr/>
          <p:nvPr/>
        </p:nvSpPr>
        <p:spPr>
          <a:xfrm>
            <a:off x="502920" y="4265676"/>
            <a:ext cx="1691640" cy="1113282"/>
          </a:xfrm>
          <a:prstGeom prst="rect">
            <a:avLst/>
          </a:prstGeom>
          <a:solidFill>
            <a:srgbClr val="FFFFFF"/>
          </a:solidFill>
          <a:ln w="6350">
            <a:solidFill>
              <a:srgbClr val="DDE2E8"/>
            </a:solidFill>
            <a:prstDash val="solid"/>
          </a:ln>
        </p:spPr>
      </p:sp>
      <p:sp>
        <p:nvSpPr>
          <p:cNvPr id="38" name="Text 36"/>
          <p:cNvSpPr/>
          <p:nvPr/>
        </p:nvSpPr>
        <p:spPr>
          <a:xfrm>
            <a:off x="566928" y="4265676"/>
            <a:ext cx="1563624" cy="1113282"/>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Identity &amp; Access Mgmt</a:t>
            </a:r>
            <a:endParaRPr lang="en-US" sz="1050" dirty="0"/>
          </a:p>
        </p:txBody>
      </p:sp>
      <p:sp>
        <p:nvSpPr>
          <p:cNvPr id="39" name="Shape 37"/>
          <p:cNvSpPr/>
          <p:nvPr/>
        </p:nvSpPr>
        <p:spPr>
          <a:xfrm>
            <a:off x="2194560" y="4265676"/>
            <a:ext cx="2331720" cy="1113282"/>
          </a:xfrm>
          <a:prstGeom prst="rect">
            <a:avLst/>
          </a:prstGeom>
          <a:solidFill>
            <a:srgbClr val="FFFFFF"/>
          </a:solidFill>
          <a:ln w="6350">
            <a:solidFill>
              <a:srgbClr val="DDE2E8"/>
            </a:solidFill>
            <a:prstDash val="solid"/>
          </a:ln>
        </p:spPr>
      </p:sp>
      <p:sp>
        <p:nvSpPr>
          <p:cNvPr id="40" name="Text 38"/>
          <p:cNvSpPr/>
          <p:nvPr/>
        </p:nvSpPr>
        <p:spPr>
          <a:xfrm>
            <a:off x="2258568" y="4265676"/>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Manual access requests &amp; approvals</a:t>
            </a:r>
            <a:endParaRPr lang="en-US" sz="950" dirty="0"/>
          </a:p>
        </p:txBody>
      </p:sp>
      <p:sp>
        <p:nvSpPr>
          <p:cNvPr id="41" name="Shape 39"/>
          <p:cNvSpPr/>
          <p:nvPr/>
        </p:nvSpPr>
        <p:spPr>
          <a:xfrm>
            <a:off x="4526280" y="4265676"/>
            <a:ext cx="2880360" cy="1113282"/>
          </a:xfrm>
          <a:prstGeom prst="rect">
            <a:avLst/>
          </a:prstGeom>
          <a:solidFill>
            <a:srgbClr val="FFFFFF"/>
          </a:solidFill>
          <a:ln w="6350">
            <a:solidFill>
              <a:srgbClr val="DDE2E8"/>
            </a:solidFill>
            <a:prstDash val="solid"/>
          </a:ln>
        </p:spPr>
      </p:sp>
      <p:sp>
        <p:nvSpPr>
          <p:cNvPr id="42" name="Text 40"/>
          <p:cNvSpPr/>
          <p:nvPr/>
        </p:nvSpPr>
        <p:spPr>
          <a:xfrm>
            <a:off x="4590288" y="4265676"/>
            <a:ext cx="275234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Risk-aware access scoring, automated provisioning</a:t>
            </a:r>
            <a:endParaRPr lang="en-US" sz="950" dirty="0"/>
          </a:p>
        </p:txBody>
      </p:sp>
      <p:sp>
        <p:nvSpPr>
          <p:cNvPr id="43" name="Shape 41"/>
          <p:cNvSpPr/>
          <p:nvPr/>
        </p:nvSpPr>
        <p:spPr>
          <a:xfrm>
            <a:off x="7406640" y="4265676"/>
            <a:ext cx="2331720" cy="1113282"/>
          </a:xfrm>
          <a:prstGeom prst="rect">
            <a:avLst/>
          </a:prstGeom>
          <a:solidFill>
            <a:srgbClr val="FFFFFF"/>
          </a:solidFill>
          <a:ln w="6350">
            <a:solidFill>
              <a:srgbClr val="DDE2E8"/>
            </a:solidFill>
            <a:prstDash val="solid"/>
          </a:ln>
        </p:spPr>
      </p:sp>
      <p:sp>
        <p:nvSpPr>
          <p:cNvPr id="44" name="Text 42"/>
          <p:cNvSpPr/>
          <p:nvPr/>
        </p:nvSpPr>
        <p:spPr>
          <a:xfrm>
            <a:off x="7470648" y="4265676"/>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CyberArk + AI risk engine</a:t>
            </a:r>
            <a:endParaRPr lang="en-US" sz="950" dirty="0"/>
          </a:p>
        </p:txBody>
      </p:sp>
      <p:sp>
        <p:nvSpPr>
          <p:cNvPr id="45" name="Shape 43"/>
          <p:cNvSpPr/>
          <p:nvPr/>
        </p:nvSpPr>
        <p:spPr>
          <a:xfrm>
            <a:off x="9738360" y="4265676"/>
            <a:ext cx="1920240" cy="1113282"/>
          </a:xfrm>
          <a:prstGeom prst="rect">
            <a:avLst/>
          </a:prstGeom>
          <a:solidFill>
            <a:srgbClr val="FFFFFF"/>
          </a:solidFill>
          <a:ln w="6350">
            <a:solidFill>
              <a:srgbClr val="DDE2E8"/>
            </a:solidFill>
            <a:prstDash val="solid"/>
          </a:ln>
        </p:spPr>
      </p:sp>
      <p:sp>
        <p:nvSpPr>
          <p:cNvPr id="46" name="Text 44"/>
          <p:cNvSpPr/>
          <p:nvPr/>
        </p:nvSpPr>
        <p:spPr>
          <a:xfrm>
            <a:off x="9802368" y="4265676"/>
            <a:ext cx="179222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Faster provisioning, fewer access incidents</a:t>
            </a:r>
            <a:endParaRPr lang="en-US" sz="950" dirty="0"/>
          </a:p>
        </p:txBody>
      </p:sp>
      <p:sp>
        <p:nvSpPr>
          <p:cNvPr id="47" name="Shape 45"/>
          <p:cNvSpPr/>
          <p:nvPr/>
        </p:nvSpPr>
        <p:spPr>
          <a:xfrm>
            <a:off x="502920" y="5378958"/>
            <a:ext cx="1691640" cy="1113282"/>
          </a:xfrm>
          <a:prstGeom prst="rect">
            <a:avLst/>
          </a:prstGeom>
          <a:solidFill>
            <a:srgbClr val="EEF1F4"/>
          </a:solidFill>
          <a:ln w="6350">
            <a:solidFill>
              <a:srgbClr val="DDE2E8"/>
            </a:solidFill>
            <a:prstDash val="solid"/>
          </a:ln>
        </p:spPr>
      </p:sp>
      <p:sp>
        <p:nvSpPr>
          <p:cNvPr id="48" name="Text 46"/>
          <p:cNvSpPr/>
          <p:nvPr/>
        </p:nvSpPr>
        <p:spPr>
          <a:xfrm>
            <a:off x="566928" y="5378958"/>
            <a:ext cx="1563624" cy="1113282"/>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Windows Server Ops (Wintel)</a:t>
            </a:r>
            <a:endParaRPr lang="en-US" sz="1050" dirty="0"/>
          </a:p>
        </p:txBody>
      </p:sp>
      <p:sp>
        <p:nvSpPr>
          <p:cNvPr id="49" name="Shape 47"/>
          <p:cNvSpPr/>
          <p:nvPr/>
        </p:nvSpPr>
        <p:spPr>
          <a:xfrm>
            <a:off x="2194560" y="5378958"/>
            <a:ext cx="2331720" cy="1113282"/>
          </a:xfrm>
          <a:prstGeom prst="rect">
            <a:avLst/>
          </a:prstGeom>
          <a:solidFill>
            <a:srgbClr val="EEF1F4"/>
          </a:solidFill>
          <a:ln w="6350">
            <a:solidFill>
              <a:srgbClr val="DDE2E8"/>
            </a:solidFill>
            <a:prstDash val="solid"/>
          </a:ln>
        </p:spPr>
      </p:sp>
      <p:sp>
        <p:nvSpPr>
          <p:cNvPr id="50" name="Text 48"/>
          <p:cNvSpPr/>
          <p:nvPr/>
        </p:nvSpPr>
        <p:spPr>
          <a:xfrm>
            <a:off x="2258568" y="5378958"/>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Manual event-log review, AD/DNS diagnostics</a:t>
            </a:r>
            <a:endParaRPr lang="en-US" sz="950" dirty="0"/>
          </a:p>
        </p:txBody>
      </p:sp>
      <p:sp>
        <p:nvSpPr>
          <p:cNvPr id="51" name="Shape 49"/>
          <p:cNvSpPr/>
          <p:nvPr/>
        </p:nvSpPr>
        <p:spPr>
          <a:xfrm>
            <a:off x="4526280" y="5378958"/>
            <a:ext cx="2880360" cy="1113282"/>
          </a:xfrm>
          <a:prstGeom prst="rect">
            <a:avLst/>
          </a:prstGeom>
          <a:solidFill>
            <a:srgbClr val="EEF1F4"/>
          </a:solidFill>
          <a:ln w="6350">
            <a:solidFill>
              <a:srgbClr val="DDE2E8"/>
            </a:solidFill>
            <a:prstDash val="solid"/>
          </a:ln>
        </p:spPr>
      </p:sp>
      <p:sp>
        <p:nvSpPr>
          <p:cNvPr id="52" name="Text 50"/>
          <p:cNvSpPr/>
          <p:nvPr/>
        </p:nvSpPr>
        <p:spPr>
          <a:xfrm>
            <a:off x="4590288" y="5378958"/>
            <a:ext cx="275234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Event-log summarization, guarded runbook remediation</a:t>
            </a:r>
            <a:endParaRPr lang="en-US" sz="950" dirty="0"/>
          </a:p>
        </p:txBody>
      </p:sp>
      <p:sp>
        <p:nvSpPr>
          <p:cNvPr id="53" name="Shape 51"/>
          <p:cNvSpPr/>
          <p:nvPr/>
        </p:nvSpPr>
        <p:spPr>
          <a:xfrm>
            <a:off x="7406640" y="5378958"/>
            <a:ext cx="2331720" cy="1113282"/>
          </a:xfrm>
          <a:prstGeom prst="rect">
            <a:avLst/>
          </a:prstGeom>
          <a:solidFill>
            <a:srgbClr val="EEF1F4"/>
          </a:solidFill>
          <a:ln w="6350">
            <a:solidFill>
              <a:srgbClr val="DDE2E8"/>
            </a:solidFill>
            <a:prstDash val="solid"/>
          </a:ln>
        </p:spPr>
      </p:sp>
      <p:sp>
        <p:nvSpPr>
          <p:cNvPr id="54" name="Text 52"/>
          <p:cNvSpPr/>
          <p:nvPr/>
        </p:nvSpPr>
        <p:spPr>
          <a:xfrm>
            <a:off x="7470648" y="5378958"/>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Infrastructure Copilot (MS ecosystem)</a:t>
            </a:r>
            <a:endParaRPr lang="en-US" sz="950" dirty="0"/>
          </a:p>
        </p:txBody>
      </p:sp>
      <p:sp>
        <p:nvSpPr>
          <p:cNvPr id="55" name="Shape 53"/>
          <p:cNvSpPr/>
          <p:nvPr/>
        </p:nvSpPr>
        <p:spPr>
          <a:xfrm>
            <a:off x="9738360" y="5378958"/>
            <a:ext cx="1920240" cy="1113282"/>
          </a:xfrm>
          <a:prstGeom prst="rect">
            <a:avLst/>
          </a:prstGeom>
          <a:solidFill>
            <a:srgbClr val="EEF1F4"/>
          </a:solidFill>
          <a:ln w="6350">
            <a:solidFill>
              <a:srgbClr val="DDE2E8"/>
            </a:solidFill>
            <a:prstDash val="solid"/>
          </a:ln>
        </p:spPr>
      </p:sp>
      <p:sp>
        <p:nvSpPr>
          <p:cNvPr id="56" name="Text 54"/>
          <p:cNvSpPr/>
          <p:nvPr/>
        </p:nvSpPr>
        <p:spPr>
          <a:xfrm>
            <a:off x="9802368" y="5378958"/>
            <a:ext cx="179222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Faster diagnosis; controlled script execution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FUNCTIONAL TOWER ANALYSIS</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AI Opportunity by Tower — Linux, SQL, Oracle &amp; Network</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3 · TOWER ANALYSIS</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9 / 33</a:t>
            </a:r>
            <a:endParaRPr lang="en-US" sz="850" dirty="0"/>
          </a:p>
        </p:txBody>
      </p:sp>
      <p:sp>
        <p:nvSpPr>
          <p:cNvPr id="7" name="Shape 5"/>
          <p:cNvSpPr/>
          <p:nvPr/>
        </p:nvSpPr>
        <p:spPr>
          <a:xfrm>
            <a:off x="502920" y="1691640"/>
            <a:ext cx="1691640" cy="347472"/>
          </a:xfrm>
          <a:prstGeom prst="rect">
            <a:avLst/>
          </a:prstGeom>
          <a:solidFill>
            <a:srgbClr val="1E2761"/>
          </a:solidFill>
          <a:ln w="6350">
            <a:solidFill>
              <a:srgbClr val="FFFFFF"/>
            </a:solidFill>
            <a:prstDash val="solid"/>
          </a:ln>
        </p:spPr>
      </p:sp>
      <p:sp>
        <p:nvSpPr>
          <p:cNvPr id="8" name="Text 6"/>
          <p:cNvSpPr/>
          <p:nvPr/>
        </p:nvSpPr>
        <p:spPr>
          <a:xfrm>
            <a:off x="557784" y="1691640"/>
            <a:ext cx="158191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Tower</a:t>
            </a:r>
            <a:endParaRPr lang="en-US" sz="1000" dirty="0"/>
          </a:p>
        </p:txBody>
      </p:sp>
      <p:sp>
        <p:nvSpPr>
          <p:cNvPr id="9" name="Shape 7"/>
          <p:cNvSpPr/>
          <p:nvPr/>
        </p:nvSpPr>
        <p:spPr>
          <a:xfrm>
            <a:off x="2194560" y="1691640"/>
            <a:ext cx="2331720" cy="347472"/>
          </a:xfrm>
          <a:prstGeom prst="rect">
            <a:avLst/>
          </a:prstGeom>
          <a:solidFill>
            <a:srgbClr val="1E2761"/>
          </a:solidFill>
          <a:ln w="6350">
            <a:solidFill>
              <a:srgbClr val="FFFFFF"/>
            </a:solidFill>
            <a:prstDash val="solid"/>
          </a:ln>
        </p:spPr>
      </p:sp>
      <p:sp>
        <p:nvSpPr>
          <p:cNvPr id="10" name="Text 8"/>
          <p:cNvSpPr/>
          <p:nvPr/>
        </p:nvSpPr>
        <p:spPr>
          <a:xfrm>
            <a:off x="2249424" y="1691640"/>
            <a:ext cx="222199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Current Pain Point</a:t>
            </a:r>
            <a:endParaRPr lang="en-US" sz="1000" dirty="0"/>
          </a:p>
        </p:txBody>
      </p:sp>
      <p:sp>
        <p:nvSpPr>
          <p:cNvPr id="11" name="Shape 9"/>
          <p:cNvSpPr/>
          <p:nvPr/>
        </p:nvSpPr>
        <p:spPr>
          <a:xfrm>
            <a:off x="4526280" y="1691640"/>
            <a:ext cx="2880360" cy="347472"/>
          </a:xfrm>
          <a:prstGeom prst="rect">
            <a:avLst/>
          </a:prstGeom>
          <a:solidFill>
            <a:srgbClr val="1E2761"/>
          </a:solidFill>
          <a:ln w="6350">
            <a:solidFill>
              <a:srgbClr val="FFFFFF"/>
            </a:solidFill>
            <a:prstDash val="solid"/>
          </a:ln>
        </p:spPr>
      </p:sp>
      <p:sp>
        <p:nvSpPr>
          <p:cNvPr id="12" name="Text 10"/>
          <p:cNvSpPr/>
          <p:nvPr/>
        </p:nvSpPr>
        <p:spPr>
          <a:xfrm>
            <a:off x="4581144" y="1691640"/>
            <a:ext cx="277063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AI Opportunity</a:t>
            </a:r>
            <a:endParaRPr lang="en-US" sz="1000" dirty="0"/>
          </a:p>
        </p:txBody>
      </p:sp>
      <p:sp>
        <p:nvSpPr>
          <p:cNvPr id="13" name="Shape 11"/>
          <p:cNvSpPr/>
          <p:nvPr/>
        </p:nvSpPr>
        <p:spPr>
          <a:xfrm>
            <a:off x="7406640" y="1691640"/>
            <a:ext cx="2331720" cy="347472"/>
          </a:xfrm>
          <a:prstGeom prst="rect">
            <a:avLst/>
          </a:prstGeom>
          <a:solidFill>
            <a:srgbClr val="1E2761"/>
          </a:solidFill>
          <a:ln w="6350">
            <a:solidFill>
              <a:srgbClr val="FFFFFF"/>
            </a:solidFill>
            <a:prstDash val="solid"/>
          </a:ln>
        </p:spPr>
      </p:sp>
      <p:sp>
        <p:nvSpPr>
          <p:cNvPr id="14" name="Text 12"/>
          <p:cNvSpPr/>
          <p:nvPr/>
        </p:nvSpPr>
        <p:spPr>
          <a:xfrm>
            <a:off x="7461504" y="1691640"/>
            <a:ext cx="222199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Recommended Platform</a:t>
            </a:r>
            <a:endParaRPr lang="en-US" sz="1000" dirty="0"/>
          </a:p>
        </p:txBody>
      </p:sp>
      <p:sp>
        <p:nvSpPr>
          <p:cNvPr id="15" name="Shape 13"/>
          <p:cNvSpPr/>
          <p:nvPr/>
        </p:nvSpPr>
        <p:spPr>
          <a:xfrm>
            <a:off x="9738360" y="1691640"/>
            <a:ext cx="1920240" cy="347472"/>
          </a:xfrm>
          <a:prstGeom prst="rect">
            <a:avLst/>
          </a:prstGeom>
          <a:solidFill>
            <a:srgbClr val="1E2761"/>
          </a:solidFill>
          <a:ln w="6350">
            <a:solidFill>
              <a:srgbClr val="FFFFFF"/>
            </a:solidFill>
            <a:prstDash val="solid"/>
          </a:ln>
        </p:spPr>
      </p:sp>
      <p:sp>
        <p:nvSpPr>
          <p:cNvPr id="16" name="Text 14"/>
          <p:cNvSpPr/>
          <p:nvPr/>
        </p:nvSpPr>
        <p:spPr>
          <a:xfrm>
            <a:off x="9793224" y="1691640"/>
            <a:ext cx="181051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Expected Benefit</a:t>
            </a:r>
            <a:endParaRPr lang="en-US" sz="1000" dirty="0"/>
          </a:p>
        </p:txBody>
      </p:sp>
      <p:sp>
        <p:nvSpPr>
          <p:cNvPr id="17" name="Shape 15"/>
          <p:cNvSpPr/>
          <p:nvPr/>
        </p:nvSpPr>
        <p:spPr>
          <a:xfrm>
            <a:off x="502920" y="2039112"/>
            <a:ext cx="1691640" cy="1113282"/>
          </a:xfrm>
          <a:prstGeom prst="rect">
            <a:avLst/>
          </a:prstGeom>
          <a:solidFill>
            <a:srgbClr val="FFFFFF"/>
          </a:solidFill>
          <a:ln w="6350">
            <a:solidFill>
              <a:srgbClr val="DDE2E8"/>
            </a:solidFill>
            <a:prstDash val="solid"/>
          </a:ln>
        </p:spPr>
      </p:sp>
      <p:sp>
        <p:nvSpPr>
          <p:cNvPr id="18" name="Text 16"/>
          <p:cNvSpPr/>
          <p:nvPr/>
        </p:nvSpPr>
        <p:spPr>
          <a:xfrm>
            <a:off x="566928" y="2039112"/>
            <a:ext cx="1563624" cy="1113282"/>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Linux Operations</a:t>
            </a:r>
            <a:endParaRPr lang="en-US" sz="1050" dirty="0"/>
          </a:p>
        </p:txBody>
      </p:sp>
      <p:sp>
        <p:nvSpPr>
          <p:cNvPr id="19" name="Shape 17"/>
          <p:cNvSpPr/>
          <p:nvPr/>
        </p:nvSpPr>
        <p:spPr>
          <a:xfrm>
            <a:off x="2194560" y="2039112"/>
            <a:ext cx="2331720" cy="1113282"/>
          </a:xfrm>
          <a:prstGeom prst="rect">
            <a:avLst/>
          </a:prstGeom>
          <a:solidFill>
            <a:srgbClr val="FFFFFF"/>
          </a:solidFill>
          <a:ln w="6350">
            <a:solidFill>
              <a:srgbClr val="DDE2E8"/>
            </a:solidFill>
            <a:prstDash val="solid"/>
          </a:ln>
        </p:spPr>
      </p:sp>
      <p:sp>
        <p:nvSpPr>
          <p:cNvPr id="20" name="Text 18"/>
          <p:cNvSpPr/>
          <p:nvPr/>
        </p:nvSpPr>
        <p:spPr>
          <a:xfrm>
            <a:off x="2258568" y="2039112"/>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Manual syslog review, reactive capacity mgmt</a:t>
            </a:r>
            <a:endParaRPr lang="en-US" sz="950" dirty="0"/>
          </a:p>
        </p:txBody>
      </p:sp>
      <p:sp>
        <p:nvSpPr>
          <p:cNvPr id="21" name="Shape 19"/>
          <p:cNvSpPr/>
          <p:nvPr/>
        </p:nvSpPr>
        <p:spPr>
          <a:xfrm>
            <a:off x="4526280" y="2039112"/>
            <a:ext cx="2880360" cy="1113282"/>
          </a:xfrm>
          <a:prstGeom prst="rect">
            <a:avLst/>
          </a:prstGeom>
          <a:solidFill>
            <a:srgbClr val="FFFFFF"/>
          </a:solidFill>
          <a:ln w="6350">
            <a:solidFill>
              <a:srgbClr val="DDE2E8"/>
            </a:solidFill>
            <a:prstDash val="solid"/>
          </a:ln>
        </p:spPr>
      </p:sp>
      <p:sp>
        <p:nvSpPr>
          <p:cNvPr id="22" name="Text 20"/>
          <p:cNvSpPr/>
          <p:nvPr/>
        </p:nvSpPr>
        <p:spPr>
          <a:xfrm>
            <a:off x="4590288" y="2039112"/>
            <a:ext cx="275234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Syslog AI analysis, anomaly &amp; patch-advisory summarization</a:t>
            </a:r>
            <a:endParaRPr lang="en-US" sz="950" dirty="0"/>
          </a:p>
        </p:txBody>
      </p:sp>
      <p:sp>
        <p:nvSpPr>
          <p:cNvPr id="23" name="Shape 21"/>
          <p:cNvSpPr/>
          <p:nvPr/>
        </p:nvSpPr>
        <p:spPr>
          <a:xfrm>
            <a:off x="7406640" y="2039112"/>
            <a:ext cx="2331720" cy="1113282"/>
          </a:xfrm>
          <a:prstGeom prst="rect">
            <a:avLst/>
          </a:prstGeom>
          <a:solidFill>
            <a:srgbClr val="FFFFFF"/>
          </a:solidFill>
          <a:ln w="6350">
            <a:solidFill>
              <a:srgbClr val="DDE2E8"/>
            </a:solidFill>
            <a:prstDash val="solid"/>
          </a:ln>
        </p:spPr>
      </p:sp>
      <p:sp>
        <p:nvSpPr>
          <p:cNvPr id="24" name="Text 22"/>
          <p:cNvSpPr/>
          <p:nvPr/>
        </p:nvSpPr>
        <p:spPr>
          <a:xfrm>
            <a:off x="7470648" y="2039112"/>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AIOps platform + Observability assistant</a:t>
            </a:r>
            <a:endParaRPr lang="en-US" sz="950" dirty="0"/>
          </a:p>
        </p:txBody>
      </p:sp>
      <p:sp>
        <p:nvSpPr>
          <p:cNvPr id="25" name="Shape 23"/>
          <p:cNvSpPr/>
          <p:nvPr/>
        </p:nvSpPr>
        <p:spPr>
          <a:xfrm>
            <a:off x="9738360" y="2039112"/>
            <a:ext cx="1920240" cy="1113282"/>
          </a:xfrm>
          <a:prstGeom prst="rect">
            <a:avLst/>
          </a:prstGeom>
          <a:solidFill>
            <a:srgbClr val="FFFFFF"/>
          </a:solidFill>
          <a:ln w="6350">
            <a:solidFill>
              <a:srgbClr val="DDE2E8"/>
            </a:solidFill>
            <a:prstDash val="solid"/>
          </a:ln>
        </p:spPr>
      </p:sp>
      <p:sp>
        <p:nvSpPr>
          <p:cNvPr id="26" name="Text 24"/>
          <p:cNvSpPr/>
          <p:nvPr/>
        </p:nvSpPr>
        <p:spPr>
          <a:xfrm>
            <a:off x="9802368" y="2039112"/>
            <a:ext cx="179222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Earlier capacity warnings</a:t>
            </a:r>
            <a:endParaRPr lang="en-US" sz="950" dirty="0"/>
          </a:p>
        </p:txBody>
      </p:sp>
      <p:sp>
        <p:nvSpPr>
          <p:cNvPr id="27" name="Shape 25"/>
          <p:cNvSpPr/>
          <p:nvPr/>
        </p:nvSpPr>
        <p:spPr>
          <a:xfrm>
            <a:off x="502920" y="3152394"/>
            <a:ext cx="1691640" cy="1113282"/>
          </a:xfrm>
          <a:prstGeom prst="rect">
            <a:avLst/>
          </a:prstGeom>
          <a:solidFill>
            <a:srgbClr val="EEF1F4"/>
          </a:solidFill>
          <a:ln w="6350">
            <a:solidFill>
              <a:srgbClr val="DDE2E8"/>
            </a:solidFill>
            <a:prstDash val="solid"/>
          </a:ln>
        </p:spPr>
      </p:sp>
      <p:sp>
        <p:nvSpPr>
          <p:cNvPr id="28" name="Text 26"/>
          <p:cNvSpPr/>
          <p:nvPr/>
        </p:nvSpPr>
        <p:spPr>
          <a:xfrm>
            <a:off x="566928" y="3152394"/>
            <a:ext cx="1563624" cy="1113282"/>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SQL Server Administration</a:t>
            </a:r>
            <a:endParaRPr lang="en-US" sz="1050" dirty="0"/>
          </a:p>
        </p:txBody>
      </p:sp>
      <p:sp>
        <p:nvSpPr>
          <p:cNvPr id="29" name="Shape 27"/>
          <p:cNvSpPr/>
          <p:nvPr/>
        </p:nvSpPr>
        <p:spPr>
          <a:xfrm>
            <a:off x="2194560" y="3152394"/>
            <a:ext cx="2331720" cy="1113282"/>
          </a:xfrm>
          <a:prstGeom prst="rect">
            <a:avLst/>
          </a:prstGeom>
          <a:solidFill>
            <a:srgbClr val="EEF1F4"/>
          </a:solidFill>
          <a:ln w="6350">
            <a:solidFill>
              <a:srgbClr val="DDE2E8"/>
            </a:solidFill>
            <a:prstDash val="solid"/>
          </a:ln>
        </p:spPr>
      </p:sp>
      <p:sp>
        <p:nvSpPr>
          <p:cNvPr id="30" name="Text 28"/>
          <p:cNvSpPr/>
          <p:nvPr/>
        </p:nvSpPr>
        <p:spPr>
          <a:xfrm>
            <a:off x="2258568" y="3152394"/>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Manual query tuning, reactive perf triage</a:t>
            </a:r>
            <a:endParaRPr lang="en-US" sz="950" dirty="0"/>
          </a:p>
        </p:txBody>
      </p:sp>
      <p:sp>
        <p:nvSpPr>
          <p:cNvPr id="31" name="Shape 29"/>
          <p:cNvSpPr/>
          <p:nvPr/>
        </p:nvSpPr>
        <p:spPr>
          <a:xfrm>
            <a:off x="4526280" y="3152394"/>
            <a:ext cx="2880360" cy="1113282"/>
          </a:xfrm>
          <a:prstGeom prst="rect">
            <a:avLst/>
          </a:prstGeom>
          <a:solidFill>
            <a:srgbClr val="EEF1F4"/>
          </a:solidFill>
          <a:ln w="6350">
            <a:solidFill>
              <a:srgbClr val="DDE2E8"/>
            </a:solidFill>
            <a:prstDash val="solid"/>
          </a:ln>
        </p:spPr>
      </p:sp>
      <p:sp>
        <p:nvSpPr>
          <p:cNvPr id="32" name="Text 30"/>
          <p:cNvSpPr/>
          <p:nvPr/>
        </p:nvSpPr>
        <p:spPr>
          <a:xfrm>
            <a:off x="4590288" y="3152394"/>
            <a:ext cx="275234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SQL performance anomaly detection &amp; RCA recommendation</a:t>
            </a:r>
            <a:endParaRPr lang="en-US" sz="950" dirty="0"/>
          </a:p>
        </p:txBody>
      </p:sp>
      <p:sp>
        <p:nvSpPr>
          <p:cNvPr id="33" name="Shape 31"/>
          <p:cNvSpPr/>
          <p:nvPr/>
        </p:nvSpPr>
        <p:spPr>
          <a:xfrm>
            <a:off x="7406640" y="3152394"/>
            <a:ext cx="2331720" cy="1113282"/>
          </a:xfrm>
          <a:prstGeom prst="rect">
            <a:avLst/>
          </a:prstGeom>
          <a:solidFill>
            <a:srgbClr val="EEF1F4"/>
          </a:solidFill>
          <a:ln w="6350">
            <a:solidFill>
              <a:srgbClr val="DDE2E8"/>
            </a:solidFill>
            <a:prstDash val="solid"/>
          </a:ln>
        </p:spPr>
      </p:sp>
      <p:sp>
        <p:nvSpPr>
          <p:cNvPr id="34" name="Text 32"/>
          <p:cNvSpPr/>
          <p:nvPr/>
        </p:nvSpPr>
        <p:spPr>
          <a:xfrm>
            <a:off x="7470648" y="3152394"/>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DBA Copilot / Database Observability AI</a:t>
            </a:r>
            <a:endParaRPr lang="en-US" sz="950" dirty="0"/>
          </a:p>
        </p:txBody>
      </p:sp>
      <p:sp>
        <p:nvSpPr>
          <p:cNvPr id="35" name="Shape 33"/>
          <p:cNvSpPr/>
          <p:nvPr/>
        </p:nvSpPr>
        <p:spPr>
          <a:xfrm>
            <a:off x="9738360" y="3152394"/>
            <a:ext cx="1920240" cy="1113282"/>
          </a:xfrm>
          <a:prstGeom prst="rect">
            <a:avLst/>
          </a:prstGeom>
          <a:solidFill>
            <a:srgbClr val="EEF1F4"/>
          </a:solidFill>
          <a:ln w="6350">
            <a:solidFill>
              <a:srgbClr val="DDE2E8"/>
            </a:solidFill>
            <a:prstDash val="solid"/>
          </a:ln>
        </p:spPr>
      </p:sp>
      <p:sp>
        <p:nvSpPr>
          <p:cNvPr id="36" name="Text 34"/>
          <p:cNvSpPr/>
          <p:nvPr/>
        </p:nvSpPr>
        <p:spPr>
          <a:xfrm>
            <a:off x="9802368" y="3152394"/>
            <a:ext cx="179222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Faster query optimization, less downtime</a:t>
            </a:r>
            <a:endParaRPr lang="en-US" sz="950" dirty="0"/>
          </a:p>
        </p:txBody>
      </p:sp>
      <p:sp>
        <p:nvSpPr>
          <p:cNvPr id="37" name="Shape 35"/>
          <p:cNvSpPr/>
          <p:nvPr/>
        </p:nvSpPr>
        <p:spPr>
          <a:xfrm>
            <a:off x="502920" y="4265676"/>
            <a:ext cx="1691640" cy="1113282"/>
          </a:xfrm>
          <a:prstGeom prst="rect">
            <a:avLst/>
          </a:prstGeom>
          <a:solidFill>
            <a:srgbClr val="FFFFFF"/>
          </a:solidFill>
          <a:ln w="6350">
            <a:solidFill>
              <a:srgbClr val="DDE2E8"/>
            </a:solidFill>
            <a:prstDash val="solid"/>
          </a:ln>
        </p:spPr>
      </p:sp>
      <p:sp>
        <p:nvSpPr>
          <p:cNvPr id="38" name="Text 36"/>
          <p:cNvSpPr/>
          <p:nvPr/>
        </p:nvSpPr>
        <p:spPr>
          <a:xfrm>
            <a:off x="566928" y="4265676"/>
            <a:ext cx="1563624" cy="1113282"/>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Oracle Database Administration</a:t>
            </a:r>
            <a:endParaRPr lang="en-US" sz="1050" dirty="0"/>
          </a:p>
        </p:txBody>
      </p:sp>
      <p:sp>
        <p:nvSpPr>
          <p:cNvPr id="39" name="Shape 37"/>
          <p:cNvSpPr/>
          <p:nvPr/>
        </p:nvSpPr>
        <p:spPr>
          <a:xfrm>
            <a:off x="2194560" y="4265676"/>
            <a:ext cx="2331720" cy="1113282"/>
          </a:xfrm>
          <a:prstGeom prst="rect">
            <a:avLst/>
          </a:prstGeom>
          <a:solidFill>
            <a:srgbClr val="FFFFFF"/>
          </a:solidFill>
          <a:ln w="6350">
            <a:solidFill>
              <a:srgbClr val="DDE2E8"/>
            </a:solidFill>
            <a:prstDash val="solid"/>
          </a:ln>
        </p:spPr>
      </p:sp>
      <p:sp>
        <p:nvSpPr>
          <p:cNvPr id="40" name="Text 38"/>
          <p:cNvSpPr/>
          <p:nvPr/>
        </p:nvSpPr>
        <p:spPr>
          <a:xfrm>
            <a:off x="2258568" y="4265676"/>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Static runbook diagnostics via OEM</a:t>
            </a:r>
            <a:endParaRPr lang="en-US" sz="950" dirty="0"/>
          </a:p>
        </p:txBody>
      </p:sp>
      <p:sp>
        <p:nvSpPr>
          <p:cNvPr id="41" name="Shape 39"/>
          <p:cNvSpPr/>
          <p:nvPr/>
        </p:nvSpPr>
        <p:spPr>
          <a:xfrm>
            <a:off x="4526280" y="4265676"/>
            <a:ext cx="2880360" cy="1113282"/>
          </a:xfrm>
          <a:prstGeom prst="rect">
            <a:avLst/>
          </a:prstGeom>
          <a:solidFill>
            <a:srgbClr val="FFFFFF"/>
          </a:solidFill>
          <a:ln w="6350">
            <a:solidFill>
              <a:srgbClr val="DDE2E8"/>
            </a:solidFill>
            <a:prstDash val="solid"/>
          </a:ln>
        </p:spPr>
      </p:sp>
      <p:sp>
        <p:nvSpPr>
          <p:cNvPr id="42" name="Text 40"/>
          <p:cNvSpPr/>
          <p:nvPr/>
        </p:nvSpPr>
        <p:spPr>
          <a:xfrm>
            <a:off x="4590288" y="4265676"/>
            <a:ext cx="275234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AI anomaly detection &amp; automated backup verification</a:t>
            </a:r>
            <a:endParaRPr lang="en-US" sz="950" dirty="0"/>
          </a:p>
        </p:txBody>
      </p:sp>
      <p:sp>
        <p:nvSpPr>
          <p:cNvPr id="43" name="Shape 41"/>
          <p:cNvSpPr/>
          <p:nvPr/>
        </p:nvSpPr>
        <p:spPr>
          <a:xfrm>
            <a:off x="7406640" y="4265676"/>
            <a:ext cx="2331720" cy="1113282"/>
          </a:xfrm>
          <a:prstGeom prst="rect">
            <a:avLst/>
          </a:prstGeom>
          <a:solidFill>
            <a:srgbClr val="FFFFFF"/>
          </a:solidFill>
          <a:ln w="6350">
            <a:solidFill>
              <a:srgbClr val="DDE2E8"/>
            </a:solidFill>
            <a:prstDash val="solid"/>
          </a:ln>
        </p:spPr>
      </p:sp>
      <p:sp>
        <p:nvSpPr>
          <p:cNvPr id="44" name="Text 42"/>
          <p:cNvSpPr/>
          <p:nvPr/>
        </p:nvSpPr>
        <p:spPr>
          <a:xfrm>
            <a:off x="7470648" y="4265676"/>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OEM + AIOps correlation layer</a:t>
            </a:r>
            <a:endParaRPr lang="en-US" sz="950" dirty="0"/>
          </a:p>
        </p:txBody>
      </p:sp>
      <p:sp>
        <p:nvSpPr>
          <p:cNvPr id="45" name="Shape 43"/>
          <p:cNvSpPr/>
          <p:nvPr/>
        </p:nvSpPr>
        <p:spPr>
          <a:xfrm>
            <a:off x="9738360" y="4265676"/>
            <a:ext cx="1920240" cy="1113282"/>
          </a:xfrm>
          <a:prstGeom prst="rect">
            <a:avLst/>
          </a:prstGeom>
          <a:solidFill>
            <a:srgbClr val="FFFFFF"/>
          </a:solidFill>
          <a:ln w="6350">
            <a:solidFill>
              <a:srgbClr val="DDE2E8"/>
            </a:solidFill>
            <a:prstDash val="solid"/>
          </a:ln>
        </p:spPr>
      </p:sp>
      <p:sp>
        <p:nvSpPr>
          <p:cNvPr id="46" name="Text 44"/>
          <p:cNvSpPr/>
          <p:nvPr/>
        </p:nvSpPr>
        <p:spPr>
          <a:xfrm>
            <a:off x="9802368" y="4265676"/>
            <a:ext cx="179222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Fewer P1 escalations</a:t>
            </a:r>
            <a:endParaRPr lang="en-US" sz="950" dirty="0"/>
          </a:p>
        </p:txBody>
      </p:sp>
      <p:sp>
        <p:nvSpPr>
          <p:cNvPr id="47" name="Shape 45"/>
          <p:cNvSpPr/>
          <p:nvPr/>
        </p:nvSpPr>
        <p:spPr>
          <a:xfrm>
            <a:off x="502920" y="5378958"/>
            <a:ext cx="1691640" cy="1113282"/>
          </a:xfrm>
          <a:prstGeom prst="rect">
            <a:avLst/>
          </a:prstGeom>
          <a:solidFill>
            <a:srgbClr val="EEF1F4"/>
          </a:solidFill>
          <a:ln w="6350">
            <a:solidFill>
              <a:srgbClr val="DDE2E8"/>
            </a:solidFill>
            <a:prstDash val="solid"/>
          </a:ln>
        </p:spPr>
      </p:sp>
      <p:sp>
        <p:nvSpPr>
          <p:cNvPr id="48" name="Text 46"/>
          <p:cNvSpPr/>
          <p:nvPr/>
        </p:nvSpPr>
        <p:spPr>
          <a:xfrm>
            <a:off x="566928" y="5378958"/>
            <a:ext cx="1563624" cy="1113282"/>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Network Operations</a:t>
            </a:r>
            <a:endParaRPr lang="en-US" sz="1050" dirty="0"/>
          </a:p>
        </p:txBody>
      </p:sp>
      <p:sp>
        <p:nvSpPr>
          <p:cNvPr id="49" name="Shape 47"/>
          <p:cNvSpPr/>
          <p:nvPr/>
        </p:nvSpPr>
        <p:spPr>
          <a:xfrm>
            <a:off x="2194560" y="5378958"/>
            <a:ext cx="2331720" cy="1113282"/>
          </a:xfrm>
          <a:prstGeom prst="rect">
            <a:avLst/>
          </a:prstGeom>
          <a:solidFill>
            <a:srgbClr val="EEF1F4"/>
          </a:solidFill>
          <a:ln w="6350">
            <a:solidFill>
              <a:srgbClr val="DDE2E8"/>
            </a:solidFill>
            <a:prstDash val="solid"/>
          </a:ln>
        </p:spPr>
      </p:sp>
      <p:sp>
        <p:nvSpPr>
          <p:cNvPr id="50" name="Text 48"/>
          <p:cNvSpPr/>
          <p:nvPr/>
        </p:nvSpPr>
        <p:spPr>
          <a:xfrm>
            <a:off x="2258568" y="5378958"/>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Manual NOC triage across device/link alerts</a:t>
            </a:r>
            <a:endParaRPr lang="en-US" sz="950" dirty="0"/>
          </a:p>
        </p:txBody>
      </p:sp>
      <p:sp>
        <p:nvSpPr>
          <p:cNvPr id="51" name="Shape 49"/>
          <p:cNvSpPr/>
          <p:nvPr/>
        </p:nvSpPr>
        <p:spPr>
          <a:xfrm>
            <a:off x="4526280" y="5378958"/>
            <a:ext cx="2880360" cy="1113282"/>
          </a:xfrm>
          <a:prstGeom prst="rect">
            <a:avLst/>
          </a:prstGeom>
          <a:solidFill>
            <a:srgbClr val="EEF1F4"/>
          </a:solidFill>
          <a:ln w="6350">
            <a:solidFill>
              <a:srgbClr val="DDE2E8"/>
            </a:solidFill>
            <a:prstDash val="solid"/>
          </a:ln>
        </p:spPr>
      </p:sp>
      <p:sp>
        <p:nvSpPr>
          <p:cNvPr id="52" name="Text 50"/>
          <p:cNvSpPr/>
          <p:nvPr/>
        </p:nvSpPr>
        <p:spPr>
          <a:xfrm>
            <a:off x="4590288" y="5378958"/>
            <a:ext cx="275234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Alert correlation, config-drift &amp; change-risk insight</a:t>
            </a:r>
            <a:endParaRPr lang="en-US" sz="950" dirty="0"/>
          </a:p>
        </p:txBody>
      </p:sp>
      <p:sp>
        <p:nvSpPr>
          <p:cNvPr id="53" name="Shape 51"/>
          <p:cNvSpPr/>
          <p:nvPr/>
        </p:nvSpPr>
        <p:spPr>
          <a:xfrm>
            <a:off x="7406640" y="5378958"/>
            <a:ext cx="2331720" cy="1113282"/>
          </a:xfrm>
          <a:prstGeom prst="rect">
            <a:avLst/>
          </a:prstGeom>
          <a:solidFill>
            <a:srgbClr val="EEF1F4"/>
          </a:solidFill>
          <a:ln w="6350">
            <a:solidFill>
              <a:srgbClr val="DDE2E8"/>
            </a:solidFill>
            <a:prstDash val="solid"/>
          </a:ln>
        </p:spPr>
      </p:sp>
      <p:sp>
        <p:nvSpPr>
          <p:cNvPr id="54" name="Text 52"/>
          <p:cNvSpPr/>
          <p:nvPr/>
        </p:nvSpPr>
        <p:spPr>
          <a:xfrm>
            <a:off x="7470648" y="5378958"/>
            <a:ext cx="220370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Network AIOps / NOC Copilot (Crosswork, SolarWinds AI)</a:t>
            </a:r>
            <a:endParaRPr lang="en-US" sz="950" dirty="0"/>
          </a:p>
        </p:txBody>
      </p:sp>
      <p:sp>
        <p:nvSpPr>
          <p:cNvPr id="55" name="Shape 53"/>
          <p:cNvSpPr/>
          <p:nvPr/>
        </p:nvSpPr>
        <p:spPr>
          <a:xfrm>
            <a:off x="9738360" y="5378958"/>
            <a:ext cx="1920240" cy="1113282"/>
          </a:xfrm>
          <a:prstGeom prst="rect">
            <a:avLst/>
          </a:prstGeom>
          <a:solidFill>
            <a:srgbClr val="EEF1F4"/>
          </a:solidFill>
          <a:ln w="6350">
            <a:solidFill>
              <a:srgbClr val="DDE2E8"/>
            </a:solidFill>
            <a:prstDash val="solid"/>
          </a:ln>
        </p:spPr>
      </p:sp>
      <p:sp>
        <p:nvSpPr>
          <p:cNvPr id="56" name="Text 54"/>
          <p:cNvSpPr/>
          <p:nvPr/>
        </p:nvSpPr>
        <p:spPr>
          <a:xfrm>
            <a:off x="9802368" y="5378958"/>
            <a:ext cx="1792224" cy="111328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Up to 70% alert-noise reduction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FUNCTIONAL TOWER ANALYSIS</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AI Opportunity by Tower — Application, Cloud &amp; Middleware</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3 · TOWER ANALYSIS</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10 / 33</a:t>
            </a:r>
            <a:endParaRPr lang="en-US" sz="850" dirty="0"/>
          </a:p>
        </p:txBody>
      </p:sp>
      <p:sp>
        <p:nvSpPr>
          <p:cNvPr id="7" name="Shape 5"/>
          <p:cNvSpPr/>
          <p:nvPr/>
        </p:nvSpPr>
        <p:spPr>
          <a:xfrm>
            <a:off x="502920" y="1691640"/>
            <a:ext cx="1691640" cy="347472"/>
          </a:xfrm>
          <a:prstGeom prst="rect">
            <a:avLst/>
          </a:prstGeom>
          <a:solidFill>
            <a:srgbClr val="1E2761"/>
          </a:solidFill>
          <a:ln w="6350">
            <a:solidFill>
              <a:srgbClr val="FFFFFF"/>
            </a:solidFill>
            <a:prstDash val="solid"/>
          </a:ln>
        </p:spPr>
      </p:sp>
      <p:sp>
        <p:nvSpPr>
          <p:cNvPr id="8" name="Text 6"/>
          <p:cNvSpPr/>
          <p:nvPr/>
        </p:nvSpPr>
        <p:spPr>
          <a:xfrm>
            <a:off x="557784" y="1691640"/>
            <a:ext cx="158191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Tower</a:t>
            </a:r>
            <a:endParaRPr lang="en-US" sz="1000" dirty="0"/>
          </a:p>
        </p:txBody>
      </p:sp>
      <p:sp>
        <p:nvSpPr>
          <p:cNvPr id="9" name="Shape 7"/>
          <p:cNvSpPr/>
          <p:nvPr/>
        </p:nvSpPr>
        <p:spPr>
          <a:xfrm>
            <a:off x="2194560" y="1691640"/>
            <a:ext cx="2331720" cy="347472"/>
          </a:xfrm>
          <a:prstGeom prst="rect">
            <a:avLst/>
          </a:prstGeom>
          <a:solidFill>
            <a:srgbClr val="1E2761"/>
          </a:solidFill>
          <a:ln w="6350">
            <a:solidFill>
              <a:srgbClr val="FFFFFF"/>
            </a:solidFill>
            <a:prstDash val="solid"/>
          </a:ln>
        </p:spPr>
      </p:sp>
      <p:sp>
        <p:nvSpPr>
          <p:cNvPr id="10" name="Text 8"/>
          <p:cNvSpPr/>
          <p:nvPr/>
        </p:nvSpPr>
        <p:spPr>
          <a:xfrm>
            <a:off x="2249424" y="1691640"/>
            <a:ext cx="222199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Current Pain Point</a:t>
            </a:r>
            <a:endParaRPr lang="en-US" sz="1000" dirty="0"/>
          </a:p>
        </p:txBody>
      </p:sp>
      <p:sp>
        <p:nvSpPr>
          <p:cNvPr id="11" name="Shape 9"/>
          <p:cNvSpPr/>
          <p:nvPr/>
        </p:nvSpPr>
        <p:spPr>
          <a:xfrm>
            <a:off x="4526280" y="1691640"/>
            <a:ext cx="2880360" cy="347472"/>
          </a:xfrm>
          <a:prstGeom prst="rect">
            <a:avLst/>
          </a:prstGeom>
          <a:solidFill>
            <a:srgbClr val="1E2761"/>
          </a:solidFill>
          <a:ln w="6350">
            <a:solidFill>
              <a:srgbClr val="FFFFFF"/>
            </a:solidFill>
            <a:prstDash val="solid"/>
          </a:ln>
        </p:spPr>
      </p:sp>
      <p:sp>
        <p:nvSpPr>
          <p:cNvPr id="12" name="Text 10"/>
          <p:cNvSpPr/>
          <p:nvPr/>
        </p:nvSpPr>
        <p:spPr>
          <a:xfrm>
            <a:off x="4581144" y="1691640"/>
            <a:ext cx="277063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AI Opportunity</a:t>
            </a:r>
            <a:endParaRPr lang="en-US" sz="1000" dirty="0"/>
          </a:p>
        </p:txBody>
      </p:sp>
      <p:sp>
        <p:nvSpPr>
          <p:cNvPr id="13" name="Shape 11"/>
          <p:cNvSpPr/>
          <p:nvPr/>
        </p:nvSpPr>
        <p:spPr>
          <a:xfrm>
            <a:off x="7406640" y="1691640"/>
            <a:ext cx="2331720" cy="347472"/>
          </a:xfrm>
          <a:prstGeom prst="rect">
            <a:avLst/>
          </a:prstGeom>
          <a:solidFill>
            <a:srgbClr val="1E2761"/>
          </a:solidFill>
          <a:ln w="6350">
            <a:solidFill>
              <a:srgbClr val="FFFFFF"/>
            </a:solidFill>
            <a:prstDash val="solid"/>
          </a:ln>
        </p:spPr>
      </p:sp>
      <p:sp>
        <p:nvSpPr>
          <p:cNvPr id="14" name="Text 12"/>
          <p:cNvSpPr/>
          <p:nvPr/>
        </p:nvSpPr>
        <p:spPr>
          <a:xfrm>
            <a:off x="7461504" y="1691640"/>
            <a:ext cx="222199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Recommended Platform</a:t>
            </a:r>
            <a:endParaRPr lang="en-US" sz="1000" dirty="0"/>
          </a:p>
        </p:txBody>
      </p:sp>
      <p:sp>
        <p:nvSpPr>
          <p:cNvPr id="15" name="Shape 13"/>
          <p:cNvSpPr/>
          <p:nvPr/>
        </p:nvSpPr>
        <p:spPr>
          <a:xfrm>
            <a:off x="9738360" y="1691640"/>
            <a:ext cx="1920240" cy="347472"/>
          </a:xfrm>
          <a:prstGeom prst="rect">
            <a:avLst/>
          </a:prstGeom>
          <a:solidFill>
            <a:srgbClr val="1E2761"/>
          </a:solidFill>
          <a:ln w="6350">
            <a:solidFill>
              <a:srgbClr val="FFFFFF"/>
            </a:solidFill>
            <a:prstDash val="solid"/>
          </a:ln>
        </p:spPr>
      </p:sp>
      <p:sp>
        <p:nvSpPr>
          <p:cNvPr id="16" name="Text 14"/>
          <p:cNvSpPr/>
          <p:nvPr/>
        </p:nvSpPr>
        <p:spPr>
          <a:xfrm>
            <a:off x="9793224" y="1691640"/>
            <a:ext cx="181051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Expected Benefit</a:t>
            </a:r>
            <a:endParaRPr lang="en-US" sz="1000" dirty="0"/>
          </a:p>
        </p:txBody>
      </p:sp>
      <p:sp>
        <p:nvSpPr>
          <p:cNvPr id="17" name="Shape 15"/>
          <p:cNvSpPr/>
          <p:nvPr/>
        </p:nvSpPr>
        <p:spPr>
          <a:xfrm>
            <a:off x="502920" y="2039112"/>
            <a:ext cx="1691640" cy="1484376"/>
          </a:xfrm>
          <a:prstGeom prst="rect">
            <a:avLst/>
          </a:prstGeom>
          <a:solidFill>
            <a:srgbClr val="FFFFFF"/>
          </a:solidFill>
          <a:ln w="6350">
            <a:solidFill>
              <a:srgbClr val="DDE2E8"/>
            </a:solidFill>
            <a:prstDash val="solid"/>
          </a:ln>
        </p:spPr>
      </p:sp>
      <p:sp>
        <p:nvSpPr>
          <p:cNvPr id="18" name="Text 16"/>
          <p:cNvSpPr/>
          <p:nvPr/>
        </p:nvSpPr>
        <p:spPr>
          <a:xfrm>
            <a:off x="566928" y="2039112"/>
            <a:ext cx="1563624" cy="1484376"/>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Application Support</a:t>
            </a:r>
            <a:endParaRPr lang="en-US" sz="1050" dirty="0"/>
          </a:p>
        </p:txBody>
      </p:sp>
      <p:sp>
        <p:nvSpPr>
          <p:cNvPr id="19" name="Shape 17"/>
          <p:cNvSpPr/>
          <p:nvPr/>
        </p:nvSpPr>
        <p:spPr>
          <a:xfrm>
            <a:off x="2194560" y="2039112"/>
            <a:ext cx="2331720" cy="1484376"/>
          </a:xfrm>
          <a:prstGeom prst="rect">
            <a:avLst/>
          </a:prstGeom>
          <a:solidFill>
            <a:srgbClr val="FFFFFF"/>
          </a:solidFill>
          <a:ln w="6350">
            <a:solidFill>
              <a:srgbClr val="DDE2E8"/>
            </a:solidFill>
            <a:prstDash val="solid"/>
          </a:ln>
        </p:spPr>
      </p:sp>
      <p:sp>
        <p:nvSpPr>
          <p:cNvPr id="20" name="Text 18"/>
          <p:cNvSpPr/>
          <p:nvPr/>
        </p:nvSpPr>
        <p:spPr>
          <a:xfrm>
            <a:off x="2258568" y="2039112"/>
            <a:ext cx="220370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Manual log parsing across app stack</a:t>
            </a:r>
            <a:endParaRPr lang="en-US" sz="950" dirty="0"/>
          </a:p>
        </p:txBody>
      </p:sp>
      <p:sp>
        <p:nvSpPr>
          <p:cNvPr id="21" name="Shape 19"/>
          <p:cNvSpPr/>
          <p:nvPr/>
        </p:nvSpPr>
        <p:spPr>
          <a:xfrm>
            <a:off x="4526280" y="2039112"/>
            <a:ext cx="2880360" cy="1484376"/>
          </a:xfrm>
          <a:prstGeom prst="rect">
            <a:avLst/>
          </a:prstGeom>
          <a:solidFill>
            <a:srgbClr val="FFFFFF"/>
          </a:solidFill>
          <a:ln w="6350">
            <a:solidFill>
              <a:srgbClr val="DDE2E8"/>
            </a:solidFill>
            <a:prstDash val="solid"/>
          </a:ln>
        </p:spPr>
      </p:sp>
      <p:sp>
        <p:nvSpPr>
          <p:cNvPr id="22" name="Text 20"/>
          <p:cNvSpPr/>
          <p:nvPr/>
        </p:nvSpPr>
        <p:spPr>
          <a:xfrm>
            <a:off x="4590288" y="2039112"/>
            <a:ext cx="275234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APM-driven anomaly detection &amp; auto-triage</a:t>
            </a:r>
            <a:endParaRPr lang="en-US" sz="950" dirty="0"/>
          </a:p>
        </p:txBody>
      </p:sp>
      <p:sp>
        <p:nvSpPr>
          <p:cNvPr id="23" name="Shape 21"/>
          <p:cNvSpPr/>
          <p:nvPr/>
        </p:nvSpPr>
        <p:spPr>
          <a:xfrm>
            <a:off x="7406640" y="2039112"/>
            <a:ext cx="2331720" cy="1484376"/>
          </a:xfrm>
          <a:prstGeom prst="rect">
            <a:avLst/>
          </a:prstGeom>
          <a:solidFill>
            <a:srgbClr val="FFFFFF"/>
          </a:solidFill>
          <a:ln w="6350">
            <a:solidFill>
              <a:srgbClr val="DDE2E8"/>
            </a:solidFill>
            <a:prstDash val="solid"/>
          </a:ln>
        </p:spPr>
      </p:sp>
      <p:sp>
        <p:nvSpPr>
          <p:cNvPr id="24" name="Text 22"/>
          <p:cNvSpPr/>
          <p:nvPr/>
        </p:nvSpPr>
        <p:spPr>
          <a:xfrm>
            <a:off x="7470648" y="2039112"/>
            <a:ext cx="220370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IBM Instana / Datadog APM AI</a:t>
            </a:r>
            <a:endParaRPr lang="en-US" sz="950" dirty="0"/>
          </a:p>
        </p:txBody>
      </p:sp>
      <p:sp>
        <p:nvSpPr>
          <p:cNvPr id="25" name="Shape 23"/>
          <p:cNvSpPr/>
          <p:nvPr/>
        </p:nvSpPr>
        <p:spPr>
          <a:xfrm>
            <a:off x="9738360" y="2039112"/>
            <a:ext cx="1920240" cy="1484376"/>
          </a:xfrm>
          <a:prstGeom prst="rect">
            <a:avLst/>
          </a:prstGeom>
          <a:solidFill>
            <a:srgbClr val="FFFFFF"/>
          </a:solidFill>
          <a:ln w="6350">
            <a:solidFill>
              <a:srgbClr val="DDE2E8"/>
            </a:solidFill>
            <a:prstDash val="solid"/>
          </a:ln>
        </p:spPr>
      </p:sp>
      <p:sp>
        <p:nvSpPr>
          <p:cNvPr id="26" name="Text 24"/>
          <p:cNvSpPr/>
          <p:nvPr/>
        </p:nvSpPr>
        <p:spPr>
          <a:xfrm>
            <a:off x="9802368" y="2039112"/>
            <a:ext cx="179222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Faster MTTR, fewer escalations</a:t>
            </a:r>
            <a:endParaRPr lang="en-US" sz="950" dirty="0"/>
          </a:p>
        </p:txBody>
      </p:sp>
      <p:sp>
        <p:nvSpPr>
          <p:cNvPr id="27" name="Shape 25"/>
          <p:cNvSpPr/>
          <p:nvPr/>
        </p:nvSpPr>
        <p:spPr>
          <a:xfrm>
            <a:off x="502920" y="3523488"/>
            <a:ext cx="1691640" cy="1484376"/>
          </a:xfrm>
          <a:prstGeom prst="rect">
            <a:avLst/>
          </a:prstGeom>
          <a:solidFill>
            <a:srgbClr val="EEF1F4"/>
          </a:solidFill>
          <a:ln w="6350">
            <a:solidFill>
              <a:srgbClr val="DDE2E8"/>
            </a:solidFill>
            <a:prstDash val="solid"/>
          </a:ln>
        </p:spPr>
      </p:sp>
      <p:sp>
        <p:nvSpPr>
          <p:cNvPr id="28" name="Text 26"/>
          <p:cNvSpPr/>
          <p:nvPr/>
        </p:nvSpPr>
        <p:spPr>
          <a:xfrm>
            <a:off x="566928" y="3523488"/>
            <a:ext cx="1563624" cy="1484376"/>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Cloud Operations (Azure)</a:t>
            </a:r>
            <a:endParaRPr lang="en-US" sz="1050" dirty="0"/>
          </a:p>
        </p:txBody>
      </p:sp>
      <p:sp>
        <p:nvSpPr>
          <p:cNvPr id="29" name="Shape 27"/>
          <p:cNvSpPr/>
          <p:nvPr/>
        </p:nvSpPr>
        <p:spPr>
          <a:xfrm>
            <a:off x="2194560" y="3523488"/>
            <a:ext cx="2331720" cy="1484376"/>
          </a:xfrm>
          <a:prstGeom prst="rect">
            <a:avLst/>
          </a:prstGeom>
          <a:solidFill>
            <a:srgbClr val="EEF1F4"/>
          </a:solidFill>
          <a:ln w="6350">
            <a:solidFill>
              <a:srgbClr val="DDE2E8"/>
            </a:solidFill>
            <a:prstDash val="solid"/>
          </a:ln>
        </p:spPr>
      </p:sp>
      <p:sp>
        <p:nvSpPr>
          <p:cNvPr id="30" name="Text 28"/>
          <p:cNvSpPr/>
          <p:nvPr/>
        </p:nvSpPr>
        <p:spPr>
          <a:xfrm>
            <a:off x="2258568" y="3523488"/>
            <a:ext cx="220370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Fragmented visibility across cloud resources</a:t>
            </a:r>
            <a:endParaRPr lang="en-US" sz="950" dirty="0"/>
          </a:p>
        </p:txBody>
      </p:sp>
      <p:sp>
        <p:nvSpPr>
          <p:cNvPr id="31" name="Shape 29"/>
          <p:cNvSpPr/>
          <p:nvPr/>
        </p:nvSpPr>
        <p:spPr>
          <a:xfrm>
            <a:off x="4526280" y="3523488"/>
            <a:ext cx="2880360" cy="1484376"/>
          </a:xfrm>
          <a:prstGeom prst="rect">
            <a:avLst/>
          </a:prstGeom>
          <a:solidFill>
            <a:srgbClr val="EEF1F4"/>
          </a:solidFill>
          <a:ln w="6350">
            <a:solidFill>
              <a:srgbClr val="DDE2E8"/>
            </a:solidFill>
            <a:prstDash val="solid"/>
          </a:ln>
        </p:spPr>
      </p:sp>
      <p:sp>
        <p:nvSpPr>
          <p:cNvPr id="32" name="Text 30"/>
          <p:cNvSpPr/>
          <p:nvPr/>
        </p:nvSpPr>
        <p:spPr>
          <a:xfrm>
            <a:off x="4590288" y="3523488"/>
            <a:ext cx="275234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Native cloud AI investigation &amp; cost/resource optimization</a:t>
            </a:r>
            <a:endParaRPr lang="en-US" sz="950" dirty="0"/>
          </a:p>
        </p:txBody>
      </p:sp>
      <p:sp>
        <p:nvSpPr>
          <p:cNvPr id="33" name="Shape 31"/>
          <p:cNvSpPr/>
          <p:nvPr/>
        </p:nvSpPr>
        <p:spPr>
          <a:xfrm>
            <a:off x="7406640" y="3523488"/>
            <a:ext cx="2331720" cy="1484376"/>
          </a:xfrm>
          <a:prstGeom prst="rect">
            <a:avLst/>
          </a:prstGeom>
          <a:solidFill>
            <a:srgbClr val="EEF1F4"/>
          </a:solidFill>
          <a:ln w="6350">
            <a:solidFill>
              <a:srgbClr val="DDE2E8"/>
            </a:solidFill>
            <a:prstDash val="solid"/>
          </a:ln>
        </p:spPr>
      </p:sp>
      <p:sp>
        <p:nvSpPr>
          <p:cNvPr id="34" name="Text 32"/>
          <p:cNvSpPr/>
          <p:nvPr/>
        </p:nvSpPr>
        <p:spPr>
          <a:xfrm>
            <a:off x="7470648" y="3523488"/>
            <a:ext cx="220370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Azure Copilot Observability Agent</a:t>
            </a:r>
            <a:endParaRPr lang="en-US" sz="950" dirty="0"/>
          </a:p>
        </p:txBody>
      </p:sp>
      <p:sp>
        <p:nvSpPr>
          <p:cNvPr id="35" name="Shape 33"/>
          <p:cNvSpPr/>
          <p:nvPr/>
        </p:nvSpPr>
        <p:spPr>
          <a:xfrm>
            <a:off x="9738360" y="3523488"/>
            <a:ext cx="1920240" cy="1484376"/>
          </a:xfrm>
          <a:prstGeom prst="rect">
            <a:avLst/>
          </a:prstGeom>
          <a:solidFill>
            <a:srgbClr val="EEF1F4"/>
          </a:solidFill>
          <a:ln w="6350">
            <a:solidFill>
              <a:srgbClr val="DDE2E8"/>
            </a:solidFill>
            <a:prstDash val="solid"/>
          </a:ln>
        </p:spPr>
      </p:sp>
      <p:sp>
        <p:nvSpPr>
          <p:cNvPr id="36" name="Text 34"/>
          <p:cNvSpPr/>
          <p:nvPr/>
        </p:nvSpPr>
        <p:spPr>
          <a:xfrm>
            <a:off x="9802368" y="3523488"/>
            <a:ext cx="179222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Faster cloud RCA, cost visibility</a:t>
            </a:r>
            <a:endParaRPr lang="en-US" sz="950" dirty="0"/>
          </a:p>
        </p:txBody>
      </p:sp>
      <p:sp>
        <p:nvSpPr>
          <p:cNvPr id="37" name="Shape 35"/>
          <p:cNvSpPr/>
          <p:nvPr/>
        </p:nvSpPr>
        <p:spPr>
          <a:xfrm>
            <a:off x="502920" y="5007864"/>
            <a:ext cx="1691640" cy="1484376"/>
          </a:xfrm>
          <a:prstGeom prst="rect">
            <a:avLst/>
          </a:prstGeom>
          <a:solidFill>
            <a:srgbClr val="FFFFFF"/>
          </a:solidFill>
          <a:ln w="6350">
            <a:solidFill>
              <a:srgbClr val="DDE2E8"/>
            </a:solidFill>
            <a:prstDash val="solid"/>
          </a:ln>
        </p:spPr>
      </p:sp>
      <p:sp>
        <p:nvSpPr>
          <p:cNvPr id="38" name="Text 36"/>
          <p:cNvSpPr/>
          <p:nvPr/>
        </p:nvSpPr>
        <p:spPr>
          <a:xfrm>
            <a:off x="566928" y="5007864"/>
            <a:ext cx="1563624" cy="1484376"/>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Middleware Support</a:t>
            </a:r>
            <a:endParaRPr lang="en-US" sz="1050" dirty="0"/>
          </a:p>
        </p:txBody>
      </p:sp>
      <p:sp>
        <p:nvSpPr>
          <p:cNvPr id="39" name="Shape 37"/>
          <p:cNvSpPr/>
          <p:nvPr/>
        </p:nvSpPr>
        <p:spPr>
          <a:xfrm>
            <a:off x="2194560" y="5007864"/>
            <a:ext cx="2331720" cy="1484376"/>
          </a:xfrm>
          <a:prstGeom prst="rect">
            <a:avLst/>
          </a:prstGeom>
          <a:solidFill>
            <a:srgbClr val="FFFFFF"/>
          </a:solidFill>
          <a:ln w="6350">
            <a:solidFill>
              <a:srgbClr val="DDE2E8"/>
            </a:solidFill>
            <a:prstDash val="solid"/>
          </a:ln>
        </p:spPr>
      </p:sp>
      <p:sp>
        <p:nvSpPr>
          <p:cNvPr id="40" name="Text 38"/>
          <p:cNvSpPr/>
          <p:nvPr/>
        </p:nvSpPr>
        <p:spPr>
          <a:xfrm>
            <a:off x="2258568" y="5007864"/>
            <a:ext cx="220370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Manual integration/queue troubleshooting</a:t>
            </a:r>
            <a:endParaRPr lang="en-US" sz="950" dirty="0"/>
          </a:p>
        </p:txBody>
      </p:sp>
      <p:sp>
        <p:nvSpPr>
          <p:cNvPr id="41" name="Shape 39"/>
          <p:cNvSpPr/>
          <p:nvPr/>
        </p:nvSpPr>
        <p:spPr>
          <a:xfrm>
            <a:off x="4526280" y="5007864"/>
            <a:ext cx="2880360" cy="1484376"/>
          </a:xfrm>
          <a:prstGeom prst="rect">
            <a:avLst/>
          </a:prstGeom>
          <a:solidFill>
            <a:srgbClr val="FFFFFF"/>
          </a:solidFill>
          <a:ln w="6350">
            <a:solidFill>
              <a:srgbClr val="DDE2E8"/>
            </a:solidFill>
            <a:prstDash val="solid"/>
          </a:ln>
        </p:spPr>
      </p:sp>
      <p:sp>
        <p:nvSpPr>
          <p:cNvPr id="42" name="Text 40"/>
          <p:cNvSpPr/>
          <p:nvPr/>
        </p:nvSpPr>
        <p:spPr>
          <a:xfrm>
            <a:off x="4590288" y="5007864"/>
            <a:ext cx="275234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AI-assisted dependency mapping &amp; anomaly detection</a:t>
            </a:r>
            <a:endParaRPr lang="en-US" sz="950" dirty="0"/>
          </a:p>
        </p:txBody>
      </p:sp>
      <p:sp>
        <p:nvSpPr>
          <p:cNvPr id="43" name="Shape 41"/>
          <p:cNvSpPr/>
          <p:nvPr/>
        </p:nvSpPr>
        <p:spPr>
          <a:xfrm>
            <a:off x="7406640" y="5007864"/>
            <a:ext cx="2331720" cy="1484376"/>
          </a:xfrm>
          <a:prstGeom prst="rect">
            <a:avLst/>
          </a:prstGeom>
          <a:solidFill>
            <a:srgbClr val="FFFFFF"/>
          </a:solidFill>
          <a:ln w="6350">
            <a:solidFill>
              <a:srgbClr val="DDE2E8"/>
            </a:solidFill>
            <a:prstDash val="solid"/>
          </a:ln>
        </p:spPr>
      </p:sp>
      <p:sp>
        <p:nvSpPr>
          <p:cNvPr id="44" name="Text 42"/>
          <p:cNvSpPr/>
          <p:nvPr/>
        </p:nvSpPr>
        <p:spPr>
          <a:xfrm>
            <a:off x="7470648" y="5007864"/>
            <a:ext cx="220370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AIOps topology engine</a:t>
            </a:r>
            <a:endParaRPr lang="en-US" sz="950" dirty="0"/>
          </a:p>
        </p:txBody>
      </p:sp>
      <p:sp>
        <p:nvSpPr>
          <p:cNvPr id="45" name="Shape 43"/>
          <p:cNvSpPr/>
          <p:nvPr/>
        </p:nvSpPr>
        <p:spPr>
          <a:xfrm>
            <a:off x="9738360" y="5007864"/>
            <a:ext cx="1920240" cy="1484376"/>
          </a:xfrm>
          <a:prstGeom prst="rect">
            <a:avLst/>
          </a:prstGeom>
          <a:solidFill>
            <a:srgbClr val="FFFFFF"/>
          </a:solidFill>
          <a:ln w="6350">
            <a:solidFill>
              <a:srgbClr val="DDE2E8"/>
            </a:solidFill>
            <a:prstDash val="solid"/>
          </a:ln>
        </p:spPr>
      </p:sp>
      <p:sp>
        <p:nvSpPr>
          <p:cNvPr id="46" name="Text 44"/>
          <p:cNvSpPr/>
          <p:nvPr/>
        </p:nvSpPr>
        <p:spPr>
          <a:xfrm>
            <a:off x="9802368" y="5007864"/>
            <a:ext cx="179222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Faster isolation of integration failures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FUNCTIONAL TOWER ANALYSIS</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AI Opportunity by Tower — Storage, Observability &amp; Security</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3 · TOWER ANALYSIS</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11 / 33</a:t>
            </a:r>
            <a:endParaRPr lang="en-US" sz="850" dirty="0"/>
          </a:p>
        </p:txBody>
      </p:sp>
      <p:sp>
        <p:nvSpPr>
          <p:cNvPr id="7" name="Shape 5"/>
          <p:cNvSpPr/>
          <p:nvPr/>
        </p:nvSpPr>
        <p:spPr>
          <a:xfrm>
            <a:off x="502920" y="1691640"/>
            <a:ext cx="1691640" cy="347472"/>
          </a:xfrm>
          <a:prstGeom prst="rect">
            <a:avLst/>
          </a:prstGeom>
          <a:solidFill>
            <a:srgbClr val="1E2761"/>
          </a:solidFill>
          <a:ln w="6350">
            <a:solidFill>
              <a:srgbClr val="FFFFFF"/>
            </a:solidFill>
            <a:prstDash val="solid"/>
          </a:ln>
        </p:spPr>
      </p:sp>
      <p:sp>
        <p:nvSpPr>
          <p:cNvPr id="8" name="Text 6"/>
          <p:cNvSpPr/>
          <p:nvPr/>
        </p:nvSpPr>
        <p:spPr>
          <a:xfrm>
            <a:off x="557784" y="1691640"/>
            <a:ext cx="158191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Tower</a:t>
            </a:r>
            <a:endParaRPr lang="en-US" sz="1000" dirty="0"/>
          </a:p>
        </p:txBody>
      </p:sp>
      <p:sp>
        <p:nvSpPr>
          <p:cNvPr id="9" name="Shape 7"/>
          <p:cNvSpPr/>
          <p:nvPr/>
        </p:nvSpPr>
        <p:spPr>
          <a:xfrm>
            <a:off x="2194560" y="1691640"/>
            <a:ext cx="2331720" cy="347472"/>
          </a:xfrm>
          <a:prstGeom prst="rect">
            <a:avLst/>
          </a:prstGeom>
          <a:solidFill>
            <a:srgbClr val="1E2761"/>
          </a:solidFill>
          <a:ln w="6350">
            <a:solidFill>
              <a:srgbClr val="FFFFFF"/>
            </a:solidFill>
            <a:prstDash val="solid"/>
          </a:ln>
        </p:spPr>
      </p:sp>
      <p:sp>
        <p:nvSpPr>
          <p:cNvPr id="10" name="Text 8"/>
          <p:cNvSpPr/>
          <p:nvPr/>
        </p:nvSpPr>
        <p:spPr>
          <a:xfrm>
            <a:off x="2249424" y="1691640"/>
            <a:ext cx="222199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Current Pain Point</a:t>
            </a:r>
            <a:endParaRPr lang="en-US" sz="1000" dirty="0"/>
          </a:p>
        </p:txBody>
      </p:sp>
      <p:sp>
        <p:nvSpPr>
          <p:cNvPr id="11" name="Shape 9"/>
          <p:cNvSpPr/>
          <p:nvPr/>
        </p:nvSpPr>
        <p:spPr>
          <a:xfrm>
            <a:off x="4526280" y="1691640"/>
            <a:ext cx="2880360" cy="347472"/>
          </a:xfrm>
          <a:prstGeom prst="rect">
            <a:avLst/>
          </a:prstGeom>
          <a:solidFill>
            <a:srgbClr val="1E2761"/>
          </a:solidFill>
          <a:ln w="6350">
            <a:solidFill>
              <a:srgbClr val="FFFFFF"/>
            </a:solidFill>
            <a:prstDash val="solid"/>
          </a:ln>
        </p:spPr>
      </p:sp>
      <p:sp>
        <p:nvSpPr>
          <p:cNvPr id="12" name="Text 10"/>
          <p:cNvSpPr/>
          <p:nvPr/>
        </p:nvSpPr>
        <p:spPr>
          <a:xfrm>
            <a:off x="4581144" y="1691640"/>
            <a:ext cx="277063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AI Opportunity</a:t>
            </a:r>
            <a:endParaRPr lang="en-US" sz="1000" dirty="0"/>
          </a:p>
        </p:txBody>
      </p:sp>
      <p:sp>
        <p:nvSpPr>
          <p:cNvPr id="13" name="Shape 11"/>
          <p:cNvSpPr/>
          <p:nvPr/>
        </p:nvSpPr>
        <p:spPr>
          <a:xfrm>
            <a:off x="7406640" y="1691640"/>
            <a:ext cx="2331720" cy="347472"/>
          </a:xfrm>
          <a:prstGeom prst="rect">
            <a:avLst/>
          </a:prstGeom>
          <a:solidFill>
            <a:srgbClr val="1E2761"/>
          </a:solidFill>
          <a:ln w="6350">
            <a:solidFill>
              <a:srgbClr val="FFFFFF"/>
            </a:solidFill>
            <a:prstDash val="solid"/>
          </a:ln>
        </p:spPr>
      </p:sp>
      <p:sp>
        <p:nvSpPr>
          <p:cNvPr id="14" name="Text 12"/>
          <p:cNvSpPr/>
          <p:nvPr/>
        </p:nvSpPr>
        <p:spPr>
          <a:xfrm>
            <a:off x="7461504" y="1691640"/>
            <a:ext cx="222199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Recommended Platform</a:t>
            </a:r>
            <a:endParaRPr lang="en-US" sz="1000" dirty="0"/>
          </a:p>
        </p:txBody>
      </p:sp>
      <p:sp>
        <p:nvSpPr>
          <p:cNvPr id="15" name="Shape 13"/>
          <p:cNvSpPr/>
          <p:nvPr/>
        </p:nvSpPr>
        <p:spPr>
          <a:xfrm>
            <a:off x="9738360" y="1691640"/>
            <a:ext cx="1920240" cy="347472"/>
          </a:xfrm>
          <a:prstGeom prst="rect">
            <a:avLst/>
          </a:prstGeom>
          <a:solidFill>
            <a:srgbClr val="1E2761"/>
          </a:solidFill>
          <a:ln w="6350">
            <a:solidFill>
              <a:srgbClr val="FFFFFF"/>
            </a:solidFill>
            <a:prstDash val="solid"/>
          </a:ln>
        </p:spPr>
      </p:sp>
      <p:sp>
        <p:nvSpPr>
          <p:cNvPr id="16" name="Text 14"/>
          <p:cNvSpPr/>
          <p:nvPr/>
        </p:nvSpPr>
        <p:spPr>
          <a:xfrm>
            <a:off x="9793224" y="1691640"/>
            <a:ext cx="1810512"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Expected Benefit</a:t>
            </a:r>
            <a:endParaRPr lang="en-US" sz="1000" dirty="0"/>
          </a:p>
        </p:txBody>
      </p:sp>
      <p:sp>
        <p:nvSpPr>
          <p:cNvPr id="17" name="Shape 15"/>
          <p:cNvSpPr/>
          <p:nvPr/>
        </p:nvSpPr>
        <p:spPr>
          <a:xfrm>
            <a:off x="502920" y="2039112"/>
            <a:ext cx="1691640" cy="1484376"/>
          </a:xfrm>
          <a:prstGeom prst="rect">
            <a:avLst/>
          </a:prstGeom>
          <a:solidFill>
            <a:srgbClr val="FFFFFF"/>
          </a:solidFill>
          <a:ln w="6350">
            <a:solidFill>
              <a:srgbClr val="DDE2E8"/>
            </a:solidFill>
            <a:prstDash val="solid"/>
          </a:ln>
        </p:spPr>
      </p:sp>
      <p:sp>
        <p:nvSpPr>
          <p:cNvPr id="18" name="Text 16"/>
          <p:cNvSpPr/>
          <p:nvPr/>
        </p:nvSpPr>
        <p:spPr>
          <a:xfrm>
            <a:off x="566928" y="2039112"/>
            <a:ext cx="1563624" cy="1484376"/>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Storage &amp; Backup</a:t>
            </a:r>
            <a:endParaRPr lang="en-US" sz="1050" dirty="0"/>
          </a:p>
        </p:txBody>
      </p:sp>
      <p:sp>
        <p:nvSpPr>
          <p:cNvPr id="19" name="Shape 17"/>
          <p:cNvSpPr/>
          <p:nvPr/>
        </p:nvSpPr>
        <p:spPr>
          <a:xfrm>
            <a:off x="2194560" y="2039112"/>
            <a:ext cx="2331720" cy="1484376"/>
          </a:xfrm>
          <a:prstGeom prst="rect">
            <a:avLst/>
          </a:prstGeom>
          <a:solidFill>
            <a:srgbClr val="FFFFFF"/>
          </a:solidFill>
          <a:ln w="6350">
            <a:solidFill>
              <a:srgbClr val="DDE2E8"/>
            </a:solidFill>
            <a:prstDash val="solid"/>
          </a:ln>
        </p:spPr>
      </p:sp>
      <p:sp>
        <p:nvSpPr>
          <p:cNvPr id="20" name="Text 18"/>
          <p:cNvSpPr/>
          <p:nvPr/>
        </p:nvSpPr>
        <p:spPr>
          <a:xfrm>
            <a:off x="2258568" y="2039112"/>
            <a:ext cx="220370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Manual capacity monitoring &amp; backup checks</a:t>
            </a:r>
            <a:endParaRPr lang="en-US" sz="950" dirty="0"/>
          </a:p>
        </p:txBody>
      </p:sp>
      <p:sp>
        <p:nvSpPr>
          <p:cNvPr id="21" name="Shape 19"/>
          <p:cNvSpPr/>
          <p:nvPr/>
        </p:nvSpPr>
        <p:spPr>
          <a:xfrm>
            <a:off x="4526280" y="2039112"/>
            <a:ext cx="2880360" cy="1484376"/>
          </a:xfrm>
          <a:prstGeom prst="rect">
            <a:avLst/>
          </a:prstGeom>
          <a:solidFill>
            <a:srgbClr val="FFFFFF"/>
          </a:solidFill>
          <a:ln w="6350">
            <a:solidFill>
              <a:srgbClr val="DDE2E8"/>
            </a:solidFill>
            <a:prstDash val="solid"/>
          </a:ln>
        </p:spPr>
      </p:sp>
      <p:sp>
        <p:nvSpPr>
          <p:cNvPr id="22" name="Text 20"/>
          <p:cNvSpPr/>
          <p:nvPr/>
        </p:nvSpPr>
        <p:spPr>
          <a:xfrm>
            <a:off x="4590288" y="2039112"/>
            <a:ext cx="275234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Predictive capacity forecasting, automated backup verification</a:t>
            </a:r>
            <a:endParaRPr lang="en-US" sz="950" dirty="0"/>
          </a:p>
        </p:txBody>
      </p:sp>
      <p:sp>
        <p:nvSpPr>
          <p:cNvPr id="23" name="Shape 21"/>
          <p:cNvSpPr/>
          <p:nvPr/>
        </p:nvSpPr>
        <p:spPr>
          <a:xfrm>
            <a:off x="7406640" y="2039112"/>
            <a:ext cx="2331720" cy="1484376"/>
          </a:xfrm>
          <a:prstGeom prst="rect">
            <a:avLst/>
          </a:prstGeom>
          <a:solidFill>
            <a:srgbClr val="FFFFFF"/>
          </a:solidFill>
          <a:ln w="6350">
            <a:solidFill>
              <a:srgbClr val="DDE2E8"/>
            </a:solidFill>
            <a:prstDash val="solid"/>
          </a:ln>
        </p:spPr>
      </p:sp>
      <p:sp>
        <p:nvSpPr>
          <p:cNvPr id="24" name="Text 22"/>
          <p:cNvSpPr/>
          <p:nvPr/>
        </p:nvSpPr>
        <p:spPr>
          <a:xfrm>
            <a:off x="7470648" y="2039112"/>
            <a:ext cx="220370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AIOps forecasting module</a:t>
            </a:r>
            <a:endParaRPr lang="en-US" sz="950" dirty="0"/>
          </a:p>
        </p:txBody>
      </p:sp>
      <p:sp>
        <p:nvSpPr>
          <p:cNvPr id="25" name="Shape 23"/>
          <p:cNvSpPr/>
          <p:nvPr/>
        </p:nvSpPr>
        <p:spPr>
          <a:xfrm>
            <a:off x="9738360" y="2039112"/>
            <a:ext cx="1920240" cy="1484376"/>
          </a:xfrm>
          <a:prstGeom prst="rect">
            <a:avLst/>
          </a:prstGeom>
          <a:solidFill>
            <a:srgbClr val="FFFFFF"/>
          </a:solidFill>
          <a:ln w="6350">
            <a:solidFill>
              <a:srgbClr val="DDE2E8"/>
            </a:solidFill>
            <a:prstDash val="solid"/>
          </a:ln>
        </p:spPr>
      </p:sp>
      <p:sp>
        <p:nvSpPr>
          <p:cNvPr id="26" name="Text 24"/>
          <p:cNvSpPr/>
          <p:nvPr/>
        </p:nvSpPr>
        <p:spPr>
          <a:xfrm>
            <a:off x="9802368" y="2039112"/>
            <a:ext cx="179222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Fewer storage-related outages</a:t>
            </a:r>
            <a:endParaRPr lang="en-US" sz="950" dirty="0"/>
          </a:p>
        </p:txBody>
      </p:sp>
      <p:sp>
        <p:nvSpPr>
          <p:cNvPr id="27" name="Shape 25"/>
          <p:cNvSpPr/>
          <p:nvPr/>
        </p:nvSpPr>
        <p:spPr>
          <a:xfrm>
            <a:off x="502920" y="3523488"/>
            <a:ext cx="1691640" cy="1484376"/>
          </a:xfrm>
          <a:prstGeom prst="rect">
            <a:avLst/>
          </a:prstGeom>
          <a:solidFill>
            <a:srgbClr val="EEF1F4"/>
          </a:solidFill>
          <a:ln w="6350">
            <a:solidFill>
              <a:srgbClr val="DDE2E8"/>
            </a:solidFill>
            <a:prstDash val="solid"/>
          </a:ln>
        </p:spPr>
      </p:sp>
      <p:sp>
        <p:nvSpPr>
          <p:cNvPr id="28" name="Text 26"/>
          <p:cNvSpPr/>
          <p:nvPr/>
        </p:nvSpPr>
        <p:spPr>
          <a:xfrm>
            <a:off x="566928" y="3523488"/>
            <a:ext cx="1563624" cy="1484376"/>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Monitoring &amp; Observability</a:t>
            </a:r>
            <a:endParaRPr lang="en-US" sz="1050" dirty="0"/>
          </a:p>
        </p:txBody>
      </p:sp>
      <p:sp>
        <p:nvSpPr>
          <p:cNvPr id="29" name="Shape 27"/>
          <p:cNvSpPr/>
          <p:nvPr/>
        </p:nvSpPr>
        <p:spPr>
          <a:xfrm>
            <a:off x="2194560" y="3523488"/>
            <a:ext cx="2331720" cy="1484376"/>
          </a:xfrm>
          <a:prstGeom prst="rect">
            <a:avLst/>
          </a:prstGeom>
          <a:solidFill>
            <a:srgbClr val="EEF1F4"/>
          </a:solidFill>
          <a:ln w="6350">
            <a:solidFill>
              <a:srgbClr val="DDE2E8"/>
            </a:solidFill>
            <a:prstDash val="solid"/>
          </a:ln>
        </p:spPr>
      </p:sp>
      <p:sp>
        <p:nvSpPr>
          <p:cNvPr id="30" name="Text 28"/>
          <p:cNvSpPr/>
          <p:nvPr/>
        </p:nvSpPr>
        <p:spPr>
          <a:xfrm>
            <a:off x="2258568" y="3523488"/>
            <a:ext cx="220370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9+ disconnected consoles, alert floods</a:t>
            </a:r>
            <a:endParaRPr lang="en-US" sz="950" dirty="0"/>
          </a:p>
        </p:txBody>
      </p:sp>
      <p:sp>
        <p:nvSpPr>
          <p:cNvPr id="31" name="Shape 29"/>
          <p:cNvSpPr/>
          <p:nvPr/>
        </p:nvSpPr>
        <p:spPr>
          <a:xfrm>
            <a:off x="4526280" y="3523488"/>
            <a:ext cx="2880360" cy="1484376"/>
          </a:xfrm>
          <a:prstGeom prst="rect">
            <a:avLst/>
          </a:prstGeom>
          <a:solidFill>
            <a:srgbClr val="EEF1F4"/>
          </a:solidFill>
          <a:ln w="6350">
            <a:solidFill>
              <a:srgbClr val="DDE2E8"/>
            </a:solidFill>
            <a:prstDash val="solid"/>
          </a:ln>
        </p:spPr>
      </p:sp>
      <p:sp>
        <p:nvSpPr>
          <p:cNvPr id="32" name="Text 30"/>
          <p:cNvSpPr/>
          <p:nvPr/>
        </p:nvSpPr>
        <p:spPr>
          <a:xfrm>
            <a:off x="4590288" y="3523488"/>
            <a:ext cx="275234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Cross-tool correlation, noise reduction, unified RCA</a:t>
            </a:r>
            <a:endParaRPr lang="en-US" sz="950" dirty="0"/>
          </a:p>
        </p:txBody>
      </p:sp>
      <p:sp>
        <p:nvSpPr>
          <p:cNvPr id="33" name="Shape 31"/>
          <p:cNvSpPr/>
          <p:nvPr/>
        </p:nvSpPr>
        <p:spPr>
          <a:xfrm>
            <a:off x="7406640" y="3523488"/>
            <a:ext cx="2331720" cy="1484376"/>
          </a:xfrm>
          <a:prstGeom prst="rect">
            <a:avLst/>
          </a:prstGeom>
          <a:solidFill>
            <a:srgbClr val="EEF1F4"/>
          </a:solidFill>
          <a:ln w="6350">
            <a:solidFill>
              <a:srgbClr val="DDE2E8"/>
            </a:solidFill>
            <a:prstDash val="solid"/>
          </a:ln>
        </p:spPr>
      </p:sp>
      <p:sp>
        <p:nvSpPr>
          <p:cNvPr id="34" name="Text 32"/>
          <p:cNvSpPr/>
          <p:nvPr/>
        </p:nvSpPr>
        <p:spPr>
          <a:xfrm>
            <a:off x="7470648" y="3523488"/>
            <a:ext cx="220370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AIOps overlay (Edwin AI / IBM Watson AIOps)</a:t>
            </a:r>
            <a:endParaRPr lang="en-US" sz="950" dirty="0"/>
          </a:p>
        </p:txBody>
      </p:sp>
      <p:sp>
        <p:nvSpPr>
          <p:cNvPr id="35" name="Shape 33"/>
          <p:cNvSpPr/>
          <p:nvPr/>
        </p:nvSpPr>
        <p:spPr>
          <a:xfrm>
            <a:off x="9738360" y="3523488"/>
            <a:ext cx="1920240" cy="1484376"/>
          </a:xfrm>
          <a:prstGeom prst="rect">
            <a:avLst/>
          </a:prstGeom>
          <a:solidFill>
            <a:srgbClr val="EEF1F4"/>
          </a:solidFill>
          <a:ln w="6350">
            <a:solidFill>
              <a:srgbClr val="DDE2E8"/>
            </a:solidFill>
            <a:prstDash val="solid"/>
          </a:ln>
        </p:spPr>
      </p:sp>
      <p:sp>
        <p:nvSpPr>
          <p:cNvPr id="36" name="Text 34"/>
          <p:cNvSpPr/>
          <p:nvPr/>
        </p:nvSpPr>
        <p:spPr>
          <a:xfrm>
            <a:off x="9802368" y="3523488"/>
            <a:ext cx="179222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50–95% noise reduction</a:t>
            </a:r>
            <a:endParaRPr lang="en-US" sz="950" dirty="0"/>
          </a:p>
        </p:txBody>
      </p:sp>
      <p:sp>
        <p:nvSpPr>
          <p:cNvPr id="37" name="Shape 35"/>
          <p:cNvSpPr/>
          <p:nvPr/>
        </p:nvSpPr>
        <p:spPr>
          <a:xfrm>
            <a:off x="502920" y="5007864"/>
            <a:ext cx="1691640" cy="1484376"/>
          </a:xfrm>
          <a:prstGeom prst="rect">
            <a:avLst/>
          </a:prstGeom>
          <a:solidFill>
            <a:srgbClr val="FFFFFF"/>
          </a:solidFill>
          <a:ln w="6350">
            <a:solidFill>
              <a:srgbClr val="DDE2E8"/>
            </a:solidFill>
            <a:prstDash val="solid"/>
          </a:ln>
        </p:spPr>
      </p:sp>
      <p:sp>
        <p:nvSpPr>
          <p:cNvPr id="38" name="Text 36"/>
          <p:cNvSpPr/>
          <p:nvPr/>
        </p:nvSpPr>
        <p:spPr>
          <a:xfrm>
            <a:off x="566928" y="5007864"/>
            <a:ext cx="1563624" cy="1484376"/>
          </a:xfrm>
          <a:prstGeom prst="rect">
            <a:avLst/>
          </a:prstGeom>
          <a:noFill/>
          <a:ln/>
        </p:spPr>
        <p:txBody>
          <a:bodyPr wrap="square"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Security Operations</a:t>
            </a:r>
            <a:endParaRPr lang="en-US" sz="1050" dirty="0"/>
          </a:p>
        </p:txBody>
      </p:sp>
      <p:sp>
        <p:nvSpPr>
          <p:cNvPr id="39" name="Shape 37"/>
          <p:cNvSpPr/>
          <p:nvPr/>
        </p:nvSpPr>
        <p:spPr>
          <a:xfrm>
            <a:off x="2194560" y="5007864"/>
            <a:ext cx="2331720" cy="1484376"/>
          </a:xfrm>
          <a:prstGeom prst="rect">
            <a:avLst/>
          </a:prstGeom>
          <a:solidFill>
            <a:srgbClr val="FFFFFF"/>
          </a:solidFill>
          <a:ln w="6350">
            <a:solidFill>
              <a:srgbClr val="DDE2E8"/>
            </a:solidFill>
            <a:prstDash val="solid"/>
          </a:ln>
        </p:spPr>
      </p:sp>
      <p:sp>
        <p:nvSpPr>
          <p:cNvPr id="40" name="Text 38"/>
          <p:cNvSpPr/>
          <p:nvPr/>
        </p:nvSpPr>
        <p:spPr>
          <a:xfrm>
            <a:off x="2258568" y="5007864"/>
            <a:ext cx="220370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Manual SIEM triage, DB-access anomaly review</a:t>
            </a:r>
            <a:endParaRPr lang="en-US" sz="950" dirty="0"/>
          </a:p>
        </p:txBody>
      </p:sp>
      <p:sp>
        <p:nvSpPr>
          <p:cNvPr id="41" name="Shape 39"/>
          <p:cNvSpPr/>
          <p:nvPr/>
        </p:nvSpPr>
        <p:spPr>
          <a:xfrm>
            <a:off x="4526280" y="5007864"/>
            <a:ext cx="2880360" cy="1484376"/>
          </a:xfrm>
          <a:prstGeom prst="rect">
            <a:avLst/>
          </a:prstGeom>
          <a:solidFill>
            <a:srgbClr val="FFFFFF"/>
          </a:solidFill>
          <a:ln w="6350">
            <a:solidFill>
              <a:srgbClr val="DDE2E8"/>
            </a:solidFill>
            <a:prstDash val="solid"/>
          </a:ln>
        </p:spPr>
      </p:sp>
      <p:sp>
        <p:nvSpPr>
          <p:cNvPr id="42" name="Text 40"/>
          <p:cNvSpPr/>
          <p:nvPr/>
        </p:nvSpPr>
        <p:spPr>
          <a:xfrm>
            <a:off x="4590288" y="5007864"/>
            <a:ext cx="275234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Risk-scored session/event triage, contextual incident creation</a:t>
            </a:r>
            <a:endParaRPr lang="en-US" sz="950" dirty="0"/>
          </a:p>
        </p:txBody>
      </p:sp>
      <p:sp>
        <p:nvSpPr>
          <p:cNvPr id="43" name="Shape 41"/>
          <p:cNvSpPr/>
          <p:nvPr/>
        </p:nvSpPr>
        <p:spPr>
          <a:xfrm>
            <a:off x="7406640" y="5007864"/>
            <a:ext cx="2331720" cy="1484376"/>
          </a:xfrm>
          <a:prstGeom prst="rect">
            <a:avLst/>
          </a:prstGeom>
          <a:solidFill>
            <a:srgbClr val="FFFFFF"/>
          </a:solidFill>
          <a:ln w="6350">
            <a:solidFill>
              <a:srgbClr val="DDE2E8"/>
            </a:solidFill>
            <a:prstDash val="solid"/>
          </a:ln>
        </p:spPr>
      </p:sp>
      <p:sp>
        <p:nvSpPr>
          <p:cNvPr id="44" name="Text 42"/>
          <p:cNvSpPr/>
          <p:nvPr/>
        </p:nvSpPr>
        <p:spPr>
          <a:xfrm>
            <a:off x="7470648" y="5007864"/>
            <a:ext cx="220370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SIEM AI + CyberArk decision support</a:t>
            </a:r>
            <a:endParaRPr lang="en-US" sz="950" dirty="0"/>
          </a:p>
        </p:txBody>
      </p:sp>
      <p:sp>
        <p:nvSpPr>
          <p:cNvPr id="45" name="Shape 43"/>
          <p:cNvSpPr/>
          <p:nvPr/>
        </p:nvSpPr>
        <p:spPr>
          <a:xfrm>
            <a:off x="9738360" y="5007864"/>
            <a:ext cx="1920240" cy="1484376"/>
          </a:xfrm>
          <a:prstGeom prst="rect">
            <a:avLst/>
          </a:prstGeom>
          <a:solidFill>
            <a:srgbClr val="FFFFFF"/>
          </a:solidFill>
          <a:ln w="6350">
            <a:solidFill>
              <a:srgbClr val="DDE2E8"/>
            </a:solidFill>
            <a:prstDash val="solid"/>
          </a:ln>
        </p:spPr>
      </p:sp>
      <p:sp>
        <p:nvSpPr>
          <p:cNvPr id="46" name="Text 44"/>
          <p:cNvSpPr/>
          <p:nvPr/>
        </p:nvSpPr>
        <p:spPr>
          <a:xfrm>
            <a:off x="9802368" y="5007864"/>
            <a:ext cx="1792224" cy="1484376"/>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Faster high-risk detection, audit-ready trail</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WORKFLOW TRANSFORMATION — DEEP DIVE</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Incident Triage &amp; Observability: Before vs. After AI</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3 · TOWER ANALYSIS</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12 / 33</a:t>
            </a:r>
            <a:endParaRPr lang="en-US" sz="850" dirty="0"/>
          </a:p>
        </p:txBody>
      </p:sp>
      <p:sp>
        <p:nvSpPr>
          <p:cNvPr id="7" name="Shape 5"/>
          <p:cNvSpPr/>
          <p:nvPr/>
        </p:nvSpPr>
        <p:spPr>
          <a:xfrm>
            <a:off x="502920" y="1737360"/>
            <a:ext cx="914400" cy="1417320"/>
          </a:xfrm>
          <a:prstGeom prst="roundRect">
            <a:avLst>
              <a:gd name="adj" fmla="val 8000"/>
            </a:avLst>
          </a:prstGeom>
          <a:solidFill>
            <a:srgbClr val="5B6B7C"/>
          </a:solidFill>
          <a:ln/>
        </p:spPr>
      </p:sp>
      <p:sp>
        <p:nvSpPr>
          <p:cNvPr id="8" name="Text 6"/>
          <p:cNvSpPr/>
          <p:nvPr/>
        </p:nvSpPr>
        <p:spPr>
          <a:xfrm rot="16200000">
            <a:off x="502920" y="1737360"/>
            <a:ext cx="914400" cy="141732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BEFORE AI</a:t>
            </a:r>
            <a:endParaRPr lang="en-US" sz="1200" dirty="0"/>
          </a:p>
        </p:txBody>
      </p:sp>
      <p:sp>
        <p:nvSpPr>
          <p:cNvPr id="9" name="Shape 7"/>
          <p:cNvSpPr/>
          <p:nvPr/>
        </p:nvSpPr>
        <p:spPr>
          <a:xfrm>
            <a:off x="1600200" y="1737360"/>
            <a:ext cx="2281428" cy="1417320"/>
          </a:xfrm>
          <a:prstGeom prst="roundRect">
            <a:avLst>
              <a:gd name="adj" fmla="val 5161"/>
            </a:avLst>
          </a:prstGeom>
          <a:solidFill>
            <a:srgbClr val="EEF1F4"/>
          </a:solidFill>
          <a:ln w="12700">
            <a:solidFill>
              <a:srgbClr val="5B6B7C"/>
            </a:solidFill>
            <a:prstDash val="solid"/>
          </a:ln>
        </p:spPr>
      </p:sp>
      <p:sp>
        <p:nvSpPr>
          <p:cNvPr id="10" name="Text 8"/>
          <p:cNvSpPr/>
          <p:nvPr/>
        </p:nvSpPr>
        <p:spPr>
          <a:xfrm>
            <a:off x="1691640" y="1810512"/>
            <a:ext cx="274320" cy="274320"/>
          </a:xfrm>
          <a:prstGeom prst="rect">
            <a:avLst/>
          </a:prstGeom>
          <a:noFill/>
          <a:ln/>
        </p:spPr>
        <p:txBody>
          <a:bodyPr wrap="square" rtlCol="0" anchor="ctr"/>
          <a:lstStyle/>
          <a:p>
            <a:pPr algn="ctr" indent="0" marL="0">
              <a:buNone/>
            </a:pPr>
            <a:r>
              <a:rPr lang="en-US" sz="1000" b="1" dirty="0">
                <a:solidFill>
                  <a:srgbClr val="5B6B7C"/>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1709928" y="2084832"/>
            <a:ext cx="2061972" cy="99669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Monitoring tools fire noisy, duplicated alerts</a:t>
            </a:r>
            <a:endParaRPr lang="en-US" sz="1000" dirty="0"/>
          </a:p>
        </p:txBody>
      </p:sp>
      <p:sp>
        <p:nvSpPr>
          <p:cNvPr id="12" name="Shape 10"/>
          <p:cNvSpPr/>
          <p:nvPr/>
        </p:nvSpPr>
        <p:spPr>
          <a:xfrm>
            <a:off x="3909060" y="2336292"/>
            <a:ext cx="265176" cy="219456"/>
          </a:xfrm>
          <a:prstGeom prst="rightArrow">
            <a:avLst/>
          </a:prstGeom>
          <a:solidFill>
            <a:srgbClr val="5B6B7C"/>
          </a:solidFill>
          <a:ln/>
        </p:spPr>
      </p:sp>
      <p:sp>
        <p:nvSpPr>
          <p:cNvPr id="13" name="Shape 11"/>
          <p:cNvSpPr/>
          <p:nvPr/>
        </p:nvSpPr>
        <p:spPr>
          <a:xfrm>
            <a:off x="4201668" y="1737360"/>
            <a:ext cx="2281428" cy="1417320"/>
          </a:xfrm>
          <a:prstGeom prst="roundRect">
            <a:avLst>
              <a:gd name="adj" fmla="val 5161"/>
            </a:avLst>
          </a:prstGeom>
          <a:solidFill>
            <a:srgbClr val="EEF1F4"/>
          </a:solidFill>
          <a:ln w="12700">
            <a:solidFill>
              <a:srgbClr val="5B6B7C"/>
            </a:solidFill>
            <a:prstDash val="solid"/>
          </a:ln>
        </p:spPr>
      </p:sp>
      <p:sp>
        <p:nvSpPr>
          <p:cNvPr id="14" name="Text 12"/>
          <p:cNvSpPr/>
          <p:nvPr/>
        </p:nvSpPr>
        <p:spPr>
          <a:xfrm>
            <a:off x="4293108" y="1810512"/>
            <a:ext cx="274320" cy="274320"/>
          </a:xfrm>
          <a:prstGeom prst="rect">
            <a:avLst/>
          </a:prstGeom>
          <a:noFill/>
          <a:ln/>
        </p:spPr>
        <p:txBody>
          <a:bodyPr wrap="square" rtlCol="0" anchor="ctr"/>
          <a:lstStyle/>
          <a:p>
            <a:pPr algn="ctr" indent="0" marL="0">
              <a:buNone/>
            </a:pPr>
            <a:r>
              <a:rPr lang="en-US" sz="1000" b="1" dirty="0">
                <a:solidFill>
                  <a:srgbClr val="5B6B7C"/>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4311396" y="2084832"/>
            <a:ext cx="2061972" cy="99669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Engineers manually triage &amp; correlate across tools</a:t>
            </a:r>
            <a:endParaRPr lang="en-US" sz="1000" dirty="0"/>
          </a:p>
        </p:txBody>
      </p:sp>
      <p:sp>
        <p:nvSpPr>
          <p:cNvPr id="16" name="Shape 14"/>
          <p:cNvSpPr/>
          <p:nvPr/>
        </p:nvSpPr>
        <p:spPr>
          <a:xfrm>
            <a:off x="6510528" y="2336292"/>
            <a:ext cx="265176" cy="219456"/>
          </a:xfrm>
          <a:prstGeom prst="rightArrow">
            <a:avLst/>
          </a:prstGeom>
          <a:solidFill>
            <a:srgbClr val="5B6B7C"/>
          </a:solidFill>
          <a:ln/>
        </p:spPr>
      </p:sp>
      <p:sp>
        <p:nvSpPr>
          <p:cNvPr id="17" name="Shape 15"/>
          <p:cNvSpPr/>
          <p:nvPr/>
        </p:nvSpPr>
        <p:spPr>
          <a:xfrm>
            <a:off x="6803136" y="1737360"/>
            <a:ext cx="2281428" cy="1417320"/>
          </a:xfrm>
          <a:prstGeom prst="roundRect">
            <a:avLst>
              <a:gd name="adj" fmla="val 5161"/>
            </a:avLst>
          </a:prstGeom>
          <a:solidFill>
            <a:srgbClr val="EEF1F4"/>
          </a:solidFill>
          <a:ln w="12700">
            <a:solidFill>
              <a:srgbClr val="5B6B7C"/>
            </a:solidFill>
            <a:prstDash val="solid"/>
          </a:ln>
        </p:spPr>
      </p:sp>
      <p:sp>
        <p:nvSpPr>
          <p:cNvPr id="18" name="Text 16"/>
          <p:cNvSpPr/>
          <p:nvPr/>
        </p:nvSpPr>
        <p:spPr>
          <a:xfrm>
            <a:off x="6894576" y="1810512"/>
            <a:ext cx="274320" cy="274320"/>
          </a:xfrm>
          <a:prstGeom prst="rect">
            <a:avLst/>
          </a:prstGeom>
          <a:noFill/>
          <a:ln/>
        </p:spPr>
        <p:txBody>
          <a:bodyPr wrap="square" rtlCol="0" anchor="ctr"/>
          <a:lstStyle/>
          <a:p>
            <a:pPr algn="ctr" indent="0" marL="0">
              <a:buNone/>
            </a:pPr>
            <a:r>
              <a:rPr lang="en-US" sz="1000" b="1" dirty="0">
                <a:solidFill>
                  <a:srgbClr val="5B6B7C"/>
                </a:solidFill>
                <a:latin typeface="Calibri" pitchFamily="34" charset="0"/>
                <a:ea typeface="Calibri" pitchFamily="34" charset="-122"/>
                <a:cs typeface="Calibri" pitchFamily="34" charset="-120"/>
              </a:rPr>
              <a:t>3</a:t>
            </a:r>
            <a:endParaRPr lang="en-US" sz="1000" dirty="0"/>
          </a:p>
        </p:txBody>
      </p:sp>
      <p:sp>
        <p:nvSpPr>
          <p:cNvPr id="19" name="Text 17"/>
          <p:cNvSpPr/>
          <p:nvPr/>
        </p:nvSpPr>
        <p:spPr>
          <a:xfrm>
            <a:off x="6912864" y="2084832"/>
            <a:ext cx="2061972" cy="99669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Manual decision to open incident &amp; assign on-call</a:t>
            </a:r>
            <a:endParaRPr lang="en-US" sz="1000" dirty="0"/>
          </a:p>
        </p:txBody>
      </p:sp>
      <p:sp>
        <p:nvSpPr>
          <p:cNvPr id="20" name="Shape 18"/>
          <p:cNvSpPr/>
          <p:nvPr/>
        </p:nvSpPr>
        <p:spPr>
          <a:xfrm>
            <a:off x="9111996" y="2336292"/>
            <a:ext cx="265176" cy="219456"/>
          </a:xfrm>
          <a:prstGeom prst="rightArrow">
            <a:avLst/>
          </a:prstGeom>
          <a:solidFill>
            <a:srgbClr val="5B6B7C"/>
          </a:solidFill>
          <a:ln/>
        </p:spPr>
      </p:sp>
      <p:sp>
        <p:nvSpPr>
          <p:cNvPr id="21" name="Shape 19"/>
          <p:cNvSpPr/>
          <p:nvPr/>
        </p:nvSpPr>
        <p:spPr>
          <a:xfrm>
            <a:off x="9404604" y="1737360"/>
            <a:ext cx="2281428" cy="1417320"/>
          </a:xfrm>
          <a:prstGeom prst="roundRect">
            <a:avLst>
              <a:gd name="adj" fmla="val 5161"/>
            </a:avLst>
          </a:prstGeom>
          <a:solidFill>
            <a:srgbClr val="EEF1F4"/>
          </a:solidFill>
          <a:ln w="12700">
            <a:solidFill>
              <a:srgbClr val="5B6B7C"/>
            </a:solidFill>
            <a:prstDash val="solid"/>
          </a:ln>
        </p:spPr>
      </p:sp>
      <p:sp>
        <p:nvSpPr>
          <p:cNvPr id="22" name="Text 20"/>
          <p:cNvSpPr/>
          <p:nvPr/>
        </p:nvSpPr>
        <p:spPr>
          <a:xfrm>
            <a:off x="9496044" y="1810512"/>
            <a:ext cx="274320" cy="274320"/>
          </a:xfrm>
          <a:prstGeom prst="rect">
            <a:avLst/>
          </a:prstGeom>
          <a:noFill/>
          <a:ln/>
        </p:spPr>
        <p:txBody>
          <a:bodyPr wrap="square" rtlCol="0" anchor="ctr"/>
          <a:lstStyle/>
          <a:p>
            <a:pPr algn="ctr" indent="0" marL="0">
              <a:buNone/>
            </a:pPr>
            <a:r>
              <a:rPr lang="en-US" sz="1000" b="1" dirty="0">
                <a:solidFill>
                  <a:srgbClr val="5B6B7C"/>
                </a:solidFill>
                <a:latin typeface="Calibri" pitchFamily="34" charset="0"/>
                <a:ea typeface="Calibri" pitchFamily="34" charset="-122"/>
                <a:cs typeface="Calibri" pitchFamily="34" charset="-120"/>
              </a:rPr>
              <a:t>4</a:t>
            </a:r>
            <a:endParaRPr lang="en-US" sz="1000" dirty="0"/>
          </a:p>
        </p:txBody>
      </p:sp>
      <p:sp>
        <p:nvSpPr>
          <p:cNvPr id="23" name="Text 21"/>
          <p:cNvSpPr/>
          <p:nvPr/>
        </p:nvSpPr>
        <p:spPr>
          <a:xfrm>
            <a:off x="9514332" y="2084832"/>
            <a:ext cx="2061972" cy="99669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Manual context-gathering, diagnostics &amp; runbooks</a:t>
            </a:r>
            <a:endParaRPr lang="en-US" sz="1000" dirty="0"/>
          </a:p>
        </p:txBody>
      </p:sp>
      <p:sp>
        <p:nvSpPr>
          <p:cNvPr id="24" name="Shape 22"/>
          <p:cNvSpPr/>
          <p:nvPr/>
        </p:nvSpPr>
        <p:spPr>
          <a:xfrm>
            <a:off x="502920" y="3520440"/>
            <a:ext cx="914400" cy="1691640"/>
          </a:xfrm>
          <a:prstGeom prst="roundRect">
            <a:avLst>
              <a:gd name="adj" fmla="val 8000"/>
            </a:avLst>
          </a:prstGeom>
          <a:solidFill>
            <a:srgbClr val="02C39A"/>
          </a:solidFill>
          <a:ln/>
        </p:spPr>
      </p:sp>
      <p:sp>
        <p:nvSpPr>
          <p:cNvPr id="25" name="Text 23"/>
          <p:cNvSpPr/>
          <p:nvPr/>
        </p:nvSpPr>
        <p:spPr>
          <a:xfrm rot="16200000">
            <a:off x="502920" y="3520440"/>
            <a:ext cx="914400" cy="1691640"/>
          </a:xfrm>
          <a:prstGeom prst="rect">
            <a:avLst/>
          </a:prstGeom>
          <a:noFill/>
          <a:ln/>
        </p:spPr>
        <p:txBody>
          <a:bodyPr wrap="square" rtlCol="0" anchor="ctr"/>
          <a:lstStyle/>
          <a:p>
            <a:pPr algn="ctr" indent="0" marL="0">
              <a:buNone/>
            </a:pPr>
            <a:r>
              <a:rPr lang="en-US" sz="1200" b="1" dirty="0">
                <a:solidFill>
                  <a:srgbClr val="141B4D"/>
                </a:solidFill>
                <a:latin typeface="Cambria" pitchFamily="34" charset="0"/>
                <a:ea typeface="Cambria" pitchFamily="34" charset="-122"/>
                <a:cs typeface="Cambria" pitchFamily="34" charset="-120"/>
              </a:rPr>
              <a:t>AFTER AI</a:t>
            </a:r>
            <a:endParaRPr lang="en-US" sz="1200" dirty="0"/>
          </a:p>
        </p:txBody>
      </p:sp>
      <p:sp>
        <p:nvSpPr>
          <p:cNvPr id="26" name="Shape 24"/>
          <p:cNvSpPr/>
          <p:nvPr/>
        </p:nvSpPr>
        <p:spPr>
          <a:xfrm>
            <a:off x="1600200" y="3520440"/>
            <a:ext cx="2281428" cy="1691640"/>
          </a:xfrm>
          <a:prstGeom prst="roundRect">
            <a:avLst>
              <a:gd name="adj" fmla="val 4324"/>
            </a:avLst>
          </a:prstGeom>
          <a:solidFill>
            <a:srgbClr val="E4FBF5"/>
          </a:solidFill>
          <a:ln w="12700">
            <a:solidFill>
              <a:srgbClr val="019879"/>
            </a:solidFill>
            <a:prstDash val="solid"/>
          </a:ln>
        </p:spPr>
      </p:sp>
      <p:sp>
        <p:nvSpPr>
          <p:cNvPr id="27" name="Text 25"/>
          <p:cNvSpPr/>
          <p:nvPr/>
        </p:nvSpPr>
        <p:spPr>
          <a:xfrm>
            <a:off x="1691640" y="3593592"/>
            <a:ext cx="27432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1</a:t>
            </a:r>
            <a:endParaRPr lang="en-US" sz="1000" dirty="0"/>
          </a:p>
        </p:txBody>
      </p:sp>
      <p:sp>
        <p:nvSpPr>
          <p:cNvPr id="28" name="Text 26"/>
          <p:cNvSpPr/>
          <p:nvPr/>
        </p:nvSpPr>
        <p:spPr>
          <a:xfrm>
            <a:off x="1709928" y="3867912"/>
            <a:ext cx="2061972" cy="127101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AI groups related alerts &amp; suggests priority/assignment</a:t>
            </a:r>
            <a:endParaRPr lang="en-US" sz="1000" dirty="0"/>
          </a:p>
        </p:txBody>
      </p:sp>
      <p:sp>
        <p:nvSpPr>
          <p:cNvPr id="29" name="Shape 27"/>
          <p:cNvSpPr/>
          <p:nvPr/>
        </p:nvSpPr>
        <p:spPr>
          <a:xfrm>
            <a:off x="3909060" y="4256532"/>
            <a:ext cx="265176" cy="219456"/>
          </a:xfrm>
          <a:prstGeom prst="rightArrow">
            <a:avLst/>
          </a:prstGeom>
          <a:solidFill>
            <a:srgbClr val="019879"/>
          </a:solidFill>
          <a:ln/>
        </p:spPr>
      </p:sp>
      <p:sp>
        <p:nvSpPr>
          <p:cNvPr id="30" name="Shape 28"/>
          <p:cNvSpPr/>
          <p:nvPr/>
        </p:nvSpPr>
        <p:spPr>
          <a:xfrm>
            <a:off x="4201668" y="3520440"/>
            <a:ext cx="2281428" cy="1691640"/>
          </a:xfrm>
          <a:prstGeom prst="roundRect">
            <a:avLst>
              <a:gd name="adj" fmla="val 4324"/>
            </a:avLst>
          </a:prstGeom>
          <a:solidFill>
            <a:srgbClr val="E4FBF5"/>
          </a:solidFill>
          <a:ln w="12700">
            <a:solidFill>
              <a:srgbClr val="019879"/>
            </a:solidFill>
            <a:prstDash val="solid"/>
          </a:ln>
        </p:spPr>
      </p:sp>
      <p:sp>
        <p:nvSpPr>
          <p:cNvPr id="31" name="Text 29"/>
          <p:cNvSpPr/>
          <p:nvPr/>
        </p:nvSpPr>
        <p:spPr>
          <a:xfrm>
            <a:off x="4293108" y="3593592"/>
            <a:ext cx="27432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2</a:t>
            </a:r>
            <a:endParaRPr lang="en-US" sz="1000" dirty="0"/>
          </a:p>
        </p:txBody>
      </p:sp>
      <p:sp>
        <p:nvSpPr>
          <p:cNvPr id="32" name="Text 30"/>
          <p:cNvSpPr/>
          <p:nvPr/>
        </p:nvSpPr>
        <p:spPr>
          <a:xfrm>
            <a:off x="4311396" y="3867912"/>
            <a:ext cx="2061972" cy="127101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Agentic workflows propose resolution &amp; draft KB notes</a:t>
            </a:r>
            <a:endParaRPr lang="en-US" sz="1000" dirty="0"/>
          </a:p>
        </p:txBody>
      </p:sp>
      <p:sp>
        <p:nvSpPr>
          <p:cNvPr id="33" name="Shape 31"/>
          <p:cNvSpPr/>
          <p:nvPr/>
        </p:nvSpPr>
        <p:spPr>
          <a:xfrm>
            <a:off x="6510528" y="4256532"/>
            <a:ext cx="265176" cy="219456"/>
          </a:xfrm>
          <a:prstGeom prst="rightArrow">
            <a:avLst/>
          </a:prstGeom>
          <a:solidFill>
            <a:srgbClr val="019879"/>
          </a:solidFill>
          <a:ln/>
        </p:spPr>
      </p:sp>
      <p:sp>
        <p:nvSpPr>
          <p:cNvPr id="34" name="Shape 32"/>
          <p:cNvSpPr/>
          <p:nvPr/>
        </p:nvSpPr>
        <p:spPr>
          <a:xfrm>
            <a:off x="6803136" y="3520440"/>
            <a:ext cx="2281428" cy="1691640"/>
          </a:xfrm>
          <a:prstGeom prst="roundRect">
            <a:avLst>
              <a:gd name="adj" fmla="val 4324"/>
            </a:avLst>
          </a:prstGeom>
          <a:solidFill>
            <a:srgbClr val="E4FBF5"/>
          </a:solidFill>
          <a:ln w="12700">
            <a:solidFill>
              <a:srgbClr val="019879"/>
            </a:solidFill>
            <a:prstDash val="solid"/>
          </a:ln>
        </p:spPr>
      </p:sp>
      <p:sp>
        <p:nvSpPr>
          <p:cNvPr id="35" name="Text 33"/>
          <p:cNvSpPr/>
          <p:nvPr/>
        </p:nvSpPr>
        <p:spPr>
          <a:xfrm>
            <a:off x="6894576" y="3593592"/>
            <a:ext cx="27432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3</a:t>
            </a:r>
            <a:endParaRPr lang="en-US" sz="1000" dirty="0"/>
          </a:p>
        </p:txBody>
      </p:sp>
      <p:sp>
        <p:nvSpPr>
          <p:cNvPr id="36" name="Text 34"/>
          <p:cNvSpPr/>
          <p:nvPr/>
        </p:nvSpPr>
        <p:spPr>
          <a:xfrm>
            <a:off x="6912864" y="3867912"/>
            <a:ext cx="2061972" cy="127101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Cross-tool AI correlates telemetry into root-cause hypothesis</a:t>
            </a:r>
            <a:endParaRPr lang="en-US" sz="1000" dirty="0"/>
          </a:p>
        </p:txBody>
      </p:sp>
      <p:sp>
        <p:nvSpPr>
          <p:cNvPr id="37" name="Shape 35"/>
          <p:cNvSpPr/>
          <p:nvPr/>
        </p:nvSpPr>
        <p:spPr>
          <a:xfrm>
            <a:off x="9111996" y="4256532"/>
            <a:ext cx="265176" cy="219456"/>
          </a:xfrm>
          <a:prstGeom prst="rightArrow">
            <a:avLst/>
          </a:prstGeom>
          <a:solidFill>
            <a:srgbClr val="019879"/>
          </a:solidFill>
          <a:ln/>
        </p:spPr>
      </p:sp>
      <p:sp>
        <p:nvSpPr>
          <p:cNvPr id="38" name="Shape 36"/>
          <p:cNvSpPr/>
          <p:nvPr/>
        </p:nvSpPr>
        <p:spPr>
          <a:xfrm>
            <a:off x="9404604" y="3520440"/>
            <a:ext cx="2281428" cy="1691640"/>
          </a:xfrm>
          <a:prstGeom prst="roundRect">
            <a:avLst>
              <a:gd name="adj" fmla="val 4324"/>
            </a:avLst>
          </a:prstGeom>
          <a:solidFill>
            <a:srgbClr val="E4FBF5"/>
          </a:solidFill>
          <a:ln w="12700">
            <a:solidFill>
              <a:srgbClr val="019879"/>
            </a:solidFill>
            <a:prstDash val="solid"/>
          </a:ln>
        </p:spPr>
      </p:sp>
      <p:sp>
        <p:nvSpPr>
          <p:cNvPr id="39" name="Text 37"/>
          <p:cNvSpPr/>
          <p:nvPr/>
        </p:nvSpPr>
        <p:spPr>
          <a:xfrm>
            <a:off x="9496044" y="3593592"/>
            <a:ext cx="27432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4</a:t>
            </a:r>
            <a:endParaRPr lang="en-US" sz="1000" dirty="0"/>
          </a:p>
        </p:txBody>
      </p:sp>
      <p:sp>
        <p:nvSpPr>
          <p:cNvPr id="40" name="Text 38"/>
          <p:cNvSpPr/>
          <p:nvPr/>
        </p:nvSpPr>
        <p:spPr>
          <a:xfrm>
            <a:off x="9514332" y="3867912"/>
            <a:ext cx="2061972" cy="127101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Guarded auto-remediation runs within approval checkpoints</a:t>
            </a:r>
            <a:endParaRPr lang="en-US" sz="1000" dirty="0"/>
          </a:p>
        </p:txBody>
      </p:sp>
      <p:sp>
        <p:nvSpPr>
          <p:cNvPr id="41" name="Shape 39"/>
          <p:cNvSpPr/>
          <p:nvPr/>
        </p:nvSpPr>
        <p:spPr>
          <a:xfrm>
            <a:off x="502920" y="5440680"/>
            <a:ext cx="11183112" cy="594360"/>
          </a:xfrm>
          <a:prstGeom prst="roundRect">
            <a:avLst>
              <a:gd name="adj" fmla="val 12308"/>
            </a:avLst>
          </a:prstGeom>
          <a:solidFill>
            <a:srgbClr val="F6F8FB"/>
          </a:solidFill>
          <a:ln/>
        </p:spPr>
      </p:sp>
      <p:sp>
        <p:nvSpPr>
          <p:cNvPr id="42" name="Text 40"/>
          <p:cNvSpPr/>
          <p:nvPr/>
        </p:nvSpPr>
        <p:spPr>
          <a:xfrm>
            <a:off x="731520" y="5440680"/>
            <a:ext cx="10698480" cy="594360"/>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Net effect:  </a:t>
            </a:r>
            <a:pPr indent="0" marL="0">
              <a:buNone/>
            </a:pPr>
            <a:r>
              <a:rPr lang="en-US" sz="1100" dirty="0">
                <a:solidFill>
                  <a:srgbClr val="6B7684"/>
                </a:solidFill>
                <a:latin typeface="Calibri" pitchFamily="34" charset="0"/>
                <a:ea typeface="Calibri" pitchFamily="34" charset="-122"/>
                <a:cs typeface="Calibri" pitchFamily="34" charset="-120"/>
              </a:rPr>
              <a:t>80–95% alert-noise reduction typical for a mature AIOps correlation layer over this exact tool mix.</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WORKFLOW TRANSFORMATION — DEEP DIVE</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Service Desk &amp; Platform Operations: Before vs. After AI</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3 · TOWER ANALYSIS</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13 / 33</a:t>
            </a:r>
            <a:endParaRPr lang="en-US" sz="850" dirty="0"/>
          </a:p>
        </p:txBody>
      </p:sp>
      <p:sp>
        <p:nvSpPr>
          <p:cNvPr id="7" name="Text 5"/>
          <p:cNvSpPr/>
          <p:nvPr/>
        </p:nvSpPr>
        <p:spPr>
          <a:xfrm>
            <a:off x="502920" y="1600200"/>
            <a:ext cx="5486400" cy="274320"/>
          </a:xfrm>
          <a:prstGeom prst="rect">
            <a:avLst/>
          </a:prstGeom>
          <a:noFill/>
          <a:ln/>
        </p:spPr>
        <p:txBody>
          <a:bodyPr wrap="square" rtlCol="0" anchor="ctr"/>
          <a:lstStyle/>
          <a:p>
            <a:pPr indent="0" marL="0">
              <a:buNone/>
            </a:pPr>
            <a:r>
              <a:rPr lang="en-US" sz="1100" b="1" spc="100" kern="0" dirty="0">
                <a:solidFill>
                  <a:srgbClr val="019879"/>
                </a:solidFill>
                <a:latin typeface="Calibri" pitchFamily="34" charset="0"/>
                <a:ea typeface="Calibri" pitchFamily="34" charset="-122"/>
                <a:cs typeface="Calibri" pitchFamily="34" charset="-120"/>
              </a:rPr>
              <a:t>SERVICE DESK</a:t>
            </a:r>
            <a:endParaRPr lang="en-US" sz="1100" dirty="0"/>
          </a:p>
        </p:txBody>
      </p:sp>
      <p:sp>
        <p:nvSpPr>
          <p:cNvPr id="8" name="Shape 6"/>
          <p:cNvSpPr/>
          <p:nvPr/>
        </p:nvSpPr>
        <p:spPr>
          <a:xfrm>
            <a:off x="502920" y="1920240"/>
            <a:ext cx="914400" cy="1005840"/>
          </a:xfrm>
          <a:prstGeom prst="roundRect">
            <a:avLst>
              <a:gd name="adj" fmla="val 8000"/>
            </a:avLst>
          </a:prstGeom>
          <a:solidFill>
            <a:srgbClr val="5B6B7C"/>
          </a:solidFill>
          <a:ln/>
        </p:spPr>
      </p:sp>
      <p:sp>
        <p:nvSpPr>
          <p:cNvPr id="9" name="Text 7"/>
          <p:cNvSpPr/>
          <p:nvPr/>
        </p:nvSpPr>
        <p:spPr>
          <a:xfrm rot="16200000">
            <a:off x="502920" y="1920240"/>
            <a:ext cx="914400" cy="10058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BEFORE</a:t>
            </a:r>
            <a:endParaRPr lang="en-US" sz="1200" dirty="0"/>
          </a:p>
        </p:txBody>
      </p:sp>
      <p:sp>
        <p:nvSpPr>
          <p:cNvPr id="10" name="Shape 8"/>
          <p:cNvSpPr/>
          <p:nvPr/>
        </p:nvSpPr>
        <p:spPr>
          <a:xfrm>
            <a:off x="1600200" y="1920240"/>
            <a:ext cx="2281428" cy="1005840"/>
          </a:xfrm>
          <a:prstGeom prst="roundRect">
            <a:avLst>
              <a:gd name="adj" fmla="val 7273"/>
            </a:avLst>
          </a:prstGeom>
          <a:solidFill>
            <a:srgbClr val="EEF1F4"/>
          </a:solidFill>
          <a:ln w="12700">
            <a:solidFill>
              <a:srgbClr val="5B6B7C"/>
            </a:solidFill>
            <a:prstDash val="solid"/>
          </a:ln>
        </p:spPr>
      </p:sp>
      <p:sp>
        <p:nvSpPr>
          <p:cNvPr id="11" name="Text 9"/>
          <p:cNvSpPr/>
          <p:nvPr/>
        </p:nvSpPr>
        <p:spPr>
          <a:xfrm>
            <a:off x="1691640" y="1993392"/>
            <a:ext cx="274320" cy="274320"/>
          </a:xfrm>
          <a:prstGeom prst="rect">
            <a:avLst/>
          </a:prstGeom>
          <a:noFill/>
          <a:ln/>
        </p:spPr>
        <p:txBody>
          <a:bodyPr wrap="square" rtlCol="0" anchor="ctr"/>
          <a:lstStyle/>
          <a:p>
            <a:pPr algn="ctr" indent="0" marL="0">
              <a:buNone/>
            </a:pPr>
            <a:r>
              <a:rPr lang="en-US" sz="1000" b="1" dirty="0">
                <a:solidFill>
                  <a:srgbClr val="5B6B7C"/>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1709928" y="2267712"/>
            <a:ext cx="2061972" cy="58521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Users raise tickets via email/portal</a:t>
            </a:r>
            <a:endParaRPr lang="en-US" sz="1000" dirty="0"/>
          </a:p>
        </p:txBody>
      </p:sp>
      <p:sp>
        <p:nvSpPr>
          <p:cNvPr id="13" name="Shape 11"/>
          <p:cNvSpPr/>
          <p:nvPr/>
        </p:nvSpPr>
        <p:spPr>
          <a:xfrm>
            <a:off x="3909060" y="2313432"/>
            <a:ext cx="265176" cy="219456"/>
          </a:xfrm>
          <a:prstGeom prst="rightArrow">
            <a:avLst/>
          </a:prstGeom>
          <a:solidFill>
            <a:srgbClr val="5B6B7C"/>
          </a:solidFill>
          <a:ln/>
        </p:spPr>
      </p:sp>
      <p:sp>
        <p:nvSpPr>
          <p:cNvPr id="14" name="Shape 12"/>
          <p:cNvSpPr/>
          <p:nvPr/>
        </p:nvSpPr>
        <p:spPr>
          <a:xfrm>
            <a:off x="4201668" y="1920240"/>
            <a:ext cx="2281428" cy="1005840"/>
          </a:xfrm>
          <a:prstGeom prst="roundRect">
            <a:avLst>
              <a:gd name="adj" fmla="val 7273"/>
            </a:avLst>
          </a:prstGeom>
          <a:solidFill>
            <a:srgbClr val="EEF1F4"/>
          </a:solidFill>
          <a:ln w="12700">
            <a:solidFill>
              <a:srgbClr val="5B6B7C"/>
            </a:solidFill>
            <a:prstDash val="solid"/>
          </a:ln>
        </p:spPr>
      </p:sp>
      <p:sp>
        <p:nvSpPr>
          <p:cNvPr id="15" name="Text 13"/>
          <p:cNvSpPr/>
          <p:nvPr/>
        </p:nvSpPr>
        <p:spPr>
          <a:xfrm>
            <a:off x="4293108" y="1993392"/>
            <a:ext cx="274320" cy="274320"/>
          </a:xfrm>
          <a:prstGeom prst="rect">
            <a:avLst/>
          </a:prstGeom>
          <a:noFill/>
          <a:ln/>
        </p:spPr>
        <p:txBody>
          <a:bodyPr wrap="square" rtlCol="0" anchor="ctr"/>
          <a:lstStyle/>
          <a:p>
            <a:pPr algn="ctr" indent="0" marL="0">
              <a:buNone/>
            </a:pPr>
            <a:r>
              <a:rPr lang="en-US" sz="1000" b="1" dirty="0">
                <a:solidFill>
                  <a:srgbClr val="5B6B7C"/>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4311396" y="2267712"/>
            <a:ext cx="2061972" cy="58521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L1 manually categorizes &amp; routes</a:t>
            </a:r>
            <a:endParaRPr lang="en-US" sz="1000" dirty="0"/>
          </a:p>
        </p:txBody>
      </p:sp>
      <p:sp>
        <p:nvSpPr>
          <p:cNvPr id="17" name="Shape 15"/>
          <p:cNvSpPr/>
          <p:nvPr/>
        </p:nvSpPr>
        <p:spPr>
          <a:xfrm>
            <a:off x="6510528" y="2313432"/>
            <a:ext cx="265176" cy="219456"/>
          </a:xfrm>
          <a:prstGeom prst="rightArrow">
            <a:avLst/>
          </a:prstGeom>
          <a:solidFill>
            <a:srgbClr val="5B6B7C"/>
          </a:solidFill>
          <a:ln/>
        </p:spPr>
      </p:sp>
      <p:sp>
        <p:nvSpPr>
          <p:cNvPr id="18" name="Shape 16"/>
          <p:cNvSpPr/>
          <p:nvPr/>
        </p:nvSpPr>
        <p:spPr>
          <a:xfrm>
            <a:off x="6803136" y="1920240"/>
            <a:ext cx="2281428" cy="1005840"/>
          </a:xfrm>
          <a:prstGeom prst="roundRect">
            <a:avLst>
              <a:gd name="adj" fmla="val 7273"/>
            </a:avLst>
          </a:prstGeom>
          <a:solidFill>
            <a:srgbClr val="EEF1F4"/>
          </a:solidFill>
          <a:ln w="12700">
            <a:solidFill>
              <a:srgbClr val="5B6B7C"/>
            </a:solidFill>
            <a:prstDash val="solid"/>
          </a:ln>
        </p:spPr>
      </p:sp>
      <p:sp>
        <p:nvSpPr>
          <p:cNvPr id="19" name="Text 17"/>
          <p:cNvSpPr/>
          <p:nvPr/>
        </p:nvSpPr>
        <p:spPr>
          <a:xfrm>
            <a:off x="6894576" y="1993392"/>
            <a:ext cx="274320" cy="274320"/>
          </a:xfrm>
          <a:prstGeom prst="rect">
            <a:avLst/>
          </a:prstGeom>
          <a:noFill/>
          <a:ln/>
        </p:spPr>
        <p:txBody>
          <a:bodyPr wrap="square" rtlCol="0" anchor="ctr"/>
          <a:lstStyle/>
          <a:p>
            <a:pPr algn="ctr" indent="0" marL="0">
              <a:buNone/>
            </a:pPr>
            <a:r>
              <a:rPr lang="en-US" sz="1000" b="1" dirty="0">
                <a:solidFill>
                  <a:srgbClr val="5B6B7C"/>
                </a:solidFill>
                <a:latin typeface="Calibri" pitchFamily="34" charset="0"/>
                <a:ea typeface="Calibri" pitchFamily="34" charset="-122"/>
                <a:cs typeface="Calibri" pitchFamily="34" charset="-120"/>
              </a:rPr>
              <a:t>3</a:t>
            </a:r>
            <a:endParaRPr lang="en-US" sz="1000" dirty="0"/>
          </a:p>
        </p:txBody>
      </p:sp>
      <p:sp>
        <p:nvSpPr>
          <p:cNvPr id="20" name="Text 18"/>
          <p:cNvSpPr/>
          <p:nvPr/>
        </p:nvSpPr>
        <p:spPr>
          <a:xfrm>
            <a:off x="6912864" y="2267712"/>
            <a:ext cx="2061972" cy="58521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Manual KB/log search to resolve</a:t>
            </a:r>
            <a:endParaRPr lang="en-US" sz="1000" dirty="0"/>
          </a:p>
        </p:txBody>
      </p:sp>
      <p:sp>
        <p:nvSpPr>
          <p:cNvPr id="21" name="Shape 19"/>
          <p:cNvSpPr/>
          <p:nvPr/>
        </p:nvSpPr>
        <p:spPr>
          <a:xfrm>
            <a:off x="9111996" y="2313432"/>
            <a:ext cx="265176" cy="219456"/>
          </a:xfrm>
          <a:prstGeom prst="rightArrow">
            <a:avLst/>
          </a:prstGeom>
          <a:solidFill>
            <a:srgbClr val="5B6B7C"/>
          </a:solidFill>
          <a:ln/>
        </p:spPr>
      </p:sp>
      <p:sp>
        <p:nvSpPr>
          <p:cNvPr id="22" name="Shape 20"/>
          <p:cNvSpPr/>
          <p:nvPr/>
        </p:nvSpPr>
        <p:spPr>
          <a:xfrm>
            <a:off x="9404604" y="1920240"/>
            <a:ext cx="2281428" cy="1005840"/>
          </a:xfrm>
          <a:prstGeom prst="roundRect">
            <a:avLst>
              <a:gd name="adj" fmla="val 7273"/>
            </a:avLst>
          </a:prstGeom>
          <a:solidFill>
            <a:srgbClr val="EEF1F4"/>
          </a:solidFill>
          <a:ln w="12700">
            <a:solidFill>
              <a:srgbClr val="5B6B7C"/>
            </a:solidFill>
            <a:prstDash val="solid"/>
          </a:ln>
        </p:spPr>
      </p:sp>
      <p:sp>
        <p:nvSpPr>
          <p:cNvPr id="23" name="Text 21"/>
          <p:cNvSpPr/>
          <p:nvPr/>
        </p:nvSpPr>
        <p:spPr>
          <a:xfrm>
            <a:off x="9496044" y="1993392"/>
            <a:ext cx="274320" cy="274320"/>
          </a:xfrm>
          <a:prstGeom prst="rect">
            <a:avLst/>
          </a:prstGeom>
          <a:noFill/>
          <a:ln/>
        </p:spPr>
        <p:txBody>
          <a:bodyPr wrap="square" rtlCol="0" anchor="ctr"/>
          <a:lstStyle/>
          <a:p>
            <a:pPr algn="ctr" indent="0" marL="0">
              <a:buNone/>
            </a:pPr>
            <a:r>
              <a:rPr lang="en-US" sz="1000" b="1" dirty="0">
                <a:solidFill>
                  <a:srgbClr val="5B6B7C"/>
                </a:solidFill>
                <a:latin typeface="Calibri" pitchFamily="34" charset="0"/>
                <a:ea typeface="Calibri" pitchFamily="34" charset="-122"/>
                <a:cs typeface="Calibri" pitchFamily="34" charset="-120"/>
              </a:rPr>
              <a:t>4</a:t>
            </a:r>
            <a:endParaRPr lang="en-US" sz="1000" dirty="0"/>
          </a:p>
        </p:txBody>
      </p:sp>
      <p:sp>
        <p:nvSpPr>
          <p:cNvPr id="24" name="Text 22"/>
          <p:cNvSpPr/>
          <p:nvPr/>
        </p:nvSpPr>
        <p:spPr>
          <a:xfrm>
            <a:off x="9514332" y="2267712"/>
            <a:ext cx="2061972" cy="58521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Manual resolution notes &amp; KB creation</a:t>
            </a:r>
            <a:endParaRPr lang="en-US" sz="1000" dirty="0"/>
          </a:p>
        </p:txBody>
      </p:sp>
      <p:sp>
        <p:nvSpPr>
          <p:cNvPr id="25" name="Shape 23"/>
          <p:cNvSpPr/>
          <p:nvPr/>
        </p:nvSpPr>
        <p:spPr>
          <a:xfrm>
            <a:off x="502920" y="3017520"/>
            <a:ext cx="914400" cy="1005840"/>
          </a:xfrm>
          <a:prstGeom prst="roundRect">
            <a:avLst>
              <a:gd name="adj" fmla="val 8000"/>
            </a:avLst>
          </a:prstGeom>
          <a:solidFill>
            <a:srgbClr val="02C39A"/>
          </a:solidFill>
          <a:ln/>
        </p:spPr>
      </p:sp>
      <p:sp>
        <p:nvSpPr>
          <p:cNvPr id="26" name="Text 24"/>
          <p:cNvSpPr/>
          <p:nvPr/>
        </p:nvSpPr>
        <p:spPr>
          <a:xfrm rot="16200000">
            <a:off x="502920" y="3017520"/>
            <a:ext cx="914400" cy="1005840"/>
          </a:xfrm>
          <a:prstGeom prst="rect">
            <a:avLst/>
          </a:prstGeom>
          <a:noFill/>
          <a:ln/>
        </p:spPr>
        <p:txBody>
          <a:bodyPr wrap="square" rtlCol="0" anchor="ctr"/>
          <a:lstStyle/>
          <a:p>
            <a:pPr algn="ctr" indent="0" marL="0">
              <a:buNone/>
            </a:pPr>
            <a:r>
              <a:rPr lang="en-US" sz="1200" b="1" dirty="0">
                <a:solidFill>
                  <a:srgbClr val="141B4D"/>
                </a:solidFill>
                <a:latin typeface="Cambria" pitchFamily="34" charset="0"/>
                <a:ea typeface="Cambria" pitchFamily="34" charset="-122"/>
                <a:cs typeface="Cambria" pitchFamily="34" charset="-120"/>
              </a:rPr>
              <a:t>AFTER</a:t>
            </a:r>
            <a:endParaRPr lang="en-US" sz="1200" dirty="0"/>
          </a:p>
        </p:txBody>
      </p:sp>
      <p:sp>
        <p:nvSpPr>
          <p:cNvPr id="27" name="Shape 25"/>
          <p:cNvSpPr/>
          <p:nvPr/>
        </p:nvSpPr>
        <p:spPr>
          <a:xfrm>
            <a:off x="1600200" y="3017520"/>
            <a:ext cx="2281428" cy="1005840"/>
          </a:xfrm>
          <a:prstGeom prst="roundRect">
            <a:avLst>
              <a:gd name="adj" fmla="val 7273"/>
            </a:avLst>
          </a:prstGeom>
          <a:solidFill>
            <a:srgbClr val="E4FBF5"/>
          </a:solidFill>
          <a:ln w="12700">
            <a:solidFill>
              <a:srgbClr val="019879"/>
            </a:solidFill>
            <a:prstDash val="solid"/>
          </a:ln>
        </p:spPr>
      </p:sp>
      <p:sp>
        <p:nvSpPr>
          <p:cNvPr id="28" name="Text 26"/>
          <p:cNvSpPr/>
          <p:nvPr/>
        </p:nvSpPr>
        <p:spPr>
          <a:xfrm>
            <a:off x="1691640" y="3090672"/>
            <a:ext cx="27432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1</a:t>
            </a:r>
            <a:endParaRPr lang="en-US" sz="1000" dirty="0"/>
          </a:p>
        </p:txBody>
      </p:sp>
      <p:sp>
        <p:nvSpPr>
          <p:cNvPr id="29" name="Text 27"/>
          <p:cNvSpPr/>
          <p:nvPr/>
        </p:nvSpPr>
        <p:spPr>
          <a:xfrm>
            <a:off x="1709928" y="3364992"/>
            <a:ext cx="2061972" cy="58521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Virtual agent classifies request in NL</a:t>
            </a:r>
            <a:endParaRPr lang="en-US" sz="1000" dirty="0"/>
          </a:p>
        </p:txBody>
      </p:sp>
      <p:sp>
        <p:nvSpPr>
          <p:cNvPr id="30" name="Shape 28"/>
          <p:cNvSpPr/>
          <p:nvPr/>
        </p:nvSpPr>
        <p:spPr>
          <a:xfrm>
            <a:off x="3909060" y="3410712"/>
            <a:ext cx="265176" cy="219456"/>
          </a:xfrm>
          <a:prstGeom prst="rightArrow">
            <a:avLst/>
          </a:prstGeom>
          <a:solidFill>
            <a:srgbClr val="019879"/>
          </a:solidFill>
          <a:ln/>
        </p:spPr>
      </p:sp>
      <p:sp>
        <p:nvSpPr>
          <p:cNvPr id="31" name="Shape 29"/>
          <p:cNvSpPr/>
          <p:nvPr/>
        </p:nvSpPr>
        <p:spPr>
          <a:xfrm>
            <a:off x="4201668" y="3017520"/>
            <a:ext cx="2281428" cy="1005840"/>
          </a:xfrm>
          <a:prstGeom prst="roundRect">
            <a:avLst>
              <a:gd name="adj" fmla="val 7273"/>
            </a:avLst>
          </a:prstGeom>
          <a:solidFill>
            <a:srgbClr val="E4FBF5"/>
          </a:solidFill>
          <a:ln w="12700">
            <a:solidFill>
              <a:srgbClr val="019879"/>
            </a:solidFill>
            <a:prstDash val="solid"/>
          </a:ln>
        </p:spPr>
      </p:sp>
      <p:sp>
        <p:nvSpPr>
          <p:cNvPr id="32" name="Text 30"/>
          <p:cNvSpPr/>
          <p:nvPr/>
        </p:nvSpPr>
        <p:spPr>
          <a:xfrm>
            <a:off x="4293108" y="3090672"/>
            <a:ext cx="27432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2</a:t>
            </a:r>
            <a:endParaRPr lang="en-US" sz="1000" dirty="0"/>
          </a:p>
        </p:txBody>
      </p:sp>
      <p:sp>
        <p:nvSpPr>
          <p:cNvPr id="33" name="Text 31"/>
          <p:cNvSpPr/>
          <p:nvPr/>
        </p:nvSpPr>
        <p:spPr>
          <a:xfrm>
            <a:off x="4311396" y="3364992"/>
            <a:ext cx="2061972" cy="58521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Auto-resolves common requests via workflow</a:t>
            </a:r>
            <a:endParaRPr lang="en-US" sz="1000" dirty="0"/>
          </a:p>
        </p:txBody>
      </p:sp>
      <p:sp>
        <p:nvSpPr>
          <p:cNvPr id="34" name="Shape 32"/>
          <p:cNvSpPr/>
          <p:nvPr/>
        </p:nvSpPr>
        <p:spPr>
          <a:xfrm>
            <a:off x="6510528" y="3410712"/>
            <a:ext cx="265176" cy="219456"/>
          </a:xfrm>
          <a:prstGeom prst="rightArrow">
            <a:avLst/>
          </a:prstGeom>
          <a:solidFill>
            <a:srgbClr val="019879"/>
          </a:solidFill>
          <a:ln/>
        </p:spPr>
      </p:sp>
      <p:sp>
        <p:nvSpPr>
          <p:cNvPr id="35" name="Shape 33"/>
          <p:cNvSpPr/>
          <p:nvPr/>
        </p:nvSpPr>
        <p:spPr>
          <a:xfrm>
            <a:off x="6803136" y="3017520"/>
            <a:ext cx="2281428" cy="1005840"/>
          </a:xfrm>
          <a:prstGeom prst="roundRect">
            <a:avLst>
              <a:gd name="adj" fmla="val 7273"/>
            </a:avLst>
          </a:prstGeom>
          <a:solidFill>
            <a:srgbClr val="E4FBF5"/>
          </a:solidFill>
          <a:ln w="12700">
            <a:solidFill>
              <a:srgbClr val="019879"/>
            </a:solidFill>
            <a:prstDash val="solid"/>
          </a:ln>
        </p:spPr>
      </p:sp>
      <p:sp>
        <p:nvSpPr>
          <p:cNvPr id="36" name="Text 34"/>
          <p:cNvSpPr/>
          <p:nvPr/>
        </p:nvSpPr>
        <p:spPr>
          <a:xfrm>
            <a:off x="6894576" y="3090672"/>
            <a:ext cx="27432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3</a:t>
            </a:r>
            <a:endParaRPr lang="en-US" sz="1000" dirty="0"/>
          </a:p>
        </p:txBody>
      </p:sp>
      <p:sp>
        <p:nvSpPr>
          <p:cNvPr id="37" name="Text 35"/>
          <p:cNvSpPr/>
          <p:nvPr/>
        </p:nvSpPr>
        <p:spPr>
          <a:xfrm>
            <a:off x="6912864" y="3364992"/>
            <a:ext cx="2061972" cy="58521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Agentic ITSM auto-drafts notes &amp; KB</a:t>
            </a:r>
            <a:endParaRPr lang="en-US" sz="1000" dirty="0"/>
          </a:p>
        </p:txBody>
      </p:sp>
      <p:sp>
        <p:nvSpPr>
          <p:cNvPr id="38" name="Shape 36"/>
          <p:cNvSpPr/>
          <p:nvPr/>
        </p:nvSpPr>
        <p:spPr>
          <a:xfrm>
            <a:off x="9111996" y="3410712"/>
            <a:ext cx="265176" cy="219456"/>
          </a:xfrm>
          <a:prstGeom prst="rightArrow">
            <a:avLst/>
          </a:prstGeom>
          <a:solidFill>
            <a:srgbClr val="019879"/>
          </a:solidFill>
          <a:ln/>
        </p:spPr>
      </p:sp>
      <p:sp>
        <p:nvSpPr>
          <p:cNvPr id="39" name="Shape 37"/>
          <p:cNvSpPr/>
          <p:nvPr/>
        </p:nvSpPr>
        <p:spPr>
          <a:xfrm>
            <a:off x="9404604" y="3017520"/>
            <a:ext cx="2281428" cy="1005840"/>
          </a:xfrm>
          <a:prstGeom prst="roundRect">
            <a:avLst>
              <a:gd name="adj" fmla="val 7273"/>
            </a:avLst>
          </a:prstGeom>
          <a:solidFill>
            <a:srgbClr val="E4FBF5"/>
          </a:solidFill>
          <a:ln w="12700">
            <a:solidFill>
              <a:srgbClr val="019879"/>
            </a:solidFill>
            <a:prstDash val="solid"/>
          </a:ln>
        </p:spPr>
      </p:sp>
      <p:sp>
        <p:nvSpPr>
          <p:cNvPr id="40" name="Text 38"/>
          <p:cNvSpPr/>
          <p:nvPr/>
        </p:nvSpPr>
        <p:spPr>
          <a:xfrm>
            <a:off x="9496044" y="3090672"/>
            <a:ext cx="27432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4</a:t>
            </a:r>
            <a:endParaRPr lang="en-US" sz="1000" dirty="0"/>
          </a:p>
        </p:txBody>
      </p:sp>
      <p:sp>
        <p:nvSpPr>
          <p:cNvPr id="41" name="Text 39"/>
          <p:cNvSpPr/>
          <p:nvPr/>
        </p:nvSpPr>
        <p:spPr>
          <a:xfrm>
            <a:off x="9514332" y="3364992"/>
            <a:ext cx="2061972" cy="58521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Exceptions routed with AI-generated summary</a:t>
            </a:r>
            <a:endParaRPr lang="en-US" sz="1000" dirty="0"/>
          </a:p>
        </p:txBody>
      </p:sp>
      <p:sp>
        <p:nvSpPr>
          <p:cNvPr id="42" name="Text 40"/>
          <p:cNvSpPr/>
          <p:nvPr/>
        </p:nvSpPr>
        <p:spPr>
          <a:xfrm>
            <a:off x="502920" y="4251960"/>
            <a:ext cx="8229600" cy="274320"/>
          </a:xfrm>
          <a:prstGeom prst="rect">
            <a:avLst/>
          </a:prstGeom>
          <a:noFill/>
          <a:ln/>
        </p:spPr>
        <p:txBody>
          <a:bodyPr wrap="square" rtlCol="0" anchor="ctr"/>
          <a:lstStyle/>
          <a:p>
            <a:pPr indent="0" marL="0">
              <a:buNone/>
            </a:pPr>
            <a:r>
              <a:rPr lang="en-US" sz="1100" b="1" spc="100" kern="0" dirty="0">
                <a:solidFill>
                  <a:srgbClr val="019879"/>
                </a:solidFill>
                <a:latin typeface="Calibri" pitchFamily="34" charset="0"/>
                <a:ea typeface="Calibri" pitchFamily="34" charset="-122"/>
                <a:cs typeface="Calibri" pitchFamily="34" charset="-120"/>
              </a:rPr>
              <a:t>PLATFORM OPERATIONS (Windows / Linux / SQL / Oracle)</a:t>
            </a:r>
            <a:endParaRPr lang="en-US" sz="1100" dirty="0"/>
          </a:p>
        </p:txBody>
      </p:sp>
      <p:sp>
        <p:nvSpPr>
          <p:cNvPr id="43" name="Shape 41"/>
          <p:cNvSpPr/>
          <p:nvPr/>
        </p:nvSpPr>
        <p:spPr>
          <a:xfrm>
            <a:off x="502920" y="4572000"/>
            <a:ext cx="914400" cy="914400"/>
          </a:xfrm>
          <a:prstGeom prst="roundRect">
            <a:avLst>
              <a:gd name="adj" fmla="val 8000"/>
            </a:avLst>
          </a:prstGeom>
          <a:solidFill>
            <a:srgbClr val="5B6B7C"/>
          </a:solidFill>
          <a:ln/>
        </p:spPr>
      </p:sp>
      <p:sp>
        <p:nvSpPr>
          <p:cNvPr id="44" name="Text 42"/>
          <p:cNvSpPr/>
          <p:nvPr/>
        </p:nvSpPr>
        <p:spPr>
          <a:xfrm rot="16200000">
            <a:off x="502920" y="4572000"/>
            <a:ext cx="914400" cy="91440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BEFORE</a:t>
            </a:r>
            <a:endParaRPr lang="en-US" sz="1200" dirty="0"/>
          </a:p>
        </p:txBody>
      </p:sp>
      <p:sp>
        <p:nvSpPr>
          <p:cNvPr id="45" name="Shape 43"/>
          <p:cNvSpPr/>
          <p:nvPr/>
        </p:nvSpPr>
        <p:spPr>
          <a:xfrm>
            <a:off x="1600200" y="4572000"/>
            <a:ext cx="2281428" cy="914400"/>
          </a:xfrm>
          <a:prstGeom prst="roundRect">
            <a:avLst>
              <a:gd name="adj" fmla="val 8000"/>
            </a:avLst>
          </a:prstGeom>
          <a:solidFill>
            <a:srgbClr val="EEF1F4"/>
          </a:solidFill>
          <a:ln w="12700">
            <a:solidFill>
              <a:srgbClr val="5B6B7C"/>
            </a:solidFill>
            <a:prstDash val="solid"/>
          </a:ln>
        </p:spPr>
      </p:sp>
      <p:sp>
        <p:nvSpPr>
          <p:cNvPr id="46" name="Text 44"/>
          <p:cNvSpPr/>
          <p:nvPr/>
        </p:nvSpPr>
        <p:spPr>
          <a:xfrm>
            <a:off x="1691640" y="4645152"/>
            <a:ext cx="274320" cy="274320"/>
          </a:xfrm>
          <a:prstGeom prst="rect">
            <a:avLst/>
          </a:prstGeom>
          <a:noFill/>
          <a:ln/>
        </p:spPr>
        <p:txBody>
          <a:bodyPr wrap="square" rtlCol="0" anchor="ctr"/>
          <a:lstStyle/>
          <a:p>
            <a:pPr algn="ctr" indent="0" marL="0">
              <a:buNone/>
            </a:pPr>
            <a:r>
              <a:rPr lang="en-US" sz="1000" b="1" dirty="0">
                <a:solidFill>
                  <a:srgbClr val="5B6B7C"/>
                </a:solidFill>
                <a:latin typeface="Calibri" pitchFamily="34" charset="0"/>
                <a:ea typeface="Calibri" pitchFamily="34" charset="-122"/>
                <a:cs typeface="Calibri" pitchFamily="34" charset="-120"/>
              </a:rPr>
              <a:t>1</a:t>
            </a:r>
            <a:endParaRPr lang="en-US" sz="1000" dirty="0"/>
          </a:p>
        </p:txBody>
      </p:sp>
      <p:sp>
        <p:nvSpPr>
          <p:cNvPr id="47" name="Text 45"/>
          <p:cNvSpPr/>
          <p:nvPr/>
        </p:nvSpPr>
        <p:spPr>
          <a:xfrm>
            <a:off x="1709928" y="4919472"/>
            <a:ext cx="2061972" cy="49377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Admins manually inspect dashboards/logs</a:t>
            </a:r>
            <a:endParaRPr lang="en-US" sz="1000" dirty="0"/>
          </a:p>
        </p:txBody>
      </p:sp>
      <p:sp>
        <p:nvSpPr>
          <p:cNvPr id="48" name="Shape 46"/>
          <p:cNvSpPr/>
          <p:nvPr/>
        </p:nvSpPr>
        <p:spPr>
          <a:xfrm>
            <a:off x="3909060" y="4919472"/>
            <a:ext cx="265176" cy="219456"/>
          </a:xfrm>
          <a:prstGeom prst="rightArrow">
            <a:avLst/>
          </a:prstGeom>
          <a:solidFill>
            <a:srgbClr val="5B6B7C"/>
          </a:solidFill>
          <a:ln/>
        </p:spPr>
      </p:sp>
      <p:sp>
        <p:nvSpPr>
          <p:cNvPr id="49" name="Shape 47"/>
          <p:cNvSpPr/>
          <p:nvPr/>
        </p:nvSpPr>
        <p:spPr>
          <a:xfrm>
            <a:off x="4201668" y="4572000"/>
            <a:ext cx="2281428" cy="914400"/>
          </a:xfrm>
          <a:prstGeom prst="roundRect">
            <a:avLst>
              <a:gd name="adj" fmla="val 8000"/>
            </a:avLst>
          </a:prstGeom>
          <a:solidFill>
            <a:srgbClr val="EEF1F4"/>
          </a:solidFill>
          <a:ln w="12700">
            <a:solidFill>
              <a:srgbClr val="5B6B7C"/>
            </a:solidFill>
            <a:prstDash val="solid"/>
          </a:ln>
        </p:spPr>
      </p:sp>
      <p:sp>
        <p:nvSpPr>
          <p:cNvPr id="50" name="Text 48"/>
          <p:cNvSpPr/>
          <p:nvPr/>
        </p:nvSpPr>
        <p:spPr>
          <a:xfrm>
            <a:off x="4293108" y="4645152"/>
            <a:ext cx="274320" cy="274320"/>
          </a:xfrm>
          <a:prstGeom prst="rect">
            <a:avLst/>
          </a:prstGeom>
          <a:noFill/>
          <a:ln/>
        </p:spPr>
        <p:txBody>
          <a:bodyPr wrap="square" rtlCol="0" anchor="ctr"/>
          <a:lstStyle/>
          <a:p>
            <a:pPr algn="ctr" indent="0" marL="0">
              <a:buNone/>
            </a:pPr>
            <a:r>
              <a:rPr lang="en-US" sz="1000" b="1" dirty="0">
                <a:solidFill>
                  <a:srgbClr val="5B6B7C"/>
                </a:solidFill>
                <a:latin typeface="Calibri" pitchFamily="34" charset="0"/>
                <a:ea typeface="Calibri" pitchFamily="34" charset="-122"/>
                <a:cs typeface="Calibri" pitchFamily="34" charset="-120"/>
              </a:rPr>
              <a:t>2</a:t>
            </a:r>
            <a:endParaRPr lang="en-US" sz="1000" dirty="0"/>
          </a:p>
        </p:txBody>
      </p:sp>
      <p:sp>
        <p:nvSpPr>
          <p:cNvPr id="51" name="Text 49"/>
          <p:cNvSpPr/>
          <p:nvPr/>
        </p:nvSpPr>
        <p:spPr>
          <a:xfrm>
            <a:off x="4311396" y="4919472"/>
            <a:ext cx="2061972" cy="49377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Static runbooks guide diagnostics</a:t>
            </a:r>
            <a:endParaRPr lang="en-US" sz="1000" dirty="0"/>
          </a:p>
        </p:txBody>
      </p:sp>
      <p:sp>
        <p:nvSpPr>
          <p:cNvPr id="52" name="Shape 50"/>
          <p:cNvSpPr/>
          <p:nvPr/>
        </p:nvSpPr>
        <p:spPr>
          <a:xfrm>
            <a:off x="6510528" y="4919472"/>
            <a:ext cx="265176" cy="219456"/>
          </a:xfrm>
          <a:prstGeom prst="rightArrow">
            <a:avLst/>
          </a:prstGeom>
          <a:solidFill>
            <a:srgbClr val="5B6B7C"/>
          </a:solidFill>
          <a:ln/>
        </p:spPr>
      </p:sp>
      <p:sp>
        <p:nvSpPr>
          <p:cNvPr id="53" name="Shape 51"/>
          <p:cNvSpPr/>
          <p:nvPr/>
        </p:nvSpPr>
        <p:spPr>
          <a:xfrm>
            <a:off x="6803136" y="4572000"/>
            <a:ext cx="2281428" cy="914400"/>
          </a:xfrm>
          <a:prstGeom prst="roundRect">
            <a:avLst>
              <a:gd name="adj" fmla="val 8000"/>
            </a:avLst>
          </a:prstGeom>
          <a:solidFill>
            <a:srgbClr val="EEF1F4"/>
          </a:solidFill>
          <a:ln w="12700">
            <a:solidFill>
              <a:srgbClr val="5B6B7C"/>
            </a:solidFill>
            <a:prstDash val="solid"/>
          </a:ln>
        </p:spPr>
      </p:sp>
      <p:sp>
        <p:nvSpPr>
          <p:cNvPr id="54" name="Text 52"/>
          <p:cNvSpPr/>
          <p:nvPr/>
        </p:nvSpPr>
        <p:spPr>
          <a:xfrm>
            <a:off x="6894576" y="4645152"/>
            <a:ext cx="274320" cy="274320"/>
          </a:xfrm>
          <a:prstGeom prst="rect">
            <a:avLst/>
          </a:prstGeom>
          <a:noFill/>
          <a:ln/>
        </p:spPr>
        <p:txBody>
          <a:bodyPr wrap="square" rtlCol="0" anchor="ctr"/>
          <a:lstStyle/>
          <a:p>
            <a:pPr algn="ctr" indent="0" marL="0">
              <a:buNone/>
            </a:pPr>
            <a:r>
              <a:rPr lang="en-US" sz="1000" b="1" dirty="0">
                <a:solidFill>
                  <a:srgbClr val="5B6B7C"/>
                </a:solidFill>
                <a:latin typeface="Calibri" pitchFamily="34" charset="0"/>
                <a:ea typeface="Calibri" pitchFamily="34" charset="-122"/>
                <a:cs typeface="Calibri" pitchFamily="34" charset="-120"/>
              </a:rPr>
              <a:t>3</a:t>
            </a:r>
            <a:endParaRPr lang="en-US" sz="1000" dirty="0"/>
          </a:p>
        </p:txBody>
      </p:sp>
      <p:sp>
        <p:nvSpPr>
          <p:cNvPr id="55" name="Text 53"/>
          <p:cNvSpPr/>
          <p:nvPr/>
        </p:nvSpPr>
        <p:spPr>
          <a:xfrm>
            <a:off x="6912864" y="4919472"/>
            <a:ext cx="2061972" cy="49377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Manual change execution under ServiceNow CR</a:t>
            </a:r>
            <a:endParaRPr lang="en-US" sz="1000" dirty="0"/>
          </a:p>
        </p:txBody>
      </p:sp>
      <p:sp>
        <p:nvSpPr>
          <p:cNvPr id="56" name="Shape 54"/>
          <p:cNvSpPr/>
          <p:nvPr/>
        </p:nvSpPr>
        <p:spPr>
          <a:xfrm>
            <a:off x="9111996" y="4919472"/>
            <a:ext cx="265176" cy="219456"/>
          </a:xfrm>
          <a:prstGeom prst="rightArrow">
            <a:avLst/>
          </a:prstGeom>
          <a:solidFill>
            <a:srgbClr val="5B6B7C"/>
          </a:solidFill>
          <a:ln/>
        </p:spPr>
      </p:sp>
      <p:sp>
        <p:nvSpPr>
          <p:cNvPr id="57" name="Shape 55"/>
          <p:cNvSpPr/>
          <p:nvPr/>
        </p:nvSpPr>
        <p:spPr>
          <a:xfrm>
            <a:off x="9404604" y="4572000"/>
            <a:ext cx="2281428" cy="914400"/>
          </a:xfrm>
          <a:prstGeom prst="roundRect">
            <a:avLst>
              <a:gd name="adj" fmla="val 8000"/>
            </a:avLst>
          </a:prstGeom>
          <a:solidFill>
            <a:srgbClr val="EEF1F4"/>
          </a:solidFill>
          <a:ln w="12700">
            <a:solidFill>
              <a:srgbClr val="5B6B7C"/>
            </a:solidFill>
            <a:prstDash val="solid"/>
          </a:ln>
        </p:spPr>
      </p:sp>
      <p:sp>
        <p:nvSpPr>
          <p:cNvPr id="58" name="Text 56"/>
          <p:cNvSpPr/>
          <p:nvPr/>
        </p:nvSpPr>
        <p:spPr>
          <a:xfrm>
            <a:off x="9496044" y="4645152"/>
            <a:ext cx="274320" cy="274320"/>
          </a:xfrm>
          <a:prstGeom prst="rect">
            <a:avLst/>
          </a:prstGeom>
          <a:noFill/>
          <a:ln/>
        </p:spPr>
        <p:txBody>
          <a:bodyPr wrap="square" rtlCol="0" anchor="ctr"/>
          <a:lstStyle/>
          <a:p>
            <a:pPr algn="ctr" indent="0" marL="0">
              <a:buNone/>
            </a:pPr>
            <a:r>
              <a:rPr lang="en-US" sz="1000" b="1" dirty="0">
                <a:solidFill>
                  <a:srgbClr val="5B6B7C"/>
                </a:solidFill>
                <a:latin typeface="Calibri" pitchFamily="34" charset="0"/>
                <a:ea typeface="Calibri" pitchFamily="34" charset="-122"/>
                <a:cs typeface="Calibri" pitchFamily="34" charset="-120"/>
              </a:rPr>
              <a:t>4</a:t>
            </a:r>
            <a:endParaRPr lang="en-US" sz="1000" dirty="0"/>
          </a:p>
        </p:txBody>
      </p:sp>
      <p:sp>
        <p:nvSpPr>
          <p:cNvPr id="59" name="Text 57"/>
          <p:cNvSpPr/>
          <p:nvPr/>
        </p:nvSpPr>
        <p:spPr>
          <a:xfrm>
            <a:off x="9514332" y="4919472"/>
            <a:ext cx="2061972" cy="49377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Post-incident review mostly human-driven</a:t>
            </a:r>
            <a:endParaRPr lang="en-US" sz="1000" dirty="0"/>
          </a:p>
        </p:txBody>
      </p:sp>
      <p:sp>
        <p:nvSpPr>
          <p:cNvPr id="60" name="Shape 58"/>
          <p:cNvSpPr/>
          <p:nvPr/>
        </p:nvSpPr>
        <p:spPr>
          <a:xfrm>
            <a:off x="502920" y="5577840"/>
            <a:ext cx="914400" cy="914400"/>
          </a:xfrm>
          <a:prstGeom prst="roundRect">
            <a:avLst>
              <a:gd name="adj" fmla="val 8000"/>
            </a:avLst>
          </a:prstGeom>
          <a:solidFill>
            <a:srgbClr val="02C39A"/>
          </a:solidFill>
          <a:ln/>
        </p:spPr>
      </p:sp>
      <p:sp>
        <p:nvSpPr>
          <p:cNvPr id="61" name="Text 59"/>
          <p:cNvSpPr/>
          <p:nvPr/>
        </p:nvSpPr>
        <p:spPr>
          <a:xfrm rot="16200000">
            <a:off x="502920" y="5577840"/>
            <a:ext cx="914400" cy="914400"/>
          </a:xfrm>
          <a:prstGeom prst="rect">
            <a:avLst/>
          </a:prstGeom>
          <a:noFill/>
          <a:ln/>
        </p:spPr>
        <p:txBody>
          <a:bodyPr wrap="square" rtlCol="0" anchor="ctr"/>
          <a:lstStyle/>
          <a:p>
            <a:pPr algn="ctr" indent="0" marL="0">
              <a:buNone/>
            </a:pPr>
            <a:r>
              <a:rPr lang="en-US" sz="1200" b="1" dirty="0">
                <a:solidFill>
                  <a:srgbClr val="141B4D"/>
                </a:solidFill>
                <a:latin typeface="Cambria" pitchFamily="34" charset="0"/>
                <a:ea typeface="Cambria" pitchFamily="34" charset="-122"/>
                <a:cs typeface="Cambria" pitchFamily="34" charset="-120"/>
              </a:rPr>
              <a:t>AFTER</a:t>
            </a:r>
            <a:endParaRPr lang="en-US" sz="1200" dirty="0"/>
          </a:p>
        </p:txBody>
      </p:sp>
      <p:sp>
        <p:nvSpPr>
          <p:cNvPr id="62" name="Shape 60"/>
          <p:cNvSpPr/>
          <p:nvPr/>
        </p:nvSpPr>
        <p:spPr>
          <a:xfrm>
            <a:off x="1600200" y="5577840"/>
            <a:ext cx="2281428" cy="914400"/>
          </a:xfrm>
          <a:prstGeom prst="roundRect">
            <a:avLst>
              <a:gd name="adj" fmla="val 8000"/>
            </a:avLst>
          </a:prstGeom>
          <a:solidFill>
            <a:srgbClr val="E4FBF5"/>
          </a:solidFill>
          <a:ln w="12700">
            <a:solidFill>
              <a:srgbClr val="019879"/>
            </a:solidFill>
            <a:prstDash val="solid"/>
          </a:ln>
        </p:spPr>
      </p:sp>
      <p:sp>
        <p:nvSpPr>
          <p:cNvPr id="63" name="Text 61"/>
          <p:cNvSpPr/>
          <p:nvPr/>
        </p:nvSpPr>
        <p:spPr>
          <a:xfrm>
            <a:off x="1691640" y="5650992"/>
            <a:ext cx="27432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1</a:t>
            </a:r>
            <a:endParaRPr lang="en-US" sz="1000" dirty="0"/>
          </a:p>
        </p:txBody>
      </p:sp>
      <p:sp>
        <p:nvSpPr>
          <p:cNvPr id="64" name="Text 62"/>
          <p:cNvSpPr/>
          <p:nvPr/>
        </p:nvSpPr>
        <p:spPr>
          <a:xfrm>
            <a:off x="1709928" y="5925312"/>
            <a:ext cx="2061972" cy="49377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AIOps normalizes telemetry, flags anomalies</a:t>
            </a:r>
            <a:endParaRPr lang="en-US" sz="1000" dirty="0"/>
          </a:p>
        </p:txBody>
      </p:sp>
      <p:sp>
        <p:nvSpPr>
          <p:cNvPr id="65" name="Shape 63"/>
          <p:cNvSpPr/>
          <p:nvPr/>
        </p:nvSpPr>
        <p:spPr>
          <a:xfrm>
            <a:off x="3909060" y="5925312"/>
            <a:ext cx="265176" cy="219456"/>
          </a:xfrm>
          <a:prstGeom prst="rightArrow">
            <a:avLst/>
          </a:prstGeom>
          <a:solidFill>
            <a:srgbClr val="019879"/>
          </a:solidFill>
          <a:ln/>
        </p:spPr>
      </p:sp>
      <p:sp>
        <p:nvSpPr>
          <p:cNvPr id="66" name="Shape 64"/>
          <p:cNvSpPr/>
          <p:nvPr/>
        </p:nvSpPr>
        <p:spPr>
          <a:xfrm>
            <a:off x="4201668" y="5577840"/>
            <a:ext cx="2281428" cy="914400"/>
          </a:xfrm>
          <a:prstGeom prst="roundRect">
            <a:avLst>
              <a:gd name="adj" fmla="val 8000"/>
            </a:avLst>
          </a:prstGeom>
          <a:solidFill>
            <a:srgbClr val="E4FBF5"/>
          </a:solidFill>
          <a:ln w="12700">
            <a:solidFill>
              <a:srgbClr val="019879"/>
            </a:solidFill>
            <a:prstDash val="solid"/>
          </a:ln>
        </p:spPr>
      </p:sp>
      <p:sp>
        <p:nvSpPr>
          <p:cNvPr id="67" name="Text 65"/>
          <p:cNvSpPr/>
          <p:nvPr/>
        </p:nvSpPr>
        <p:spPr>
          <a:xfrm>
            <a:off x="4293108" y="5650992"/>
            <a:ext cx="27432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2</a:t>
            </a:r>
            <a:endParaRPr lang="en-US" sz="1000" dirty="0"/>
          </a:p>
        </p:txBody>
      </p:sp>
      <p:sp>
        <p:nvSpPr>
          <p:cNvPr id="68" name="Text 66"/>
          <p:cNvSpPr/>
          <p:nvPr/>
        </p:nvSpPr>
        <p:spPr>
          <a:xfrm>
            <a:off x="4311396" y="5925312"/>
            <a:ext cx="2061972" cy="49377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Multi-agent reasoning proposes root cause</a:t>
            </a:r>
            <a:endParaRPr lang="en-US" sz="1000" dirty="0"/>
          </a:p>
        </p:txBody>
      </p:sp>
      <p:sp>
        <p:nvSpPr>
          <p:cNvPr id="69" name="Shape 67"/>
          <p:cNvSpPr/>
          <p:nvPr/>
        </p:nvSpPr>
        <p:spPr>
          <a:xfrm>
            <a:off x="6510528" y="5925312"/>
            <a:ext cx="265176" cy="219456"/>
          </a:xfrm>
          <a:prstGeom prst="rightArrow">
            <a:avLst/>
          </a:prstGeom>
          <a:solidFill>
            <a:srgbClr val="019879"/>
          </a:solidFill>
          <a:ln/>
        </p:spPr>
      </p:sp>
      <p:sp>
        <p:nvSpPr>
          <p:cNvPr id="70" name="Shape 68"/>
          <p:cNvSpPr/>
          <p:nvPr/>
        </p:nvSpPr>
        <p:spPr>
          <a:xfrm>
            <a:off x="6803136" y="5577840"/>
            <a:ext cx="2281428" cy="914400"/>
          </a:xfrm>
          <a:prstGeom prst="roundRect">
            <a:avLst>
              <a:gd name="adj" fmla="val 8000"/>
            </a:avLst>
          </a:prstGeom>
          <a:solidFill>
            <a:srgbClr val="E4FBF5"/>
          </a:solidFill>
          <a:ln w="12700">
            <a:solidFill>
              <a:srgbClr val="019879"/>
            </a:solidFill>
            <a:prstDash val="solid"/>
          </a:ln>
        </p:spPr>
      </p:sp>
      <p:sp>
        <p:nvSpPr>
          <p:cNvPr id="71" name="Text 69"/>
          <p:cNvSpPr/>
          <p:nvPr/>
        </p:nvSpPr>
        <p:spPr>
          <a:xfrm>
            <a:off x="6894576" y="5650992"/>
            <a:ext cx="27432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3</a:t>
            </a:r>
            <a:endParaRPr lang="en-US" sz="1000" dirty="0"/>
          </a:p>
        </p:txBody>
      </p:sp>
      <p:sp>
        <p:nvSpPr>
          <p:cNvPr id="72" name="Text 70"/>
          <p:cNvSpPr/>
          <p:nvPr/>
        </p:nvSpPr>
        <p:spPr>
          <a:xfrm>
            <a:off x="6912864" y="5925312"/>
            <a:ext cx="2061972" cy="49377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Approved plans auto-executed with rollback</a:t>
            </a:r>
            <a:endParaRPr lang="en-US" sz="1000" dirty="0"/>
          </a:p>
        </p:txBody>
      </p:sp>
      <p:sp>
        <p:nvSpPr>
          <p:cNvPr id="73" name="Shape 71"/>
          <p:cNvSpPr/>
          <p:nvPr/>
        </p:nvSpPr>
        <p:spPr>
          <a:xfrm>
            <a:off x="9111996" y="5925312"/>
            <a:ext cx="265176" cy="219456"/>
          </a:xfrm>
          <a:prstGeom prst="rightArrow">
            <a:avLst/>
          </a:prstGeom>
          <a:solidFill>
            <a:srgbClr val="019879"/>
          </a:solidFill>
          <a:ln/>
        </p:spPr>
      </p:sp>
      <p:sp>
        <p:nvSpPr>
          <p:cNvPr id="74" name="Shape 72"/>
          <p:cNvSpPr/>
          <p:nvPr/>
        </p:nvSpPr>
        <p:spPr>
          <a:xfrm>
            <a:off x="9404604" y="5577840"/>
            <a:ext cx="2281428" cy="914400"/>
          </a:xfrm>
          <a:prstGeom prst="roundRect">
            <a:avLst>
              <a:gd name="adj" fmla="val 8000"/>
            </a:avLst>
          </a:prstGeom>
          <a:solidFill>
            <a:srgbClr val="E4FBF5"/>
          </a:solidFill>
          <a:ln w="12700">
            <a:solidFill>
              <a:srgbClr val="019879"/>
            </a:solidFill>
            <a:prstDash val="solid"/>
          </a:ln>
        </p:spPr>
      </p:sp>
      <p:sp>
        <p:nvSpPr>
          <p:cNvPr id="75" name="Text 73"/>
          <p:cNvSpPr/>
          <p:nvPr/>
        </p:nvSpPr>
        <p:spPr>
          <a:xfrm>
            <a:off x="9496044" y="5650992"/>
            <a:ext cx="27432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4</a:t>
            </a:r>
            <a:endParaRPr lang="en-US" sz="1000" dirty="0"/>
          </a:p>
        </p:txBody>
      </p:sp>
      <p:sp>
        <p:nvSpPr>
          <p:cNvPr id="76" name="Text 74"/>
          <p:cNvSpPr/>
          <p:nvPr/>
        </p:nvSpPr>
        <p:spPr>
          <a:xfrm>
            <a:off x="9514332" y="5925312"/>
            <a:ext cx="2061972" cy="493776"/>
          </a:xfrm>
          <a:prstGeom prst="rect">
            <a:avLst/>
          </a:prstGeom>
          <a:noFill/>
          <a:ln/>
        </p:spPr>
        <p:txBody>
          <a:bodyPr wrap="square" rtlCol="0" anchor="t"/>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Outcomes feed back into continuous learning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828800"/>
            <a:ext cx="5486400" cy="5486400"/>
          </a:xfrm>
          <a:prstGeom prst="ellipse">
            <a:avLst/>
          </a:prstGeom>
          <a:solidFill>
            <a:srgbClr val="141B4D"/>
          </a:solidFill>
          <a:ln/>
        </p:spPr>
      </p:sp>
      <p:sp>
        <p:nvSpPr>
          <p:cNvPr id="3" name="Shape 1"/>
          <p:cNvSpPr/>
          <p:nvPr/>
        </p:nvSpPr>
        <p:spPr>
          <a:xfrm>
            <a:off x="822960" y="2331720"/>
            <a:ext cx="822960" cy="822960"/>
          </a:xfrm>
          <a:prstGeom prst="roundRect">
            <a:avLst>
              <a:gd name="adj" fmla="val 13333"/>
            </a:avLst>
          </a:prstGeom>
          <a:solidFill>
            <a:srgbClr val="02C39A"/>
          </a:solidFill>
          <a:ln/>
        </p:spPr>
      </p:sp>
      <p:sp>
        <p:nvSpPr>
          <p:cNvPr id="4" name="Text 2"/>
          <p:cNvSpPr/>
          <p:nvPr/>
        </p:nvSpPr>
        <p:spPr>
          <a:xfrm>
            <a:off x="822960" y="2331720"/>
            <a:ext cx="822960" cy="822960"/>
          </a:xfrm>
          <a:prstGeom prst="rect">
            <a:avLst/>
          </a:prstGeom>
          <a:noFill/>
          <a:ln/>
        </p:spPr>
        <p:txBody>
          <a:bodyPr wrap="square" rtlCol="0" anchor="ctr"/>
          <a:lstStyle/>
          <a:p>
            <a:pPr algn="ctr" indent="0" marL="0">
              <a:buNone/>
            </a:pPr>
            <a:r>
              <a:rPr lang="en-US" sz="3200" b="1" dirty="0">
                <a:solidFill>
                  <a:srgbClr val="141B4D"/>
                </a:solidFill>
                <a:latin typeface="Cambria" pitchFamily="34" charset="0"/>
                <a:ea typeface="Cambria" pitchFamily="34" charset="-122"/>
                <a:cs typeface="Cambria" pitchFamily="34" charset="-120"/>
              </a:rPr>
              <a:t>14</a:t>
            </a:r>
            <a:endParaRPr lang="en-US" sz="3200" dirty="0"/>
          </a:p>
        </p:txBody>
      </p:sp>
      <p:sp>
        <p:nvSpPr>
          <p:cNvPr id="5" name="Text 3"/>
          <p:cNvSpPr/>
          <p:nvPr/>
        </p:nvSpPr>
        <p:spPr>
          <a:xfrm>
            <a:off x="1874520" y="237744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SECTION 4</a:t>
            </a:r>
            <a:endParaRPr lang="en-US" sz="1300" dirty="0"/>
          </a:p>
        </p:txBody>
      </p:sp>
      <p:sp>
        <p:nvSpPr>
          <p:cNvPr id="6" name="Text 4"/>
          <p:cNvSpPr/>
          <p:nvPr/>
        </p:nvSpPr>
        <p:spPr>
          <a:xfrm>
            <a:off x="1874520" y="2697480"/>
            <a:ext cx="9418320" cy="10058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AI Platform Evaluation</a:t>
            </a:r>
            <a:endParaRPr lang="en-US" sz="3400" dirty="0"/>
          </a:p>
        </p:txBody>
      </p:sp>
      <p:sp>
        <p:nvSpPr>
          <p:cNvPr id="7" name="Text 5"/>
          <p:cNvSpPr/>
          <p:nvPr/>
        </p:nvSpPr>
        <p:spPr>
          <a:xfrm>
            <a:off x="1874520" y="3611880"/>
            <a:ext cx="8778240" cy="54864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Gartner-style comparison of the leading AIOps and agentic-AI platforms against our estate and regulatory requirements</a:t>
            </a:r>
            <a:endParaRPr lang="en-US" sz="1400" dirty="0"/>
          </a:p>
        </p:txBody>
      </p:sp>
      <p:sp>
        <p:nvSpPr>
          <p:cNvPr id="8" name="Text 6"/>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SECTION</a:t>
            </a:r>
            <a:endParaRPr lang="en-US" sz="850" dirty="0"/>
          </a:p>
        </p:txBody>
      </p:sp>
      <p:sp>
        <p:nvSpPr>
          <p:cNvPr id="9" name="Text 7"/>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AI PLATFORM EVALUATION</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Evaluated Vendor Landscape</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4 · PLATFORM EVALUATION</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15 / 33</a:t>
            </a:r>
            <a:endParaRPr lang="en-US" sz="850" dirty="0"/>
          </a:p>
        </p:txBody>
      </p:sp>
      <p:sp>
        <p:nvSpPr>
          <p:cNvPr id="7" name="Shape 5"/>
          <p:cNvSpPr/>
          <p:nvPr/>
        </p:nvSpPr>
        <p:spPr>
          <a:xfrm>
            <a:off x="502920" y="1645920"/>
            <a:ext cx="3547872" cy="1508760"/>
          </a:xfrm>
          <a:prstGeom prst="roundRect">
            <a:avLst>
              <a:gd name="adj" fmla="val 4848"/>
            </a:avLst>
          </a:prstGeom>
          <a:solidFill>
            <a:srgbClr val="EEF1F4"/>
          </a:solidFill>
          <a:ln/>
        </p:spPr>
      </p:sp>
      <p:sp>
        <p:nvSpPr>
          <p:cNvPr id="8" name="Text 6"/>
          <p:cNvSpPr/>
          <p:nvPr/>
        </p:nvSpPr>
        <p:spPr>
          <a:xfrm>
            <a:off x="640080" y="1737360"/>
            <a:ext cx="3273552" cy="365760"/>
          </a:xfrm>
          <a:prstGeom prst="rect">
            <a:avLst/>
          </a:prstGeom>
          <a:noFill/>
          <a:ln/>
        </p:spPr>
        <p:txBody>
          <a:bodyPr wrap="square"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AIOps / Observability Overlay</a:t>
            </a:r>
            <a:endParaRPr lang="en-US" sz="1150" dirty="0"/>
          </a:p>
        </p:txBody>
      </p:sp>
      <p:sp>
        <p:nvSpPr>
          <p:cNvPr id="9" name="Text 7"/>
          <p:cNvSpPr/>
          <p:nvPr/>
        </p:nvSpPr>
        <p:spPr>
          <a:xfrm>
            <a:off x="640080" y="2103120"/>
            <a:ext cx="3273552" cy="960120"/>
          </a:xfrm>
          <a:prstGeom prst="rect">
            <a:avLst/>
          </a:prstGeom>
          <a:noFill/>
          <a:ln/>
        </p:spPr>
        <p:txBody>
          <a:bodyPr wrap="square" rtlCol="0" anchor="ctr"/>
          <a:lstStyle/>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LogicMonitor Edwin AI</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Dynatrace Davis AI</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Datadog (Watchdog + Bits AI)</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IBM Cloud Pak for AIOps / watsonx</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BigPanda</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New Relic</a:t>
            </a:r>
            <a:endParaRPr lang="en-US" sz="900" dirty="0"/>
          </a:p>
        </p:txBody>
      </p:sp>
      <p:sp>
        <p:nvSpPr>
          <p:cNvPr id="10" name="Shape 8"/>
          <p:cNvSpPr/>
          <p:nvPr/>
        </p:nvSpPr>
        <p:spPr>
          <a:xfrm>
            <a:off x="4306824" y="1645920"/>
            <a:ext cx="3547872" cy="1508760"/>
          </a:xfrm>
          <a:prstGeom prst="roundRect">
            <a:avLst>
              <a:gd name="adj" fmla="val 4848"/>
            </a:avLst>
          </a:prstGeom>
          <a:solidFill>
            <a:srgbClr val="EEF1F4"/>
          </a:solidFill>
          <a:ln/>
        </p:spPr>
      </p:sp>
      <p:sp>
        <p:nvSpPr>
          <p:cNvPr id="11" name="Text 9"/>
          <p:cNvSpPr/>
          <p:nvPr/>
        </p:nvSpPr>
        <p:spPr>
          <a:xfrm>
            <a:off x="4443984" y="1737360"/>
            <a:ext cx="3273552" cy="365760"/>
          </a:xfrm>
          <a:prstGeom prst="rect">
            <a:avLst/>
          </a:prstGeom>
          <a:noFill/>
          <a:ln/>
        </p:spPr>
        <p:txBody>
          <a:bodyPr wrap="square"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ITSM &amp; Service Desk</a:t>
            </a:r>
            <a:endParaRPr lang="en-US" sz="1150" dirty="0"/>
          </a:p>
        </p:txBody>
      </p:sp>
      <p:sp>
        <p:nvSpPr>
          <p:cNvPr id="12" name="Text 10"/>
          <p:cNvSpPr/>
          <p:nvPr/>
        </p:nvSpPr>
        <p:spPr>
          <a:xfrm>
            <a:off x="4443984" y="2103120"/>
            <a:ext cx="3273552" cy="960120"/>
          </a:xfrm>
          <a:prstGeom prst="rect">
            <a:avLst/>
          </a:prstGeom>
          <a:noFill/>
          <a:ln/>
        </p:spPr>
        <p:txBody>
          <a:bodyPr wrap="square" rtlCol="0" anchor="ctr"/>
          <a:lstStyle/>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ServiceNow Now Assist / AI Agents</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Microsoft Copilot Studio</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PagerDuty AI</a:t>
            </a:r>
            <a:endParaRPr lang="en-US" sz="900" dirty="0"/>
          </a:p>
        </p:txBody>
      </p:sp>
      <p:sp>
        <p:nvSpPr>
          <p:cNvPr id="13" name="Shape 11"/>
          <p:cNvSpPr/>
          <p:nvPr/>
        </p:nvSpPr>
        <p:spPr>
          <a:xfrm>
            <a:off x="8110728" y="1645920"/>
            <a:ext cx="3547872" cy="1508760"/>
          </a:xfrm>
          <a:prstGeom prst="roundRect">
            <a:avLst>
              <a:gd name="adj" fmla="val 4848"/>
            </a:avLst>
          </a:prstGeom>
          <a:solidFill>
            <a:srgbClr val="EEF1F4"/>
          </a:solidFill>
          <a:ln/>
        </p:spPr>
      </p:sp>
      <p:sp>
        <p:nvSpPr>
          <p:cNvPr id="14" name="Text 12"/>
          <p:cNvSpPr/>
          <p:nvPr/>
        </p:nvSpPr>
        <p:spPr>
          <a:xfrm>
            <a:off x="8247888" y="1737360"/>
            <a:ext cx="3273552" cy="365760"/>
          </a:xfrm>
          <a:prstGeom prst="rect">
            <a:avLst/>
          </a:prstGeom>
          <a:noFill/>
          <a:ln/>
        </p:spPr>
        <p:txBody>
          <a:bodyPr wrap="square"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Cloud-Native &amp; Hyperscaler</a:t>
            </a:r>
            <a:endParaRPr lang="en-US" sz="1150" dirty="0"/>
          </a:p>
        </p:txBody>
      </p:sp>
      <p:sp>
        <p:nvSpPr>
          <p:cNvPr id="15" name="Text 13"/>
          <p:cNvSpPr/>
          <p:nvPr/>
        </p:nvSpPr>
        <p:spPr>
          <a:xfrm>
            <a:off x="8247888" y="2103120"/>
            <a:ext cx="3273552" cy="960120"/>
          </a:xfrm>
          <a:prstGeom prst="rect">
            <a:avLst/>
          </a:prstGeom>
          <a:noFill/>
          <a:ln/>
        </p:spPr>
        <p:txBody>
          <a:bodyPr wrap="square" rtlCol="0" anchor="ctr"/>
          <a:lstStyle/>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Microsoft Copilot in Azure</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Azure Observability Suite</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Amazon Q</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Google Gemini Enterprise</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Oracle AI</a:t>
            </a:r>
            <a:endParaRPr lang="en-US" sz="900" dirty="0"/>
          </a:p>
        </p:txBody>
      </p:sp>
      <p:sp>
        <p:nvSpPr>
          <p:cNvPr id="16" name="Shape 14"/>
          <p:cNvSpPr/>
          <p:nvPr/>
        </p:nvSpPr>
        <p:spPr>
          <a:xfrm>
            <a:off x="502920" y="3383280"/>
            <a:ext cx="3547872" cy="1508760"/>
          </a:xfrm>
          <a:prstGeom prst="roundRect">
            <a:avLst>
              <a:gd name="adj" fmla="val 4848"/>
            </a:avLst>
          </a:prstGeom>
          <a:solidFill>
            <a:srgbClr val="EEF1F4"/>
          </a:solidFill>
          <a:ln/>
        </p:spPr>
      </p:sp>
      <p:sp>
        <p:nvSpPr>
          <p:cNvPr id="17" name="Text 15"/>
          <p:cNvSpPr/>
          <p:nvPr/>
        </p:nvSpPr>
        <p:spPr>
          <a:xfrm>
            <a:off x="640080" y="3474720"/>
            <a:ext cx="3273552" cy="365760"/>
          </a:xfrm>
          <a:prstGeom prst="rect">
            <a:avLst/>
          </a:prstGeom>
          <a:noFill/>
          <a:ln/>
        </p:spPr>
        <p:txBody>
          <a:bodyPr wrap="square"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Security &amp; Identity AI</a:t>
            </a:r>
            <a:endParaRPr lang="en-US" sz="1150" dirty="0"/>
          </a:p>
        </p:txBody>
      </p:sp>
      <p:sp>
        <p:nvSpPr>
          <p:cNvPr id="18" name="Text 16"/>
          <p:cNvSpPr/>
          <p:nvPr/>
        </p:nvSpPr>
        <p:spPr>
          <a:xfrm>
            <a:off x="640080" y="3840480"/>
            <a:ext cx="3273552" cy="960120"/>
          </a:xfrm>
          <a:prstGeom prst="rect">
            <a:avLst/>
          </a:prstGeom>
          <a:noFill/>
          <a:ln/>
        </p:spPr>
        <p:txBody>
          <a:bodyPr wrap="square" rtlCol="0" anchor="ctr"/>
          <a:lstStyle/>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CrowdStrike Charlotte AI</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CyberArk AI</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Microsoft Security Copilot</a:t>
            </a:r>
            <a:endParaRPr lang="en-US" sz="900" dirty="0"/>
          </a:p>
        </p:txBody>
      </p:sp>
      <p:sp>
        <p:nvSpPr>
          <p:cNvPr id="19" name="Shape 17"/>
          <p:cNvSpPr/>
          <p:nvPr/>
        </p:nvSpPr>
        <p:spPr>
          <a:xfrm>
            <a:off x="4306824" y="3383280"/>
            <a:ext cx="3547872" cy="1508760"/>
          </a:xfrm>
          <a:prstGeom prst="roundRect">
            <a:avLst>
              <a:gd name="adj" fmla="val 4848"/>
            </a:avLst>
          </a:prstGeom>
          <a:solidFill>
            <a:srgbClr val="EEF1F4"/>
          </a:solidFill>
          <a:ln/>
        </p:spPr>
      </p:sp>
      <p:sp>
        <p:nvSpPr>
          <p:cNvPr id="20" name="Text 18"/>
          <p:cNvSpPr/>
          <p:nvPr/>
        </p:nvSpPr>
        <p:spPr>
          <a:xfrm>
            <a:off x="4443984" y="3474720"/>
            <a:ext cx="3273552" cy="365760"/>
          </a:xfrm>
          <a:prstGeom prst="rect">
            <a:avLst/>
          </a:prstGeom>
          <a:noFill/>
          <a:ln/>
        </p:spPr>
        <p:txBody>
          <a:bodyPr wrap="square"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Network &amp; Infrastructure AI</a:t>
            </a:r>
            <a:endParaRPr lang="en-US" sz="1150" dirty="0"/>
          </a:p>
        </p:txBody>
      </p:sp>
      <p:sp>
        <p:nvSpPr>
          <p:cNvPr id="21" name="Text 19"/>
          <p:cNvSpPr/>
          <p:nvPr/>
        </p:nvSpPr>
        <p:spPr>
          <a:xfrm>
            <a:off x="4443984" y="3840480"/>
            <a:ext cx="3273552" cy="960120"/>
          </a:xfrm>
          <a:prstGeom prst="rect">
            <a:avLst/>
          </a:prstGeom>
          <a:noFill/>
          <a:ln/>
        </p:spPr>
        <p:txBody>
          <a:bodyPr wrap="square" rtlCol="0" anchor="ctr"/>
          <a:lstStyle/>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Cisco Crosswork / ThousandEyes AI</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Juniper Mist AI</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SolarWinds AI Agent</a:t>
            </a:r>
            <a:endParaRPr lang="en-US" sz="900" dirty="0"/>
          </a:p>
        </p:txBody>
      </p:sp>
      <p:sp>
        <p:nvSpPr>
          <p:cNvPr id="22" name="Shape 20"/>
          <p:cNvSpPr/>
          <p:nvPr/>
        </p:nvSpPr>
        <p:spPr>
          <a:xfrm>
            <a:off x="8110728" y="3383280"/>
            <a:ext cx="3547872" cy="1508760"/>
          </a:xfrm>
          <a:prstGeom prst="roundRect">
            <a:avLst>
              <a:gd name="adj" fmla="val 4848"/>
            </a:avLst>
          </a:prstGeom>
          <a:solidFill>
            <a:srgbClr val="EEF1F4"/>
          </a:solidFill>
          <a:ln/>
        </p:spPr>
      </p:sp>
      <p:sp>
        <p:nvSpPr>
          <p:cNvPr id="23" name="Text 21"/>
          <p:cNvSpPr/>
          <p:nvPr/>
        </p:nvSpPr>
        <p:spPr>
          <a:xfrm>
            <a:off x="8247888" y="3474720"/>
            <a:ext cx="3273552" cy="365760"/>
          </a:xfrm>
          <a:prstGeom prst="rect">
            <a:avLst/>
          </a:prstGeom>
          <a:noFill/>
          <a:ln/>
        </p:spPr>
        <p:txBody>
          <a:bodyPr wrap="square"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Developer / Platform AI</a:t>
            </a:r>
            <a:endParaRPr lang="en-US" sz="1150" dirty="0"/>
          </a:p>
        </p:txBody>
      </p:sp>
      <p:sp>
        <p:nvSpPr>
          <p:cNvPr id="24" name="Text 22"/>
          <p:cNvSpPr/>
          <p:nvPr/>
        </p:nvSpPr>
        <p:spPr>
          <a:xfrm>
            <a:off x="8247888" y="3840480"/>
            <a:ext cx="3273552" cy="960120"/>
          </a:xfrm>
          <a:prstGeom prst="rect">
            <a:avLst/>
          </a:prstGeom>
          <a:noFill/>
          <a:ln/>
        </p:spPr>
        <p:txBody>
          <a:bodyPr wrap="square" rtlCol="0" anchor="ctr"/>
          <a:lstStyle/>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GitHub Copilot</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Red Hat Ansible Lightspeed</a:t>
            </a:r>
            <a:endParaRPr lang="en-US" sz="900" dirty="0"/>
          </a:p>
          <a:p>
            <a:pPr indent="0" marL="0">
              <a:lnSpc>
                <a:spcPct val="115000"/>
              </a:lnSpc>
              <a:buNone/>
            </a:pPr>
            <a:r>
              <a:rPr lang="en-US" sz="900" dirty="0">
                <a:solidFill>
                  <a:srgbClr val="232B3A"/>
                </a:solidFill>
                <a:latin typeface="Calibri" pitchFamily="34" charset="0"/>
                <a:ea typeface="Calibri" pitchFamily="34" charset="-122"/>
                <a:cs typeface="Calibri" pitchFamily="34" charset="-120"/>
              </a:rPr>
              <a:t>• Elastic AI Assistant</a:t>
            </a:r>
            <a:endParaRPr lang="en-US" sz="900" dirty="0"/>
          </a:p>
        </p:txBody>
      </p:sp>
      <p:sp>
        <p:nvSpPr>
          <p:cNvPr id="25" name="Text 23"/>
          <p:cNvSpPr/>
          <p:nvPr/>
        </p:nvSpPr>
        <p:spPr>
          <a:xfrm>
            <a:off x="502920" y="6080760"/>
            <a:ext cx="11155680" cy="457200"/>
          </a:xfrm>
          <a:prstGeom prst="rect">
            <a:avLst/>
          </a:prstGeom>
          <a:noFill/>
          <a:ln/>
        </p:spPr>
        <p:txBody>
          <a:bodyPr wrap="square" rtlCol="0" anchor="ctr"/>
          <a:lstStyle/>
          <a:p>
            <a:pPr indent="0" marL="0">
              <a:buNone/>
            </a:pPr>
            <a:r>
              <a:rPr lang="en-US" sz="1050" i="1" dirty="0">
                <a:solidFill>
                  <a:srgbClr val="6B7684"/>
                </a:solidFill>
                <a:latin typeface="Calibri" pitchFamily="34" charset="0"/>
                <a:ea typeface="Calibri" pitchFamily="34" charset="-122"/>
                <a:cs typeface="Calibri" pitchFamily="34" charset="-120"/>
              </a:rPr>
              <a:t>Four candidates were carried through detailed scoring: LogicMonitor Edwin AI, Datadog, IBM Cloud Pak for AIOps / watsonx, and the Azure-native stack (Copilot in Azure + Observability Suite) — selected for best fit against our exact tool estate.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AI PLATFORM EVALUATION</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Core AI Capability Comparison</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4 · PLATFORM EVALUATION</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16 / 33</a:t>
            </a:r>
            <a:endParaRPr lang="en-US" sz="850" dirty="0"/>
          </a:p>
        </p:txBody>
      </p:sp>
      <p:sp>
        <p:nvSpPr>
          <p:cNvPr id="7" name="Shape 5"/>
          <p:cNvSpPr/>
          <p:nvPr/>
        </p:nvSpPr>
        <p:spPr>
          <a:xfrm>
            <a:off x="502920" y="1691640"/>
            <a:ext cx="2468880" cy="566928"/>
          </a:xfrm>
          <a:prstGeom prst="rect">
            <a:avLst/>
          </a:prstGeom>
          <a:solidFill>
            <a:srgbClr val="1E2761"/>
          </a:solidFill>
          <a:ln w="6350">
            <a:solidFill>
              <a:srgbClr val="FFFFFF"/>
            </a:solidFill>
            <a:prstDash val="solid"/>
          </a:ln>
        </p:spPr>
      </p:sp>
      <p:sp>
        <p:nvSpPr>
          <p:cNvPr id="8" name="Text 6"/>
          <p:cNvSpPr/>
          <p:nvPr/>
        </p:nvSpPr>
        <p:spPr>
          <a:xfrm>
            <a:off x="557784" y="1691640"/>
            <a:ext cx="2359152" cy="566928"/>
          </a:xfrm>
          <a:prstGeom prst="rect">
            <a:avLst/>
          </a:prstGeom>
          <a:noFill/>
          <a:ln/>
        </p:spPr>
        <p:txBody>
          <a:bodyPr wrap="square" rtlCol="0" anchor="ctr"/>
          <a:lstStyle/>
          <a:p>
            <a:pPr indent="0" marL="0">
              <a:lnSpc>
                <a:spcPct val="100000"/>
              </a:lnSpc>
              <a:buNone/>
            </a:pPr>
            <a:r>
              <a:rPr lang="en-US" sz="950" b="1" dirty="0">
                <a:solidFill>
                  <a:srgbClr val="FFFFFF"/>
                </a:solidFill>
                <a:latin typeface="Calibri" pitchFamily="34" charset="0"/>
                <a:ea typeface="Calibri" pitchFamily="34" charset="-122"/>
                <a:cs typeface="Calibri" pitchFamily="34" charset="-120"/>
              </a:rPr>
              <a:t>Capability</a:t>
            </a:r>
            <a:endParaRPr lang="en-US" sz="950" dirty="0"/>
          </a:p>
        </p:txBody>
      </p:sp>
      <p:sp>
        <p:nvSpPr>
          <p:cNvPr id="9" name="Shape 7"/>
          <p:cNvSpPr/>
          <p:nvPr/>
        </p:nvSpPr>
        <p:spPr>
          <a:xfrm>
            <a:off x="2971800" y="1691640"/>
            <a:ext cx="2240280" cy="566928"/>
          </a:xfrm>
          <a:prstGeom prst="rect">
            <a:avLst/>
          </a:prstGeom>
          <a:solidFill>
            <a:srgbClr val="1E2761"/>
          </a:solidFill>
          <a:ln w="6350">
            <a:solidFill>
              <a:srgbClr val="FFFFFF"/>
            </a:solidFill>
            <a:prstDash val="solid"/>
          </a:ln>
        </p:spPr>
      </p:sp>
      <p:sp>
        <p:nvSpPr>
          <p:cNvPr id="10" name="Text 8"/>
          <p:cNvSpPr/>
          <p:nvPr/>
        </p:nvSpPr>
        <p:spPr>
          <a:xfrm>
            <a:off x="3026664" y="1691640"/>
            <a:ext cx="2130552" cy="566928"/>
          </a:xfrm>
          <a:prstGeom prst="rect">
            <a:avLst/>
          </a:prstGeom>
          <a:noFill/>
          <a:ln/>
        </p:spPr>
        <p:txBody>
          <a:bodyPr wrap="square" rtlCol="0" anchor="ctr"/>
          <a:lstStyle/>
          <a:p>
            <a:pPr indent="0" marL="0">
              <a:lnSpc>
                <a:spcPct val="100000"/>
              </a:lnSpc>
              <a:buNone/>
            </a:pPr>
            <a:r>
              <a:rPr lang="en-US" sz="950" b="1" dirty="0">
                <a:solidFill>
                  <a:srgbClr val="FFFFFF"/>
                </a:solidFill>
                <a:latin typeface="Calibri" pitchFamily="34" charset="0"/>
                <a:ea typeface="Calibri" pitchFamily="34" charset="-122"/>
                <a:cs typeface="Calibri" pitchFamily="34" charset="-120"/>
              </a:rPr>
              <a:t>Edwin AI</a:t>
            </a:r>
            <a:endParaRPr lang="en-US" sz="950" dirty="0"/>
          </a:p>
          <a:p>
            <a:pPr indent="0" marL="0">
              <a:lnSpc>
                <a:spcPct val="100000"/>
              </a:lnSpc>
              <a:buNone/>
            </a:pPr>
            <a:r>
              <a:rPr lang="en-US" sz="950" b="1" dirty="0">
                <a:solidFill>
                  <a:srgbClr val="FFFFFF"/>
                </a:solidFill>
                <a:latin typeface="Calibri" pitchFamily="34" charset="0"/>
                <a:ea typeface="Calibri" pitchFamily="34" charset="-122"/>
                <a:cs typeface="Calibri" pitchFamily="34" charset="-120"/>
              </a:rPr>
              <a:t>(LogicMonitor)</a:t>
            </a:r>
            <a:endParaRPr lang="en-US" sz="950" dirty="0"/>
          </a:p>
        </p:txBody>
      </p:sp>
      <p:sp>
        <p:nvSpPr>
          <p:cNvPr id="11" name="Shape 9"/>
          <p:cNvSpPr/>
          <p:nvPr/>
        </p:nvSpPr>
        <p:spPr>
          <a:xfrm>
            <a:off x="5212080" y="1691640"/>
            <a:ext cx="2240280" cy="566928"/>
          </a:xfrm>
          <a:prstGeom prst="rect">
            <a:avLst/>
          </a:prstGeom>
          <a:solidFill>
            <a:srgbClr val="1E2761"/>
          </a:solidFill>
          <a:ln w="6350">
            <a:solidFill>
              <a:srgbClr val="FFFFFF"/>
            </a:solidFill>
            <a:prstDash val="solid"/>
          </a:ln>
        </p:spPr>
      </p:sp>
      <p:sp>
        <p:nvSpPr>
          <p:cNvPr id="12" name="Text 10"/>
          <p:cNvSpPr/>
          <p:nvPr/>
        </p:nvSpPr>
        <p:spPr>
          <a:xfrm>
            <a:off x="5266944" y="1691640"/>
            <a:ext cx="2130552" cy="566928"/>
          </a:xfrm>
          <a:prstGeom prst="rect">
            <a:avLst/>
          </a:prstGeom>
          <a:noFill/>
          <a:ln/>
        </p:spPr>
        <p:txBody>
          <a:bodyPr wrap="square" rtlCol="0" anchor="ctr"/>
          <a:lstStyle/>
          <a:p>
            <a:pPr indent="0" marL="0">
              <a:lnSpc>
                <a:spcPct val="100000"/>
              </a:lnSpc>
              <a:buNone/>
            </a:pPr>
            <a:r>
              <a:rPr lang="en-US" sz="950" b="1" dirty="0">
                <a:solidFill>
                  <a:srgbClr val="FFFFFF"/>
                </a:solidFill>
                <a:latin typeface="Calibri" pitchFamily="34" charset="0"/>
                <a:ea typeface="Calibri" pitchFamily="34" charset="-122"/>
                <a:cs typeface="Calibri" pitchFamily="34" charset="-120"/>
              </a:rPr>
              <a:t>Datadog</a:t>
            </a:r>
            <a:endParaRPr lang="en-US" sz="950" dirty="0"/>
          </a:p>
          <a:p>
            <a:pPr indent="0" marL="0">
              <a:lnSpc>
                <a:spcPct val="100000"/>
              </a:lnSpc>
              <a:buNone/>
            </a:pPr>
            <a:r>
              <a:rPr lang="en-US" sz="950" b="1" dirty="0">
                <a:solidFill>
                  <a:srgbClr val="FFFFFF"/>
                </a:solidFill>
                <a:latin typeface="Calibri" pitchFamily="34" charset="0"/>
                <a:ea typeface="Calibri" pitchFamily="34" charset="-122"/>
                <a:cs typeface="Calibri" pitchFamily="34" charset="-120"/>
              </a:rPr>
              <a:t>(Watchdog/Bits AI)</a:t>
            </a:r>
            <a:endParaRPr lang="en-US" sz="950" dirty="0"/>
          </a:p>
        </p:txBody>
      </p:sp>
      <p:sp>
        <p:nvSpPr>
          <p:cNvPr id="13" name="Shape 11"/>
          <p:cNvSpPr/>
          <p:nvPr/>
        </p:nvSpPr>
        <p:spPr>
          <a:xfrm>
            <a:off x="7452360" y="1691640"/>
            <a:ext cx="2240280" cy="566928"/>
          </a:xfrm>
          <a:prstGeom prst="rect">
            <a:avLst/>
          </a:prstGeom>
          <a:solidFill>
            <a:srgbClr val="1E2761"/>
          </a:solidFill>
          <a:ln w="6350">
            <a:solidFill>
              <a:srgbClr val="FFFFFF"/>
            </a:solidFill>
            <a:prstDash val="solid"/>
          </a:ln>
        </p:spPr>
      </p:sp>
      <p:sp>
        <p:nvSpPr>
          <p:cNvPr id="14" name="Text 12"/>
          <p:cNvSpPr/>
          <p:nvPr/>
        </p:nvSpPr>
        <p:spPr>
          <a:xfrm>
            <a:off x="7507224" y="1691640"/>
            <a:ext cx="2130552" cy="566928"/>
          </a:xfrm>
          <a:prstGeom prst="rect">
            <a:avLst/>
          </a:prstGeom>
          <a:noFill/>
          <a:ln/>
        </p:spPr>
        <p:txBody>
          <a:bodyPr wrap="square" rtlCol="0" anchor="ctr"/>
          <a:lstStyle/>
          <a:p>
            <a:pPr indent="0" marL="0">
              <a:lnSpc>
                <a:spcPct val="100000"/>
              </a:lnSpc>
              <a:buNone/>
            </a:pPr>
            <a:r>
              <a:rPr lang="en-US" sz="950" b="1" dirty="0">
                <a:solidFill>
                  <a:srgbClr val="FFFFFF"/>
                </a:solidFill>
                <a:latin typeface="Calibri" pitchFamily="34" charset="0"/>
                <a:ea typeface="Calibri" pitchFamily="34" charset="-122"/>
                <a:cs typeface="Calibri" pitchFamily="34" charset="-120"/>
              </a:rPr>
              <a:t>IBM Watson AIOps</a:t>
            </a:r>
            <a:endParaRPr lang="en-US" sz="950" dirty="0"/>
          </a:p>
          <a:p>
            <a:pPr indent="0" marL="0">
              <a:lnSpc>
                <a:spcPct val="100000"/>
              </a:lnSpc>
              <a:buNone/>
            </a:pPr>
            <a:r>
              <a:rPr lang="en-US" sz="950" b="1" dirty="0">
                <a:solidFill>
                  <a:srgbClr val="FFFFFF"/>
                </a:solidFill>
                <a:latin typeface="Calibri" pitchFamily="34" charset="0"/>
                <a:ea typeface="Calibri" pitchFamily="34" charset="-122"/>
                <a:cs typeface="Calibri" pitchFamily="34" charset="-120"/>
              </a:rPr>
              <a:t>/ watsonx</a:t>
            </a:r>
            <a:endParaRPr lang="en-US" sz="950" dirty="0"/>
          </a:p>
        </p:txBody>
      </p:sp>
      <p:sp>
        <p:nvSpPr>
          <p:cNvPr id="15" name="Shape 13"/>
          <p:cNvSpPr/>
          <p:nvPr/>
        </p:nvSpPr>
        <p:spPr>
          <a:xfrm>
            <a:off x="9692640" y="1691640"/>
            <a:ext cx="1965960" cy="566928"/>
          </a:xfrm>
          <a:prstGeom prst="rect">
            <a:avLst/>
          </a:prstGeom>
          <a:solidFill>
            <a:srgbClr val="1E2761"/>
          </a:solidFill>
          <a:ln w="6350">
            <a:solidFill>
              <a:srgbClr val="FFFFFF"/>
            </a:solidFill>
            <a:prstDash val="solid"/>
          </a:ln>
        </p:spPr>
      </p:sp>
      <p:sp>
        <p:nvSpPr>
          <p:cNvPr id="16" name="Text 14"/>
          <p:cNvSpPr/>
          <p:nvPr/>
        </p:nvSpPr>
        <p:spPr>
          <a:xfrm>
            <a:off x="9747504" y="1691640"/>
            <a:ext cx="1856232" cy="566928"/>
          </a:xfrm>
          <a:prstGeom prst="rect">
            <a:avLst/>
          </a:prstGeom>
          <a:noFill/>
          <a:ln/>
        </p:spPr>
        <p:txBody>
          <a:bodyPr wrap="square" rtlCol="0" anchor="ctr"/>
          <a:lstStyle/>
          <a:p>
            <a:pPr indent="0" marL="0">
              <a:lnSpc>
                <a:spcPct val="100000"/>
              </a:lnSpc>
              <a:buNone/>
            </a:pPr>
            <a:r>
              <a:rPr lang="en-US" sz="950" b="1" dirty="0">
                <a:solidFill>
                  <a:srgbClr val="FFFFFF"/>
                </a:solidFill>
                <a:latin typeface="Calibri" pitchFamily="34" charset="0"/>
                <a:ea typeface="Calibri" pitchFamily="34" charset="-122"/>
                <a:cs typeface="Calibri" pitchFamily="34" charset="-120"/>
              </a:rPr>
              <a:t>ServiceNow</a:t>
            </a:r>
            <a:endParaRPr lang="en-US" sz="950" dirty="0"/>
          </a:p>
          <a:p>
            <a:pPr indent="0" marL="0">
              <a:lnSpc>
                <a:spcPct val="100000"/>
              </a:lnSpc>
              <a:buNone/>
            </a:pPr>
            <a:r>
              <a:rPr lang="en-US" sz="950" b="1" dirty="0">
                <a:solidFill>
                  <a:srgbClr val="FFFFFF"/>
                </a:solidFill>
                <a:latin typeface="Calibri" pitchFamily="34" charset="0"/>
                <a:ea typeface="Calibri" pitchFamily="34" charset="-122"/>
                <a:cs typeface="Calibri" pitchFamily="34" charset="-120"/>
              </a:rPr>
              <a:t>Now Assist</a:t>
            </a:r>
            <a:endParaRPr lang="en-US" sz="950" dirty="0"/>
          </a:p>
        </p:txBody>
      </p:sp>
      <p:sp>
        <p:nvSpPr>
          <p:cNvPr id="17" name="Shape 15"/>
          <p:cNvSpPr/>
          <p:nvPr/>
        </p:nvSpPr>
        <p:spPr>
          <a:xfrm>
            <a:off x="502920" y="2258568"/>
            <a:ext cx="2468880" cy="697992"/>
          </a:xfrm>
          <a:prstGeom prst="rect">
            <a:avLst/>
          </a:prstGeom>
          <a:solidFill>
            <a:srgbClr val="FFFFFF"/>
          </a:solidFill>
          <a:ln w="6350">
            <a:solidFill>
              <a:srgbClr val="DDE2E8"/>
            </a:solidFill>
            <a:prstDash val="solid"/>
          </a:ln>
        </p:spPr>
      </p:sp>
      <p:sp>
        <p:nvSpPr>
          <p:cNvPr id="18" name="Text 16"/>
          <p:cNvSpPr/>
          <p:nvPr/>
        </p:nvSpPr>
        <p:spPr>
          <a:xfrm>
            <a:off x="557784" y="2258568"/>
            <a:ext cx="2359152" cy="697992"/>
          </a:xfrm>
          <a:prstGeom prst="rect">
            <a:avLst/>
          </a:prstGeom>
          <a:noFill/>
          <a:ln/>
        </p:spPr>
        <p:txBody>
          <a:bodyPr wrap="square" rtlCol="0" anchor="ctr"/>
          <a:lstStyle/>
          <a:p>
            <a:pPr indent="0" marL="0">
              <a:lnSpc>
                <a:spcPct val="100000"/>
              </a:lnSpc>
              <a:buNone/>
            </a:pPr>
            <a:r>
              <a:rPr lang="en-US" sz="900" b="1" dirty="0">
                <a:solidFill>
                  <a:srgbClr val="1E2761"/>
                </a:solidFill>
                <a:latin typeface="Calibri" pitchFamily="34" charset="0"/>
                <a:ea typeface="Calibri" pitchFamily="34" charset="-122"/>
                <a:cs typeface="Calibri" pitchFamily="34" charset="-120"/>
              </a:rPr>
              <a:t>AI generation</a:t>
            </a:r>
            <a:endParaRPr lang="en-US" sz="900" dirty="0"/>
          </a:p>
        </p:txBody>
      </p:sp>
      <p:sp>
        <p:nvSpPr>
          <p:cNvPr id="19" name="Shape 17"/>
          <p:cNvSpPr/>
          <p:nvPr/>
        </p:nvSpPr>
        <p:spPr>
          <a:xfrm>
            <a:off x="2971800" y="2258568"/>
            <a:ext cx="2240280" cy="697992"/>
          </a:xfrm>
          <a:prstGeom prst="rect">
            <a:avLst/>
          </a:prstGeom>
          <a:solidFill>
            <a:srgbClr val="FFFFFF"/>
          </a:solidFill>
          <a:ln w="6350">
            <a:solidFill>
              <a:srgbClr val="DDE2E8"/>
            </a:solidFill>
            <a:prstDash val="solid"/>
          </a:ln>
        </p:spPr>
      </p:sp>
      <p:sp>
        <p:nvSpPr>
          <p:cNvPr id="20" name="Text 18"/>
          <p:cNvSpPr/>
          <p:nvPr/>
        </p:nvSpPr>
        <p:spPr>
          <a:xfrm>
            <a:off x="3026664" y="2258568"/>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Agentic / LLM-based</a:t>
            </a:r>
            <a:endParaRPr lang="en-US" sz="900" dirty="0"/>
          </a:p>
        </p:txBody>
      </p:sp>
      <p:sp>
        <p:nvSpPr>
          <p:cNvPr id="21" name="Shape 19"/>
          <p:cNvSpPr/>
          <p:nvPr/>
        </p:nvSpPr>
        <p:spPr>
          <a:xfrm>
            <a:off x="5212080" y="2258568"/>
            <a:ext cx="2240280" cy="697992"/>
          </a:xfrm>
          <a:prstGeom prst="rect">
            <a:avLst/>
          </a:prstGeom>
          <a:solidFill>
            <a:srgbClr val="FFFFFF"/>
          </a:solidFill>
          <a:ln w="6350">
            <a:solidFill>
              <a:srgbClr val="DDE2E8"/>
            </a:solidFill>
            <a:prstDash val="solid"/>
          </a:ln>
        </p:spPr>
      </p:sp>
      <p:sp>
        <p:nvSpPr>
          <p:cNvPr id="22" name="Text 20"/>
          <p:cNvSpPr/>
          <p:nvPr/>
        </p:nvSpPr>
        <p:spPr>
          <a:xfrm>
            <a:off x="5266944" y="2258568"/>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ML + causal AI</a:t>
            </a:r>
            <a:endParaRPr lang="en-US" sz="900" dirty="0"/>
          </a:p>
        </p:txBody>
      </p:sp>
      <p:sp>
        <p:nvSpPr>
          <p:cNvPr id="23" name="Shape 21"/>
          <p:cNvSpPr/>
          <p:nvPr/>
        </p:nvSpPr>
        <p:spPr>
          <a:xfrm>
            <a:off x="7452360" y="2258568"/>
            <a:ext cx="2240280" cy="697992"/>
          </a:xfrm>
          <a:prstGeom prst="rect">
            <a:avLst/>
          </a:prstGeom>
          <a:solidFill>
            <a:srgbClr val="FFFFFF"/>
          </a:solidFill>
          <a:ln w="6350">
            <a:solidFill>
              <a:srgbClr val="DDE2E8"/>
            </a:solidFill>
            <a:prstDash val="solid"/>
          </a:ln>
        </p:spPr>
      </p:sp>
      <p:sp>
        <p:nvSpPr>
          <p:cNvPr id="24" name="Text 22"/>
          <p:cNvSpPr/>
          <p:nvPr/>
        </p:nvSpPr>
        <p:spPr>
          <a:xfrm>
            <a:off x="7507224" y="2258568"/>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Watson + watsonx foundation</a:t>
            </a:r>
            <a:endParaRPr lang="en-US" sz="900" dirty="0"/>
          </a:p>
        </p:txBody>
      </p:sp>
      <p:sp>
        <p:nvSpPr>
          <p:cNvPr id="25" name="Shape 23"/>
          <p:cNvSpPr/>
          <p:nvPr/>
        </p:nvSpPr>
        <p:spPr>
          <a:xfrm>
            <a:off x="9692640" y="2258568"/>
            <a:ext cx="1965960" cy="697992"/>
          </a:xfrm>
          <a:prstGeom prst="rect">
            <a:avLst/>
          </a:prstGeom>
          <a:solidFill>
            <a:srgbClr val="FFFFFF"/>
          </a:solidFill>
          <a:ln w="6350">
            <a:solidFill>
              <a:srgbClr val="DDE2E8"/>
            </a:solidFill>
            <a:prstDash val="solid"/>
          </a:ln>
        </p:spPr>
      </p:sp>
      <p:sp>
        <p:nvSpPr>
          <p:cNvPr id="26" name="Text 24"/>
          <p:cNvSpPr/>
          <p:nvPr/>
        </p:nvSpPr>
        <p:spPr>
          <a:xfrm>
            <a:off x="9747504" y="2258568"/>
            <a:ext cx="185623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ML + GenAI</a:t>
            </a:r>
            <a:endParaRPr lang="en-US" sz="900" dirty="0"/>
          </a:p>
        </p:txBody>
      </p:sp>
      <p:sp>
        <p:nvSpPr>
          <p:cNvPr id="27" name="Shape 25"/>
          <p:cNvSpPr/>
          <p:nvPr/>
        </p:nvSpPr>
        <p:spPr>
          <a:xfrm>
            <a:off x="502920" y="2956560"/>
            <a:ext cx="2468880" cy="697992"/>
          </a:xfrm>
          <a:prstGeom prst="rect">
            <a:avLst/>
          </a:prstGeom>
          <a:solidFill>
            <a:srgbClr val="EEF1F4"/>
          </a:solidFill>
          <a:ln w="6350">
            <a:solidFill>
              <a:srgbClr val="DDE2E8"/>
            </a:solidFill>
            <a:prstDash val="solid"/>
          </a:ln>
        </p:spPr>
      </p:sp>
      <p:sp>
        <p:nvSpPr>
          <p:cNvPr id="28" name="Text 26"/>
          <p:cNvSpPr/>
          <p:nvPr/>
        </p:nvSpPr>
        <p:spPr>
          <a:xfrm>
            <a:off x="557784" y="2956560"/>
            <a:ext cx="2359152" cy="697992"/>
          </a:xfrm>
          <a:prstGeom prst="rect">
            <a:avLst/>
          </a:prstGeom>
          <a:noFill/>
          <a:ln/>
        </p:spPr>
        <p:txBody>
          <a:bodyPr wrap="square" rtlCol="0" anchor="ctr"/>
          <a:lstStyle/>
          <a:p>
            <a:pPr indent="0" marL="0">
              <a:lnSpc>
                <a:spcPct val="100000"/>
              </a:lnSpc>
              <a:buNone/>
            </a:pPr>
            <a:r>
              <a:rPr lang="en-US" sz="900" b="1" dirty="0">
                <a:solidFill>
                  <a:srgbClr val="1E2761"/>
                </a:solidFill>
                <a:latin typeface="Calibri" pitchFamily="34" charset="0"/>
                <a:ea typeface="Calibri" pitchFamily="34" charset="-122"/>
                <a:cs typeface="Calibri" pitchFamily="34" charset="-120"/>
              </a:rPr>
              <a:t>Event correlation / noise reduction</a:t>
            </a:r>
            <a:endParaRPr lang="en-US" sz="900" dirty="0"/>
          </a:p>
        </p:txBody>
      </p:sp>
      <p:sp>
        <p:nvSpPr>
          <p:cNvPr id="29" name="Shape 27"/>
          <p:cNvSpPr/>
          <p:nvPr/>
        </p:nvSpPr>
        <p:spPr>
          <a:xfrm>
            <a:off x="2971800" y="2956560"/>
            <a:ext cx="2240280" cy="697992"/>
          </a:xfrm>
          <a:prstGeom prst="rect">
            <a:avLst/>
          </a:prstGeom>
          <a:solidFill>
            <a:srgbClr val="EEF1F4"/>
          </a:solidFill>
          <a:ln w="6350">
            <a:solidFill>
              <a:srgbClr val="DDE2E8"/>
            </a:solidFill>
            <a:prstDash val="solid"/>
          </a:ln>
        </p:spPr>
      </p:sp>
      <p:sp>
        <p:nvSpPr>
          <p:cNvPr id="30" name="Text 28"/>
          <p:cNvSpPr/>
          <p:nvPr/>
        </p:nvSpPr>
        <p:spPr>
          <a:xfrm>
            <a:off x="3026664" y="2956560"/>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Up to 90–95%</a:t>
            </a:r>
            <a:endParaRPr lang="en-US" sz="900" dirty="0"/>
          </a:p>
        </p:txBody>
      </p:sp>
      <p:sp>
        <p:nvSpPr>
          <p:cNvPr id="31" name="Shape 29"/>
          <p:cNvSpPr/>
          <p:nvPr/>
        </p:nvSpPr>
        <p:spPr>
          <a:xfrm>
            <a:off x="5212080" y="2956560"/>
            <a:ext cx="2240280" cy="697992"/>
          </a:xfrm>
          <a:prstGeom prst="rect">
            <a:avLst/>
          </a:prstGeom>
          <a:solidFill>
            <a:srgbClr val="EEF1F4"/>
          </a:solidFill>
          <a:ln w="6350">
            <a:solidFill>
              <a:srgbClr val="DDE2E8"/>
            </a:solidFill>
            <a:prstDash val="solid"/>
          </a:ln>
        </p:spPr>
      </p:sp>
      <p:sp>
        <p:nvSpPr>
          <p:cNvPr id="32" name="Text 30"/>
          <p:cNvSpPr/>
          <p:nvPr/>
        </p:nvSpPr>
        <p:spPr>
          <a:xfrm>
            <a:off x="5266944" y="2956560"/>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Unsupervised ML anomaly</a:t>
            </a:r>
            <a:endParaRPr lang="en-US" sz="900" dirty="0"/>
          </a:p>
        </p:txBody>
      </p:sp>
      <p:sp>
        <p:nvSpPr>
          <p:cNvPr id="33" name="Shape 31"/>
          <p:cNvSpPr/>
          <p:nvPr/>
        </p:nvSpPr>
        <p:spPr>
          <a:xfrm>
            <a:off x="7452360" y="2956560"/>
            <a:ext cx="2240280" cy="697992"/>
          </a:xfrm>
          <a:prstGeom prst="rect">
            <a:avLst/>
          </a:prstGeom>
          <a:solidFill>
            <a:srgbClr val="EEF1F4"/>
          </a:solidFill>
          <a:ln w="6350">
            <a:solidFill>
              <a:srgbClr val="DDE2E8"/>
            </a:solidFill>
            <a:prstDash val="solid"/>
          </a:ln>
        </p:spPr>
      </p:sp>
      <p:sp>
        <p:nvSpPr>
          <p:cNvPr id="34" name="Text 32"/>
          <p:cNvSpPr/>
          <p:nvPr/>
        </p:nvSpPr>
        <p:spPr>
          <a:xfrm>
            <a:off x="7507224" y="2956560"/>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Alert dedup + correlation</a:t>
            </a:r>
            <a:endParaRPr lang="en-US" sz="900" dirty="0"/>
          </a:p>
        </p:txBody>
      </p:sp>
      <p:sp>
        <p:nvSpPr>
          <p:cNvPr id="35" name="Shape 33"/>
          <p:cNvSpPr/>
          <p:nvPr/>
        </p:nvSpPr>
        <p:spPr>
          <a:xfrm>
            <a:off x="9692640" y="2956560"/>
            <a:ext cx="1965960" cy="697992"/>
          </a:xfrm>
          <a:prstGeom prst="rect">
            <a:avLst/>
          </a:prstGeom>
          <a:solidFill>
            <a:srgbClr val="EEF1F4"/>
          </a:solidFill>
          <a:ln w="6350">
            <a:solidFill>
              <a:srgbClr val="DDE2E8"/>
            </a:solidFill>
            <a:prstDash val="solid"/>
          </a:ln>
        </p:spPr>
      </p:sp>
      <p:sp>
        <p:nvSpPr>
          <p:cNvPr id="36" name="Text 34"/>
          <p:cNvSpPr/>
          <p:nvPr/>
        </p:nvSpPr>
        <p:spPr>
          <a:xfrm>
            <a:off x="9747504" y="2956560"/>
            <a:ext cx="185623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Up to 99%</a:t>
            </a:r>
            <a:endParaRPr lang="en-US" sz="900" dirty="0"/>
          </a:p>
        </p:txBody>
      </p:sp>
      <p:sp>
        <p:nvSpPr>
          <p:cNvPr id="37" name="Shape 35"/>
          <p:cNvSpPr/>
          <p:nvPr/>
        </p:nvSpPr>
        <p:spPr>
          <a:xfrm>
            <a:off x="502920" y="3654552"/>
            <a:ext cx="2468880" cy="697992"/>
          </a:xfrm>
          <a:prstGeom prst="rect">
            <a:avLst/>
          </a:prstGeom>
          <a:solidFill>
            <a:srgbClr val="FFFFFF"/>
          </a:solidFill>
          <a:ln w="6350">
            <a:solidFill>
              <a:srgbClr val="DDE2E8"/>
            </a:solidFill>
            <a:prstDash val="solid"/>
          </a:ln>
        </p:spPr>
      </p:sp>
      <p:sp>
        <p:nvSpPr>
          <p:cNvPr id="38" name="Text 36"/>
          <p:cNvSpPr/>
          <p:nvPr/>
        </p:nvSpPr>
        <p:spPr>
          <a:xfrm>
            <a:off x="557784" y="3654552"/>
            <a:ext cx="2359152" cy="697992"/>
          </a:xfrm>
          <a:prstGeom prst="rect">
            <a:avLst/>
          </a:prstGeom>
          <a:noFill/>
          <a:ln/>
        </p:spPr>
        <p:txBody>
          <a:bodyPr wrap="square" rtlCol="0" anchor="ctr"/>
          <a:lstStyle/>
          <a:p>
            <a:pPr indent="0" marL="0">
              <a:lnSpc>
                <a:spcPct val="100000"/>
              </a:lnSpc>
              <a:buNone/>
            </a:pPr>
            <a:r>
              <a:rPr lang="en-US" sz="900" b="1" dirty="0">
                <a:solidFill>
                  <a:srgbClr val="1E2761"/>
                </a:solidFill>
                <a:latin typeface="Calibri" pitchFamily="34" charset="0"/>
                <a:ea typeface="Calibri" pitchFamily="34" charset="-122"/>
                <a:cs typeface="Calibri" pitchFamily="34" charset="-120"/>
              </a:rPr>
              <a:t>Root cause analysis</a:t>
            </a:r>
            <a:endParaRPr lang="en-US" sz="900" dirty="0"/>
          </a:p>
        </p:txBody>
      </p:sp>
      <p:sp>
        <p:nvSpPr>
          <p:cNvPr id="39" name="Shape 37"/>
          <p:cNvSpPr/>
          <p:nvPr/>
        </p:nvSpPr>
        <p:spPr>
          <a:xfrm>
            <a:off x="2971800" y="3654552"/>
            <a:ext cx="2240280" cy="697992"/>
          </a:xfrm>
          <a:prstGeom prst="rect">
            <a:avLst/>
          </a:prstGeom>
          <a:solidFill>
            <a:srgbClr val="FFFFFF"/>
          </a:solidFill>
          <a:ln w="6350">
            <a:solidFill>
              <a:srgbClr val="DDE2E8"/>
            </a:solidFill>
            <a:prstDash val="solid"/>
          </a:ln>
        </p:spPr>
      </p:sp>
      <p:sp>
        <p:nvSpPr>
          <p:cNvPr id="40" name="Text 38"/>
          <p:cNvSpPr/>
          <p:nvPr/>
        </p:nvSpPr>
        <p:spPr>
          <a:xfrm>
            <a:off x="3026664" y="3654552"/>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Correlated patterns + history</a:t>
            </a:r>
            <a:endParaRPr lang="en-US" sz="900" dirty="0"/>
          </a:p>
        </p:txBody>
      </p:sp>
      <p:sp>
        <p:nvSpPr>
          <p:cNvPr id="41" name="Shape 39"/>
          <p:cNvSpPr/>
          <p:nvPr/>
        </p:nvSpPr>
        <p:spPr>
          <a:xfrm>
            <a:off x="5212080" y="3654552"/>
            <a:ext cx="2240280" cy="697992"/>
          </a:xfrm>
          <a:prstGeom prst="rect">
            <a:avLst/>
          </a:prstGeom>
          <a:solidFill>
            <a:srgbClr val="FFFFFF"/>
          </a:solidFill>
          <a:ln w="6350">
            <a:solidFill>
              <a:srgbClr val="DDE2E8"/>
            </a:solidFill>
            <a:prstDash val="solid"/>
          </a:ln>
        </p:spPr>
      </p:sp>
      <p:sp>
        <p:nvSpPr>
          <p:cNvPr id="42" name="Text 40"/>
          <p:cNvSpPr/>
          <p:nvPr/>
        </p:nvSpPr>
        <p:spPr>
          <a:xfrm>
            <a:off x="5266944" y="3654552"/>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Causal, auto-identifying</a:t>
            </a:r>
            <a:endParaRPr lang="en-US" sz="900" dirty="0"/>
          </a:p>
        </p:txBody>
      </p:sp>
      <p:sp>
        <p:nvSpPr>
          <p:cNvPr id="43" name="Shape 41"/>
          <p:cNvSpPr/>
          <p:nvPr/>
        </p:nvSpPr>
        <p:spPr>
          <a:xfrm>
            <a:off x="7452360" y="3654552"/>
            <a:ext cx="2240280" cy="697992"/>
          </a:xfrm>
          <a:prstGeom prst="rect">
            <a:avLst/>
          </a:prstGeom>
          <a:solidFill>
            <a:srgbClr val="FFFFFF"/>
          </a:solidFill>
          <a:ln w="6350">
            <a:solidFill>
              <a:srgbClr val="DDE2E8"/>
            </a:solidFill>
            <a:prstDash val="solid"/>
          </a:ln>
        </p:spPr>
      </p:sp>
      <p:sp>
        <p:nvSpPr>
          <p:cNvPr id="44" name="Text 42"/>
          <p:cNvSpPr/>
          <p:nvPr/>
        </p:nvSpPr>
        <p:spPr>
          <a:xfrm>
            <a:off x="7507224" y="3654552"/>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Topology-driven, deep</a:t>
            </a:r>
            <a:endParaRPr lang="en-US" sz="900" dirty="0"/>
          </a:p>
        </p:txBody>
      </p:sp>
      <p:sp>
        <p:nvSpPr>
          <p:cNvPr id="45" name="Shape 43"/>
          <p:cNvSpPr/>
          <p:nvPr/>
        </p:nvSpPr>
        <p:spPr>
          <a:xfrm>
            <a:off x="9692640" y="3654552"/>
            <a:ext cx="1965960" cy="697992"/>
          </a:xfrm>
          <a:prstGeom prst="rect">
            <a:avLst/>
          </a:prstGeom>
          <a:solidFill>
            <a:srgbClr val="FFFFFF"/>
          </a:solidFill>
          <a:ln w="6350">
            <a:solidFill>
              <a:srgbClr val="DDE2E8"/>
            </a:solidFill>
            <a:prstDash val="solid"/>
          </a:ln>
        </p:spPr>
      </p:sp>
      <p:sp>
        <p:nvSpPr>
          <p:cNvPr id="46" name="Text 44"/>
          <p:cNvSpPr/>
          <p:nvPr/>
        </p:nvSpPr>
        <p:spPr>
          <a:xfrm>
            <a:off x="9747504" y="3654552"/>
            <a:ext cx="185623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CMDB-linked topology</a:t>
            </a:r>
            <a:endParaRPr lang="en-US" sz="900" dirty="0"/>
          </a:p>
        </p:txBody>
      </p:sp>
      <p:sp>
        <p:nvSpPr>
          <p:cNvPr id="47" name="Shape 45"/>
          <p:cNvSpPr/>
          <p:nvPr/>
        </p:nvSpPr>
        <p:spPr>
          <a:xfrm>
            <a:off x="502920" y="4352544"/>
            <a:ext cx="2468880" cy="697992"/>
          </a:xfrm>
          <a:prstGeom prst="rect">
            <a:avLst/>
          </a:prstGeom>
          <a:solidFill>
            <a:srgbClr val="EEF1F4"/>
          </a:solidFill>
          <a:ln w="6350">
            <a:solidFill>
              <a:srgbClr val="DDE2E8"/>
            </a:solidFill>
            <a:prstDash val="solid"/>
          </a:ln>
        </p:spPr>
      </p:sp>
      <p:sp>
        <p:nvSpPr>
          <p:cNvPr id="48" name="Text 46"/>
          <p:cNvSpPr/>
          <p:nvPr/>
        </p:nvSpPr>
        <p:spPr>
          <a:xfrm>
            <a:off x="557784" y="4352544"/>
            <a:ext cx="2359152" cy="697992"/>
          </a:xfrm>
          <a:prstGeom prst="rect">
            <a:avLst/>
          </a:prstGeom>
          <a:noFill/>
          <a:ln/>
        </p:spPr>
        <p:txBody>
          <a:bodyPr wrap="square" rtlCol="0" anchor="ctr"/>
          <a:lstStyle/>
          <a:p>
            <a:pPr indent="0" marL="0">
              <a:lnSpc>
                <a:spcPct val="100000"/>
              </a:lnSpc>
              <a:buNone/>
            </a:pPr>
            <a:r>
              <a:rPr lang="en-US" sz="900" b="1" dirty="0">
                <a:solidFill>
                  <a:srgbClr val="1E2761"/>
                </a:solidFill>
                <a:latin typeface="Calibri" pitchFamily="34" charset="0"/>
                <a:ea typeface="Calibri" pitchFamily="34" charset="-122"/>
                <a:cs typeface="Calibri" pitchFamily="34" charset="-120"/>
              </a:rPr>
              <a:t>Agentic / autonomous action</a:t>
            </a:r>
            <a:endParaRPr lang="en-US" sz="900" dirty="0"/>
          </a:p>
        </p:txBody>
      </p:sp>
      <p:sp>
        <p:nvSpPr>
          <p:cNvPr id="49" name="Shape 47"/>
          <p:cNvSpPr/>
          <p:nvPr/>
        </p:nvSpPr>
        <p:spPr>
          <a:xfrm>
            <a:off x="2971800" y="4352544"/>
            <a:ext cx="2240280" cy="697992"/>
          </a:xfrm>
          <a:prstGeom prst="rect">
            <a:avLst/>
          </a:prstGeom>
          <a:solidFill>
            <a:srgbClr val="EEF1F4"/>
          </a:solidFill>
          <a:ln w="6350">
            <a:solidFill>
              <a:srgbClr val="DDE2E8"/>
            </a:solidFill>
            <a:prstDash val="solid"/>
          </a:ln>
        </p:spPr>
      </p:sp>
      <p:sp>
        <p:nvSpPr>
          <p:cNvPr id="50" name="Text 48"/>
          <p:cNvSpPr/>
          <p:nvPr/>
        </p:nvSpPr>
        <p:spPr>
          <a:xfrm>
            <a:off x="3026664" y="4352544"/>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Full agentic lifecycle</a:t>
            </a:r>
            <a:endParaRPr lang="en-US" sz="900" dirty="0"/>
          </a:p>
        </p:txBody>
      </p:sp>
      <p:sp>
        <p:nvSpPr>
          <p:cNvPr id="51" name="Shape 49"/>
          <p:cNvSpPr/>
          <p:nvPr/>
        </p:nvSpPr>
        <p:spPr>
          <a:xfrm>
            <a:off x="5212080" y="4352544"/>
            <a:ext cx="2240280" cy="697992"/>
          </a:xfrm>
          <a:prstGeom prst="rect">
            <a:avLst/>
          </a:prstGeom>
          <a:solidFill>
            <a:srgbClr val="EEF1F4"/>
          </a:solidFill>
          <a:ln w="6350">
            <a:solidFill>
              <a:srgbClr val="DDE2E8"/>
            </a:solidFill>
            <a:prstDash val="solid"/>
          </a:ln>
        </p:spPr>
      </p:sp>
      <p:sp>
        <p:nvSpPr>
          <p:cNvPr id="52" name="Text 50"/>
          <p:cNvSpPr/>
          <p:nvPr/>
        </p:nvSpPr>
        <p:spPr>
          <a:xfrm>
            <a:off x="5266944" y="4352544"/>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Agentic workflows + guardrails</a:t>
            </a:r>
            <a:endParaRPr lang="en-US" sz="900" dirty="0"/>
          </a:p>
        </p:txBody>
      </p:sp>
      <p:sp>
        <p:nvSpPr>
          <p:cNvPr id="53" name="Shape 51"/>
          <p:cNvSpPr/>
          <p:nvPr/>
        </p:nvSpPr>
        <p:spPr>
          <a:xfrm>
            <a:off x="7452360" y="4352544"/>
            <a:ext cx="2240280" cy="697992"/>
          </a:xfrm>
          <a:prstGeom prst="rect">
            <a:avLst/>
          </a:prstGeom>
          <a:solidFill>
            <a:srgbClr val="EEF1F4"/>
          </a:solidFill>
          <a:ln w="6350">
            <a:solidFill>
              <a:srgbClr val="DDE2E8"/>
            </a:solidFill>
            <a:prstDash val="solid"/>
          </a:ln>
        </p:spPr>
      </p:sp>
      <p:sp>
        <p:nvSpPr>
          <p:cNvPr id="54" name="Text 52"/>
          <p:cNvSpPr/>
          <p:nvPr/>
        </p:nvSpPr>
        <p:spPr>
          <a:xfrm>
            <a:off x="7507224" y="4352544"/>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watsonx Orchestrate + AgentOps</a:t>
            </a:r>
            <a:endParaRPr lang="en-US" sz="900" dirty="0"/>
          </a:p>
        </p:txBody>
      </p:sp>
      <p:sp>
        <p:nvSpPr>
          <p:cNvPr id="55" name="Shape 53"/>
          <p:cNvSpPr/>
          <p:nvPr/>
        </p:nvSpPr>
        <p:spPr>
          <a:xfrm>
            <a:off x="9692640" y="4352544"/>
            <a:ext cx="1965960" cy="697992"/>
          </a:xfrm>
          <a:prstGeom prst="rect">
            <a:avLst/>
          </a:prstGeom>
          <a:solidFill>
            <a:srgbClr val="EEF1F4"/>
          </a:solidFill>
          <a:ln w="6350">
            <a:solidFill>
              <a:srgbClr val="DDE2E8"/>
            </a:solidFill>
            <a:prstDash val="solid"/>
          </a:ln>
        </p:spPr>
      </p:sp>
      <p:sp>
        <p:nvSpPr>
          <p:cNvPr id="56" name="Text 54"/>
          <p:cNvSpPr/>
          <p:nvPr/>
        </p:nvSpPr>
        <p:spPr>
          <a:xfrm>
            <a:off x="9747504" y="4352544"/>
            <a:ext cx="185623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AI Agents for ITOM (GA 2025)</a:t>
            </a:r>
            <a:endParaRPr lang="en-US" sz="900" dirty="0"/>
          </a:p>
        </p:txBody>
      </p:sp>
      <p:sp>
        <p:nvSpPr>
          <p:cNvPr id="57" name="Shape 55"/>
          <p:cNvSpPr/>
          <p:nvPr/>
        </p:nvSpPr>
        <p:spPr>
          <a:xfrm>
            <a:off x="502920" y="5050536"/>
            <a:ext cx="2468880" cy="697992"/>
          </a:xfrm>
          <a:prstGeom prst="rect">
            <a:avLst/>
          </a:prstGeom>
          <a:solidFill>
            <a:srgbClr val="FFFFFF"/>
          </a:solidFill>
          <a:ln w="6350">
            <a:solidFill>
              <a:srgbClr val="DDE2E8"/>
            </a:solidFill>
            <a:prstDash val="solid"/>
          </a:ln>
        </p:spPr>
      </p:sp>
      <p:sp>
        <p:nvSpPr>
          <p:cNvPr id="58" name="Text 56"/>
          <p:cNvSpPr/>
          <p:nvPr/>
        </p:nvSpPr>
        <p:spPr>
          <a:xfrm>
            <a:off x="557784" y="5050536"/>
            <a:ext cx="2359152" cy="697992"/>
          </a:xfrm>
          <a:prstGeom prst="rect">
            <a:avLst/>
          </a:prstGeom>
          <a:noFill/>
          <a:ln/>
        </p:spPr>
        <p:txBody>
          <a:bodyPr wrap="square" rtlCol="0" anchor="ctr"/>
          <a:lstStyle/>
          <a:p>
            <a:pPr indent="0" marL="0">
              <a:lnSpc>
                <a:spcPct val="100000"/>
              </a:lnSpc>
              <a:buNone/>
            </a:pPr>
            <a:r>
              <a:rPr lang="en-US" sz="900" b="1" dirty="0">
                <a:solidFill>
                  <a:srgbClr val="1E2761"/>
                </a:solidFill>
                <a:latin typeface="Calibri" pitchFamily="34" charset="0"/>
                <a:ea typeface="Calibri" pitchFamily="34" charset="-122"/>
                <a:cs typeface="Calibri" pitchFamily="34" charset="-120"/>
              </a:rPr>
              <a:t>On-prem / sovereign deployment</a:t>
            </a:r>
            <a:endParaRPr lang="en-US" sz="900" dirty="0"/>
          </a:p>
        </p:txBody>
      </p:sp>
      <p:sp>
        <p:nvSpPr>
          <p:cNvPr id="59" name="Shape 57"/>
          <p:cNvSpPr/>
          <p:nvPr/>
        </p:nvSpPr>
        <p:spPr>
          <a:xfrm>
            <a:off x="2971800" y="5050536"/>
            <a:ext cx="2240280" cy="697992"/>
          </a:xfrm>
          <a:prstGeom prst="rect">
            <a:avLst/>
          </a:prstGeom>
          <a:solidFill>
            <a:srgbClr val="FFFFFF"/>
          </a:solidFill>
          <a:ln w="6350">
            <a:solidFill>
              <a:srgbClr val="DDE2E8"/>
            </a:solidFill>
            <a:prstDash val="solid"/>
          </a:ln>
        </p:spPr>
      </p:sp>
      <p:sp>
        <p:nvSpPr>
          <p:cNvPr id="60" name="Text 58"/>
          <p:cNvSpPr/>
          <p:nvPr/>
        </p:nvSpPr>
        <p:spPr>
          <a:xfrm>
            <a:off x="3026664" y="5050536"/>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SaaS only</a:t>
            </a:r>
            <a:endParaRPr lang="en-US" sz="900" dirty="0"/>
          </a:p>
        </p:txBody>
      </p:sp>
      <p:sp>
        <p:nvSpPr>
          <p:cNvPr id="61" name="Shape 59"/>
          <p:cNvSpPr/>
          <p:nvPr/>
        </p:nvSpPr>
        <p:spPr>
          <a:xfrm>
            <a:off x="5212080" y="5050536"/>
            <a:ext cx="2240280" cy="697992"/>
          </a:xfrm>
          <a:prstGeom prst="rect">
            <a:avLst/>
          </a:prstGeom>
          <a:solidFill>
            <a:srgbClr val="FFFFFF"/>
          </a:solidFill>
          <a:ln w="6350">
            <a:solidFill>
              <a:srgbClr val="DDE2E8"/>
            </a:solidFill>
            <a:prstDash val="solid"/>
          </a:ln>
        </p:spPr>
      </p:sp>
      <p:sp>
        <p:nvSpPr>
          <p:cNvPr id="62" name="Text 60"/>
          <p:cNvSpPr/>
          <p:nvPr/>
        </p:nvSpPr>
        <p:spPr>
          <a:xfrm>
            <a:off x="5266944" y="5050536"/>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SaaS only</a:t>
            </a:r>
            <a:endParaRPr lang="en-US" sz="900" dirty="0"/>
          </a:p>
        </p:txBody>
      </p:sp>
      <p:sp>
        <p:nvSpPr>
          <p:cNvPr id="63" name="Shape 61"/>
          <p:cNvSpPr/>
          <p:nvPr/>
        </p:nvSpPr>
        <p:spPr>
          <a:xfrm>
            <a:off x="7452360" y="5050536"/>
            <a:ext cx="2240280" cy="697992"/>
          </a:xfrm>
          <a:prstGeom prst="rect">
            <a:avLst/>
          </a:prstGeom>
          <a:solidFill>
            <a:srgbClr val="FFFFFF"/>
          </a:solidFill>
          <a:ln w="6350">
            <a:solidFill>
              <a:srgbClr val="DDE2E8"/>
            </a:solidFill>
            <a:prstDash val="solid"/>
          </a:ln>
        </p:spPr>
      </p:sp>
      <p:sp>
        <p:nvSpPr>
          <p:cNvPr id="64" name="Text 62"/>
          <p:cNvSpPr/>
          <p:nvPr/>
        </p:nvSpPr>
        <p:spPr>
          <a:xfrm>
            <a:off x="7507224" y="5050536"/>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SaaS, on-prem (OpenShift), hybrid</a:t>
            </a:r>
            <a:endParaRPr lang="en-US" sz="900" dirty="0"/>
          </a:p>
        </p:txBody>
      </p:sp>
      <p:sp>
        <p:nvSpPr>
          <p:cNvPr id="65" name="Shape 63"/>
          <p:cNvSpPr/>
          <p:nvPr/>
        </p:nvSpPr>
        <p:spPr>
          <a:xfrm>
            <a:off x="9692640" y="5050536"/>
            <a:ext cx="1965960" cy="697992"/>
          </a:xfrm>
          <a:prstGeom prst="rect">
            <a:avLst/>
          </a:prstGeom>
          <a:solidFill>
            <a:srgbClr val="FFFFFF"/>
          </a:solidFill>
          <a:ln w="6350">
            <a:solidFill>
              <a:srgbClr val="DDE2E8"/>
            </a:solidFill>
            <a:prstDash val="solid"/>
          </a:ln>
        </p:spPr>
      </p:sp>
      <p:sp>
        <p:nvSpPr>
          <p:cNvPr id="66" name="Text 64"/>
          <p:cNvSpPr/>
          <p:nvPr/>
        </p:nvSpPr>
        <p:spPr>
          <a:xfrm>
            <a:off x="9747504" y="5050536"/>
            <a:ext cx="185623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SaaS; single-tenant options</a:t>
            </a:r>
            <a:endParaRPr lang="en-US" sz="900" dirty="0"/>
          </a:p>
        </p:txBody>
      </p:sp>
      <p:sp>
        <p:nvSpPr>
          <p:cNvPr id="67" name="Shape 65"/>
          <p:cNvSpPr/>
          <p:nvPr/>
        </p:nvSpPr>
        <p:spPr>
          <a:xfrm>
            <a:off x="502920" y="5748528"/>
            <a:ext cx="2468880" cy="697992"/>
          </a:xfrm>
          <a:prstGeom prst="rect">
            <a:avLst/>
          </a:prstGeom>
          <a:solidFill>
            <a:srgbClr val="EEF1F4"/>
          </a:solidFill>
          <a:ln w="6350">
            <a:solidFill>
              <a:srgbClr val="DDE2E8"/>
            </a:solidFill>
            <a:prstDash val="solid"/>
          </a:ln>
        </p:spPr>
      </p:sp>
      <p:sp>
        <p:nvSpPr>
          <p:cNvPr id="68" name="Text 66"/>
          <p:cNvSpPr/>
          <p:nvPr/>
        </p:nvSpPr>
        <p:spPr>
          <a:xfrm>
            <a:off x="557784" y="5748528"/>
            <a:ext cx="2359152" cy="697992"/>
          </a:xfrm>
          <a:prstGeom prst="rect">
            <a:avLst/>
          </a:prstGeom>
          <a:noFill/>
          <a:ln/>
        </p:spPr>
        <p:txBody>
          <a:bodyPr wrap="square" rtlCol="0" anchor="ctr"/>
          <a:lstStyle/>
          <a:p>
            <a:pPr indent="0" marL="0">
              <a:lnSpc>
                <a:spcPct val="100000"/>
              </a:lnSpc>
              <a:buNone/>
            </a:pPr>
            <a:r>
              <a:rPr lang="en-US" sz="900" b="1" dirty="0">
                <a:solidFill>
                  <a:srgbClr val="1E2761"/>
                </a:solidFill>
                <a:latin typeface="Calibri" pitchFamily="34" charset="0"/>
                <a:ea typeface="Calibri" pitchFamily="34" charset="-122"/>
                <a:cs typeface="Calibri" pitchFamily="34" charset="-120"/>
              </a:rPr>
              <a:t>Compliance posture</a:t>
            </a:r>
            <a:endParaRPr lang="en-US" sz="900" dirty="0"/>
          </a:p>
        </p:txBody>
      </p:sp>
      <p:sp>
        <p:nvSpPr>
          <p:cNvPr id="69" name="Shape 67"/>
          <p:cNvSpPr/>
          <p:nvPr/>
        </p:nvSpPr>
        <p:spPr>
          <a:xfrm>
            <a:off x="2971800" y="5748528"/>
            <a:ext cx="2240280" cy="697992"/>
          </a:xfrm>
          <a:prstGeom prst="rect">
            <a:avLst/>
          </a:prstGeom>
          <a:solidFill>
            <a:srgbClr val="EEF1F4"/>
          </a:solidFill>
          <a:ln w="6350">
            <a:solidFill>
              <a:srgbClr val="DDE2E8"/>
            </a:solidFill>
            <a:prstDash val="solid"/>
          </a:ln>
        </p:spPr>
      </p:sp>
      <p:sp>
        <p:nvSpPr>
          <p:cNvPr id="70" name="Text 68"/>
          <p:cNvSpPr/>
          <p:nvPr/>
        </p:nvSpPr>
        <p:spPr>
          <a:xfrm>
            <a:off x="3026664" y="5748528"/>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SOC 2, ISO 27001/17/18</a:t>
            </a:r>
            <a:endParaRPr lang="en-US" sz="900" dirty="0"/>
          </a:p>
        </p:txBody>
      </p:sp>
      <p:sp>
        <p:nvSpPr>
          <p:cNvPr id="71" name="Shape 69"/>
          <p:cNvSpPr/>
          <p:nvPr/>
        </p:nvSpPr>
        <p:spPr>
          <a:xfrm>
            <a:off x="5212080" y="5748528"/>
            <a:ext cx="2240280" cy="697992"/>
          </a:xfrm>
          <a:prstGeom prst="rect">
            <a:avLst/>
          </a:prstGeom>
          <a:solidFill>
            <a:srgbClr val="EEF1F4"/>
          </a:solidFill>
          <a:ln w="6350">
            <a:solidFill>
              <a:srgbClr val="DDE2E8"/>
            </a:solidFill>
            <a:prstDash val="solid"/>
          </a:ln>
        </p:spPr>
      </p:sp>
      <p:sp>
        <p:nvSpPr>
          <p:cNvPr id="72" name="Text 70"/>
          <p:cNvSpPr/>
          <p:nvPr/>
        </p:nvSpPr>
        <p:spPr>
          <a:xfrm>
            <a:off x="5266944" y="5748528"/>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SOC 2, ISO 27001, GDPR</a:t>
            </a:r>
            <a:endParaRPr lang="en-US" sz="900" dirty="0"/>
          </a:p>
        </p:txBody>
      </p:sp>
      <p:sp>
        <p:nvSpPr>
          <p:cNvPr id="73" name="Shape 71"/>
          <p:cNvSpPr/>
          <p:nvPr/>
        </p:nvSpPr>
        <p:spPr>
          <a:xfrm>
            <a:off x="7452360" y="5748528"/>
            <a:ext cx="2240280" cy="697992"/>
          </a:xfrm>
          <a:prstGeom prst="rect">
            <a:avLst/>
          </a:prstGeom>
          <a:solidFill>
            <a:srgbClr val="EEF1F4"/>
          </a:solidFill>
          <a:ln w="6350">
            <a:solidFill>
              <a:srgbClr val="DDE2E8"/>
            </a:solidFill>
            <a:prstDash val="solid"/>
          </a:ln>
        </p:spPr>
      </p:sp>
      <p:sp>
        <p:nvSpPr>
          <p:cNvPr id="74" name="Text 72"/>
          <p:cNvSpPr/>
          <p:nvPr/>
        </p:nvSpPr>
        <p:spPr>
          <a:xfrm>
            <a:off x="7507224" y="5748528"/>
            <a:ext cx="213055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SOC 2, ISO 27001, FedRAMP</a:t>
            </a:r>
            <a:endParaRPr lang="en-US" sz="900" dirty="0"/>
          </a:p>
        </p:txBody>
      </p:sp>
      <p:sp>
        <p:nvSpPr>
          <p:cNvPr id="75" name="Shape 73"/>
          <p:cNvSpPr/>
          <p:nvPr/>
        </p:nvSpPr>
        <p:spPr>
          <a:xfrm>
            <a:off x="9692640" y="5748528"/>
            <a:ext cx="1965960" cy="697992"/>
          </a:xfrm>
          <a:prstGeom prst="rect">
            <a:avLst/>
          </a:prstGeom>
          <a:solidFill>
            <a:srgbClr val="EEF1F4"/>
          </a:solidFill>
          <a:ln w="6350">
            <a:solidFill>
              <a:srgbClr val="DDE2E8"/>
            </a:solidFill>
            <a:prstDash val="solid"/>
          </a:ln>
        </p:spPr>
      </p:sp>
      <p:sp>
        <p:nvSpPr>
          <p:cNvPr id="76" name="Text 74"/>
          <p:cNvSpPr/>
          <p:nvPr/>
        </p:nvSpPr>
        <p:spPr>
          <a:xfrm>
            <a:off x="9747504" y="5748528"/>
            <a:ext cx="1856232" cy="697992"/>
          </a:xfrm>
          <a:prstGeom prst="rect">
            <a:avLst/>
          </a:prstGeom>
          <a:noFill/>
          <a:ln/>
        </p:spPr>
        <p:txBody>
          <a:bodyPr wrap="square" rtlCol="0" anchor="ctr"/>
          <a:lstStyle/>
          <a:p>
            <a:pPr indent="0" marL="0">
              <a:lnSpc>
                <a:spcPct val="100000"/>
              </a:lnSpc>
              <a:buNone/>
            </a:pPr>
            <a:r>
              <a:rPr lang="en-US" sz="900" dirty="0">
                <a:solidFill>
                  <a:srgbClr val="232B3A"/>
                </a:solidFill>
                <a:latin typeface="Calibri" pitchFamily="34" charset="0"/>
                <a:ea typeface="Calibri" pitchFamily="34" charset="-122"/>
                <a:cs typeface="Calibri" pitchFamily="34" charset="-120"/>
              </a:rPr>
              <a:t>SOC 2, ISO 27001, FedRAMP High</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AI PLATFORM EVALUATION</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Integration Fit Against Our Exact Tool Estate</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4 · PLATFORM EVALUATION</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17 / 33</a:t>
            </a:r>
            <a:endParaRPr lang="en-US" sz="850" dirty="0"/>
          </a:p>
        </p:txBody>
      </p:sp>
      <p:sp>
        <p:nvSpPr>
          <p:cNvPr id="7" name="Shape 5"/>
          <p:cNvSpPr/>
          <p:nvPr/>
        </p:nvSpPr>
        <p:spPr>
          <a:xfrm>
            <a:off x="502920" y="1691640"/>
            <a:ext cx="2286000" cy="365760"/>
          </a:xfrm>
          <a:prstGeom prst="rect">
            <a:avLst/>
          </a:prstGeom>
          <a:solidFill>
            <a:srgbClr val="1E2761"/>
          </a:solidFill>
          <a:ln w="6350">
            <a:solidFill>
              <a:srgbClr val="FFFFFF"/>
            </a:solidFill>
            <a:prstDash val="solid"/>
          </a:ln>
        </p:spPr>
      </p:sp>
      <p:sp>
        <p:nvSpPr>
          <p:cNvPr id="8" name="Text 6"/>
          <p:cNvSpPr/>
          <p:nvPr/>
        </p:nvSpPr>
        <p:spPr>
          <a:xfrm>
            <a:off x="557784" y="1691640"/>
            <a:ext cx="2176272" cy="36576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Source System</a:t>
            </a:r>
            <a:endParaRPr lang="en-US" sz="1000" dirty="0"/>
          </a:p>
        </p:txBody>
      </p:sp>
      <p:sp>
        <p:nvSpPr>
          <p:cNvPr id="9" name="Shape 7"/>
          <p:cNvSpPr/>
          <p:nvPr/>
        </p:nvSpPr>
        <p:spPr>
          <a:xfrm>
            <a:off x="2788920" y="1691640"/>
            <a:ext cx="2194560" cy="365760"/>
          </a:xfrm>
          <a:prstGeom prst="rect">
            <a:avLst/>
          </a:prstGeom>
          <a:solidFill>
            <a:srgbClr val="1E2761"/>
          </a:solidFill>
          <a:ln w="6350">
            <a:solidFill>
              <a:srgbClr val="FFFFFF"/>
            </a:solidFill>
            <a:prstDash val="solid"/>
          </a:ln>
        </p:spPr>
      </p:sp>
      <p:sp>
        <p:nvSpPr>
          <p:cNvPr id="10" name="Text 8"/>
          <p:cNvSpPr/>
          <p:nvPr/>
        </p:nvSpPr>
        <p:spPr>
          <a:xfrm>
            <a:off x="2843784" y="1691640"/>
            <a:ext cx="2084832" cy="36576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Edwin AI</a:t>
            </a:r>
            <a:endParaRPr lang="en-US" sz="1000" dirty="0"/>
          </a:p>
        </p:txBody>
      </p:sp>
      <p:sp>
        <p:nvSpPr>
          <p:cNvPr id="11" name="Shape 9"/>
          <p:cNvSpPr/>
          <p:nvPr/>
        </p:nvSpPr>
        <p:spPr>
          <a:xfrm>
            <a:off x="4983480" y="1691640"/>
            <a:ext cx="2194560" cy="365760"/>
          </a:xfrm>
          <a:prstGeom prst="rect">
            <a:avLst/>
          </a:prstGeom>
          <a:solidFill>
            <a:srgbClr val="1E2761"/>
          </a:solidFill>
          <a:ln w="6350">
            <a:solidFill>
              <a:srgbClr val="FFFFFF"/>
            </a:solidFill>
            <a:prstDash val="solid"/>
          </a:ln>
        </p:spPr>
      </p:sp>
      <p:sp>
        <p:nvSpPr>
          <p:cNvPr id="12" name="Text 10"/>
          <p:cNvSpPr/>
          <p:nvPr/>
        </p:nvSpPr>
        <p:spPr>
          <a:xfrm>
            <a:off x="5038344" y="1691640"/>
            <a:ext cx="2084832" cy="36576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Datadog</a:t>
            </a:r>
            <a:endParaRPr lang="en-US" sz="1000" dirty="0"/>
          </a:p>
        </p:txBody>
      </p:sp>
      <p:sp>
        <p:nvSpPr>
          <p:cNvPr id="13" name="Shape 11"/>
          <p:cNvSpPr/>
          <p:nvPr/>
        </p:nvSpPr>
        <p:spPr>
          <a:xfrm>
            <a:off x="7178040" y="1691640"/>
            <a:ext cx="2194560" cy="365760"/>
          </a:xfrm>
          <a:prstGeom prst="rect">
            <a:avLst/>
          </a:prstGeom>
          <a:solidFill>
            <a:srgbClr val="1E2761"/>
          </a:solidFill>
          <a:ln w="6350">
            <a:solidFill>
              <a:srgbClr val="FFFFFF"/>
            </a:solidFill>
            <a:prstDash val="solid"/>
          </a:ln>
        </p:spPr>
      </p:sp>
      <p:sp>
        <p:nvSpPr>
          <p:cNvPr id="14" name="Text 12"/>
          <p:cNvSpPr/>
          <p:nvPr/>
        </p:nvSpPr>
        <p:spPr>
          <a:xfrm>
            <a:off x="7232904" y="1691640"/>
            <a:ext cx="2084832" cy="36576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IBM AIOps</a:t>
            </a:r>
            <a:endParaRPr lang="en-US" sz="1000" dirty="0"/>
          </a:p>
        </p:txBody>
      </p:sp>
      <p:sp>
        <p:nvSpPr>
          <p:cNvPr id="15" name="Shape 13"/>
          <p:cNvSpPr/>
          <p:nvPr/>
        </p:nvSpPr>
        <p:spPr>
          <a:xfrm>
            <a:off x="9372600" y="1691640"/>
            <a:ext cx="2286000" cy="365760"/>
          </a:xfrm>
          <a:prstGeom prst="rect">
            <a:avLst/>
          </a:prstGeom>
          <a:solidFill>
            <a:srgbClr val="1E2761"/>
          </a:solidFill>
          <a:ln w="6350">
            <a:solidFill>
              <a:srgbClr val="FFFFFF"/>
            </a:solidFill>
            <a:prstDash val="solid"/>
          </a:ln>
        </p:spPr>
      </p:sp>
      <p:sp>
        <p:nvSpPr>
          <p:cNvPr id="16" name="Text 14"/>
          <p:cNvSpPr/>
          <p:nvPr/>
        </p:nvSpPr>
        <p:spPr>
          <a:xfrm>
            <a:off x="9427464" y="1691640"/>
            <a:ext cx="2176272" cy="36576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Azure-Native</a:t>
            </a:r>
            <a:endParaRPr lang="en-US" sz="1000" dirty="0"/>
          </a:p>
        </p:txBody>
      </p:sp>
      <p:sp>
        <p:nvSpPr>
          <p:cNvPr id="17" name="Shape 15"/>
          <p:cNvSpPr/>
          <p:nvPr/>
        </p:nvSpPr>
        <p:spPr>
          <a:xfrm>
            <a:off x="502920" y="2057400"/>
            <a:ext cx="2286000" cy="384048"/>
          </a:xfrm>
          <a:prstGeom prst="rect">
            <a:avLst/>
          </a:prstGeom>
          <a:solidFill>
            <a:srgbClr val="EEF1F4"/>
          </a:solidFill>
          <a:ln w="6350">
            <a:solidFill>
              <a:srgbClr val="DDE2E8"/>
            </a:solidFill>
            <a:prstDash val="solid"/>
          </a:ln>
        </p:spPr>
      </p:sp>
      <p:sp>
        <p:nvSpPr>
          <p:cNvPr id="18" name="Text 16"/>
          <p:cNvSpPr/>
          <p:nvPr/>
        </p:nvSpPr>
        <p:spPr>
          <a:xfrm>
            <a:off x="557784" y="2057400"/>
            <a:ext cx="2176272" cy="384048"/>
          </a:xfrm>
          <a:prstGeom prst="rect">
            <a:avLst/>
          </a:prstGeom>
          <a:noFill/>
          <a:ln/>
        </p:spPr>
        <p:txBody>
          <a:bodyPr wrap="square"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SolarWinds</a:t>
            </a:r>
            <a:endParaRPr lang="en-US" sz="1000" dirty="0"/>
          </a:p>
        </p:txBody>
      </p:sp>
      <p:sp>
        <p:nvSpPr>
          <p:cNvPr id="19" name="Shape 17"/>
          <p:cNvSpPr/>
          <p:nvPr/>
        </p:nvSpPr>
        <p:spPr>
          <a:xfrm>
            <a:off x="2788920" y="2057400"/>
            <a:ext cx="2194560" cy="384048"/>
          </a:xfrm>
          <a:prstGeom prst="rect">
            <a:avLst/>
          </a:prstGeom>
          <a:solidFill>
            <a:srgbClr val="E4FBF5"/>
          </a:solidFill>
          <a:ln w="6350">
            <a:solidFill>
              <a:srgbClr val="DDE2E8"/>
            </a:solidFill>
            <a:prstDash val="solid"/>
          </a:ln>
        </p:spPr>
      </p:sp>
      <p:sp>
        <p:nvSpPr>
          <p:cNvPr id="20" name="Text 18"/>
          <p:cNvSpPr/>
          <p:nvPr/>
        </p:nvSpPr>
        <p:spPr>
          <a:xfrm>
            <a:off x="2843784" y="2057400"/>
            <a:ext cx="208483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Native</a:t>
            </a:r>
            <a:endParaRPr lang="en-US" sz="1000" dirty="0"/>
          </a:p>
        </p:txBody>
      </p:sp>
      <p:sp>
        <p:nvSpPr>
          <p:cNvPr id="21" name="Shape 19"/>
          <p:cNvSpPr/>
          <p:nvPr/>
        </p:nvSpPr>
        <p:spPr>
          <a:xfrm>
            <a:off x="4983480" y="2057400"/>
            <a:ext cx="2194560" cy="384048"/>
          </a:xfrm>
          <a:prstGeom prst="rect">
            <a:avLst/>
          </a:prstGeom>
          <a:solidFill>
            <a:srgbClr val="FFFFFF"/>
          </a:solidFill>
          <a:ln w="6350">
            <a:solidFill>
              <a:srgbClr val="DDE2E8"/>
            </a:solidFill>
            <a:prstDash val="solid"/>
          </a:ln>
        </p:spPr>
      </p:sp>
      <p:sp>
        <p:nvSpPr>
          <p:cNvPr id="22" name="Text 20"/>
          <p:cNvSpPr/>
          <p:nvPr/>
        </p:nvSpPr>
        <p:spPr>
          <a:xfrm>
            <a:off x="5038344" y="2057400"/>
            <a:ext cx="208483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API / marketplace</a:t>
            </a:r>
            <a:endParaRPr lang="en-US" sz="1000" dirty="0"/>
          </a:p>
        </p:txBody>
      </p:sp>
      <p:sp>
        <p:nvSpPr>
          <p:cNvPr id="23" name="Shape 21"/>
          <p:cNvSpPr/>
          <p:nvPr/>
        </p:nvSpPr>
        <p:spPr>
          <a:xfrm>
            <a:off x="7178040" y="2057400"/>
            <a:ext cx="2194560" cy="384048"/>
          </a:xfrm>
          <a:prstGeom prst="rect">
            <a:avLst/>
          </a:prstGeom>
          <a:solidFill>
            <a:srgbClr val="FFFFFF"/>
          </a:solidFill>
          <a:ln w="6350">
            <a:solidFill>
              <a:srgbClr val="DDE2E8"/>
            </a:solidFill>
            <a:prstDash val="solid"/>
          </a:ln>
        </p:spPr>
      </p:sp>
      <p:sp>
        <p:nvSpPr>
          <p:cNvPr id="24" name="Text 22"/>
          <p:cNvSpPr/>
          <p:nvPr/>
        </p:nvSpPr>
        <p:spPr>
          <a:xfrm>
            <a:off x="7232904" y="2057400"/>
            <a:ext cx="208483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Native (Netcool)</a:t>
            </a:r>
            <a:endParaRPr lang="en-US" sz="1000" dirty="0"/>
          </a:p>
        </p:txBody>
      </p:sp>
      <p:sp>
        <p:nvSpPr>
          <p:cNvPr id="25" name="Shape 23"/>
          <p:cNvSpPr/>
          <p:nvPr/>
        </p:nvSpPr>
        <p:spPr>
          <a:xfrm>
            <a:off x="9372600" y="2057400"/>
            <a:ext cx="2286000" cy="384048"/>
          </a:xfrm>
          <a:prstGeom prst="rect">
            <a:avLst/>
          </a:prstGeom>
          <a:solidFill>
            <a:srgbClr val="FFFFFF"/>
          </a:solidFill>
          <a:ln w="6350">
            <a:solidFill>
              <a:srgbClr val="DDE2E8"/>
            </a:solidFill>
            <a:prstDash val="solid"/>
          </a:ln>
        </p:spPr>
      </p:sp>
      <p:sp>
        <p:nvSpPr>
          <p:cNvPr id="26" name="Text 24"/>
          <p:cNvSpPr/>
          <p:nvPr/>
        </p:nvSpPr>
        <p:spPr>
          <a:xfrm>
            <a:off x="9427464" y="2057400"/>
            <a:ext cx="217627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Custom (Event Hub)</a:t>
            </a:r>
            <a:endParaRPr lang="en-US" sz="1000" dirty="0"/>
          </a:p>
        </p:txBody>
      </p:sp>
      <p:sp>
        <p:nvSpPr>
          <p:cNvPr id="27" name="Shape 25"/>
          <p:cNvSpPr/>
          <p:nvPr/>
        </p:nvSpPr>
        <p:spPr>
          <a:xfrm>
            <a:off x="502920" y="2441448"/>
            <a:ext cx="2286000" cy="384048"/>
          </a:xfrm>
          <a:prstGeom prst="rect">
            <a:avLst/>
          </a:prstGeom>
          <a:solidFill>
            <a:srgbClr val="EEF1F4"/>
          </a:solidFill>
          <a:ln w="6350">
            <a:solidFill>
              <a:srgbClr val="DDE2E8"/>
            </a:solidFill>
            <a:prstDash val="solid"/>
          </a:ln>
        </p:spPr>
      </p:sp>
      <p:sp>
        <p:nvSpPr>
          <p:cNvPr id="28" name="Text 26"/>
          <p:cNvSpPr/>
          <p:nvPr/>
        </p:nvSpPr>
        <p:spPr>
          <a:xfrm>
            <a:off x="557784" y="2441448"/>
            <a:ext cx="2176272" cy="384048"/>
          </a:xfrm>
          <a:prstGeom prst="rect">
            <a:avLst/>
          </a:prstGeom>
          <a:noFill/>
          <a:ln/>
        </p:spPr>
        <p:txBody>
          <a:bodyPr wrap="square"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Oracle OEM</a:t>
            </a:r>
            <a:endParaRPr lang="en-US" sz="1000" dirty="0"/>
          </a:p>
        </p:txBody>
      </p:sp>
      <p:sp>
        <p:nvSpPr>
          <p:cNvPr id="29" name="Shape 27"/>
          <p:cNvSpPr/>
          <p:nvPr/>
        </p:nvSpPr>
        <p:spPr>
          <a:xfrm>
            <a:off x="2788920" y="2441448"/>
            <a:ext cx="2194560" cy="384048"/>
          </a:xfrm>
          <a:prstGeom prst="rect">
            <a:avLst/>
          </a:prstGeom>
          <a:solidFill>
            <a:srgbClr val="FFFFFF"/>
          </a:solidFill>
          <a:ln w="6350">
            <a:solidFill>
              <a:srgbClr val="DDE2E8"/>
            </a:solidFill>
            <a:prstDash val="solid"/>
          </a:ln>
        </p:spPr>
      </p:sp>
      <p:sp>
        <p:nvSpPr>
          <p:cNvPr id="30" name="Text 28"/>
          <p:cNvSpPr/>
          <p:nvPr/>
        </p:nvSpPr>
        <p:spPr>
          <a:xfrm>
            <a:off x="2843784" y="2441448"/>
            <a:ext cx="208483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API / webhook</a:t>
            </a:r>
            <a:endParaRPr lang="en-US" sz="1000" dirty="0"/>
          </a:p>
        </p:txBody>
      </p:sp>
      <p:sp>
        <p:nvSpPr>
          <p:cNvPr id="31" name="Shape 29"/>
          <p:cNvSpPr/>
          <p:nvPr/>
        </p:nvSpPr>
        <p:spPr>
          <a:xfrm>
            <a:off x="4983480" y="2441448"/>
            <a:ext cx="2194560" cy="384048"/>
          </a:xfrm>
          <a:prstGeom prst="rect">
            <a:avLst/>
          </a:prstGeom>
          <a:solidFill>
            <a:srgbClr val="FFFFFF"/>
          </a:solidFill>
          <a:ln w="6350">
            <a:solidFill>
              <a:srgbClr val="DDE2E8"/>
            </a:solidFill>
            <a:prstDash val="solid"/>
          </a:ln>
        </p:spPr>
      </p:sp>
      <p:sp>
        <p:nvSpPr>
          <p:cNvPr id="32" name="Text 30"/>
          <p:cNvSpPr/>
          <p:nvPr/>
        </p:nvSpPr>
        <p:spPr>
          <a:xfrm>
            <a:off x="5038344" y="2441448"/>
            <a:ext cx="208483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Integration</a:t>
            </a:r>
            <a:endParaRPr lang="en-US" sz="1000" dirty="0"/>
          </a:p>
        </p:txBody>
      </p:sp>
      <p:sp>
        <p:nvSpPr>
          <p:cNvPr id="33" name="Shape 31"/>
          <p:cNvSpPr/>
          <p:nvPr/>
        </p:nvSpPr>
        <p:spPr>
          <a:xfrm>
            <a:off x="7178040" y="2441448"/>
            <a:ext cx="2194560" cy="384048"/>
          </a:xfrm>
          <a:prstGeom prst="rect">
            <a:avLst/>
          </a:prstGeom>
          <a:solidFill>
            <a:srgbClr val="E4FBF5"/>
          </a:solidFill>
          <a:ln w="6350">
            <a:solidFill>
              <a:srgbClr val="DDE2E8"/>
            </a:solidFill>
            <a:prstDash val="solid"/>
          </a:ln>
        </p:spPr>
      </p:sp>
      <p:sp>
        <p:nvSpPr>
          <p:cNvPr id="34" name="Text 32"/>
          <p:cNvSpPr/>
          <p:nvPr/>
        </p:nvSpPr>
        <p:spPr>
          <a:xfrm>
            <a:off x="7232904" y="2441448"/>
            <a:ext cx="208483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Native</a:t>
            </a:r>
            <a:endParaRPr lang="en-US" sz="1000" dirty="0"/>
          </a:p>
        </p:txBody>
      </p:sp>
      <p:sp>
        <p:nvSpPr>
          <p:cNvPr id="35" name="Shape 33"/>
          <p:cNvSpPr/>
          <p:nvPr/>
        </p:nvSpPr>
        <p:spPr>
          <a:xfrm>
            <a:off x="9372600" y="2441448"/>
            <a:ext cx="2286000" cy="384048"/>
          </a:xfrm>
          <a:prstGeom prst="rect">
            <a:avLst/>
          </a:prstGeom>
          <a:solidFill>
            <a:srgbClr val="FFFFFF"/>
          </a:solidFill>
          <a:ln w="6350">
            <a:solidFill>
              <a:srgbClr val="DDE2E8"/>
            </a:solidFill>
            <a:prstDash val="solid"/>
          </a:ln>
        </p:spPr>
      </p:sp>
      <p:sp>
        <p:nvSpPr>
          <p:cNvPr id="36" name="Text 34"/>
          <p:cNvSpPr/>
          <p:nvPr/>
        </p:nvSpPr>
        <p:spPr>
          <a:xfrm>
            <a:off x="9427464" y="2441448"/>
            <a:ext cx="217627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Custom</a:t>
            </a:r>
            <a:endParaRPr lang="en-US" sz="1000" dirty="0"/>
          </a:p>
        </p:txBody>
      </p:sp>
      <p:sp>
        <p:nvSpPr>
          <p:cNvPr id="37" name="Shape 35"/>
          <p:cNvSpPr/>
          <p:nvPr/>
        </p:nvSpPr>
        <p:spPr>
          <a:xfrm>
            <a:off x="502920" y="2825496"/>
            <a:ext cx="2286000" cy="384048"/>
          </a:xfrm>
          <a:prstGeom prst="rect">
            <a:avLst/>
          </a:prstGeom>
          <a:solidFill>
            <a:srgbClr val="EEF1F4"/>
          </a:solidFill>
          <a:ln w="6350">
            <a:solidFill>
              <a:srgbClr val="DDE2E8"/>
            </a:solidFill>
            <a:prstDash val="solid"/>
          </a:ln>
        </p:spPr>
      </p:sp>
      <p:sp>
        <p:nvSpPr>
          <p:cNvPr id="38" name="Text 36"/>
          <p:cNvSpPr/>
          <p:nvPr/>
        </p:nvSpPr>
        <p:spPr>
          <a:xfrm>
            <a:off x="557784" y="2825496"/>
            <a:ext cx="2176272" cy="384048"/>
          </a:xfrm>
          <a:prstGeom prst="rect">
            <a:avLst/>
          </a:prstGeom>
          <a:noFill/>
          <a:ln/>
        </p:spPr>
        <p:txBody>
          <a:bodyPr wrap="square"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IBM Instana</a:t>
            </a:r>
            <a:endParaRPr lang="en-US" sz="1000" dirty="0"/>
          </a:p>
        </p:txBody>
      </p:sp>
      <p:sp>
        <p:nvSpPr>
          <p:cNvPr id="39" name="Shape 37"/>
          <p:cNvSpPr/>
          <p:nvPr/>
        </p:nvSpPr>
        <p:spPr>
          <a:xfrm>
            <a:off x="2788920" y="2825496"/>
            <a:ext cx="2194560" cy="384048"/>
          </a:xfrm>
          <a:prstGeom prst="rect">
            <a:avLst/>
          </a:prstGeom>
          <a:solidFill>
            <a:srgbClr val="E4FBF5"/>
          </a:solidFill>
          <a:ln w="6350">
            <a:solidFill>
              <a:srgbClr val="DDE2E8"/>
            </a:solidFill>
            <a:prstDash val="solid"/>
          </a:ln>
        </p:spPr>
      </p:sp>
      <p:sp>
        <p:nvSpPr>
          <p:cNvPr id="40" name="Text 38"/>
          <p:cNvSpPr/>
          <p:nvPr/>
        </p:nvSpPr>
        <p:spPr>
          <a:xfrm>
            <a:off x="2843784" y="2825496"/>
            <a:ext cx="208483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Native</a:t>
            </a:r>
            <a:endParaRPr lang="en-US" sz="1000" dirty="0"/>
          </a:p>
        </p:txBody>
      </p:sp>
      <p:sp>
        <p:nvSpPr>
          <p:cNvPr id="41" name="Shape 39"/>
          <p:cNvSpPr/>
          <p:nvPr/>
        </p:nvSpPr>
        <p:spPr>
          <a:xfrm>
            <a:off x="4983480" y="2825496"/>
            <a:ext cx="2194560" cy="384048"/>
          </a:xfrm>
          <a:prstGeom prst="rect">
            <a:avLst/>
          </a:prstGeom>
          <a:solidFill>
            <a:srgbClr val="FFFFFF"/>
          </a:solidFill>
          <a:ln w="6350">
            <a:solidFill>
              <a:srgbClr val="DDE2E8"/>
            </a:solidFill>
            <a:prstDash val="solid"/>
          </a:ln>
        </p:spPr>
      </p:sp>
      <p:sp>
        <p:nvSpPr>
          <p:cNvPr id="42" name="Text 40"/>
          <p:cNvSpPr/>
          <p:nvPr/>
        </p:nvSpPr>
        <p:spPr>
          <a:xfrm>
            <a:off x="5038344" y="2825496"/>
            <a:ext cx="208483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API</a:t>
            </a:r>
            <a:endParaRPr lang="en-US" sz="1000" dirty="0"/>
          </a:p>
        </p:txBody>
      </p:sp>
      <p:sp>
        <p:nvSpPr>
          <p:cNvPr id="43" name="Shape 41"/>
          <p:cNvSpPr/>
          <p:nvPr/>
        </p:nvSpPr>
        <p:spPr>
          <a:xfrm>
            <a:off x="7178040" y="2825496"/>
            <a:ext cx="2194560" cy="384048"/>
          </a:xfrm>
          <a:prstGeom prst="rect">
            <a:avLst/>
          </a:prstGeom>
          <a:solidFill>
            <a:srgbClr val="FFFFFF"/>
          </a:solidFill>
          <a:ln w="6350">
            <a:solidFill>
              <a:srgbClr val="DDE2E8"/>
            </a:solidFill>
            <a:prstDash val="solid"/>
          </a:ln>
        </p:spPr>
      </p:sp>
      <p:sp>
        <p:nvSpPr>
          <p:cNvPr id="44" name="Text 42"/>
          <p:cNvSpPr/>
          <p:nvPr/>
        </p:nvSpPr>
        <p:spPr>
          <a:xfrm>
            <a:off x="7232904" y="2825496"/>
            <a:ext cx="208483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Native (same vendor)</a:t>
            </a:r>
            <a:endParaRPr lang="en-US" sz="1000" dirty="0"/>
          </a:p>
        </p:txBody>
      </p:sp>
      <p:sp>
        <p:nvSpPr>
          <p:cNvPr id="45" name="Shape 43"/>
          <p:cNvSpPr/>
          <p:nvPr/>
        </p:nvSpPr>
        <p:spPr>
          <a:xfrm>
            <a:off x="9372600" y="2825496"/>
            <a:ext cx="2286000" cy="384048"/>
          </a:xfrm>
          <a:prstGeom prst="rect">
            <a:avLst/>
          </a:prstGeom>
          <a:solidFill>
            <a:srgbClr val="FFFFFF"/>
          </a:solidFill>
          <a:ln w="6350">
            <a:solidFill>
              <a:srgbClr val="DDE2E8"/>
            </a:solidFill>
            <a:prstDash val="solid"/>
          </a:ln>
        </p:spPr>
      </p:sp>
      <p:sp>
        <p:nvSpPr>
          <p:cNvPr id="46" name="Text 44"/>
          <p:cNvSpPr/>
          <p:nvPr/>
        </p:nvSpPr>
        <p:spPr>
          <a:xfrm>
            <a:off x="9427464" y="2825496"/>
            <a:ext cx="217627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Custom</a:t>
            </a:r>
            <a:endParaRPr lang="en-US" sz="1000" dirty="0"/>
          </a:p>
        </p:txBody>
      </p:sp>
      <p:sp>
        <p:nvSpPr>
          <p:cNvPr id="47" name="Shape 45"/>
          <p:cNvSpPr/>
          <p:nvPr/>
        </p:nvSpPr>
        <p:spPr>
          <a:xfrm>
            <a:off x="502920" y="3209544"/>
            <a:ext cx="2286000" cy="384048"/>
          </a:xfrm>
          <a:prstGeom prst="rect">
            <a:avLst/>
          </a:prstGeom>
          <a:solidFill>
            <a:srgbClr val="EEF1F4"/>
          </a:solidFill>
          <a:ln w="6350">
            <a:solidFill>
              <a:srgbClr val="DDE2E8"/>
            </a:solidFill>
            <a:prstDash val="solid"/>
          </a:ln>
        </p:spPr>
      </p:sp>
      <p:sp>
        <p:nvSpPr>
          <p:cNvPr id="48" name="Text 46"/>
          <p:cNvSpPr/>
          <p:nvPr/>
        </p:nvSpPr>
        <p:spPr>
          <a:xfrm>
            <a:off x="557784" y="3209544"/>
            <a:ext cx="2176272" cy="384048"/>
          </a:xfrm>
          <a:prstGeom prst="rect">
            <a:avLst/>
          </a:prstGeom>
          <a:noFill/>
          <a:ln/>
        </p:spPr>
        <p:txBody>
          <a:bodyPr wrap="square"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Splunk</a:t>
            </a:r>
            <a:endParaRPr lang="en-US" sz="1000" dirty="0"/>
          </a:p>
        </p:txBody>
      </p:sp>
      <p:sp>
        <p:nvSpPr>
          <p:cNvPr id="49" name="Shape 47"/>
          <p:cNvSpPr/>
          <p:nvPr/>
        </p:nvSpPr>
        <p:spPr>
          <a:xfrm>
            <a:off x="2788920" y="3209544"/>
            <a:ext cx="2194560" cy="384048"/>
          </a:xfrm>
          <a:prstGeom prst="rect">
            <a:avLst/>
          </a:prstGeom>
          <a:solidFill>
            <a:srgbClr val="E4FBF5"/>
          </a:solidFill>
          <a:ln w="6350">
            <a:solidFill>
              <a:srgbClr val="DDE2E8"/>
            </a:solidFill>
            <a:prstDash val="solid"/>
          </a:ln>
        </p:spPr>
      </p:sp>
      <p:sp>
        <p:nvSpPr>
          <p:cNvPr id="50" name="Text 48"/>
          <p:cNvSpPr/>
          <p:nvPr/>
        </p:nvSpPr>
        <p:spPr>
          <a:xfrm>
            <a:off x="2843784" y="3209544"/>
            <a:ext cx="208483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Native</a:t>
            </a:r>
            <a:endParaRPr lang="en-US" sz="1000" dirty="0"/>
          </a:p>
        </p:txBody>
      </p:sp>
      <p:sp>
        <p:nvSpPr>
          <p:cNvPr id="51" name="Shape 49"/>
          <p:cNvSpPr/>
          <p:nvPr/>
        </p:nvSpPr>
        <p:spPr>
          <a:xfrm>
            <a:off x="4983480" y="3209544"/>
            <a:ext cx="2194560" cy="384048"/>
          </a:xfrm>
          <a:prstGeom prst="rect">
            <a:avLst/>
          </a:prstGeom>
          <a:solidFill>
            <a:srgbClr val="E4FBF5"/>
          </a:solidFill>
          <a:ln w="6350">
            <a:solidFill>
              <a:srgbClr val="DDE2E8"/>
            </a:solidFill>
            <a:prstDash val="solid"/>
          </a:ln>
        </p:spPr>
      </p:sp>
      <p:sp>
        <p:nvSpPr>
          <p:cNvPr id="52" name="Text 50"/>
          <p:cNvSpPr/>
          <p:nvPr/>
        </p:nvSpPr>
        <p:spPr>
          <a:xfrm>
            <a:off x="5038344" y="3209544"/>
            <a:ext cx="208483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Native</a:t>
            </a:r>
            <a:endParaRPr lang="en-US" sz="1000" dirty="0"/>
          </a:p>
        </p:txBody>
      </p:sp>
      <p:sp>
        <p:nvSpPr>
          <p:cNvPr id="53" name="Shape 51"/>
          <p:cNvSpPr/>
          <p:nvPr/>
        </p:nvSpPr>
        <p:spPr>
          <a:xfrm>
            <a:off x="7178040" y="3209544"/>
            <a:ext cx="2194560" cy="384048"/>
          </a:xfrm>
          <a:prstGeom prst="rect">
            <a:avLst/>
          </a:prstGeom>
          <a:solidFill>
            <a:srgbClr val="E4FBF5"/>
          </a:solidFill>
          <a:ln w="6350">
            <a:solidFill>
              <a:srgbClr val="DDE2E8"/>
            </a:solidFill>
            <a:prstDash val="solid"/>
          </a:ln>
        </p:spPr>
      </p:sp>
      <p:sp>
        <p:nvSpPr>
          <p:cNvPr id="54" name="Text 52"/>
          <p:cNvSpPr/>
          <p:nvPr/>
        </p:nvSpPr>
        <p:spPr>
          <a:xfrm>
            <a:off x="7232904" y="3209544"/>
            <a:ext cx="208483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Native</a:t>
            </a:r>
            <a:endParaRPr lang="en-US" sz="1000" dirty="0"/>
          </a:p>
        </p:txBody>
      </p:sp>
      <p:sp>
        <p:nvSpPr>
          <p:cNvPr id="55" name="Shape 53"/>
          <p:cNvSpPr/>
          <p:nvPr/>
        </p:nvSpPr>
        <p:spPr>
          <a:xfrm>
            <a:off x="9372600" y="3209544"/>
            <a:ext cx="2286000" cy="384048"/>
          </a:xfrm>
          <a:prstGeom prst="rect">
            <a:avLst/>
          </a:prstGeom>
          <a:solidFill>
            <a:srgbClr val="FFFFFF"/>
          </a:solidFill>
          <a:ln w="6350">
            <a:solidFill>
              <a:srgbClr val="DDE2E8"/>
            </a:solidFill>
            <a:prstDash val="solid"/>
          </a:ln>
        </p:spPr>
      </p:sp>
      <p:sp>
        <p:nvSpPr>
          <p:cNvPr id="56" name="Text 54"/>
          <p:cNvSpPr/>
          <p:nvPr/>
        </p:nvSpPr>
        <p:spPr>
          <a:xfrm>
            <a:off x="9427464" y="3209544"/>
            <a:ext cx="217627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Data export / addon</a:t>
            </a:r>
            <a:endParaRPr lang="en-US" sz="1000" dirty="0"/>
          </a:p>
        </p:txBody>
      </p:sp>
      <p:sp>
        <p:nvSpPr>
          <p:cNvPr id="57" name="Shape 55"/>
          <p:cNvSpPr/>
          <p:nvPr/>
        </p:nvSpPr>
        <p:spPr>
          <a:xfrm>
            <a:off x="502920" y="3593592"/>
            <a:ext cx="2286000" cy="384048"/>
          </a:xfrm>
          <a:prstGeom prst="rect">
            <a:avLst/>
          </a:prstGeom>
          <a:solidFill>
            <a:srgbClr val="EEF1F4"/>
          </a:solidFill>
          <a:ln w="6350">
            <a:solidFill>
              <a:srgbClr val="DDE2E8"/>
            </a:solidFill>
            <a:prstDash val="solid"/>
          </a:ln>
        </p:spPr>
      </p:sp>
      <p:sp>
        <p:nvSpPr>
          <p:cNvPr id="58" name="Text 56"/>
          <p:cNvSpPr/>
          <p:nvPr/>
        </p:nvSpPr>
        <p:spPr>
          <a:xfrm>
            <a:off x="557784" y="3593592"/>
            <a:ext cx="2176272" cy="384048"/>
          </a:xfrm>
          <a:prstGeom prst="rect">
            <a:avLst/>
          </a:prstGeom>
          <a:noFill/>
          <a:ln/>
        </p:spPr>
        <p:txBody>
          <a:bodyPr wrap="square"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Azure Monitor</a:t>
            </a:r>
            <a:endParaRPr lang="en-US" sz="1000" dirty="0"/>
          </a:p>
        </p:txBody>
      </p:sp>
      <p:sp>
        <p:nvSpPr>
          <p:cNvPr id="59" name="Shape 57"/>
          <p:cNvSpPr/>
          <p:nvPr/>
        </p:nvSpPr>
        <p:spPr>
          <a:xfrm>
            <a:off x="2788920" y="3593592"/>
            <a:ext cx="2194560" cy="384048"/>
          </a:xfrm>
          <a:prstGeom prst="rect">
            <a:avLst/>
          </a:prstGeom>
          <a:solidFill>
            <a:srgbClr val="E4FBF5"/>
          </a:solidFill>
          <a:ln w="6350">
            <a:solidFill>
              <a:srgbClr val="DDE2E8"/>
            </a:solidFill>
            <a:prstDash val="solid"/>
          </a:ln>
        </p:spPr>
      </p:sp>
      <p:sp>
        <p:nvSpPr>
          <p:cNvPr id="60" name="Text 58"/>
          <p:cNvSpPr/>
          <p:nvPr/>
        </p:nvSpPr>
        <p:spPr>
          <a:xfrm>
            <a:off x="2843784" y="3593592"/>
            <a:ext cx="208483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Native</a:t>
            </a:r>
            <a:endParaRPr lang="en-US" sz="1000" dirty="0"/>
          </a:p>
        </p:txBody>
      </p:sp>
      <p:sp>
        <p:nvSpPr>
          <p:cNvPr id="61" name="Shape 59"/>
          <p:cNvSpPr/>
          <p:nvPr/>
        </p:nvSpPr>
        <p:spPr>
          <a:xfrm>
            <a:off x="4983480" y="3593592"/>
            <a:ext cx="2194560" cy="384048"/>
          </a:xfrm>
          <a:prstGeom prst="rect">
            <a:avLst/>
          </a:prstGeom>
          <a:solidFill>
            <a:srgbClr val="E4FBF5"/>
          </a:solidFill>
          <a:ln w="6350">
            <a:solidFill>
              <a:srgbClr val="DDE2E8"/>
            </a:solidFill>
            <a:prstDash val="solid"/>
          </a:ln>
        </p:spPr>
      </p:sp>
      <p:sp>
        <p:nvSpPr>
          <p:cNvPr id="62" name="Text 60"/>
          <p:cNvSpPr/>
          <p:nvPr/>
        </p:nvSpPr>
        <p:spPr>
          <a:xfrm>
            <a:off x="5038344" y="3593592"/>
            <a:ext cx="208483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Native</a:t>
            </a:r>
            <a:endParaRPr lang="en-US" sz="1000" dirty="0"/>
          </a:p>
        </p:txBody>
      </p:sp>
      <p:sp>
        <p:nvSpPr>
          <p:cNvPr id="63" name="Shape 61"/>
          <p:cNvSpPr/>
          <p:nvPr/>
        </p:nvSpPr>
        <p:spPr>
          <a:xfrm>
            <a:off x="7178040" y="3593592"/>
            <a:ext cx="2194560" cy="384048"/>
          </a:xfrm>
          <a:prstGeom prst="rect">
            <a:avLst/>
          </a:prstGeom>
          <a:solidFill>
            <a:srgbClr val="E4FBF5"/>
          </a:solidFill>
          <a:ln w="6350">
            <a:solidFill>
              <a:srgbClr val="DDE2E8"/>
            </a:solidFill>
            <a:prstDash val="solid"/>
          </a:ln>
        </p:spPr>
      </p:sp>
      <p:sp>
        <p:nvSpPr>
          <p:cNvPr id="64" name="Text 62"/>
          <p:cNvSpPr/>
          <p:nvPr/>
        </p:nvSpPr>
        <p:spPr>
          <a:xfrm>
            <a:off x="7232904" y="3593592"/>
            <a:ext cx="208483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Native</a:t>
            </a:r>
            <a:endParaRPr lang="en-US" sz="1000" dirty="0"/>
          </a:p>
        </p:txBody>
      </p:sp>
      <p:sp>
        <p:nvSpPr>
          <p:cNvPr id="65" name="Shape 63"/>
          <p:cNvSpPr/>
          <p:nvPr/>
        </p:nvSpPr>
        <p:spPr>
          <a:xfrm>
            <a:off x="9372600" y="3593592"/>
            <a:ext cx="2286000" cy="384048"/>
          </a:xfrm>
          <a:prstGeom prst="rect">
            <a:avLst/>
          </a:prstGeom>
          <a:solidFill>
            <a:srgbClr val="E4FBF5"/>
          </a:solidFill>
          <a:ln w="6350">
            <a:solidFill>
              <a:srgbClr val="DDE2E8"/>
            </a:solidFill>
            <a:prstDash val="solid"/>
          </a:ln>
        </p:spPr>
      </p:sp>
      <p:sp>
        <p:nvSpPr>
          <p:cNvPr id="66" name="Text 64"/>
          <p:cNvSpPr/>
          <p:nvPr/>
        </p:nvSpPr>
        <p:spPr>
          <a:xfrm>
            <a:off x="9427464" y="3593592"/>
            <a:ext cx="217627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Is the platform</a:t>
            </a:r>
            <a:endParaRPr lang="en-US" sz="1000" dirty="0"/>
          </a:p>
        </p:txBody>
      </p:sp>
      <p:sp>
        <p:nvSpPr>
          <p:cNvPr id="67" name="Shape 65"/>
          <p:cNvSpPr/>
          <p:nvPr/>
        </p:nvSpPr>
        <p:spPr>
          <a:xfrm>
            <a:off x="502920" y="3977640"/>
            <a:ext cx="2286000" cy="384048"/>
          </a:xfrm>
          <a:prstGeom prst="rect">
            <a:avLst/>
          </a:prstGeom>
          <a:solidFill>
            <a:srgbClr val="EEF1F4"/>
          </a:solidFill>
          <a:ln w="6350">
            <a:solidFill>
              <a:srgbClr val="DDE2E8"/>
            </a:solidFill>
            <a:prstDash val="solid"/>
          </a:ln>
        </p:spPr>
      </p:sp>
      <p:sp>
        <p:nvSpPr>
          <p:cNvPr id="68" name="Text 66"/>
          <p:cNvSpPr/>
          <p:nvPr/>
        </p:nvSpPr>
        <p:spPr>
          <a:xfrm>
            <a:off x="557784" y="3977640"/>
            <a:ext cx="2176272" cy="384048"/>
          </a:xfrm>
          <a:prstGeom prst="rect">
            <a:avLst/>
          </a:prstGeom>
          <a:noFill/>
          <a:ln/>
        </p:spPr>
        <p:txBody>
          <a:bodyPr wrap="square"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Prometheus / Grafana</a:t>
            </a:r>
            <a:endParaRPr lang="en-US" sz="1000" dirty="0"/>
          </a:p>
        </p:txBody>
      </p:sp>
      <p:sp>
        <p:nvSpPr>
          <p:cNvPr id="69" name="Shape 67"/>
          <p:cNvSpPr/>
          <p:nvPr/>
        </p:nvSpPr>
        <p:spPr>
          <a:xfrm>
            <a:off x="2788920" y="3977640"/>
            <a:ext cx="2194560" cy="384048"/>
          </a:xfrm>
          <a:prstGeom prst="rect">
            <a:avLst/>
          </a:prstGeom>
          <a:solidFill>
            <a:srgbClr val="FFFFFF"/>
          </a:solidFill>
          <a:ln w="6350">
            <a:solidFill>
              <a:srgbClr val="DDE2E8"/>
            </a:solidFill>
            <a:prstDash val="solid"/>
          </a:ln>
        </p:spPr>
      </p:sp>
      <p:sp>
        <p:nvSpPr>
          <p:cNvPr id="70" name="Text 68"/>
          <p:cNvSpPr/>
          <p:nvPr/>
        </p:nvSpPr>
        <p:spPr>
          <a:xfrm>
            <a:off x="2843784" y="3977640"/>
            <a:ext cx="208483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Webhook (Alertmanager)</a:t>
            </a:r>
            <a:endParaRPr lang="en-US" sz="1000" dirty="0"/>
          </a:p>
        </p:txBody>
      </p:sp>
      <p:sp>
        <p:nvSpPr>
          <p:cNvPr id="71" name="Shape 69"/>
          <p:cNvSpPr/>
          <p:nvPr/>
        </p:nvSpPr>
        <p:spPr>
          <a:xfrm>
            <a:off x="4983480" y="3977640"/>
            <a:ext cx="2194560" cy="384048"/>
          </a:xfrm>
          <a:prstGeom prst="rect">
            <a:avLst/>
          </a:prstGeom>
          <a:solidFill>
            <a:srgbClr val="E4FBF5"/>
          </a:solidFill>
          <a:ln w="6350">
            <a:solidFill>
              <a:srgbClr val="DDE2E8"/>
            </a:solidFill>
            <a:prstDash val="solid"/>
          </a:ln>
        </p:spPr>
      </p:sp>
      <p:sp>
        <p:nvSpPr>
          <p:cNvPr id="72" name="Text 70"/>
          <p:cNvSpPr/>
          <p:nvPr/>
        </p:nvSpPr>
        <p:spPr>
          <a:xfrm>
            <a:off x="5038344" y="3977640"/>
            <a:ext cx="208483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Native</a:t>
            </a:r>
            <a:endParaRPr lang="en-US" sz="1000" dirty="0"/>
          </a:p>
        </p:txBody>
      </p:sp>
      <p:sp>
        <p:nvSpPr>
          <p:cNvPr id="73" name="Shape 71"/>
          <p:cNvSpPr/>
          <p:nvPr/>
        </p:nvSpPr>
        <p:spPr>
          <a:xfrm>
            <a:off x="7178040" y="3977640"/>
            <a:ext cx="2194560" cy="384048"/>
          </a:xfrm>
          <a:prstGeom prst="rect">
            <a:avLst/>
          </a:prstGeom>
          <a:solidFill>
            <a:srgbClr val="E4FBF5"/>
          </a:solidFill>
          <a:ln w="6350">
            <a:solidFill>
              <a:srgbClr val="DDE2E8"/>
            </a:solidFill>
            <a:prstDash val="solid"/>
          </a:ln>
        </p:spPr>
      </p:sp>
      <p:sp>
        <p:nvSpPr>
          <p:cNvPr id="74" name="Text 72"/>
          <p:cNvSpPr/>
          <p:nvPr/>
        </p:nvSpPr>
        <p:spPr>
          <a:xfrm>
            <a:off x="7232904" y="3977640"/>
            <a:ext cx="208483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Native</a:t>
            </a:r>
            <a:endParaRPr lang="en-US" sz="1000" dirty="0"/>
          </a:p>
        </p:txBody>
      </p:sp>
      <p:sp>
        <p:nvSpPr>
          <p:cNvPr id="75" name="Shape 73"/>
          <p:cNvSpPr/>
          <p:nvPr/>
        </p:nvSpPr>
        <p:spPr>
          <a:xfrm>
            <a:off x="9372600" y="3977640"/>
            <a:ext cx="2286000" cy="384048"/>
          </a:xfrm>
          <a:prstGeom prst="rect">
            <a:avLst/>
          </a:prstGeom>
          <a:solidFill>
            <a:srgbClr val="FFFFFF"/>
          </a:solidFill>
          <a:ln w="6350">
            <a:solidFill>
              <a:srgbClr val="DDE2E8"/>
            </a:solidFill>
            <a:prstDash val="solid"/>
          </a:ln>
        </p:spPr>
      </p:sp>
      <p:sp>
        <p:nvSpPr>
          <p:cNvPr id="76" name="Text 74"/>
          <p:cNvSpPr/>
          <p:nvPr/>
        </p:nvSpPr>
        <p:spPr>
          <a:xfrm>
            <a:off x="9427464" y="3977640"/>
            <a:ext cx="217627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Managed Prometheus/Grafana</a:t>
            </a:r>
            <a:endParaRPr lang="en-US" sz="1000" dirty="0"/>
          </a:p>
        </p:txBody>
      </p:sp>
      <p:sp>
        <p:nvSpPr>
          <p:cNvPr id="77" name="Shape 75"/>
          <p:cNvSpPr/>
          <p:nvPr/>
        </p:nvSpPr>
        <p:spPr>
          <a:xfrm>
            <a:off x="502920" y="4361688"/>
            <a:ext cx="2286000" cy="384048"/>
          </a:xfrm>
          <a:prstGeom prst="rect">
            <a:avLst/>
          </a:prstGeom>
          <a:solidFill>
            <a:srgbClr val="EEF1F4"/>
          </a:solidFill>
          <a:ln w="6350">
            <a:solidFill>
              <a:srgbClr val="DDE2E8"/>
            </a:solidFill>
            <a:prstDash val="solid"/>
          </a:ln>
        </p:spPr>
      </p:sp>
      <p:sp>
        <p:nvSpPr>
          <p:cNvPr id="78" name="Text 76"/>
          <p:cNvSpPr/>
          <p:nvPr/>
        </p:nvSpPr>
        <p:spPr>
          <a:xfrm>
            <a:off x="557784" y="4361688"/>
            <a:ext cx="2176272" cy="384048"/>
          </a:xfrm>
          <a:prstGeom prst="rect">
            <a:avLst/>
          </a:prstGeom>
          <a:noFill/>
          <a:ln/>
        </p:spPr>
        <p:txBody>
          <a:bodyPr wrap="square"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Syslog</a:t>
            </a:r>
            <a:endParaRPr lang="en-US" sz="1000" dirty="0"/>
          </a:p>
        </p:txBody>
      </p:sp>
      <p:sp>
        <p:nvSpPr>
          <p:cNvPr id="79" name="Shape 77"/>
          <p:cNvSpPr/>
          <p:nvPr/>
        </p:nvSpPr>
        <p:spPr>
          <a:xfrm>
            <a:off x="2788920" y="4361688"/>
            <a:ext cx="2194560" cy="384048"/>
          </a:xfrm>
          <a:prstGeom prst="rect">
            <a:avLst/>
          </a:prstGeom>
          <a:solidFill>
            <a:srgbClr val="FFFFFF"/>
          </a:solidFill>
          <a:ln w="6350">
            <a:solidFill>
              <a:srgbClr val="DDE2E8"/>
            </a:solidFill>
            <a:prstDash val="solid"/>
          </a:ln>
        </p:spPr>
      </p:sp>
      <p:sp>
        <p:nvSpPr>
          <p:cNvPr id="80" name="Text 78"/>
          <p:cNvSpPr/>
          <p:nvPr/>
        </p:nvSpPr>
        <p:spPr>
          <a:xfrm>
            <a:off x="2843784" y="4361688"/>
            <a:ext cx="208483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Via collector</a:t>
            </a:r>
            <a:endParaRPr lang="en-US" sz="1000" dirty="0"/>
          </a:p>
        </p:txBody>
      </p:sp>
      <p:sp>
        <p:nvSpPr>
          <p:cNvPr id="81" name="Shape 79"/>
          <p:cNvSpPr/>
          <p:nvPr/>
        </p:nvSpPr>
        <p:spPr>
          <a:xfrm>
            <a:off x="4983480" y="4361688"/>
            <a:ext cx="2194560" cy="384048"/>
          </a:xfrm>
          <a:prstGeom prst="rect">
            <a:avLst/>
          </a:prstGeom>
          <a:solidFill>
            <a:srgbClr val="FFFFFF"/>
          </a:solidFill>
          <a:ln w="6350">
            <a:solidFill>
              <a:srgbClr val="DDE2E8"/>
            </a:solidFill>
            <a:prstDash val="solid"/>
          </a:ln>
        </p:spPr>
      </p:sp>
      <p:sp>
        <p:nvSpPr>
          <p:cNvPr id="82" name="Text 80"/>
          <p:cNvSpPr/>
          <p:nvPr/>
        </p:nvSpPr>
        <p:spPr>
          <a:xfrm>
            <a:off x="5038344" y="4361688"/>
            <a:ext cx="208483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Agent / native</a:t>
            </a:r>
            <a:endParaRPr lang="en-US" sz="1000" dirty="0"/>
          </a:p>
        </p:txBody>
      </p:sp>
      <p:sp>
        <p:nvSpPr>
          <p:cNvPr id="83" name="Shape 81"/>
          <p:cNvSpPr/>
          <p:nvPr/>
        </p:nvSpPr>
        <p:spPr>
          <a:xfrm>
            <a:off x="7178040" y="4361688"/>
            <a:ext cx="2194560" cy="384048"/>
          </a:xfrm>
          <a:prstGeom prst="rect">
            <a:avLst/>
          </a:prstGeom>
          <a:solidFill>
            <a:srgbClr val="E4FBF5"/>
          </a:solidFill>
          <a:ln w="6350">
            <a:solidFill>
              <a:srgbClr val="DDE2E8"/>
            </a:solidFill>
            <a:prstDash val="solid"/>
          </a:ln>
        </p:spPr>
      </p:sp>
      <p:sp>
        <p:nvSpPr>
          <p:cNvPr id="84" name="Text 82"/>
          <p:cNvSpPr/>
          <p:nvPr/>
        </p:nvSpPr>
        <p:spPr>
          <a:xfrm>
            <a:off x="7232904" y="4361688"/>
            <a:ext cx="2084832" cy="384048"/>
          </a:xfrm>
          <a:prstGeom prst="rect">
            <a:avLst/>
          </a:prstGeom>
          <a:noFill/>
          <a:ln/>
        </p:spPr>
        <p:txBody>
          <a:bodyPr wrap="square" rtlCol="0" anchor="ctr"/>
          <a:lstStyle/>
          <a:p>
            <a:pPr indent="0" marL="0">
              <a:buNone/>
            </a:pPr>
            <a:r>
              <a:rPr lang="en-US" sz="1000" b="1" dirty="0">
                <a:solidFill>
                  <a:srgbClr val="019879"/>
                </a:solidFill>
                <a:latin typeface="Calibri" pitchFamily="34" charset="0"/>
                <a:ea typeface="Calibri" pitchFamily="34" charset="-122"/>
                <a:cs typeface="Calibri" pitchFamily="34" charset="-120"/>
              </a:rPr>
              <a:t>Native</a:t>
            </a:r>
            <a:endParaRPr lang="en-US" sz="1000" dirty="0"/>
          </a:p>
        </p:txBody>
      </p:sp>
      <p:sp>
        <p:nvSpPr>
          <p:cNvPr id="85" name="Shape 83"/>
          <p:cNvSpPr/>
          <p:nvPr/>
        </p:nvSpPr>
        <p:spPr>
          <a:xfrm>
            <a:off x="9372600" y="4361688"/>
            <a:ext cx="2286000" cy="384048"/>
          </a:xfrm>
          <a:prstGeom prst="rect">
            <a:avLst/>
          </a:prstGeom>
          <a:solidFill>
            <a:srgbClr val="FFFFFF"/>
          </a:solidFill>
          <a:ln w="6350">
            <a:solidFill>
              <a:srgbClr val="DDE2E8"/>
            </a:solidFill>
            <a:prstDash val="solid"/>
          </a:ln>
        </p:spPr>
      </p:sp>
      <p:sp>
        <p:nvSpPr>
          <p:cNvPr id="86" name="Text 84"/>
          <p:cNvSpPr/>
          <p:nvPr/>
        </p:nvSpPr>
        <p:spPr>
          <a:xfrm>
            <a:off x="9427464" y="4361688"/>
            <a:ext cx="2176272" cy="384048"/>
          </a:xfrm>
          <a:prstGeom prst="rect">
            <a:avLst/>
          </a:prstGeom>
          <a:noFill/>
          <a:ln/>
        </p:spPr>
        <p:txBody>
          <a:bodyPr wrap="square" rtlCol="0" anchor="ctr"/>
          <a:lstStyle/>
          <a:p>
            <a:pPr indent="0" marL="0">
              <a:buNone/>
            </a:pPr>
            <a:r>
              <a:rPr lang="en-US" sz="1000" dirty="0">
                <a:solidFill>
                  <a:srgbClr val="232B3A"/>
                </a:solidFill>
                <a:latin typeface="Calibri" pitchFamily="34" charset="0"/>
                <a:ea typeface="Calibri" pitchFamily="34" charset="-122"/>
                <a:cs typeface="Calibri" pitchFamily="34" charset="-120"/>
              </a:rPr>
              <a:t>AMA agent / forwarder</a:t>
            </a:r>
            <a:endParaRPr lang="en-US" sz="1000" dirty="0"/>
          </a:p>
        </p:txBody>
      </p:sp>
      <p:sp>
        <p:nvSpPr>
          <p:cNvPr id="87" name="Text 85"/>
          <p:cNvSpPr/>
          <p:nvPr/>
        </p:nvSpPr>
        <p:spPr>
          <a:xfrm>
            <a:off x="502920" y="4882896"/>
            <a:ext cx="11155680" cy="502920"/>
          </a:xfrm>
          <a:prstGeom prst="rect">
            <a:avLst/>
          </a:prstGeom>
          <a:noFill/>
          <a:ln/>
        </p:spPr>
        <p:txBody>
          <a:bodyPr wrap="square" rtlCol="0" anchor="ctr"/>
          <a:lstStyle/>
          <a:p>
            <a:pPr indent="0" marL="0">
              <a:buNone/>
            </a:pPr>
            <a:r>
              <a:rPr lang="en-US" sz="1050" i="1" dirty="0">
                <a:solidFill>
                  <a:srgbClr val="6B7684"/>
                </a:solidFill>
                <a:latin typeface="Calibri" pitchFamily="34" charset="0"/>
                <a:ea typeface="Calibri" pitchFamily="34" charset="-122"/>
                <a:cs typeface="Calibri" pitchFamily="34" charset="-120"/>
              </a:rPr>
              <a:t>Edwin AI and IBM AIOps cover our estate best out-of-the-box — both were built as tool-agnostic event managers. The Azure-native stack requires funnelling on-prem sources (SolarWinds, OEM, Instana) into Azure first.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AI PLATFORM EVALUATION</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Cost Assessment — Indicative Annual Ranges</a:t>
            </a:r>
            <a:endParaRPr lang="en-US" sz="2700" dirty="0"/>
          </a:p>
        </p:txBody>
      </p:sp>
      <p:sp>
        <p:nvSpPr>
          <p:cNvPr id="5" name="Text 3"/>
          <p:cNvSpPr/>
          <p:nvPr/>
        </p:nvSpPr>
        <p:spPr>
          <a:xfrm>
            <a:off x="502920" y="1261872"/>
            <a:ext cx="11155680" cy="320040"/>
          </a:xfrm>
          <a:prstGeom prst="rect">
            <a:avLst/>
          </a:prstGeom>
          <a:noFill/>
          <a:ln/>
        </p:spPr>
        <p:txBody>
          <a:bodyPr wrap="square" rtlCol="0" anchor="ctr"/>
          <a:lstStyle/>
          <a:p>
            <a:pPr indent="0" marL="0">
              <a:buNone/>
            </a:pPr>
            <a:r>
              <a:rPr lang="en-US" sz="1300" i="1" dirty="0">
                <a:solidFill>
                  <a:srgbClr val="6B7684"/>
                </a:solidFill>
                <a:latin typeface="Calibri" pitchFamily="34" charset="0"/>
                <a:ea typeface="Calibri" pitchFamily="34" charset="-122"/>
                <a:cs typeface="Calibri" pitchFamily="34" charset="-120"/>
              </a:rPr>
              <a:t>For a representative ~500-host / ~1TB-per-day-logs estate</a:t>
            </a:r>
            <a:endParaRPr lang="en-US" sz="1300" dirty="0"/>
          </a:p>
        </p:txBody>
      </p:sp>
      <p:sp>
        <p:nvSpPr>
          <p:cNvPr id="6" name="Text 4"/>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4 · PLATFORM EVALUATION</a:t>
            </a:r>
            <a:endParaRPr lang="en-US" sz="850" dirty="0"/>
          </a:p>
        </p:txBody>
      </p:sp>
      <p:sp>
        <p:nvSpPr>
          <p:cNvPr id="7" name="Text 5"/>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18 / 33</a:t>
            </a:r>
            <a:endParaRPr lang="en-US" sz="850" dirty="0"/>
          </a:p>
        </p:txBody>
      </p:sp>
      <p:sp>
        <p:nvSpPr>
          <p:cNvPr id="8" name="Shape 6"/>
          <p:cNvSpPr/>
          <p:nvPr/>
        </p:nvSpPr>
        <p:spPr>
          <a:xfrm>
            <a:off x="502920" y="1737360"/>
            <a:ext cx="2743200" cy="365760"/>
          </a:xfrm>
          <a:prstGeom prst="rect">
            <a:avLst/>
          </a:prstGeom>
          <a:solidFill>
            <a:srgbClr val="1E2761"/>
          </a:solidFill>
          <a:ln w="6350">
            <a:solidFill>
              <a:srgbClr val="FFFFFF"/>
            </a:solidFill>
            <a:prstDash val="solid"/>
          </a:ln>
        </p:spPr>
      </p:sp>
      <p:sp>
        <p:nvSpPr>
          <p:cNvPr id="9" name="Text 7"/>
          <p:cNvSpPr/>
          <p:nvPr/>
        </p:nvSpPr>
        <p:spPr>
          <a:xfrm>
            <a:off x="557784" y="1737360"/>
            <a:ext cx="2633472"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Platform</a:t>
            </a:r>
            <a:endParaRPr lang="en-US" sz="1050" dirty="0"/>
          </a:p>
        </p:txBody>
      </p:sp>
      <p:sp>
        <p:nvSpPr>
          <p:cNvPr id="10" name="Shape 8"/>
          <p:cNvSpPr/>
          <p:nvPr/>
        </p:nvSpPr>
        <p:spPr>
          <a:xfrm>
            <a:off x="3246120" y="1737360"/>
            <a:ext cx="3657600" cy="365760"/>
          </a:xfrm>
          <a:prstGeom prst="rect">
            <a:avLst/>
          </a:prstGeom>
          <a:solidFill>
            <a:srgbClr val="1E2761"/>
          </a:solidFill>
          <a:ln w="6350">
            <a:solidFill>
              <a:srgbClr val="FFFFFF"/>
            </a:solidFill>
            <a:prstDash val="solid"/>
          </a:ln>
        </p:spPr>
      </p:sp>
      <p:sp>
        <p:nvSpPr>
          <p:cNvPr id="11" name="Text 9"/>
          <p:cNvSpPr/>
          <p:nvPr/>
        </p:nvSpPr>
        <p:spPr>
          <a:xfrm>
            <a:off x="3300984" y="1737360"/>
            <a:ext cx="3547872"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Pricing Model</a:t>
            </a:r>
            <a:endParaRPr lang="en-US" sz="1050" dirty="0"/>
          </a:p>
        </p:txBody>
      </p:sp>
      <p:sp>
        <p:nvSpPr>
          <p:cNvPr id="12" name="Shape 10"/>
          <p:cNvSpPr/>
          <p:nvPr/>
        </p:nvSpPr>
        <p:spPr>
          <a:xfrm>
            <a:off x="6903720" y="1737360"/>
            <a:ext cx="2286000" cy="365760"/>
          </a:xfrm>
          <a:prstGeom prst="rect">
            <a:avLst/>
          </a:prstGeom>
          <a:solidFill>
            <a:srgbClr val="1E2761"/>
          </a:solidFill>
          <a:ln w="6350">
            <a:solidFill>
              <a:srgbClr val="FFFFFF"/>
            </a:solidFill>
            <a:prstDash val="solid"/>
          </a:ln>
        </p:spPr>
      </p:sp>
      <p:sp>
        <p:nvSpPr>
          <p:cNvPr id="13" name="Text 11"/>
          <p:cNvSpPr/>
          <p:nvPr/>
        </p:nvSpPr>
        <p:spPr>
          <a:xfrm>
            <a:off x="6958584" y="1737360"/>
            <a:ext cx="2176272"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Indicative Annual (Est.)</a:t>
            </a:r>
            <a:endParaRPr lang="en-US" sz="1050" dirty="0"/>
          </a:p>
        </p:txBody>
      </p:sp>
      <p:sp>
        <p:nvSpPr>
          <p:cNvPr id="14" name="Shape 12"/>
          <p:cNvSpPr/>
          <p:nvPr/>
        </p:nvSpPr>
        <p:spPr>
          <a:xfrm>
            <a:off x="9189720" y="1737360"/>
            <a:ext cx="2468880" cy="365760"/>
          </a:xfrm>
          <a:prstGeom prst="rect">
            <a:avLst/>
          </a:prstGeom>
          <a:solidFill>
            <a:srgbClr val="1E2761"/>
          </a:solidFill>
          <a:ln w="6350">
            <a:solidFill>
              <a:srgbClr val="FFFFFF"/>
            </a:solidFill>
            <a:prstDash val="solid"/>
          </a:ln>
        </p:spPr>
      </p:sp>
      <p:sp>
        <p:nvSpPr>
          <p:cNvPr id="15" name="Text 13"/>
          <p:cNvSpPr/>
          <p:nvPr/>
        </p:nvSpPr>
        <p:spPr>
          <a:xfrm>
            <a:off x="9244584" y="1737360"/>
            <a:ext cx="2359152"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Watch-outs</a:t>
            </a:r>
            <a:endParaRPr lang="en-US" sz="1050" dirty="0"/>
          </a:p>
        </p:txBody>
      </p:sp>
      <p:sp>
        <p:nvSpPr>
          <p:cNvPr id="16" name="Shape 14"/>
          <p:cNvSpPr/>
          <p:nvPr/>
        </p:nvSpPr>
        <p:spPr>
          <a:xfrm>
            <a:off x="502920" y="2103120"/>
            <a:ext cx="2743200" cy="566928"/>
          </a:xfrm>
          <a:prstGeom prst="rect">
            <a:avLst/>
          </a:prstGeom>
          <a:solidFill>
            <a:srgbClr val="FFFFFF"/>
          </a:solidFill>
          <a:ln w="6350">
            <a:solidFill>
              <a:srgbClr val="DDE2E8"/>
            </a:solidFill>
            <a:prstDash val="solid"/>
          </a:ln>
        </p:spPr>
      </p:sp>
      <p:sp>
        <p:nvSpPr>
          <p:cNvPr id="17" name="Text 15"/>
          <p:cNvSpPr/>
          <p:nvPr/>
        </p:nvSpPr>
        <p:spPr>
          <a:xfrm>
            <a:off x="576072" y="2103120"/>
            <a:ext cx="2596896" cy="566928"/>
          </a:xfrm>
          <a:prstGeom prst="rect">
            <a:avLst/>
          </a:prstGeom>
          <a:noFill/>
          <a:ln/>
        </p:spPr>
        <p:txBody>
          <a:bodyPr wrap="square" rtlCol="0" anchor="ctr"/>
          <a:lstStyle/>
          <a:p>
            <a:pPr indent="0" marL="0">
              <a:lnSpc>
                <a:spcPct val="105000"/>
              </a:lnSpc>
              <a:buNone/>
            </a:pPr>
            <a:r>
              <a:rPr lang="en-US" sz="1000" b="1" dirty="0">
                <a:solidFill>
                  <a:srgbClr val="1E2761"/>
                </a:solidFill>
                <a:latin typeface="Calibri" pitchFamily="34" charset="0"/>
                <a:ea typeface="Calibri" pitchFamily="34" charset="-122"/>
                <a:cs typeface="Calibri" pitchFamily="34" charset="-120"/>
              </a:rPr>
              <a:t>Edwin AI (LogicMonitor)</a:t>
            </a:r>
            <a:endParaRPr lang="en-US" sz="1000" dirty="0"/>
          </a:p>
        </p:txBody>
      </p:sp>
      <p:sp>
        <p:nvSpPr>
          <p:cNvPr id="18" name="Shape 16"/>
          <p:cNvSpPr/>
          <p:nvPr/>
        </p:nvSpPr>
        <p:spPr>
          <a:xfrm>
            <a:off x="3246120" y="2103120"/>
            <a:ext cx="3657600" cy="566928"/>
          </a:xfrm>
          <a:prstGeom prst="rect">
            <a:avLst/>
          </a:prstGeom>
          <a:solidFill>
            <a:srgbClr val="FFFFFF"/>
          </a:solidFill>
          <a:ln w="6350">
            <a:solidFill>
              <a:srgbClr val="DDE2E8"/>
            </a:solidFill>
            <a:prstDash val="solid"/>
          </a:ln>
        </p:spPr>
      </p:sp>
      <p:sp>
        <p:nvSpPr>
          <p:cNvPr id="19" name="Text 17"/>
          <p:cNvSpPr/>
          <p:nvPr/>
        </p:nvSpPr>
        <p:spPr>
          <a:xfrm>
            <a:off x="3319272" y="2103120"/>
            <a:ext cx="3511296" cy="566928"/>
          </a:xfrm>
          <a:prstGeom prst="rect">
            <a:avLst/>
          </a:prstGeom>
          <a:noFill/>
          <a:ln/>
        </p:spPr>
        <p:txBody>
          <a:bodyPr wrap="square" rtlCol="0" anchor="ctr"/>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Per hybrid unit/mo (~$16 platform + ~$53 AI add-on)</a:t>
            </a:r>
            <a:endParaRPr lang="en-US" sz="1000" dirty="0"/>
          </a:p>
        </p:txBody>
      </p:sp>
      <p:sp>
        <p:nvSpPr>
          <p:cNvPr id="20" name="Shape 18"/>
          <p:cNvSpPr/>
          <p:nvPr/>
        </p:nvSpPr>
        <p:spPr>
          <a:xfrm>
            <a:off x="6903720" y="2103120"/>
            <a:ext cx="2286000" cy="566928"/>
          </a:xfrm>
          <a:prstGeom prst="rect">
            <a:avLst/>
          </a:prstGeom>
          <a:solidFill>
            <a:srgbClr val="FFFFFF"/>
          </a:solidFill>
          <a:ln w="6350">
            <a:solidFill>
              <a:srgbClr val="DDE2E8"/>
            </a:solidFill>
            <a:prstDash val="solid"/>
          </a:ln>
        </p:spPr>
      </p:sp>
      <p:sp>
        <p:nvSpPr>
          <p:cNvPr id="21" name="Text 19"/>
          <p:cNvSpPr/>
          <p:nvPr/>
        </p:nvSpPr>
        <p:spPr>
          <a:xfrm>
            <a:off x="6976872" y="2103120"/>
            <a:ext cx="2139696" cy="566928"/>
          </a:xfrm>
          <a:prstGeom prst="rect">
            <a:avLst/>
          </a:prstGeom>
          <a:noFill/>
          <a:ln/>
        </p:spPr>
        <p:txBody>
          <a:bodyPr wrap="square" rtlCol="0" anchor="ctr"/>
          <a:lstStyle/>
          <a:p>
            <a:pPr indent="0" marL="0">
              <a:lnSpc>
                <a:spcPct val="105000"/>
              </a:lnSpc>
              <a:buNone/>
            </a:pPr>
            <a:r>
              <a:rPr lang="en-US" sz="1000" b="1" dirty="0">
                <a:solidFill>
                  <a:srgbClr val="019879"/>
                </a:solidFill>
                <a:latin typeface="Calibri" pitchFamily="34" charset="0"/>
                <a:ea typeface="Calibri" pitchFamily="34" charset="-122"/>
                <a:cs typeface="Calibri" pitchFamily="34" charset="-120"/>
              </a:rPr>
              <a:t>$150K – $350K</a:t>
            </a:r>
            <a:endParaRPr lang="en-US" sz="1000" dirty="0"/>
          </a:p>
        </p:txBody>
      </p:sp>
      <p:sp>
        <p:nvSpPr>
          <p:cNvPr id="22" name="Shape 20"/>
          <p:cNvSpPr/>
          <p:nvPr/>
        </p:nvSpPr>
        <p:spPr>
          <a:xfrm>
            <a:off x="9189720" y="2103120"/>
            <a:ext cx="2468880" cy="566928"/>
          </a:xfrm>
          <a:prstGeom prst="rect">
            <a:avLst/>
          </a:prstGeom>
          <a:solidFill>
            <a:srgbClr val="FFFFFF"/>
          </a:solidFill>
          <a:ln w="6350">
            <a:solidFill>
              <a:srgbClr val="DDE2E8"/>
            </a:solidFill>
            <a:prstDash val="solid"/>
          </a:ln>
        </p:spPr>
      </p:sp>
      <p:sp>
        <p:nvSpPr>
          <p:cNvPr id="23" name="Text 21"/>
          <p:cNvSpPr/>
          <p:nvPr/>
        </p:nvSpPr>
        <p:spPr>
          <a:xfrm>
            <a:off x="9262872" y="2103120"/>
            <a:ext cx="2322576" cy="566928"/>
          </a:xfrm>
          <a:prstGeom prst="rect">
            <a:avLst/>
          </a:prstGeom>
          <a:noFill/>
          <a:ln/>
        </p:spPr>
        <p:txBody>
          <a:bodyPr wrap="square" rtlCol="0" anchor="ctr"/>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LM Envision pull-through; SaaS egress</a:t>
            </a:r>
            <a:endParaRPr lang="en-US" sz="1000" dirty="0"/>
          </a:p>
        </p:txBody>
      </p:sp>
      <p:sp>
        <p:nvSpPr>
          <p:cNvPr id="24" name="Shape 22"/>
          <p:cNvSpPr/>
          <p:nvPr/>
        </p:nvSpPr>
        <p:spPr>
          <a:xfrm>
            <a:off x="502920" y="2670048"/>
            <a:ext cx="2743200" cy="566928"/>
          </a:xfrm>
          <a:prstGeom prst="rect">
            <a:avLst/>
          </a:prstGeom>
          <a:solidFill>
            <a:srgbClr val="EEF1F4"/>
          </a:solidFill>
          <a:ln w="6350">
            <a:solidFill>
              <a:srgbClr val="DDE2E8"/>
            </a:solidFill>
            <a:prstDash val="solid"/>
          </a:ln>
        </p:spPr>
      </p:sp>
      <p:sp>
        <p:nvSpPr>
          <p:cNvPr id="25" name="Text 23"/>
          <p:cNvSpPr/>
          <p:nvPr/>
        </p:nvSpPr>
        <p:spPr>
          <a:xfrm>
            <a:off x="576072" y="2670048"/>
            <a:ext cx="2596896" cy="566928"/>
          </a:xfrm>
          <a:prstGeom prst="rect">
            <a:avLst/>
          </a:prstGeom>
          <a:noFill/>
          <a:ln/>
        </p:spPr>
        <p:txBody>
          <a:bodyPr wrap="square" rtlCol="0" anchor="ctr"/>
          <a:lstStyle/>
          <a:p>
            <a:pPr indent="0" marL="0">
              <a:lnSpc>
                <a:spcPct val="105000"/>
              </a:lnSpc>
              <a:buNone/>
            </a:pPr>
            <a:r>
              <a:rPr lang="en-US" sz="1000" b="1" dirty="0">
                <a:solidFill>
                  <a:srgbClr val="1E2761"/>
                </a:solidFill>
                <a:latin typeface="Calibri" pitchFamily="34" charset="0"/>
                <a:ea typeface="Calibri" pitchFamily="34" charset="-122"/>
                <a:cs typeface="Calibri" pitchFamily="34" charset="-120"/>
              </a:rPr>
              <a:t>Datadog</a:t>
            </a:r>
            <a:endParaRPr lang="en-US" sz="1000" dirty="0"/>
          </a:p>
        </p:txBody>
      </p:sp>
      <p:sp>
        <p:nvSpPr>
          <p:cNvPr id="26" name="Shape 24"/>
          <p:cNvSpPr/>
          <p:nvPr/>
        </p:nvSpPr>
        <p:spPr>
          <a:xfrm>
            <a:off x="3246120" y="2670048"/>
            <a:ext cx="3657600" cy="566928"/>
          </a:xfrm>
          <a:prstGeom prst="rect">
            <a:avLst/>
          </a:prstGeom>
          <a:solidFill>
            <a:srgbClr val="EEF1F4"/>
          </a:solidFill>
          <a:ln w="6350">
            <a:solidFill>
              <a:srgbClr val="DDE2E8"/>
            </a:solidFill>
            <a:prstDash val="solid"/>
          </a:ln>
        </p:spPr>
      </p:sp>
      <p:sp>
        <p:nvSpPr>
          <p:cNvPr id="27" name="Text 25"/>
          <p:cNvSpPr/>
          <p:nvPr/>
        </p:nvSpPr>
        <p:spPr>
          <a:xfrm>
            <a:off x="3319272" y="2670048"/>
            <a:ext cx="3511296" cy="566928"/>
          </a:xfrm>
          <a:prstGeom prst="rect">
            <a:avLst/>
          </a:prstGeom>
          <a:noFill/>
          <a:ln/>
        </p:spPr>
        <p:txBody>
          <a:bodyPr wrap="square" rtlCol="0" anchor="ctr"/>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Per host + per GB logs + AI credits (usage-based)</a:t>
            </a:r>
            <a:endParaRPr lang="en-US" sz="1000" dirty="0"/>
          </a:p>
        </p:txBody>
      </p:sp>
      <p:sp>
        <p:nvSpPr>
          <p:cNvPr id="28" name="Shape 26"/>
          <p:cNvSpPr/>
          <p:nvPr/>
        </p:nvSpPr>
        <p:spPr>
          <a:xfrm>
            <a:off x="6903720" y="2670048"/>
            <a:ext cx="2286000" cy="566928"/>
          </a:xfrm>
          <a:prstGeom prst="rect">
            <a:avLst/>
          </a:prstGeom>
          <a:solidFill>
            <a:srgbClr val="EEF1F4"/>
          </a:solidFill>
          <a:ln w="6350">
            <a:solidFill>
              <a:srgbClr val="DDE2E8"/>
            </a:solidFill>
            <a:prstDash val="solid"/>
          </a:ln>
        </p:spPr>
      </p:sp>
      <p:sp>
        <p:nvSpPr>
          <p:cNvPr id="29" name="Text 27"/>
          <p:cNvSpPr/>
          <p:nvPr/>
        </p:nvSpPr>
        <p:spPr>
          <a:xfrm>
            <a:off x="6976872" y="2670048"/>
            <a:ext cx="2139696" cy="566928"/>
          </a:xfrm>
          <a:prstGeom prst="rect">
            <a:avLst/>
          </a:prstGeom>
          <a:noFill/>
          <a:ln/>
        </p:spPr>
        <p:txBody>
          <a:bodyPr wrap="square" rtlCol="0" anchor="ctr"/>
          <a:lstStyle/>
          <a:p>
            <a:pPr indent="0" marL="0">
              <a:lnSpc>
                <a:spcPct val="105000"/>
              </a:lnSpc>
              <a:buNone/>
            </a:pPr>
            <a:r>
              <a:rPr lang="en-US" sz="1000" b="1" dirty="0">
                <a:solidFill>
                  <a:srgbClr val="019879"/>
                </a:solidFill>
                <a:latin typeface="Calibri" pitchFamily="34" charset="0"/>
                <a:ea typeface="Calibri" pitchFamily="34" charset="-122"/>
                <a:cs typeface="Calibri" pitchFamily="34" charset="-120"/>
              </a:rPr>
              <a:t>$400K – $1M+</a:t>
            </a:r>
            <a:endParaRPr lang="en-US" sz="1000" dirty="0"/>
          </a:p>
        </p:txBody>
      </p:sp>
      <p:sp>
        <p:nvSpPr>
          <p:cNvPr id="30" name="Shape 28"/>
          <p:cNvSpPr/>
          <p:nvPr/>
        </p:nvSpPr>
        <p:spPr>
          <a:xfrm>
            <a:off x="9189720" y="2670048"/>
            <a:ext cx="2468880" cy="566928"/>
          </a:xfrm>
          <a:prstGeom prst="rect">
            <a:avLst/>
          </a:prstGeom>
          <a:solidFill>
            <a:srgbClr val="EEF1F4"/>
          </a:solidFill>
          <a:ln w="6350">
            <a:solidFill>
              <a:srgbClr val="DDE2E8"/>
            </a:solidFill>
            <a:prstDash val="solid"/>
          </a:ln>
        </p:spPr>
      </p:sp>
      <p:sp>
        <p:nvSpPr>
          <p:cNvPr id="31" name="Text 29"/>
          <p:cNvSpPr/>
          <p:nvPr/>
        </p:nvSpPr>
        <p:spPr>
          <a:xfrm>
            <a:off x="9262872" y="2670048"/>
            <a:ext cx="2322576" cy="566928"/>
          </a:xfrm>
          <a:prstGeom prst="rect">
            <a:avLst/>
          </a:prstGeom>
          <a:noFill/>
          <a:ln/>
        </p:spPr>
        <p:txBody>
          <a:bodyPr wrap="square" rtlCol="0" anchor="ctr"/>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Log indexing at scale; AI credit overages</a:t>
            </a:r>
            <a:endParaRPr lang="en-US" sz="1000" dirty="0"/>
          </a:p>
        </p:txBody>
      </p:sp>
      <p:sp>
        <p:nvSpPr>
          <p:cNvPr id="32" name="Shape 30"/>
          <p:cNvSpPr/>
          <p:nvPr/>
        </p:nvSpPr>
        <p:spPr>
          <a:xfrm>
            <a:off x="502920" y="3236976"/>
            <a:ext cx="2743200" cy="566928"/>
          </a:xfrm>
          <a:prstGeom prst="rect">
            <a:avLst/>
          </a:prstGeom>
          <a:solidFill>
            <a:srgbClr val="FFFFFF"/>
          </a:solidFill>
          <a:ln w="6350">
            <a:solidFill>
              <a:srgbClr val="DDE2E8"/>
            </a:solidFill>
            <a:prstDash val="solid"/>
          </a:ln>
        </p:spPr>
      </p:sp>
      <p:sp>
        <p:nvSpPr>
          <p:cNvPr id="33" name="Text 31"/>
          <p:cNvSpPr/>
          <p:nvPr/>
        </p:nvSpPr>
        <p:spPr>
          <a:xfrm>
            <a:off x="576072" y="3236976"/>
            <a:ext cx="2596896" cy="566928"/>
          </a:xfrm>
          <a:prstGeom prst="rect">
            <a:avLst/>
          </a:prstGeom>
          <a:noFill/>
          <a:ln/>
        </p:spPr>
        <p:txBody>
          <a:bodyPr wrap="square" rtlCol="0" anchor="ctr"/>
          <a:lstStyle/>
          <a:p>
            <a:pPr indent="0" marL="0">
              <a:lnSpc>
                <a:spcPct val="105000"/>
              </a:lnSpc>
              <a:buNone/>
            </a:pPr>
            <a:r>
              <a:rPr lang="en-US" sz="1000" b="1" dirty="0">
                <a:solidFill>
                  <a:srgbClr val="1E2761"/>
                </a:solidFill>
                <a:latin typeface="Calibri" pitchFamily="34" charset="0"/>
                <a:ea typeface="Calibri" pitchFamily="34" charset="-122"/>
                <a:cs typeface="Calibri" pitchFamily="34" charset="-120"/>
              </a:rPr>
              <a:t>IBM Cloud Pak for AIOps</a:t>
            </a:r>
            <a:endParaRPr lang="en-US" sz="1000" dirty="0"/>
          </a:p>
        </p:txBody>
      </p:sp>
      <p:sp>
        <p:nvSpPr>
          <p:cNvPr id="34" name="Shape 32"/>
          <p:cNvSpPr/>
          <p:nvPr/>
        </p:nvSpPr>
        <p:spPr>
          <a:xfrm>
            <a:off x="3246120" y="3236976"/>
            <a:ext cx="3657600" cy="566928"/>
          </a:xfrm>
          <a:prstGeom prst="rect">
            <a:avLst/>
          </a:prstGeom>
          <a:solidFill>
            <a:srgbClr val="FFFFFF"/>
          </a:solidFill>
          <a:ln w="6350">
            <a:solidFill>
              <a:srgbClr val="DDE2E8"/>
            </a:solidFill>
            <a:prstDash val="solid"/>
          </a:ln>
        </p:spPr>
      </p:sp>
      <p:sp>
        <p:nvSpPr>
          <p:cNvPr id="35" name="Text 33"/>
          <p:cNvSpPr/>
          <p:nvPr/>
        </p:nvSpPr>
        <p:spPr>
          <a:xfrm>
            <a:off x="3319272" y="3236976"/>
            <a:ext cx="3511296" cy="566928"/>
          </a:xfrm>
          <a:prstGeom prst="rect">
            <a:avLst/>
          </a:prstGeom>
          <a:noFill/>
          <a:ln/>
        </p:spPr>
        <p:txBody>
          <a:bodyPr wrap="square" rtlCol="0" anchor="ctr"/>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Per managed resource; self-hosted</a:t>
            </a:r>
            <a:endParaRPr lang="en-US" sz="1000" dirty="0"/>
          </a:p>
        </p:txBody>
      </p:sp>
      <p:sp>
        <p:nvSpPr>
          <p:cNvPr id="36" name="Shape 34"/>
          <p:cNvSpPr/>
          <p:nvPr/>
        </p:nvSpPr>
        <p:spPr>
          <a:xfrm>
            <a:off x="6903720" y="3236976"/>
            <a:ext cx="2286000" cy="566928"/>
          </a:xfrm>
          <a:prstGeom prst="rect">
            <a:avLst/>
          </a:prstGeom>
          <a:solidFill>
            <a:srgbClr val="FFFFFF"/>
          </a:solidFill>
          <a:ln w="6350">
            <a:solidFill>
              <a:srgbClr val="DDE2E8"/>
            </a:solidFill>
            <a:prstDash val="solid"/>
          </a:ln>
        </p:spPr>
      </p:sp>
      <p:sp>
        <p:nvSpPr>
          <p:cNvPr id="37" name="Text 35"/>
          <p:cNvSpPr/>
          <p:nvPr/>
        </p:nvSpPr>
        <p:spPr>
          <a:xfrm>
            <a:off x="6976872" y="3236976"/>
            <a:ext cx="2139696" cy="566928"/>
          </a:xfrm>
          <a:prstGeom prst="rect">
            <a:avLst/>
          </a:prstGeom>
          <a:noFill/>
          <a:ln/>
        </p:spPr>
        <p:txBody>
          <a:bodyPr wrap="square" rtlCol="0" anchor="ctr"/>
          <a:lstStyle/>
          <a:p>
            <a:pPr indent="0" marL="0">
              <a:lnSpc>
                <a:spcPct val="105000"/>
              </a:lnSpc>
              <a:buNone/>
            </a:pPr>
            <a:r>
              <a:rPr lang="en-US" sz="1000" b="1" dirty="0">
                <a:solidFill>
                  <a:srgbClr val="019879"/>
                </a:solidFill>
                <a:latin typeface="Calibri" pitchFamily="34" charset="0"/>
                <a:ea typeface="Calibri" pitchFamily="34" charset="-122"/>
                <a:cs typeface="Calibri" pitchFamily="34" charset="-120"/>
              </a:rPr>
              <a:t>$500K – $1M+ (yr 1)</a:t>
            </a:r>
            <a:endParaRPr lang="en-US" sz="1000" dirty="0"/>
          </a:p>
        </p:txBody>
      </p:sp>
      <p:sp>
        <p:nvSpPr>
          <p:cNvPr id="38" name="Shape 36"/>
          <p:cNvSpPr/>
          <p:nvPr/>
        </p:nvSpPr>
        <p:spPr>
          <a:xfrm>
            <a:off x="9189720" y="3236976"/>
            <a:ext cx="2468880" cy="566928"/>
          </a:xfrm>
          <a:prstGeom prst="rect">
            <a:avLst/>
          </a:prstGeom>
          <a:solidFill>
            <a:srgbClr val="FFFFFF"/>
          </a:solidFill>
          <a:ln w="6350">
            <a:solidFill>
              <a:srgbClr val="DDE2E8"/>
            </a:solidFill>
            <a:prstDash val="solid"/>
          </a:ln>
        </p:spPr>
      </p:sp>
      <p:sp>
        <p:nvSpPr>
          <p:cNvPr id="39" name="Text 37"/>
          <p:cNvSpPr/>
          <p:nvPr/>
        </p:nvSpPr>
        <p:spPr>
          <a:xfrm>
            <a:off x="9262872" y="3236976"/>
            <a:ext cx="2322576" cy="566928"/>
          </a:xfrm>
          <a:prstGeom prst="rect">
            <a:avLst/>
          </a:prstGeom>
          <a:noFill/>
          <a:ln/>
        </p:spPr>
        <p:txBody>
          <a:bodyPr wrap="square" rtlCol="0" anchor="ctr"/>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OpenShift infra &amp; ops; professional services</a:t>
            </a:r>
            <a:endParaRPr lang="en-US" sz="1000" dirty="0"/>
          </a:p>
        </p:txBody>
      </p:sp>
      <p:sp>
        <p:nvSpPr>
          <p:cNvPr id="40" name="Shape 38"/>
          <p:cNvSpPr/>
          <p:nvPr/>
        </p:nvSpPr>
        <p:spPr>
          <a:xfrm>
            <a:off x="502920" y="3803904"/>
            <a:ext cx="2743200" cy="566928"/>
          </a:xfrm>
          <a:prstGeom prst="rect">
            <a:avLst/>
          </a:prstGeom>
          <a:solidFill>
            <a:srgbClr val="EEF1F4"/>
          </a:solidFill>
          <a:ln w="6350">
            <a:solidFill>
              <a:srgbClr val="DDE2E8"/>
            </a:solidFill>
            <a:prstDash val="solid"/>
          </a:ln>
        </p:spPr>
      </p:sp>
      <p:sp>
        <p:nvSpPr>
          <p:cNvPr id="41" name="Text 39"/>
          <p:cNvSpPr/>
          <p:nvPr/>
        </p:nvSpPr>
        <p:spPr>
          <a:xfrm>
            <a:off x="576072" y="3803904"/>
            <a:ext cx="2596896" cy="566928"/>
          </a:xfrm>
          <a:prstGeom prst="rect">
            <a:avLst/>
          </a:prstGeom>
          <a:noFill/>
          <a:ln/>
        </p:spPr>
        <p:txBody>
          <a:bodyPr wrap="square" rtlCol="0" anchor="ctr"/>
          <a:lstStyle/>
          <a:p>
            <a:pPr indent="0" marL="0">
              <a:lnSpc>
                <a:spcPct val="105000"/>
              </a:lnSpc>
              <a:buNone/>
            </a:pPr>
            <a:r>
              <a:rPr lang="en-US" sz="1000" b="1" dirty="0">
                <a:solidFill>
                  <a:srgbClr val="1E2761"/>
                </a:solidFill>
                <a:latin typeface="Calibri" pitchFamily="34" charset="0"/>
                <a:ea typeface="Calibri" pitchFamily="34" charset="-122"/>
                <a:cs typeface="Calibri" pitchFamily="34" charset="-120"/>
              </a:rPr>
              <a:t>Azure Copilot + Obs. Suite</a:t>
            </a:r>
            <a:endParaRPr lang="en-US" sz="1000" dirty="0"/>
          </a:p>
        </p:txBody>
      </p:sp>
      <p:sp>
        <p:nvSpPr>
          <p:cNvPr id="42" name="Shape 40"/>
          <p:cNvSpPr/>
          <p:nvPr/>
        </p:nvSpPr>
        <p:spPr>
          <a:xfrm>
            <a:off x="3246120" y="3803904"/>
            <a:ext cx="3657600" cy="566928"/>
          </a:xfrm>
          <a:prstGeom prst="rect">
            <a:avLst/>
          </a:prstGeom>
          <a:solidFill>
            <a:srgbClr val="EEF1F4"/>
          </a:solidFill>
          <a:ln w="6350">
            <a:solidFill>
              <a:srgbClr val="DDE2E8"/>
            </a:solidFill>
            <a:prstDash val="solid"/>
          </a:ln>
        </p:spPr>
      </p:sp>
      <p:sp>
        <p:nvSpPr>
          <p:cNvPr id="43" name="Text 41"/>
          <p:cNvSpPr/>
          <p:nvPr/>
        </p:nvSpPr>
        <p:spPr>
          <a:xfrm>
            <a:off x="3319272" y="3803904"/>
            <a:ext cx="3511296" cy="566928"/>
          </a:xfrm>
          <a:prstGeom prst="rect">
            <a:avLst/>
          </a:prstGeom>
          <a:noFill/>
          <a:ln/>
        </p:spPr>
        <p:txBody>
          <a:bodyPr wrap="square" rtlCol="0" anchor="ctr"/>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Consumption (Azure Agent Credits) + log ingest</a:t>
            </a:r>
            <a:endParaRPr lang="en-US" sz="1000" dirty="0"/>
          </a:p>
        </p:txBody>
      </p:sp>
      <p:sp>
        <p:nvSpPr>
          <p:cNvPr id="44" name="Shape 42"/>
          <p:cNvSpPr/>
          <p:nvPr/>
        </p:nvSpPr>
        <p:spPr>
          <a:xfrm>
            <a:off x="6903720" y="3803904"/>
            <a:ext cx="2286000" cy="566928"/>
          </a:xfrm>
          <a:prstGeom prst="rect">
            <a:avLst/>
          </a:prstGeom>
          <a:solidFill>
            <a:srgbClr val="EEF1F4"/>
          </a:solidFill>
          <a:ln w="6350">
            <a:solidFill>
              <a:srgbClr val="DDE2E8"/>
            </a:solidFill>
            <a:prstDash val="solid"/>
          </a:ln>
        </p:spPr>
      </p:sp>
      <p:sp>
        <p:nvSpPr>
          <p:cNvPr id="45" name="Text 43"/>
          <p:cNvSpPr/>
          <p:nvPr/>
        </p:nvSpPr>
        <p:spPr>
          <a:xfrm>
            <a:off x="6976872" y="3803904"/>
            <a:ext cx="2139696" cy="566928"/>
          </a:xfrm>
          <a:prstGeom prst="rect">
            <a:avLst/>
          </a:prstGeom>
          <a:noFill/>
          <a:ln/>
        </p:spPr>
        <p:txBody>
          <a:bodyPr wrap="square" rtlCol="0" anchor="ctr"/>
          <a:lstStyle/>
          <a:p>
            <a:pPr indent="0" marL="0">
              <a:lnSpc>
                <a:spcPct val="105000"/>
              </a:lnSpc>
              <a:buNone/>
            </a:pPr>
            <a:r>
              <a:rPr lang="en-US" sz="1000" b="1" dirty="0">
                <a:solidFill>
                  <a:srgbClr val="019879"/>
                </a:solidFill>
                <a:latin typeface="Calibri" pitchFamily="34" charset="0"/>
                <a:ea typeface="Calibri" pitchFamily="34" charset="-122"/>
                <a:cs typeface="Calibri" pitchFamily="34" charset="-120"/>
              </a:rPr>
              <a:t>$260K – $760K</a:t>
            </a:r>
            <a:endParaRPr lang="en-US" sz="1000" dirty="0"/>
          </a:p>
        </p:txBody>
      </p:sp>
      <p:sp>
        <p:nvSpPr>
          <p:cNvPr id="46" name="Shape 44"/>
          <p:cNvSpPr/>
          <p:nvPr/>
        </p:nvSpPr>
        <p:spPr>
          <a:xfrm>
            <a:off x="9189720" y="3803904"/>
            <a:ext cx="2468880" cy="566928"/>
          </a:xfrm>
          <a:prstGeom prst="rect">
            <a:avLst/>
          </a:prstGeom>
          <a:solidFill>
            <a:srgbClr val="EEF1F4"/>
          </a:solidFill>
          <a:ln w="6350">
            <a:solidFill>
              <a:srgbClr val="DDE2E8"/>
            </a:solidFill>
            <a:prstDash val="solid"/>
          </a:ln>
        </p:spPr>
      </p:sp>
      <p:sp>
        <p:nvSpPr>
          <p:cNvPr id="47" name="Text 45"/>
          <p:cNvSpPr/>
          <p:nvPr/>
        </p:nvSpPr>
        <p:spPr>
          <a:xfrm>
            <a:off x="9262872" y="3803904"/>
            <a:ext cx="2322576" cy="566928"/>
          </a:xfrm>
          <a:prstGeom prst="rect">
            <a:avLst/>
          </a:prstGeom>
          <a:noFill/>
          <a:ln/>
        </p:spPr>
        <p:txBody>
          <a:bodyPr wrap="square" rtlCol="0" anchor="ctr"/>
          <a:lstStyle/>
          <a:p>
            <a:pPr indent="0" marL="0">
              <a:lnSpc>
                <a:spcPct val="105000"/>
              </a:lnSpc>
              <a:buNone/>
            </a:pPr>
            <a:r>
              <a:rPr lang="en-US" sz="1000" dirty="0">
                <a:solidFill>
                  <a:srgbClr val="232B3A"/>
                </a:solidFill>
                <a:latin typeface="Calibri" pitchFamily="34" charset="0"/>
                <a:ea typeface="Calibri" pitchFamily="34" charset="-122"/>
                <a:cs typeface="Calibri" pitchFamily="34" charset="-120"/>
              </a:rPr>
              <a:t>Unpredictable AAC burn; log tiering discipline</a:t>
            </a:r>
            <a:endParaRPr lang="en-US" sz="1000" dirty="0"/>
          </a:p>
        </p:txBody>
      </p:sp>
      <p:sp>
        <p:nvSpPr>
          <p:cNvPr id="48" name="Text 46"/>
          <p:cNvSpPr/>
          <p:nvPr/>
        </p:nvSpPr>
        <p:spPr>
          <a:xfrm>
            <a:off x="502920" y="4535424"/>
            <a:ext cx="11155680" cy="502920"/>
          </a:xfrm>
          <a:prstGeom prst="rect">
            <a:avLst/>
          </a:prstGeom>
          <a:noFill/>
          <a:ln/>
        </p:spPr>
        <p:txBody>
          <a:bodyPr wrap="square" rtlCol="0" anchor="ctr"/>
          <a:lstStyle/>
          <a:p>
            <a:pPr indent="0" marL="0">
              <a:buNone/>
            </a:pPr>
            <a:r>
              <a:rPr lang="en-US" sz="1000" i="1" dirty="0">
                <a:solidFill>
                  <a:srgbClr val="6B7684"/>
                </a:solidFill>
                <a:latin typeface="Calibri" pitchFamily="34" charset="0"/>
                <a:ea typeface="Calibri" pitchFamily="34" charset="-122"/>
                <a:cs typeface="Calibri" pitchFamily="34" charset="-120"/>
              </a:rPr>
              <a:t>Directional list-price estimates for scoping only — negotiated enterprise pricing typically lands 20–40% lower. Common hidden costs across all candidates: data egress, ITSM integration effort, staff training, and connector maintenance.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AI PLATFORM EVALUATION</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Architectural Suitability Scorecard (Weighted, 1–5 Scale)</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4 · PLATFORM EVALUATION</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19 / 33</a:t>
            </a:r>
            <a:endParaRPr lang="en-US" sz="850" dirty="0"/>
          </a:p>
        </p:txBody>
      </p:sp>
      <p:sp>
        <p:nvSpPr>
          <p:cNvPr id="7" name="Shape 5"/>
          <p:cNvSpPr/>
          <p:nvPr/>
        </p:nvSpPr>
        <p:spPr>
          <a:xfrm>
            <a:off x="502920" y="1737360"/>
            <a:ext cx="3749040" cy="384048"/>
          </a:xfrm>
          <a:prstGeom prst="rect">
            <a:avLst/>
          </a:prstGeom>
          <a:solidFill>
            <a:srgbClr val="1E2761"/>
          </a:solidFill>
          <a:ln w="6350">
            <a:solidFill>
              <a:srgbClr val="FFFFFF"/>
            </a:solidFill>
            <a:prstDash val="solid"/>
          </a:ln>
        </p:spPr>
      </p:sp>
      <p:sp>
        <p:nvSpPr>
          <p:cNvPr id="8" name="Text 6"/>
          <p:cNvSpPr/>
          <p:nvPr/>
        </p:nvSpPr>
        <p:spPr>
          <a:xfrm>
            <a:off x="557784" y="1737360"/>
            <a:ext cx="3639312" cy="384048"/>
          </a:xfrm>
          <a:prstGeom prst="rect">
            <a:avLst/>
          </a:prstGeom>
          <a:noFill/>
          <a:ln/>
        </p:spPr>
        <p:txBody>
          <a:bodyPr wrap="square"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Criterion</a:t>
            </a:r>
            <a:endParaRPr lang="en-US" sz="1050" dirty="0"/>
          </a:p>
        </p:txBody>
      </p:sp>
      <p:sp>
        <p:nvSpPr>
          <p:cNvPr id="9" name="Shape 7"/>
          <p:cNvSpPr/>
          <p:nvPr/>
        </p:nvSpPr>
        <p:spPr>
          <a:xfrm>
            <a:off x="4251960" y="1737360"/>
            <a:ext cx="1856232" cy="384048"/>
          </a:xfrm>
          <a:prstGeom prst="rect">
            <a:avLst/>
          </a:prstGeom>
          <a:solidFill>
            <a:srgbClr val="1E2761"/>
          </a:solidFill>
          <a:ln w="6350">
            <a:solidFill>
              <a:srgbClr val="FFFFFF"/>
            </a:solidFill>
            <a:prstDash val="solid"/>
          </a:ln>
        </p:spPr>
      </p:sp>
      <p:sp>
        <p:nvSpPr>
          <p:cNvPr id="10" name="Text 8"/>
          <p:cNvSpPr/>
          <p:nvPr/>
        </p:nvSpPr>
        <p:spPr>
          <a:xfrm>
            <a:off x="4306824" y="1737360"/>
            <a:ext cx="1746504"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Edwin AI</a:t>
            </a:r>
            <a:endParaRPr lang="en-US" sz="1050" dirty="0"/>
          </a:p>
        </p:txBody>
      </p:sp>
      <p:sp>
        <p:nvSpPr>
          <p:cNvPr id="11" name="Shape 9"/>
          <p:cNvSpPr/>
          <p:nvPr/>
        </p:nvSpPr>
        <p:spPr>
          <a:xfrm>
            <a:off x="6108192" y="1737360"/>
            <a:ext cx="1856232" cy="384048"/>
          </a:xfrm>
          <a:prstGeom prst="rect">
            <a:avLst/>
          </a:prstGeom>
          <a:solidFill>
            <a:srgbClr val="1E2761"/>
          </a:solidFill>
          <a:ln w="6350">
            <a:solidFill>
              <a:srgbClr val="FFFFFF"/>
            </a:solidFill>
            <a:prstDash val="solid"/>
          </a:ln>
        </p:spPr>
      </p:sp>
      <p:sp>
        <p:nvSpPr>
          <p:cNvPr id="12" name="Text 10"/>
          <p:cNvSpPr/>
          <p:nvPr/>
        </p:nvSpPr>
        <p:spPr>
          <a:xfrm>
            <a:off x="6163056" y="1737360"/>
            <a:ext cx="1746504"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Datadog</a:t>
            </a:r>
            <a:endParaRPr lang="en-US" sz="1050" dirty="0"/>
          </a:p>
        </p:txBody>
      </p:sp>
      <p:sp>
        <p:nvSpPr>
          <p:cNvPr id="13" name="Shape 11"/>
          <p:cNvSpPr/>
          <p:nvPr/>
        </p:nvSpPr>
        <p:spPr>
          <a:xfrm>
            <a:off x="7964424" y="1737360"/>
            <a:ext cx="1856232" cy="384048"/>
          </a:xfrm>
          <a:prstGeom prst="rect">
            <a:avLst/>
          </a:prstGeom>
          <a:solidFill>
            <a:srgbClr val="1E2761"/>
          </a:solidFill>
          <a:ln w="6350">
            <a:solidFill>
              <a:srgbClr val="FFFFFF"/>
            </a:solidFill>
            <a:prstDash val="solid"/>
          </a:ln>
        </p:spPr>
      </p:sp>
      <p:sp>
        <p:nvSpPr>
          <p:cNvPr id="14" name="Text 12"/>
          <p:cNvSpPr/>
          <p:nvPr/>
        </p:nvSpPr>
        <p:spPr>
          <a:xfrm>
            <a:off x="8019288" y="1737360"/>
            <a:ext cx="1746504"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IBM Cloud Pak</a:t>
            </a:r>
            <a:endParaRPr lang="en-US" sz="1050" dirty="0"/>
          </a:p>
        </p:txBody>
      </p:sp>
      <p:sp>
        <p:nvSpPr>
          <p:cNvPr id="15" name="Shape 13"/>
          <p:cNvSpPr/>
          <p:nvPr/>
        </p:nvSpPr>
        <p:spPr>
          <a:xfrm>
            <a:off x="9820656" y="1737360"/>
            <a:ext cx="1856232" cy="384048"/>
          </a:xfrm>
          <a:prstGeom prst="rect">
            <a:avLst/>
          </a:prstGeom>
          <a:solidFill>
            <a:srgbClr val="1E2761"/>
          </a:solidFill>
          <a:ln w="6350">
            <a:solidFill>
              <a:srgbClr val="FFFFFF"/>
            </a:solidFill>
            <a:prstDash val="solid"/>
          </a:ln>
        </p:spPr>
      </p:sp>
      <p:sp>
        <p:nvSpPr>
          <p:cNvPr id="16" name="Text 14"/>
          <p:cNvSpPr/>
          <p:nvPr/>
        </p:nvSpPr>
        <p:spPr>
          <a:xfrm>
            <a:off x="9875520" y="1737360"/>
            <a:ext cx="1746504"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Azure-Native</a:t>
            </a:r>
            <a:endParaRPr lang="en-US" sz="1050" dirty="0"/>
          </a:p>
        </p:txBody>
      </p:sp>
      <p:sp>
        <p:nvSpPr>
          <p:cNvPr id="17" name="Shape 15"/>
          <p:cNvSpPr/>
          <p:nvPr/>
        </p:nvSpPr>
        <p:spPr>
          <a:xfrm>
            <a:off x="502920" y="2121408"/>
            <a:ext cx="3749040" cy="457200"/>
          </a:xfrm>
          <a:prstGeom prst="rect">
            <a:avLst/>
          </a:prstGeom>
          <a:solidFill>
            <a:srgbClr val="FFFFFF"/>
          </a:solidFill>
          <a:ln w="6350">
            <a:solidFill>
              <a:srgbClr val="DDE2E8"/>
            </a:solidFill>
            <a:prstDash val="solid"/>
          </a:ln>
        </p:spPr>
      </p:sp>
      <p:sp>
        <p:nvSpPr>
          <p:cNvPr id="18" name="Text 16"/>
          <p:cNvSpPr/>
          <p:nvPr/>
        </p:nvSpPr>
        <p:spPr>
          <a:xfrm>
            <a:off x="576072" y="2121408"/>
            <a:ext cx="3602736" cy="457200"/>
          </a:xfrm>
          <a:prstGeom prst="rect">
            <a:avLst/>
          </a:prstGeom>
          <a:noFill/>
          <a:ln/>
        </p:spPr>
        <p:txBody>
          <a:bodyPr wrap="square" rtlCol="0" anchor="ctr"/>
          <a:lstStyle/>
          <a:p>
            <a:pPr indent="0" marL="0">
              <a:buNone/>
            </a:pPr>
            <a:r>
              <a:rPr lang="en-US" sz="1050" dirty="0">
                <a:solidFill>
                  <a:srgbClr val="232B3A"/>
                </a:solidFill>
                <a:latin typeface="Calibri" pitchFamily="34" charset="0"/>
                <a:ea typeface="Calibri" pitchFamily="34" charset="-122"/>
                <a:cs typeface="Calibri" pitchFamily="34" charset="-120"/>
              </a:rPr>
              <a:t>Integration breadth (our tools)</a:t>
            </a:r>
            <a:endParaRPr lang="en-US" sz="1050" dirty="0"/>
          </a:p>
        </p:txBody>
      </p:sp>
      <p:sp>
        <p:nvSpPr>
          <p:cNvPr id="19" name="Shape 17"/>
          <p:cNvSpPr/>
          <p:nvPr/>
        </p:nvSpPr>
        <p:spPr>
          <a:xfrm>
            <a:off x="4251960" y="2121408"/>
            <a:ext cx="1856232" cy="457200"/>
          </a:xfrm>
          <a:prstGeom prst="rect">
            <a:avLst/>
          </a:prstGeom>
          <a:solidFill>
            <a:srgbClr val="FFFFFF"/>
          </a:solidFill>
          <a:ln w="6350">
            <a:solidFill>
              <a:srgbClr val="DDE2E8"/>
            </a:solidFill>
            <a:prstDash val="solid"/>
          </a:ln>
        </p:spPr>
      </p:sp>
      <p:sp>
        <p:nvSpPr>
          <p:cNvPr id="20" name="Text 18"/>
          <p:cNvSpPr/>
          <p:nvPr/>
        </p:nvSpPr>
        <p:spPr>
          <a:xfrm>
            <a:off x="4251960" y="2121408"/>
            <a:ext cx="1856232" cy="457200"/>
          </a:xfrm>
          <a:prstGeom prst="rect">
            <a:avLst/>
          </a:prstGeom>
          <a:noFill/>
          <a:ln/>
        </p:spPr>
        <p:txBody>
          <a:bodyPr wrap="square" rtlCol="0" anchor="ctr"/>
          <a:lstStyle/>
          <a:p>
            <a:pPr algn="ctr" indent="0" marL="0">
              <a:buNone/>
            </a:pPr>
            <a:r>
              <a:rPr lang="en-US" sz="1300" b="1" dirty="0">
                <a:solidFill>
                  <a:srgbClr val="019879"/>
                </a:solidFill>
                <a:latin typeface="Cambria" pitchFamily="34" charset="0"/>
                <a:ea typeface="Cambria" pitchFamily="34" charset="-122"/>
                <a:cs typeface="Cambria" pitchFamily="34" charset="-120"/>
              </a:rPr>
              <a:t>5</a:t>
            </a:r>
            <a:endParaRPr lang="en-US" sz="1300" dirty="0"/>
          </a:p>
        </p:txBody>
      </p:sp>
      <p:sp>
        <p:nvSpPr>
          <p:cNvPr id="21" name="Shape 19"/>
          <p:cNvSpPr/>
          <p:nvPr/>
        </p:nvSpPr>
        <p:spPr>
          <a:xfrm>
            <a:off x="6108192" y="2121408"/>
            <a:ext cx="1856232" cy="457200"/>
          </a:xfrm>
          <a:prstGeom prst="rect">
            <a:avLst/>
          </a:prstGeom>
          <a:solidFill>
            <a:srgbClr val="FFFFFF"/>
          </a:solidFill>
          <a:ln w="6350">
            <a:solidFill>
              <a:srgbClr val="DDE2E8"/>
            </a:solidFill>
            <a:prstDash val="solid"/>
          </a:ln>
        </p:spPr>
      </p:sp>
      <p:sp>
        <p:nvSpPr>
          <p:cNvPr id="22" name="Text 20"/>
          <p:cNvSpPr/>
          <p:nvPr/>
        </p:nvSpPr>
        <p:spPr>
          <a:xfrm>
            <a:off x="6108192" y="2121408"/>
            <a:ext cx="1856232" cy="457200"/>
          </a:xfrm>
          <a:prstGeom prst="rect">
            <a:avLst/>
          </a:prstGeom>
          <a:noFill/>
          <a:ln/>
        </p:spPr>
        <p:txBody>
          <a:bodyPr wrap="square" rtlCol="0" anchor="ctr"/>
          <a:lstStyle/>
          <a:p>
            <a:pPr algn="ctr" indent="0" marL="0">
              <a:buNone/>
            </a:pPr>
            <a:r>
              <a:rPr lang="en-US" sz="1300" b="1" dirty="0">
                <a:solidFill>
                  <a:srgbClr val="232B3A"/>
                </a:solidFill>
                <a:latin typeface="Cambria" pitchFamily="34" charset="0"/>
                <a:ea typeface="Cambria" pitchFamily="34" charset="-122"/>
                <a:cs typeface="Cambria" pitchFamily="34" charset="-120"/>
              </a:rPr>
              <a:t>3</a:t>
            </a:r>
            <a:endParaRPr lang="en-US" sz="1300" dirty="0"/>
          </a:p>
        </p:txBody>
      </p:sp>
      <p:sp>
        <p:nvSpPr>
          <p:cNvPr id="23" name="Shape 21"/>
          <p:cNvSpPr/>
          <p:nvPr/>
        </p:nvSpPr>
        <p:spPr>
          <a:xfrm>
            <a:off x="7964424" y="2121408"/>
            <a:ext cx="1856232" cy="457200"/>
          </a:xfrm>
          <a:prstGeom prst="rect">
            <a:avLst/>
          </a:prstGeom>
          <a:solidFill>
            <a:srgbClr val="FFFFFF"/>
          </a:solidFill>
          <a:ln w="6350">
            <a:solidFill>
              <a:srgbClr val="DDE2E8"/>
            </a:solidFill>
            <a:prstDash val="solid"/>
          </a:ln>
        </p:spPr>
      </p:sp>
      <p:sp>
        <p:nvSpPr>
          <p:cNvPr id="24" name="Text 22"/>
          <p:cNvSpPr/>
          <p:nvPr/>
        </p:nvSpPr>
        <p:spPr>
          <a:xfrm>
            <a:off x="7964424" y="2121408"/>
            <a:ext cx="1856232" cy="457200"/>
          </a:xfrm>
          <a:prstGeom prst="rect">
            <a:avLst/>
          </a:prstGeom>
          <a:noFill/>
          <a:ln/>
        </p:spPr>
        <p:txBody>
          <a:bodyPr wrap="square" rtlCol="0" anchor="ctr"/>
          <a:lstStyle/>
          <a:p>
            <a:pPr algn="ctr" indent="0" marL="0">
              <a:buNone/>
            </a:pPr>
            <a:r>
              <a:rPr lang="en-US" sz="1300" b="1" dirty="0">
                <a:solidFill>
                  <a:srgbClr val="019879"/>
                </a:solidFill>
                <a:latin typeface="Cambria" pitchFamily="34" charset="0"/>
                <a:ea typeface="Cambria" pitchFamily="34" charset="-122"/>
                <a:cs typeface="Cambria" pitchFamily="34" charset="-120"/>
              </a:rPr>
              <a:t>5</a:t>
            </a:r>
            <a:endParaRPr lang="en-US" sz="1300" dirty="0"/>
          </a:p>
        </p:txBody>
      </p:sp>
      <p:sp>
        <p:nvSpPr>
          <p:cNvPr id="25" name="Shape 23"/>
          <p:cNvSpPr/>
          <p:nvPr/>
        </p:nvSpPr>
        <p:spPr>
          <a:xfrm>
            <a:off x="9820656" y="2121408"/>
            <a:ext cx="1856232" cy="457200"/>
          </a:xfrm>
          <a:prstGeom prst="rect">
            <a:avLst/>
          </a:prstGeom>
          <a:solidFill>
            <a:srgbClr val="FFFFFF"/>
          </a:solidFill>
          <a:ln w="6350">
            <a:solidFill>
              <a:srgbClr val="DDE2E8"/>
            </a:solidFill>
            <a:prstDash val="solid"/>
          </a:ln>
        </p:spPr>
      </p:sp>
      <p:sp>
        <p:nvSpPr>
          <p:cNvPr id="26" name="Text 24"/>
          <p:cNvSpPr/>
          <p:nvPr/>
        </p:nvSpPr>
        <p:spPr>
          <a:xfrm>
            <a:off x="9820656" y="2121408"/>
            <a:ext cx="1856232" cy="457200"/>
          </a:xfrm>
          <a:prstGeom prst="rect">
            <a:avLst/>
          </a:prstGeom>
          <a:noFill/>
          <a:ln/>
        </p:spPr>
        <p:txBody>
          <a:bodyPr wrap="square" rtlCol="0" anchor="ctr"/>
          <a:lstStyle/>
          <a:p>
            <a:pPr algn="ctr" indent="0" marL="0">
              <a:buNone/>
            </a:pPr>
            <a:r>
              <a:rPr lang="en-US" sz="1300" b="1" dirty="0">
                <a:solidFill>
                  <a:srgbClr val="C0392B"/>
                </a:solidFill>
                <a:latin typeface="Cambria" pitchFamily="34" charset="0"/>
                <a:ea typeface="Cambria" pitchFamily="34" charset="-122"/>
                <a:cs typeface="Cambria" pitchFamily="34" charset="-120"/>
              </a:rPr>
              <a:t>2</a:t>
            </a:r>
            <a:endParaRPr lang="en-US" sz="1300" dirty="0"/>
          </a:p>
        </p:txBody>
      </p:sp>
      <p:sp>
        <p:nvSpPr>
          <p:cNvPr id="27" name="Shape 25"/>
          <p:cNvSpPr/>
          <p:nvPr/>
        </p:nvSpPr>
        <p:spPr>
          <a:xfrm>
            <a:off x="502920" y="2578608"/>
            <a:ext cx="3749040" cy="457200"/>
          </a:xfrm>
          <a:prstGeom prst="rect">
            <a:avLst/>
          </a:prstGeom>
          <a:solidFill>
            <a:srgbClr val="EEF1F4"/>
          </a:solidFill>
          <a:ln w="6350">
            <a:solidFill>
              <a:srgbClr val="DDE2E8"/>
            </a:solidFill>
            <a:prstDash val="solid"/>
          </a:ln>
        </p:spPr>
      </p:sp>
      <p:sp>
        <p:nvSpPr>
          <p:cNvPr id="28" name="Text 26"/>
          <p:cNvSpPr/>
          <p:nvPr/>
        </p:nvSpPr>
        <p:spPr>
          <a:xfrm>
            <a:off x="576072" y="2578608"/>
            <a:ext cx="3602736" cy="457200"/>
          </a:xfrm>
          <a:prstGeom prst="rect">
            <a:avLst/>
          </a:prstGeom>
          <a:noFill/>
          <a:ln/>
        </p:spPr>
        <p:txBody>
          <a:bodyPr wrap="square" rtlCol="0" anchor="ctr"/>
          <a:lstStyle/>
          <a:p>
            <a:pPr indent="0" marL="0">
              <a:buNone/>
            </a:pPr>
            <a:r>
              <a:rPr lang="en-US" sz="1050" dirty="0">
                <a:solidFill>
                  <a:srgbClr val="232B3A"/>
                </a:solidFill>
                <a:latin typeface="Calibri" pitchFamily="34" charset="0"/>
                <a:ea typeface="Calibri" pitchFamily="34" charset="-122"/>
                <a:cs typeface="Calibri" pitchFamily="34" charset="-120"/>
              </a:rPr>
              <a:t>On-prem / data-sovereignty support</a:t>
            </a:r>
            <a:endParaRPr lang="en-US" sz="1050" dirty="0"/>
          </a:p>
        </p:txBody>
      </p:sp>
      <p:sp>
        <p:nvSpPr>
          <p:cNvPr id="29" name="Shape 27"/>
          <p:cNvSpPr/>
          <p:nvPr/>
        </p:nvSpPr>
        <p:spPr>
          <a:xfrm>
            <a:off x="4251960" y="2578608"/>
            <a:ext cx="1856232" cy="457200"/>
          </a:xfrm>
          <a:prstGeom prst="rect">
            <a:avLst/>
          </a:prstGeom>
          <a:solidFill>
            <a:srgbClr val="EEF1F4"/>
          </a:solidFill>
          <a:ln w="6350">
            <a:solidFill>
              <a:srgbClr val="DDE2E8"/>
            </a:solidFill>
            <a:prstDash val="solid"/>
          </a:ln>
        </p:spPr>
      </p:sp>
      <p:sp>
        <p:nvSpPr>
          <p:cNvPr id="30" name="Text 28"/>
          <p:cNvSpPr/>
          <p:nvPr/>
        </p:nvSpPr>
        <p:spPr>
          <a:xfrm>
            <a:off x="4251960" y="2578608"/>
            <a:ext cx="1856232" cy="457200"/>
          </a:xfrm>
          <a:prstGeom prst="rect">
            <a:avLst/>
          </a:prstGeom>
          <a:noFill/>
          <a:ln/>
        </p:spPr>
        <p:txBody>
          <a:bodyPr wrap="square" rtlCol="0" anchor="ctr"/>
          <a:lstStyle/>
          <a:p>
            <a:pPr algn="ctr" indent="0" marL="0">
              <a:buNone/>
            </a:pPr>
            <a:r>
              <a:rPr lang="en-US" sz="1300" b="1" dirty="0">
                <a:solidFill>
                  <a:srgbClr val="019879"/>
                </a:solidFill>
                <a:latin typeface="Cambria" pitchFamily="34" charset="0"/>
                <a:ea typeface="Cambria" pitchFamily="34" charset="-122"/>
                <a:cs typeface="Cambria" pitchFamily="34" charset="-120"/>
              </a:rPr>
              <a:t>4</a:t>
            </a:r>
            <a:endParaRPr lang="en-US" sz="1300" dirty="0"/>
          </a:p>
        </p:txBody>
      </p:sp>
      <p:sp>
        <p:nvSpPr>
          <p:cNvPr id="31" name="Shape 29"/>
          <p:cNvSpPr/>
          <p:nvPr/>
        </p:nvSpPr>
        <p:spPr>
          <a:xfrm>
            <a:off x="6108192" y="2578608"/>
            <a:ext cx="1856232" cy="457200"/>
          </a:xfrm>
          <a:prstGeom prst="rect">
            <a:avLst/>
          </a:prstGeom>
          <a:solidFill>
            <a:srgbClr val="EEF1F4"/>
          </a:solidFill>
          <a:ln w="6350">
            <a:solidFill>
              <a:srgbClr val="DDE2E8"/>
            </a:solidFill>
            <a:prstDash val="solid"/>
          </a:ln>
        </p:spPr>
      </p:sp>
      <p:sp>
        <p:nvSpPr>
          <p:cNvPr id="32" name="Text 30"/>
          <p:cNvSpPr/>
          <p:nvPr/>
        </p:nvSpPr>
        <p:spPr>
          <a:xfrm>
            <a:off x="6108192" y="2578608"/>
            <a:ext cx="1856232" cy="457200"/>
          </a:xfrm>
          <a:prstGeom prst="rect">
            <a:avLst/>
          </a:prstGeom>
          <a:noFill/>
          <a:ln/>
        </p:spPr>
        <p:txBody>
          <a:bodyPr wrap="square" rtlCol="0" anchor="ctr"/>
          <a:lstStyle/>
          <a:p>
            <a:pPr algn="ctr" indent="0" marL="0">
              <a:buNone/>
            </a:pPr>
            <a:r>
              <a:rPr lang="en-US" sz="1300" b="1" dirty="0">
                <a:solidFill>
                  <a:srgbClr val="C0392B"/>
                </a:solidFill>
                <a:latin typeface="Cambria" pitchFamily="34" charset="0"/>
                <a:ea typeface="Cambria" pitchFamily="34" charset="-122"/>
                <a:cs typeface="Cambria" pitchFamily="34" charset="-120"/>
              </a:rPr>
              <a:t>2</a:t>
            </a:r>
            <a:endParaRPr lang="en-US" sz="1300" dirty="0"/>
          </a:p>
        </p:txBody>
      </p:sp>
      <p:sp>
        <p:nvSpPr>
          <p:cNvPr id="33" name="Shape 31"/>
          <p:cNvSpPr/>
          <p:nvPr/>
        </p:nvSpPr>
        <p:spPr>
          <a:xfrm>
            <a:off x="7964424" y="2578608"/>
            <a:ext cx="1856232" cy="457200"/>
          </a:xfrm>
          <a:prstGeom prst="rect">
            <a:avLst/>
          </a:prstGeom>
          <a:solidFill>
            <a:srgbClr val="EEF1F4"/>
          </a:solidFill>
          <a:ln w="6350">
            <a:solidFill>
              <a:srgbClr val="DDE2E8"/>
            </a:solidFill>
            <a:prstDash val="solid"/>
          </a:ln>
        </p:spPr>
      </p:sp>
      <p:sp>
        <p:nvSpPr>
          <p:cNvPr id="34" name="Text 32"/>
          <p:cNvSpPr/>
          <p:nvPr/>
        </p:nvSpPr>
        <p:spPr>
          <a:xfrm>
            <a:off x="7964424" y="2578608"/>
            <a:ext cx="1856232" cy="457200"/>
          </a:xfrm>
          <a:prstGeom prst="rect">
            <a:avLst/>
          </a:prstGeom>
          <a:noFill/>
          <a:ln/>
        </p:spPr>
        <p:txBody>
          <a:bodyPr wrap="square" rtlCol="0" anchor="ctr"/>
          <a:lstStyle/>
          <a:p>
            <a:pPr algn="ctr" indent="0" marL="0">
              <a:buNone/>
            </a:pPr>
            <a:r>
              <a:rPr lang="en-US" sz="1300" b="1" dirty="0">
                <a:solidFill>
                  <a:srgbClr val="019879"/>
                </a:solidFill>
                <a:latin typeface="Cambria" pitchFamily="34" charset="0"/>
                <a:ea typeface="Cambria" pitchFamily="34" charset="-122"/>
                <a:cs typeface="Cambria" pitchFamily="34" charset="-120"/>
              </a:rPr>
              <a:t>5</a:t>
            </a:r>
            <a:endParaRPr lang="en-US" sz="1300" dirty="0"/>
          </a:p>
        </p:txBody>
      </p:sp>
      <p:sp>
        <p:nvSpPr>
          <p:cNvPr id="35" name="Shape 33"/>
          <p:cNvSpPr/>
          <p:nvPr/>
        </p:nvSpPr>
        <p:spPr>
          <a:xfrm>
            <a:off x="9820656" y="2578608"/>
            <a:ext cx="1856232" cy="457200"/>
          </a:xfrm>
          <a:prstGeom prst="rect">
            <a:avLst/>
          </a:prstGeom>
          <a:solidFill>
            <a:srgbClr val="EEF1F4"/>
          </a:solidFill>
          <a:ln w="6350">
            <a:solidFill>
              <a:srgbClr val="DDE2E8"/>
            </a:solidFill>
            <a:prstDash val="solid"/>
          </a:ln>
        </p:spPr>
      </p:sp>
      <p:sp>
        <p:nvSpPr>
          <p:cNvPr id="36" name="Text 34"/>
          <p:cNvSpPr/>
          <p:nvPr/>
        </p:nvSpPr>
        <p:spPr>
          <a:xfrm>
            <a:off x="9820656" y="2578608"/>
            <a:ext cx="1856232" cy="457200"/>
          </a:xfrm>
          <a:prstGeom prst="rect">
            <a:avLst/>
          </a:prstGeom>
          <a:noFill/>
          <a:ln/>
        </p:spPr>
        <p:txBody>
          <a:bodyPr wrap="square" rtlCol="0" anchor="ctr"/>
          <a:lstStyle/>
          <a:p>
            <a:pPr algn="ctr" indent="0" marL="0">
              <a:buNone/>
            </a:pPr>
            <a:r>
              <a:rPr lang="en-US" sz="1300" b="1" dirty="0">
                <a:solidFill>
                  <a:srgbClr val="232B3A"/>
                </a:solidFill>
                <a:latin typeface="Cambria" pitchFamily="34" charset="0"/>
                <a:ea typeface="Cambria" pitchFamily="34" charset="-122"/>
                <a:cs typeface="Cambria" pitchFamily="34" charset="-120"/>
              </a:rPr>
              <a:t>3</a:t>
            </a:r>
            <a:endParaRPr lang="en-US" sz="1300" dirty="0"/>
          </a:p>
        </p:txBody>
      </p:sp>
      <p:sp>
        <p:nvSpPr>
          <p:cNvPr id="37" name="Shape 35"/>
          <p:cNvSpPr/>
          <p:nvPr/>
        </p:nvSpPr>
        <p:spPr>
          <a:xfrm>
            <a:off x="502920" y="3035808"/>
            <a:ext cx="3749040" cy="457200"/>
          </a:xfrm>
          <a:prstGeom prst="rect">
            <a:avLst/>
          </a:prstGeom>
          <a:solidFill>
            <a:srgbClr val="FFFFFF"/>
          </a:solidFill>
          <a:ln w="6350">
            <a:solidFill>
              <a:srgbClr val="DDE2E8"/>
            </a:solidFill>
            <a:prstDash val="solid"/>
          </a:ln>
        </p:spPr>
      </p:sp>
      <p:sp>
        <p:nvSpPr>
          <p:cNvPr id="38" name="Text 36"/>
          <p:cNvSpPr/>
          <p:nvPr/>
        </p:nvSpPr>
        <p:spPr>
          <a:xfrm>
            <a:off x="576072" y="3035808"/>
            <a:ext cx="3602736" cy="457200"/>
          </a:xfrm>
          <a:prstGeom prst="rect">
            <a:avLst/>
          </a:prstGeom>
          <a:noFill/>
          <a:ln/>
        </p:spPr>
        <p:txBody>
          <a:bodyPr wrap="square" rtlCol="0" anchor="ctr"/>
          <a:lstStyle/>
          <a:p>
            <a:pPr indent="0" marL="0">
              <a:buNone/>
            </a:pPr>
            <a:r>
              <a:rPr lang="en-US" sz="1050" dirty="0">
                <a:solidFill>
                  <a:srgbClr val="232B3A"/>
                </a:solidFill>
                <a:latin typeface="Calibri" pitchFamily="34" charset="0"/>
                <a:ea typeface="Calibri" pitchFamily="34" charset="-122"/>
                <a:cs typeface="Calibri" pitchFamily="34" charset="-120"/>
              </a:rPr>
              <a:t>AI / ML maturity</a:t>
            </a:r>
            <a:endParaRPr lang="en-US" sz="1050" dirty="0"/>
          </a:p>
        </p:txBody>
      </p:sp>
      <p:sp>
        <p:nvSpPr>
          <p:cNvPr id="39" name="Shape 37"/>
          <p:cNvSpPr/>
          <p:nvPr/>
        </p:nvSpPr>
        <p:spPr>
          <a:xfrm>
            <a:off x="4251960" y="3035808"/>
            <a:ext cx="1856232" cy="457200"/>
          </a:xfrm>
          <a:prstGeom prst="rect">
            <a:avLst/>
          </a:prstGeom>
          <a:solidFill>
            <a:srgbClr val="FFFFFF"/>
          </a:solidFill>
          <a:ln w="6350">
            <a:solidFill>
              <a:srgbClr val="DDE2E8"/>
            </a:solidFill>
            <a:prstDash val="solid"/>
          </a:ln>
        </p:spPr>
      </p:sp>
      <p:sp>
        <p:nvSpPr>
          <p:cNvPr id="40" name="Text 38"/>
          <p:cNvSpPr/>
          <p:nvPr/>
        </p:nvSpPr>
        <p:spPr>
          <a:xfrm>
            <a:off x="4251960" y="3035808"/>
            <a:ext cx="1856232" cy="457200"/>
          </a:xfrm>
          <a:prstGeom prst="rect">
            <a:avLst/>
          </a:prstGeom>
          <a:noFill/>
          <a:ln/>
        </p:spPr>
        <p:txBody>
          <a:bodyPr wrap="square" rtlCol="0" anchor="ctr"/>
          <a:lstStyle/>
          <a:p>
            <a:pPr algn="ctr" indent="0" marL="0">
              <a:buNone/>
            </a:pPr>
            <a:r>
              <a:rPr lang="en-US" sz="1300" b="1" dirty="0">
                <a:solidFill>
                  <a:srgbClr val="019879"/>
                </a:solidFill>
                <a:latin typeface="Cambria" pitchFamily="34" charset="0"/>
                <a:ea typeface="Cambria" pitchFamily="34" charset="-122"/>
                <a:cs typeface="Cambria" pitchFamily="34" charset="-120"/>
              </a:rPr>
              <a:t>4</a:t>
            </a:r>
            <a:endParaRPr lang="en-US" sz="1300" dirty="0"/>
          </a:p>
        </p:txBody>
      </p:sp>
      <p:sp>
        <p:nvSpPr>
          <p:cNvPr id="41" name="Shape 39"/>
          <p:cNvSpPr/>
          <p:nvPr/>
        </p:nvSpPr>
        <p:spPr>
          <a:xfrm>
            <a:off x="6108192" y="3035808"/>
            <a:ext cx="1856232" cy="457200"/>
          </a:xfrm>
          <a:prstGeom prst="rect">
            <a:avLst/>
          </a:prstGeom>
          <a:solidFill>
            <a:srgbClr val="FFFFFF"/>
          </a:solidFill>
          <a:ln w="6350">
            <a:solidFill>
              <a:srgbClr val="DDE2E8"/>
            </a:solidFill>
            <a:prstDash val="solid"/>
          </a:ln>
        </p:spPr>
      </p:sp>
      <p:sp>
        <p:nvSpPr>
          <p:cNvPr id="42" name="Text 40"/>
          <p:cNvSpPr/>
          <p:nvPr/>
        </p:nvSpPr>
        <p:spPr>
          <a:xfrm>
            <a:off x="6108192" y="3035808"/>
            <a:ext cx="1856232" cy="457200"/>
          </a:xfrm>
          <a:prstGeom prst="rect">
            <a:avLst/>
          </a:prstGeom>
          <a:noFill/>
          <a:ln/>
        </p:spPr>
        <p:txBody>
          <a:bodyPr wrap="square" rtlCol="0" anchor="ctr"/>
          <a:lstStyle/>
          <a:p>
            <a:pPr algn="ctr" indent="0" marL="0">
              <a:buNone/>
            </a:pPr>
            <a:r>
              <a:rPr lang="en-US" sz="1300" b="1" dirty="0">
                <a:solidFill>
                  <a:srgbClr val="019879"/>
                </a:solidFill>
                <a:latin typeface="Cambria" pitchFamily="34" charset="0"/>
                <a:ea typeface="Cambria" pitchFamily="34" charset="-122"/>
                <a:cs typeface="Cambria" pitchFamily="34" charset="-120"/>
              </a:rPr>
              <a:t>5</a:t>
            </a:r>
            <a:endParaRPr lang="en-US" sz="1300" dirty="0"/>
          </a:p>
        </p:txBody>
      </p:sp>
      <p:sp>
        <p:nvSpPr>
          <p:cNvPr id="43" name="Shape 41"/>
          <p:cNvSpPr/>
          <p:nvPr/>
        </p:nvSpPr>
        <p:spPr>
          <a:xfrm>
            <a:off x="7964424" y="3035808"/>
            <a:ext cx="1856232" cy="457200"/>
          </a:xfrm>
          <a:prstGeom prst="rect">
            <a:avLst/>
          </a:prstGeom>
          <a:solidFill>
            <a:srgbClr val="FFFFFF"/>
          </a:solidFill>
          <a:ln w="6350">
            <a:solidFill>
              <a:srgbClr val="DDE2E8"/>
            </a:solidFill>
            <a:prstDash val="solid"/>
          </a:ln>
        </p:spPr>
      </p:sp>
      <p:sp>
        <p:nvSpPr>
          <p:cNvPr id="44" name="Text 42"/>
          <p:cNvSpPr/>
          <p:nvPr/>
        </p:nvSpPr>
        <p:spPr>
          <a:xfrm>
            <a:off x="7964424" y="3035808"/>
            <a:ext cx="1856232" cy="457200"/>
          </a:xfrm>
          <a:prstGeom prst="rect">
            <a:avLst/>
          </a:prstGeom>
          <a:noFill/>
          <a:ln/>
        </p:spPr>
        <p:txBody>
          <a:bodyPr wrap="square" rtlCol="0" anchor="ctr"/>
          <a:lstStyle/>
          <a:p>
            <a:pPr algn="ctr" indent="0" marL="0">
              <a:buNone/>
            </a:pPr>
            <a:r>
              <a:rPr lang="en-US" sz="1300" b="1" dirty="0">
                <a:solidFill>
                  <a:srgbClr val="019879"/>
                </a:solidFill>
                <a:latin typeface="Cambria" pitchFamily="34" charset="0"/>
                <a:ea typeface="Cambria" pitchFamily="34" charset="-122"/>
                <a:cs typeface="Cambria" pitchFamily="34" charset="-120"/>
              </a:rPr>
              <a:t>4</a:t>
            </a:r>
            <a:endParaRPr lang="en-US" sz="1300" dirty="0"/>
          </a:p>
        </p:txBody>
      </p:sp>
      <p:sp>
        <p:nvSpPr>
          <p:cNvPr id="45" name="Shape 43"/>
          <p:cNvSpPr/>
          <p:nvPr/>
        </p:nvSpPr>
        <p:spPr>
          <a:xfrm>
            <a:off x="9820656" y="3035808"/>
            <a:ext cx="1856232" cy="457200"/>
          </a:xfrm>
          <a:prstGeom prst="rect">
            <a:avLst/>
          </a:prstGeom>
          <a:solidFill>
            <a:srgbClr val="FFFFFF"/>
          </a:solidFill>
          <a:ln w="6350">
            <a:solidFill>
              <a:srgbClr val="DDE2E8"/>
            </a:solidFill>
            <a:prstDash val="solid"/>
          </a:ln>
        </p:spPr>
      </p:sp>
      <p:sp>
        <p:nvSpPr>
          <p:cNvPr id="46" name="Text 44"/>
          <p:cNvSpPr/>
          <p:nvPr/>
        </p:nvSpPr>
        <p:spPr>
          <a:xfrm>
            <a:off x="9820656" y="3035808"/>
            <a:ext cx="1856232" cy="457200"/>
          </a:xfrm>
          <a:prstGeom prst="rect">
            <a:avLst/>
          </a:prstGeom>
          <a:noFill/>
          <a:ln/>
        </p:spPr>
        <p:txBody>
          <a:bodyPr wrap="square" rtlCol="0" anchor="ctr"/>
          <a:lstStyle/>
          <a:p>
            <a:pPr algn="ctr" indent="0" marL="0">
              <a:buNone/>
            </a:pPr>
            <a:r>
              <a:rPr lang="en-US" sz="1300" b="1" dirty="0">
                <a:solidFill>
                  <a:srgbClr val="232B3A"/>
                </a:solidFill>
                <a:latin typeface="Cambria" pitchFamily="34" charset="0"/>
                <a:ea typeface="Cambria" pitchFamily="34" charset="-122"/>
                <a:cs typeface="Cambria" pitchFamily="34" charset="-120"/>
              </a:rPr>
              <a:t>3</a:t>
            </a:r>
            <a:endParaRPr lang="en-US" sz="1300" dirty="0"/>
          </a:p>
        </p:txBody>
      </p:sp>
      <p:sp>
        <p:nvSpPr>
          <p:cNvPr id="47" name="Shape 45"/>
          <p:cNvSpPr/>
          <p:nvPr/>
        </p:nvSpPr>
        <p:spPr>
          <a:xfrm>
            <a:off x="502920" y="3493008"/>
            <a:ext cx="3749040" cy="457200"/>
          </a:xfrm>
          <a:prstGeom prst="rect">
            <a:avLst/>
          </a:prstGeom>
          <a:solidFill>
            <a:srgbClr val="EEF1F4"/>
          </a:solidFill>
          <a:ln w="6350">
            <a:solidFill>
              <a:srgbClr val="DDE2E8"/>
            </a:solidFill>
            <a:prstDash val="solid"/>
          </a:ln>
        </p:spPr>
      </p:sp>
      <p:sp>
        <p:nvSpPr>
          <p:cNvPr id="48" name="Text 46"/>
          <p:cNvSpPr/>
          <p:nvPr/>
        </p:nvSpPr>
        <p:spPr>
          <a:xfrm>
            <a:off x="576072" y="3493008"/>
            <a:ext cx="3602736" cy="457200"/>
          </a:xfrm>
          <a:prstGeom prst="rect">
            <a:avLst/>
          </a:prstGeom>
          <a:noFill/>
          <a:ln/>
        </p:spPr>
        <p:txBody>
          <a:bodyPr wrap="square" rtlCol="0" anchor="ctr"/>
          <a:lstStyle/>
          <a:p>
            <a:pPr indent="0" marL="0">
              <a:buNone/>
            </a:pPr>
            <a:r>
              <a:rPr lang="en-US" sz="1050" dirty="0">
                <a:solidFill>
                  <a:srgbClr val="232B3A"/>
                </a:solidFill>
                <a:latin typeface="Calibri" pitchFamily="34" charset="0"/>
                <a:ea typeface="Calibri" pitchFamily="34" charset="-122"/>
                <a:cs typeface="Calibri" pitchFamily="34" charset="-120"/>
              </a:rPr>
              <a:t>Ease of deployment</a:t>
            </a:r>
            <a:endParaRPr lang="en-US" sz="1050" dirty="0"/>
          </a:p>
        </p:txBody>
      </p:sp>
      <p:sp>
        <p:nvSpPr>
          <p:cNvPr id="49" name="Shape 47"/>
          <p:cNvSpPr/>
          <p:nvPr/>
        </p:nvSpPr>
        <p:spPr>
          <a:xfrm>
            <a:off x="4251960" y="3493008"/>
            <a:ext cx="1856232" cy="457200"/>
          </a:xfrm>
          <a:prstGeom prst="rect">
            <a:avLst/>
          </a:prstGeom>
          <a:solidFill>
            <a:srgbClr val="EEF1F4"/>
          </a:solidFill>
          <a:ln w="6350">
            <a:solidFill>
              <a:srgbClr val="DDE2E8"/>
            </a:solidFill>
            <a:prstDash val="solid"/>
          </a:ln>
        </p:spPr>
      </p:sp>
      <p:sp>
        <p:nvSpPr>
          <p:cNvPr id="50" name="Text 48"/>
          <p:cNvSpPr/>
          <p:nvPr/>
        </p:nvSpPr>
        <p:spPr>
          <a:xfrm>
            <a:off x="4251960" y="3493008"/>
            <a:ext cx="1856232" cy="457200"/>
          </a:xfrm>
          <a:prstGeom prst="rect">
            <a:avLst/>
          </a:prstGeom>
          <a:noFill/>
          <a:ln/>
        </p:spPr>
        <p:txBody>
          <a:bodyPr wrap="square" rtlCol="0" anchor="ctr"/>
          <a:lstStyle/>
          <a:p>
            <a:pPr algn="ctr" indent="0" marL="0">
              <a:buNone/>
            </a:pPr>
            <a:r>
              <a:rPr lang="en-US" sz="1300" b="1" dirty="0">
                <a:solidFill>
                  <a:srgbClr val="019879"/>
                </a:solidFill>
                <a:latin typeface="Cambria" pitchFamily="34" charset="0"/>
                <a:ea typeface="Cambria" pitchFamily="34" charset="-122"/>
                <a:cs typeface="Cambria" pitchFamily="34" charset="-120"/>
              </a:rPr>
              <a:t>5</a:t>
            </a:r>
            <a:endParaRPr lang="en-US" sz="1300" dirty="0"/>
          </a:p>
        </p:txBody>
      </p:sp>
      <p:sp>
        <p:nvSpPr>
          <p:cNvPr id="51" name="Shape 49"/>
          <p:cNvSpPr/>
          <p:nvPr/>
        </p:nvSpPr>
        <p:spPr>
          <a:xfrm>
            <a:off x="6108192" y="3493008"/>
            <a:ext cx="1856232" cy="457200"/>
          </a:xfrm>
          <a:prstGeom prst="rect">
            <a:avLst/>
          </a:prstGeom>
          <a:solidFill>
            <a:srgbClr val="EEF1F4"/>
          </a:solidFill>
          <a:ln w="6350">
            <a:solidFill>
              <a:srgbClr val="DDE2E8"/>
            </a:solidFill>
            <a:prstDash val="solid"/>
          </a:ln>
        </p:spPr>
      </p:sp>
      <p:sp>
        <p:nvSpPr>
          <p:cNvPr id="52" name="Text 50"/>
          <p:cNvSpPr/>
          <p:nvPr/>
        </p:nvSpPr>
        <p:spPr>
          <a:xfrm>
            <a:off x="6108192" y="3493008"/>
            <a:ext cx="1856232" cy="457200"/>
          </a:xfrm>
          <a:prstGeom prst="rect">
            <a:avLst/>
          </a:prstGeom>
          <a:noFill/>
          <a:ln/>
        </p:spPr>
        <p:txBody>
          <a:bodyPr wrap="square" rtlCol="0" anchor="ctr"/>
          <a:lstStyle/>
          <a:p>
            <a:pPr algn="ctr" indent="0" marL="0">
              <a:buNone/>
            </a:pPr>
            <a:r>
              <a:rPr lang="en-US" sz="1300" b="1" dirty="0">
                <a:solidFill>
                  <a:srgbClr val="019879"/>
                </a:solidFill>
                <a:latin typeface="Cambria" pitchFamily="34" charset="0"/>
                <a:ea typeface="Cambria" pitchFamily="34" charset="-122"/>
                <a:cs typeface="Cambria" pitchFamily="34" charset="-120"/>
              </a:rPr>
              <a:t>4</a:t>
            </a:r>
            <a:endParaRPr lang="en-US" sz="1300" dirty="0"/>
          </a:p>
        </p:txBody>
      </p:sp>
      <p:sp>
        <p:nvSpPr>
          <p:cNvPr id="53" name="Shape 51"/>
          <p:cNvSpPr/>
          <p:nvPr/>
        </p:nvSpPr>
        <p:spPr>
          <a:xfrm>
            <a:off x="7964424" y="3493008"/>
            <a:ext cx="1856232" cy="457200"/>
          </a:xfrm>
          <a:prstGeom prst="rect">
            <a:avLst/>
          </a:prstGeom>
          <a:solidFill>
            <a:srgbClr val="EEF1F4"/>
          </a:solidFill>
          <a:ln w="6350">
            <a:solidFill>
              <a:srgbClr val="DDE2E8"/>
            </a:solidFill>
            <a:prstDash val="solid"/>
          </a:ln>
        </p:spPr>
      </p:sp>
      <p:sp>
        <p:nvSpPr>
          <p:cNvPr id="54" name="Text 52"/>
          <p:cNvSpPr/>
          <p:nvPr/>
        </p:nvSpPr>
        <p:spPr>
          <a:xfrm>
            <a:off x="7964424" y="3493008"/>
            <a:ext cx="1856232" cy="457200"/>
          </a:xfrm>
          <a:prstGeom prst="rect">
            <a:avLst/>
          </a:prstGeom>
          <a:noFill/>
          <a:ln/>
        </p:spPr>
        <p:txBody>
          <a:bodyPr wrap="square" rtlCol="0" anchor="ctr"/>
          <a:lstStyle/>
          <a:p>
            <a:pPr algn="ctr" indent="0" marL="0">
              <a:buNone/>
            </a:pPr>
            <a:r>
              <a:rPr lang="en-US" sz="1300" b="1" dirty="0">
                <a:solidFill>
                  <a:srgbClr val="C0392B"/>
                </a:solidFill>
                <a:latin typeface="Cambria" pitchFamily="34" charset="0"/>
                <a:ea typeface="Cambria" pitchFamily="34" charset="-122"/>
                <a:cs typeface="Cambria" pitchFamily="34" charset="-120"/>
              </a:rPr>
              <a:t>2</a:t>
            </a:r>
            <a:endParaRPr lang="en-US" sz="1300" dirty="0"/>
          </a:p>
        </p:txBody>
      </p:sp>
      <p:sp>
        <p:nvSpPr>
          <p:cNvPr id="55" name="Shape 53"/>
          <p:cNvSpPr/>
          <p:nvPr/>
        </p:nvSpPr>
        <p:spPr>
          <a:xfrm>
            <a:off x="9820656" y="3493008"/>
            <a:ext cx="1856232" cy="457200"/>
          </a:xfrm>
          <a:prstGeom prst="rect">
            <a:avLst/>
          </a:prstGeom>
          <a:solidFill>
            <a:srgbClr val="EEF1F4"/>
          </a:solidFill>
          <a:ln w="6350">
            <a:solidFill>
              <a:srgbClr val="DDE2E8"/>
            </a:solidFill>
            <a:prstDash val="solid"/>
          </a:ln>
        </p:spPr>
      </p:sp>
      <p:sp>
        <p:nvSpPr>
          <p:cNvPr id="56" name="Text 54"/>
          <p:cNvSpPr/>
          <p:nvPr/>
        </p:nvSpPr>
        <p:spPr>
          <a:xfrm>
            <a:off x="9820656" y="3493008"/>
            <a:ext cx="1856232" cy="457200"/>
          </a:xfrm>
          <a:prstGeom prst="rect">
            <a:avLst/>
          </a:prstGeom>
          <a:noFill/>
          <a:ln/>
        </p:spPr>
        <p:txBody>
          <a:bodyPr wrap="square" rtlCol="0" anchor="ctr"/>
          <a:lstStyle/>
          <a:p>
            <a:pPr algn="ctr" indent="0" marL="0">
              <a:buNone/>
            </a:pPr>
            <a:r>
              <a:rPr lang="en-US" sz="1300" b="1" dirty="0">
                <a:solidFill>
                  <a:srgbClr val="232B3A"/>
                </a:solidFill>
                <a:latin typeface="Cambria" pitchFamily="34" charset="0"/>
                <a:ea typeface="Cambria" pitchFamily="34" charset="-122"/>
                <a:cs typeface="Cambria" pitchFamily="34" charset="-120"/>
              </a:rPr>
              <a:t>3</a:t>
            </a:r>
            <a:endParaRPr lang="en-US" sz="1300" dirty="0"/>
          </a:p>
        </p:txBody>
      </p:sp>
      <p:sp>
        <p:nvSpPr>
          <p:cNvPr id="57" name="Shape 55"/>
          <p:cNvSpPr/>
          <p:nvPr/>
        </p:nvSpPr>
        <p:spPr>
          <a:xfrm>
            <a:off x="502920" y="3950208"/>
            <a:ext cx="3749040" cy="457200"/>
          </a:xfrm>
          <a:prstGeom prst="rect">
            <a:avLst/>
          </a:prstGeom>
          <a:solidFill>
            <a:srgbClr val="FFFFFF"/>
          </a:solidFill>
          <a:ln w="6350">
            <a:solidFill>
              <a:srgbClr val="DDE2E8"/>
            </a:solidFill>
            <a:prstDash val="solid"/>
          </a:ln>
        </p:spPr>
      </p:sp>
      <p:sp>
        <p:nvSpPr>
          <p:cNvPr id="58" name="Text 56"/>
          <p:cNvSpPr/>
          <p:nvPr/>
        </p:nvSpPr>
        <p:spPr>
          <a:xfrm>
            <a:off x="576072" y="3950208"/>
            <a:ext cx="3602736" cy="457200"/>
          </a:xfrm>
          <a:prstGeom prst="rect">
            <a:avLst/>
          </a:prstGeom>
          <a:noFill/>
          <a:ln/>
        </p:spPr>
        <p:txBody>
          <a:bodyPr wrap="square" rtlCol="0" anchor="ctr"/>
          <a:lstStyle/>
          <a:p>
            <a:pPr indent="0" marL="0">
              <a:buNone/>
            </a:pPr>
            <a:r>
              <a:rPr lang="en-US" sz="1050" dirty="0">
                <a:solidFill>
                  <a:srgbClr val="232B3A"/>
                </a:solidFill>
                <a:latin typeface="Calibri" pitchFamily="34" charset="0"/>
                <a:ea typeface="Calibri" pitchFamily="34" charset="-122"/>
                <a:cs typeface="Calibri" pitchFamily="34" charset="-120"/>
              </a:rPr>
              <a:t>Cost predictability</a:t>
            </a:r>
            <a:endParaRPr lang="en-US" sz="1050" dirty="0"/>
          </a:p>
        </p:txBody>
      </p:sp>
      <p:sp>
        <p:nvSpPr>
          <p:cNvPr id="59" name="Shape 57"/>
          <p:cNvSpPr/>
          <p:nvPr/>
        </p:nvSpPr>
        <p:spPr>
          <a:xfrm>
            <a:off x="4251960" y="3950208"/>
            <a:ext cx="1856232" cy="457200"/>
          </a:xfrm>
          <a:prstGeom prst="rect">
            <a:avLst/>
          </a:prstGeom>
          <a:solidFill>
            <a:srgbClr val="FFFFFF"/>
          </a:solidFill>
          <a:ln w="6350">
            <a:solidFill>
              <a:srgbClr val="DDE2E8"/>
            </a:solidFill>
            <a:prstDash val="solid"/>
          </a:ln>
        </p:spPr>
      </p:sp>
      <p:sp>
        <p:nvSpPr>
          <p:cNvPr id="60" name="Text 58"/>
          <p:cNvSpPr/>
          <p:nvPr/>
        </p:nvSpPr>
        <p:spPr>
          <a:xfrm>
            <a:off x="4251960" y="3950208"/>
            <a:ext cx="1856232" cy="457200"/>
          </a:xfrm>
          <a:prstGeom prst="rect">
            <a:avLst/>
          </a:prstGeom>
          <a:noFill/>
          <a:ln/>
        </p:spPr>
        <p:txBody>
          <a:bodyPr wrap="square" rtlCol="0" anchor="ctr"/>
          <a:lstStyle/>
          <a:p>
            <a:pPr algn="ctr" indent="0" marL="0">
              <a:buNone/>
            </a:pPr>
            <a:r>
              <a:rPr lang="en-US" sz="1300" b="1" dirty="0">
                <a:solidFill>
                  <a:srgbClr val="019879"/>
                </a:solidFill>
                <a:latin typeface="Cambria" pitchFamily="34" charset="0"/>
                <a:ea typeface="Cambria" pitchFamily="34" charset="-122"/>
                <a:cs typeface="Cambria" pitchFamily="34" charset="-120"/>
              </a:rPr>
              <a:t>4</a:t>
            </a:r>
            <a:endParaRPr lang="en-US" sz="1300" dirty="0"/>
          </a:p>
        </p:txBody>
      </p:sp>
      <p:sp>
        <p:nvSpPr>
          <p:cNvPr id="61" name="Shape 59"/>
          <p:cNvSpPr/>
          <p:nvPr/>
        </p:nvSpPr>
        <p:spPr>
          <a:xfrm>
            <a:off x="6108192" y="3950208"/>
            <a:ext cx="1856232" cy="457200"/>
          </a:xfrm>
          <a:prstGeom prst="rect">
            <a:avLst/>
          </a:prstGeom>
          <a:solidFill>
            <a:srgbClr val="FFFFFF"/>
          </a:solidFill>
          <a:ln w="6350">
            <a:solidFill>
              <a:srgbClr val="DDE2E8"/>
            </a:solidFill>
            <a:prstDash val="solid"/>
          </a:ln>
        </p:spPr>
      </p:sp>
      <p:sp>
        <p:nvSpPr>
          <p:cNvPr id="62" name="Text 60"/>
          <p:cNvSpPr/>
          <p:nvPr/>
        </p:nvSpPr>
        <p:spPr>
          <a:xfrm>
            <a:off x="6108192" y="3950208"/>
            <a:ext cx="1856232" cy="457200"/>
          </a:xfrm>
          <a:prstGeom prst="rect">
            <a:avLst/>
          </a:prstGeom>
          <a:noFill/>
          <a:ln/>
        </p:spPr>
        <p:txBody>
          <a:bodyPr wrap="square" rtlCol="0" anchor="ctr"/>
          <a:lstStyle/>
          <a:p>
            <a:pPr algn="ctr" indent="0" marL="0">
              <a:buNone/>
            </a:pPr>
            <a:r>
              <a:rPr lang="en-US" sz="1300" b="1" dirty="0">
                <a:solidFill>
                  <a:srgbClr val="C0392B"/>
                </a:solidFill>
                <a:latin typeface="Cambria" pitchFamily="34" charset="0"/>
                <a:ea typeface="Cambria" pitchFamily="34" charset="-122"/>
                <a:cs typeface="Cambria" pitchFamily="34" charset="-120"/>
              </a:rPr>
              <a:t>2</a:t>
            </a:r>
            <a:endParaRPr lang="en-US" sz="1300" dirty="0"/>
          </a:p>
        </p:txBody>
      </p:sp>
      <p:sp>
        <p:nvSpPr>
          <p:cNvPr id="63" name="Shape 61"/>
          <p:cNvSpPr/>
          <p:nvPr/>
        </p:nvSpPr>
        <p:spPr>
          <a:xfrm>
            <a:off x="7964424" y="3950208"/>
            <a:ext cx="1856232" cy="457200"/>
          </a:xfrm>
          <a:prstGeom prst="rect">
            <a:avLst/>
          </a:prstGeom>
          <a:solidFill>
            <a:srgbClr val="FFFFFF"/>
          </a:solidFill>
          <a:ln w="6350">
            <a:solidFill>
              <a:srgbClr val="DDE2E8"/>
            </a:solidFill>
            <a:prstDash val="solid"/>
          </a:ln>
        </p:spPr>
      </p:sp>
      <p:sp>
        <p:nvSpPr>
          <p:cNvPr id="64" name="Text 62"/>
          <p:cNvSpPr/>
          <p:nvPr/>
        </p:nvSpPr>
        <p:spPr>
          <a:xfrm>
            <a:off x="7964424" y="3950208"/>
            <a:ext cx="1856232" cy="457200"/>
          </a:xfrm>
          <a:prstGeom prst="rect">
            <a:avLst/>
          </a:prstGeom>
          <a:noFill/>
          <a:ln/>
        </p:spPr>
        <p:txBody>
          <a:bodyPr wrap="square" rtlCol="0" anchor="ctr"/>
          <a:lstStyle/>
          <a:p>
            <a:pPr algn="ctr" indent="0" marL="0">
              <a:buNone/>
            </a:pPr>
            <a:r>
              <a:rPr lang="en-US" sz="1300" b="1" dirty="0">
                <a:solidFill>
                  <a:srgbClr val="232B3A"/>
                </a:solidFill>
                <a:latin typeface="Cambria" pitchFamily="34" charset="0"/>
                <a:ea typeface="Cambria" pitchFamily="34" charset="-122"/>
                <a:cs typeface="Cambria" pitchFamily="34" charset="-120"/>
              </a:rPr>
              <a:t>3</a:t>
            </a:r>
            <a:endParaRPr lang="en-US" sz="1300" dirty="0"/>
          </a:p>
        </p:txBody>
      </p:sp>
      <p:sp>
        <p:nvSpPr>
          <p:cNvPr id="65" name="Shape 63"/>
          <p:cNvSpPr/>
          <p:nvPr/>
        </p:nvSpPr>
        <p:spPr>
          <a:xfrm>
            <a:off x="9820656" y="3950208"/>
            <a:ext cx="1856232" cy="457200"/>
          </a:xfrm>
          <a:prstGeom prst="rect">
            <a:avLst/>
          </a:prstGeom>
          <a:solidFill>
            <a:srgbClr val="FFFFFF"/>
          </a:solidFill>
          <a:ln w="6350">
            <a:solidFill>
              <a:srgbClr val="DDE2E8"/>
            </a:solidFill>
            <a:prstDash val="solid"/>
          </a:ln>
        </p:spPr>
      </p:sp>
      <p:sp>
        <p:nvSpPr>
          <p:cNvPr id="66" name="Text 64"/>
          <p:cNvSpPr/>
          <p:nvPr/>
        </p:nvSpPr>
        <p:spPr>
          <a:xfrm>
            <a:off x="9820656" y="3950208"/>
            <a:ext cx="1856232" cy="457200"/>
          </a:xfrm>
          <a:prstGeom prst="rect">
            <a:avLst/>
          </a:prstGeom>
          <a:noFill/>
          <a:ln/>
        </p:spPr>
        <p:txBody>
          <a:bodyPr wrap="square" rtlCol="0" anchor="ctr"/>
          <a:lstStyle/>
          <a:p>
            <a:pPr algn="ctr" indent="0" marL="0">
              <a:buNone/>
            </a:pPr>
            <a:r>
              <a:rPr lang="en-US" sz="1300" b="1" dirty="0">
                <a:solidFill>
                  <a:srgbClr val="232B3A"/>
                </a:solidFill>
                <a:latin typeface="Cambria" pitchFamily="34" charset="0"/>
                <a:ea typeface="Cambria" pitchFamily="34" charset="-122"/>
                <a:cs typeface="Cambria" pitchFamily="34" charset="-120"/>
              </a:rPr>
              <a:t>3</a:t>
            </a:r>
            <a:endParaRPr lang="en-US" sz="1300" dirty="0"/>
          </a:p>
        </p:txBody>
      </p:sp>
      <p:sp>
        <p:nvSpPr>
          <p:cNvPr id="67" name="Shape 65"/>
          <p:cNvSpPr/>
          <p:nvPr/>
        </p:nvSpPr>
        <p:spPr>
          <a:xfrm>
            <a:off x="502920" y="4407408"/>
            <a:ext cx="3749040" cy="457200"/>
          </a:xfrm>
          <a:prstGeom prst="rect">
            <a:avLst/>
          </a:prstGeom>
          <a:solidFill>
            <a:srgbClr val="EEF1F4"/>
          </a:solidFill>
          <a:ln w="6350">
            <a:solidFill>
              <a:srgbClr val="DDE2E8"/>
            </a:solidFill>
            <a:prstDash val="solid"/>
          </a:ln>
        </p:spPr>
      </p:sp>
      <p:sp>
        <p:nvSpPr>
          <p:cNvPr id="68" name="Text 66"/>
          <p:cNvSpPr/>
          <p:nvPr/>
        </p:nvSpPr>
        <p:spPr>
          <a:xfrm>
            <a:off x="576072" y="4407408"/>
            <a:ext cx="3602736" cy="457200"/>
          </a:xfrm>
          <a:prstGeom prst="rect">
            <a:avLst/>
          </a:prstGeom>
          <a:noFill/>
          <a:ln/>
        </p:spPr>
        <p:txBody>
          <a:bodyPr wrap="square" rtlCol="0" anchor="ctr"/>
          <a:lstStyle/>
          <a:p>
            <a:pPr indent="0" marL="0">
              <a:buNone/>
            </a:pPr>
            <a:r>
              <a:rPr lang="en-US" sz="1050" dirty="0">
                <a:solidFill>
                  <a:srgbClr val="232B3A"/>
                </a:solidFill>
                <a:latin typeface="Calibri" pitchFamily="34" charset="0"/>
                <a:ea typeface="Calibri" pitchFamily="34" charset="-122"/>
                <a:cs typeface="Calibri" pitchFamily="34" charset="-120"/>
              </a:rPr>
              <a:t>Banking regulatory fit (MAS TRM)</a:t>
            </a:r>
            <a:endParaRPr lang="en-US" sz="1050" dirty="0"/>
          </a:p>
        </p:txBody>
      </p:sp>
      <p:sp>
        <p:nvSpPr>
          <p:cNvPr id="69" name="Shape 67"/>
          <p:cNvSpPr/>
          <p:nvPr/>
        </p:nvSpPr>
        <p:spPr>
          <a:xfrm>
            <a:off x="4251960" y="4407408"/>
            <a:ext cx="1856232" cy="457200"/>
          </a:xfrm>
          <a:prstGeom prst="rect">
            <a:avLst/>
          </a:prstGeom>
          <a:solidFill>
            <a:srgbClr val="EEF1F4"/>
          </a:solidFill>
          <a:ln w="6350">
            <a:solidFill>
              <a:srgbClr val="DDE2E8"/>
            </a:solidFill>
            <a:prstDash val="solid"/>
          </a:ln>
        </p:spPr>
      </p:sp>
      <p:sp>
        <p:nvSpPr>
          <p:cNvPr id="70" name="Text 68"/>
          <p:cNvSpPr/>
          <p:nvPr/>
        </p:nvSpPr>
        <p:spPr>
          <a:xfrm>
            <a:off x="4251960" y="4407408"/>
            <a:ext cx="1856232" cy="457200"/>
          </a:xfrm>
          <a:prstGeom prst="rect">
            <a:avLst/>
          </a:prstGeom>
          <a:noFill/>
          <a:ln/>
        </p:spPr>
        <p:txBody>
          <a:bodyPr wrap="square" rtlCol="0" anchor="ctr"/>
          <a:lstStyle/>
          <a:p>
            <a:pPr algn="ctr" indent="0" marL="0">
              <a:buNone/>
            </a:pPr>
            <a:r>
              <a:rPr lang="en-US" sz="1300" b="1" dirty="0">
                <a:solidFill>
                  <a:srgbClr val="232B3A"/>
                </a:solidFill>
                <a:latin typeface="Cambria" pitchFamily="34" charset="0"/>
                <a:ea typeface="Cambria" pitchFamily="34" charset="-122"/>
                <a:cs typeface="Cambria" pitchFamily="34" charset="-120"/>
              </a:rPr>
              <a:t>3</a:t>
            </a:r>
            <a:endParaRPr lang="en-US" sz="1300" dirty="0"/>
          </a:p>
        </p:txBody>
      </p:sp>
      <p:sp>
        <p:nvSpPr>
          <p:cNvPr id="71" name="Shape 69"/>
          <p:cNvSpPr/>
          <p:nvPr/>
        </p:nvSpPr>
        <p:spPr>
          <a:xfrm>
            <a:off x="6108192" y="4407408"/>
            <a:ext cx="1856232" cy="457200"/>
          </a:xfrm>
          <a:prstGeom prst="rect">
            <a:avLst/>
          </a:prstGeom>
          <a:solidFill>
            <a:srgbClr val="EEF1F4"/>
          </a:solidFill>
          <a:ln w="6350">
            <a:solidFill>
              <a:srgbClr val="DDE2E8"/>
            </a:solidFill>
            <a:prstDash val="solid"/>
          </a:ln>
        </p:spPr>
      </p:sp>
      <p:sp>
        <p:nvSpPr>
          <p:cNvPr id="72" name="Text 70"/>
          <p:cNvSpPr/>
          <p:nvPr/>
        </p:nvSpPr>
        <p:spPr>
          <a:xfrm>
            <a:off x="6108192" y="4407408"/>
            <a:ext cx="1856232" cy="457200"/>
          </a:xfrm>
          <a:prstGeom prst="rect">
            <a:avLst/>
          </a:prstGeom>
          <a:noFill/>
          <a:ln/>
        </p:spPr>
        <p:txBody>
          <a:bodyPr wrap="square" rtlCol="0" anchor="ctr"/>
          <a:lstStyle/>
          <a:p>
            <a:pPr algn="ctr" indent="0" marL="0">
              <a:buNone/>
            </a:pPr>
            <a:r>
              <a:rPr lang="en-US" sz="1300" b="1" dirty="0">
                <a:solidFill>
                  <a:srgbClr val="C0392B"/>
                </a:solidFill>
                <a:latin typeface="Cambria" pitchFamily="34" charset="0"/>
                <a:ea typeface="Cambria" pitchFamily="34" charset="-122"/>
                <a:cs typeface="Cambria" pitchFamily="34" charset="-120"/>
              </a:rPr>
              <a:t>2</a:t>
            </a:r>
            <a:endParaRPr lang="en-US" sz="1300" dirty="0"/>
          </a:p>
        </p:txBody>
      </p:sp>
      <p:sp>
        <p:nvSpPr>
          <p:cNvPr id="73" name="Shape 71"/>
          <p:cNvSpPr/>
          <p:nvPr/>
        </p:nvSpPr>
        <p:spPr>
          <a:xfrm>
            <a:off x="7964424" y="4407408"/>
            <a:ext cx="1856232" cy="457200"/>
          </a:xfrm>
          <a:prstGeom prst="rect">
            <a:avLst/>
          </a:prstGeom>
          <a:solidFill>
            <a:srgbClr val="EEF1F4"/>
          </a:solidFill>
          <a:ln w="6350">
            <a:solidFill>
              <a:srgbClr val="DDE2E8"/>
            </a:solidFill>
            <a:prstDash val="solid"/>
          </a:ln>
        </p:spPr>
      </p:sp>
      <p:sp>
        <p:nvSpPr>
          <p:cNvPr id="74" name="Text 72"/>
          <p:cNvSpPr/>
          <p:nvPr/>
        </p:nvSpPr>
        <p:spPr>
          <a:xfrm>
            <a:off x="7964424" y="4407408"/>
            <a:ext cx="1856232" cy="457200"/>
          </a:xfrm>
          <a:prstGeom prst="rect">
            <a:avLst/>
          </a:prstGeom>
          <a:noFill/>
          <a:ln/>
        </p:spPr>
        <p:txBody>
          <a:bodyPr wrap="square" rtlCol="0" anchor="ctr"/>
          <a:lstStyle/>
          <a:p>
            <a:pPr algn="ctr" indent="0" marL="0">
              <a:buNone/>
            </a:pPr>
            <a:r>
              <a:rPr lang="en-US" sz="1300" b="1" dirty="0">
                <a:solidFill>
                  <a:srgbClr val="019879"/>
                </a:solidFill>
                <a:latin typeface="Cambria" pitchFamily="34" charset="0"/>
                <a:ea typeface="Cambria" pitchFamily="34" charset="-122"/>
                <a:cs typeface="Cambria" pitchFamily="34" charset="-120"/>
              </a:rPr>
              <a:t>5</a:t>
            </a:r>
            <a:endParaRPr lang="en-US" sz="1300" dirty="0"/>
          </a:p>
        </p:txBody>
      </p:sp>
      <p:sp>
        <p:nvSpPr>
          <p:cNvPr id="75" name="Shape 73"/>
          <p:cNvSpPr/>
          <p:nvPr/>
        </p:nvSpPr>
        <p:spPr>
          <a:xfrm>
            <a:off x="9820656" y="4407408"/>
            <a:ext cx="1856232" cy="457200"/>
          </a:xfrm>
          <a:prstGeom prst="rect">
            <a:avLst/>
          </a:prstGeom>
          <a:solidFill>
            <a:srgbClr val="EEF1F4"/>
          </a:solidFill>
          <a:ln w="6350">
            <a:solidFill>
              <a:srgbClr val="DDE2E8"/>
            </a:solidFill>
            <a:prstDash val="solid"/>
          </a:ln>
        </p:spPr>
      </p:sp>
      <p:sp>
        <p:nvSpPr>
          <p:cNvPr id="76" name="Text 74"/>
          <p:cNvSpPr/>
          <p:nvPr/>
        </p:nvSpPr>
        <p:spPr>
          <a:xfrm>
            <a:off x="9820656" y="4407408"/>
            <a:ext cx="1856232" cy="457200"/>
          </a:xfrm>
          <a:prstGeom prst="rect">
            <a:avLst/>
          </a:prstGeom>
          <a:noFill/>
          <a:ln/>
        </p:spPr>
        <p:txBody>
          <a:bodyPr wrap="square" rtlCol="0" anchor="ctr"/>
          <a:lstStyle/>
          <a:p>
            <a:pPr algn="ctr" indent="0" marL="0">
              <a:buNone/>
            </a:pPr>
            <a:r>
              <a:rPr lang="en-US" sz="1300" b="1" dirty="0">
                <a:solidFill>
                  <a:srgbClr val="232B3A"/>
                </a:solidFill>
                <a:latin typeface="Cambria" pitchFamily="34" charset="0"/>
                <a:ea typeface="Cambria" pitchFamily="34" charset="-122"/>
                <a:cs typeface="Cambria" pitchFamily="34" charset="-120"/>
              </a:rPr>
              <a:t>3</a:t>
            </a:r>
            <a:endParaRPr lang="en-US" sz="1300" dirty="0"/>
          </a:p>
        </p:txBody>
      </p:sp>
      <p:sp>
        <p:nvSpPr>
          <p:cNvPr id="77" name="Shape 75"/>
          <p:cNvSpPr/>
          <p:nvPr/>
        </p:nvSpPr>
        <p:spPr>
          <a:xfrm>
            <a:off x="502920" y="4864608"/>
            <a:ext cx="3749040" cy="457200"/>
          </a:xfrm>
          <a:prstGeom prst="rect">
            <a:avLst/>
          </a:prstGeom>
          <a:solidFill>
            <a:srgbClr val="1E2761"/>
          </a:solidFill>
          <a:ln w="6350">
            <a:solidFill>
              <a:srgbClr val="FFFFFF"/>
            </a:solidFill>
            <a:prstDash val="solid"/>
          </a:ln>
        </p:spPr>
      </p:sp>
      <p:sp>
        <p:nvSpPr>
          <p:cNvPr id="78" name="Text 76"/>
          <p:cNvSpPr/>
          <p:nvPr/>
        </p:nvSpPr>
        <p:spPr>
          <a:xfrm>
            <a:off x="576072" y="4864608"/>
            <a:ext cx="3602736" cy="4572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Total (30)</a:t>
            </a:r>
            <a:endParaRPr lang="en-US" sz="1100" dirty="0"/>
          </a:p>
        </p:txBody>
      </p:sp>
      <p:sp>
        <p:nvSpPr>
          <p:cNvPr id="79" name="Shape 77"/>
          <p:cNvSpPr/>
          <p:nvPr/>
        </p:nvSpPr>
        <p:spPr>
          <a:xfrm>
            <a:off x="4251960" y="4864608"/>
            <a:ext cx="1856232" cy="457200"/>
          </a:xfrm>
          <a:prstGeom prst="rect">
            <a:avLst/>
          </a:prstGeom>
          <a:solidFill>
            <a:srgbClr val="02C39A"/>
          </a:solidFill>
          <a:ln w="6350">
            <a:solidFill>
              <a:srgbClr val="FFFFFF"/>
            </a:solidFill>
            <a:prstDash val="solid"/>
          </a:ln>
        </p:spPr>
      </p:sp>
      <p:sp>
        <p:nvSpPr>
          <p:cNvPr id="80" name="Text 78"/>
          <p:cNvSpPr/>
          <p:nvPr/>
        </p:nvSpPr>
        <p:spPr>
          <a:xfrm>
            <a:off x="4251960" y="4864608"/>
            <a:ext cx="1856232" cy="457200"/>
          </a:xfrm>
          <a:prstGeom prst="rect">
            <a:avLst/>
          </a:prstGeom>
          <a:noFill/>
          <a:ln/>
        </p:spPr>
        <p:txBody>
          <a:bodyPr wrap="square" rtlCol="0" anchor="ctr"/>
          <a:lstStyle/>
          <a:p>
            <a:pPr algn="ctr" indent="0" marL="0">
              <a:buNone/>
            </a:pPr>
            <a:r>
              <a:rPr lang="en-US" sz="1400" b="1" dirty="0">
                <a:solidFill>
                  <a:srgbClr val="141B4D"/>
                </a:solidFill>
                <a:latin typeface="Cambria" pitchFamily="34" charset="0"/>
                <a:ea typeface="Cambria" pitchFamily="34" charset="-122"/>
                <a:cs typeface="Cambria" pitchFamily="34" charset="-120"/>
              </a:rPr>
              <a:t>25</a:t>
            </a:r>
            <a:endParaRPr lang="en-US" sz="1400" dirty="0"/>
          </a:p>
        </p:txBody>
      </p:sp>
      <p:sp>
        <p:nvSpPr>
          <p:cNvPr id="81" name="Shape 79"/>
          <p:cNvSpPr/>
          <p:nvPr/>
        </p:nvSpPr>
        <p:spPr>
          <a:xfrm>
            <a:off x="6108192" y="4864608"/>
            <a:ext cx="1856232" cy="457200"/>
          </a:xfrm>
          <a:prstGeom prst="rect">
            <a:avLst/>
          </a:prstGeom>
          <a:solidFill>
            <a:srgbClr val="02C39A"/>
          </a:solidFill>
          <a:ln w="6350">
            <a:solidFill>
              <a:srgbClr val="FFFFFF"/>
            </a:solidFill>
            <a:prstDash val="solid"/>
          </a:ln>
        </p:spPr>
      </p:sp>
      <p:sp>
        <p:nvSpPr>
          <p:cNvPr id="82" name="Text 80"/>
          <p:cNvSpPr/>
          <p:nvPr/>
        </p:nvSpPr>
        <p:spPr>
          <a:xfrm>
            <a:off x="6108192" y="4864608"/>
            <a:ext cx="1856232" cy="457200"/>
          </a:xfrm>
          <a:prstGeom prst="rect">
            <a:avLst/>
          </a:prstGeom>
          <a:noFill/>
          <a:ln/>
        </p:spPr>
        <p:txBody>
          <a:bodyPr wrap="square" rtlCol="0" anchor="ctr"/>
          <a:lstStyle/>
          <a:p>
            <a:pPr algn="ctr" indent="0" marL="0">
              <a:buNone/>
            </a:pPr>
            <a:r>
              <a:rPr lang="en-US" sz="1400" b="1" dirty="0">
                <a:solidFill>
                  <a:srgbClr val="141B4D"/>
                </a:solidFill>
                <a:latin typeface="Cambria" pitchFamily="34" charset="0"/>
                <a:ea typeface="Cambria" pitchFamily="34" charset="-122"/>
                <a:cs typeface="Cambria" pitchFamily="34" charset="-120"/>
              </a:rPr>
              <a:t>18</a:t>
            </a:r>
            <a:endParaRPr lang="en-US" sz="1400" dirty="0"/>
          </a:p>
        </p:txBody>
      </p:sp>
      <p:sp>
        <p:nvSpPr>
          <p:cNvPr id="83" name="Shape 81"/>
          <p:cNvSpPr/>
          <p:nvPr/>
        </p:nvSpPr>
        <p:spPr>
          <a:xfrm>
            <a:off x="7964424" y="4864608"/>
            <a:ext cx="1856232" cy="457200"/>
          </a:xfrm>
          <a:prstGeom prst="rect">
            <a:avLst/>
          </a:prstGeom>
          <a:solidFill>
            <a:srgbClr val="02C39A"/>
          </a:solidFill>
          <a:ln w="6350">
            <a:solidFill>
              <a:srgbClr val="FFFFFF"/>
            </a:solidFill>
            <a:prstDash val="solid"/>
          </a:ln>
        </p:spPr>
      </p:sp>
      <p:sp>
        <p:nvSpPr>
          <p:cNvPr id="84" name="Text 82"/>
          <p:cNvSpPr/>
          <p:nvPr/>
        </p:nvSpPr>
        <p:spPr>
          <a:xfrm>
            <a:off x="7964424" y="4864608"/>
            <a:ext cx="1856232" cy="457200"/>
          </a:xfrm>
          <a:prstGeom prst="rect">
            <a:avLst/>
          </a:prstGeom>
          <a:noFill/>
          <a:ln/>
        </p:spPr>
        <p:txBody>
          <a:bodyPr wrap="square" rtlCol="0" anchor="ctr"/>
          <a:lstStyle/>
          <a:p>
            <a:pPr algn="ctr" indent="0" marL="0">
              <a:buNone/>
            </a:pPr>
            <a:r>
              <a:rPr lang="en-US" sz="1400" b="1" dirty="0">
                <a:solidFill>
                  <a:srgbClr val="141B4D"/>
                </a:solidFill>
                <a:latin typeface="Cambria" pitchFamily="34" charset="0"/>
                <a:ea typeface="Cambria" pitchFamily="34" charset="-122"/>
                <a:cs typeface="Cambria" pitchFamily="34" charset="-120"/>
              </a:rPr>
              <a:t>24</a:t>
            </a:r>
            <a:endParaRPr lang="en-US" sz="1400" dirty="0"/>
          </a:p>
        </p:txBody>
      </p:sp>
      <p:sp>
        <p:nvSpPr>
          <p:cNvPr id="85" name="Shape 83"/>
          <p:cNvSpPr/>
          <p:nvPr/>
        </p:nvSpPr>
        <p:spPr>
          <a:xfrm>
            <a:off x="9820656" y="4864608"/>
            <a:ext cx="1856232" cy="457200"/>
          </a:xfrm>
          <a:prstGeom prst="rect">
            <a:avLst/>
          </a:prstGeom>
          <a:solidFill>
            <a:srgbClr val="02C39A"/>
          </a:solidFill>
          <a:ln w="6350">
            <a:solidFill>
              <a:srgbClr val="FFFFFF"/>
            </a:solidFill>
            <a:prstDash val="solid"/>
          </a:ln>
        </p:spPr>
      </p:sp>
      <p:sp>
        <p:nvSpPr>
          <p:cNvPr id="86" name="Text 84"/>
          <p:cNvSpPr/>
          <p:nvPr/>
        </p:nvSpPr>
        <p:spPr>
          <a:xfrm>
            <a:off x="9820656" y="4864608"/>
            <a:ext cx="1856232" cy="457200"/>
          </a:xfrm>
          <a:prstGeom prst="rect">
            <a:avLst/>
          </a:prstGeom>
          <a:noFill/>
          <a:ln/>
        </p:spPr>
        <p:txBody>
          <a:bodyPr wrap="square" rtlCol="0" anchor="ctr"/>
          <a:lstStyle/>
          <a:p>
            <a:pPr algn="ctr" indent="0" marL="0">
              <a:buNone/>
            </a:pPr>
            <a:r>
              <a:rPr lang="en-US" sz="1400" b="1" dirty="0">
                <a:solidFill>
                  <a:srgbClr val="141B4D"/>
                </a:solidFill>
                <a:latin typeface="Cambria" pitchFamily="34" charset="0"/>
                <a:ea typeface="Cambria" pitchFamily="34" charset="-122"/>
                <a:cs typeface="Cambria" pitchFamily="34" charset="-120"/>
              </a:rPr>
              <a:t>17</a:t>
            </a:r>
            <a:endParaRPr lang="en-US" sz="1400" dirty="0"/>
          </a:p>
        </p:txBody>
      </p:sp>
      <p:sp>
        <p:nvSpPr>
          <p:cNvPr id="87" name="Text 85"/>
          <p:cNvSpPr/>
          <p:nvPr/>
        </p:nvSpPr>
        <p:spPr>
          <a:xfrm>
            <a:off x="502920" y="5458968"/>
            <a:ext cx="11155680" cy="411480"/>
          </a:xfrm>
          <a:prstGeom prst="rect">
            <a:avLst/>
          </a:prstGeom>
          <a:noFill/>
          <a:ln/>
        </p:spPr>
        <p:txBody>
          <a:bodyPr wrap="square" rtlCol="0" anchor="ctr"/>
          <a:lstStyle/>
          <a:p>
            <a:pPr indent="0" marL="0">
              <a:buNone/>
            </a:pPr>
            <a:r>
              <a:rPr lang="en-US" sz="1050" i="1" dirty="0">
                <a:solidFill>
                  <a:srgbClr val="6B7684"/>
                </a:solidFill>
                <a:latin typeface="Calibri" pitchFamily="34" charset="0"/>
                <a:ea typeface="Calibri" pitchFamily="34" charset="-122"/>
                <a:cs typeface="Calibri" pitchFamily="34" charset="-120"/>
              </a:rPr>
              <a:t>Edwin AI and IBM Cloud Pak lead on architectural fit; IBM leads specifically where on-prem data sovereignty and MAS TRM alignment are hard requirements.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AI PLATFORM EVALUATION</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Regulatory &amp; MAS TRM Compliance Snapshot</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4 · PLATFORM EVALUATION</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20 / 33</a:t>
            </a:r>
            <a:endParaRPr lang="en-US" sz="850" dirty="0"/>
          </a:p>
        </p:txBody>
      </p:sp>
      <p:sp>
        <p:nvSpPr>
          <p:cNvPr id="7" name="Shape 5"/>
          <p:cNvSpPr/>
          <p:nvPr/>
        </p:nvSpPr>
        <p:spPr>
          <a:xfrm>
            <a:off x="502920" y="1645920"/>
            <a:ext cx="2583180" cy="2011680"/>
          </a:xfrm>
          <a:prstGeom prst="roundRect">
            <a:avLst>
              <a:gd name="adj" fmla="val 3636"/>
            </a:avLst>
          </a:prstGeom>
          <a:solidFill>
            <a:srgbClr val="EEF1F4"/>
          </a:solidFill>
          <a:ln/>
        </p:spPr>
      </p:sp>
      <p:sp>
        <p:nvSpPr>
          <p:cNvPr id="8" name="Shape 6"/>
          <p:cNvSpPr/>
          <p:nvPr/>
        </p:nvSpPr>
        <p:spPr>
          <a:xfrm>
            <a:off x="704088" y="1847088"/>
            <a:ext cx="365760" cy="365760"/>
          </a:xfrm>
          <a:prstGeom prst="ellipse">
            <a:avLst/>
          </a:prstGeom>
          <a:solidFill>
            <a:srgbClr val="1E2761"/>
          </a:solidFill>
          <a:ln/>
        </p:spPr>
      </p:sp>
      <p:sp>
        <p:nvSpPr>
          <p:cNvPr id="9" name="Text 7"/>
          <p:cNvSpPr/>
          <p:nvPr/>
        </p:nvSpPr>
        <p:spPr>
          <a:xfrm>
            <a:off x="704088" y="184708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704088" y="2304288"/>
            <a:ext cx="21808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IBM Watson AIOps / watsonx</a:t>
            </a:r>
            <a:endParaRPr lang="en-US" sz="1350" dirty="0"/>
          </a:p>
        </p:txBody>
      </p:sp>
      <p:sp>
        <p:nvSpPr>
          <p:cNvPr id="11" name="Text 9"/>
          <p:cNvSpPr/>
          <p:nvPr/>
        </p:nvSpPr>
        <p:spPr>
          <a:xfrm>
            <a:off x="704088" y="2633472"/>
            <a:ext cx="2180844" cy="89611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Strongest on MAS TRM: on-prem via OpenShift, Singapore data centre, full telemetry sovereignty.</a:t>
            </a:r>
            <a:endParaRPr lang="en-US" sz="950" dirty="0"/>
          </a:p>
        </p:txBody>
      </p:sp>
      <p:sp>
        <p:nvSpPr>
          <p:cNvPr id="12" name="Shape 10"/>
          <p:cNvSpPr/>
          <p:nvPr/>
        </p:nvSpPr>
        <p:spPr>
          <a:xfrm>
            <a:off x="3360420" y="1645920"/>
            <a:ext cx="2583180" cy="2011680"/>
          </a:xfrm>
          <a:prstGeom prst="roundRect">
            <a:avLst>
              <a:gd name="adj" fmla="val 3636"/>
            </a:avLst>
          </a:prstGeom>
          <a:solidFill>
            <a:srgbClr val="EEF1F4"/>
          </a:solidFill>
          <a:ln/>
        </p:spPr>
      </p:sp>
      <p:sp>
        <p:nvSpPr>
          <p:cNvPr id="13" name="Shape 11"/>
          <p:cNvSpPr/>
          <p:nvPr/>
        </p:nvSpPr>
        <p:spPr>
          <a:xfrm>
            <a:off x="3561588" y="1847088"/>
            <a:ext cx="365760" cy="365760"/>
          </a:xfrm>
          <a:prstGeom prst="ellipse">
            <a:avLst/>
          </a:prstGeom>
          <a:solidFill>
            <a:srgbClr val="1E2761"/>
          </a:solidFill>
          <a:ln/>
        </p:spPr>
      </p:sp>
      <p:sp>
        <p:nvSpPr>
          <p:cNvPr id="14" name="Text 12"/>
          <p:cNvSpPr/>
          <p:nvPr/>
        </p:nvSpPr>
        <p:spPr>
          <a:xfrm>
            <a:off x="3561588" y="184708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3561588" y="2304288"/>
            <a:ext cx="21808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ServiceNow Now Assist</a:t>
            </a:r>
            <a:endParaRPr lang="en-US" sz="1350" dirty="0"/>
          </a:p>
        </p:txBody>
      </p:sp>
      <p:sp>
        <p:nvSpPr>
          <p:cNvPr id="16" name="Text 14"/>
          <p:cNvSpPr/>
          <p:nvPr/>
        </p:nvSpPr>
        <p:spPr>
          <a:xfrm>
            <a:off x="3561588" y="2633472"/>
            <a:ext cx="2180844" cy="89611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GCC holds FedRAMP High, DoD IL4/IL5, PCI DSS, HITRUST — high rigour of 3rd-party validation.</a:t>
            </a:r>
            <a:endParaRPr lang="en-US" sz="950" dirty="0"/>
          </a:p>
        </p:txBody>
      </p:sp>
      <p:sp>
        <p:nvSpPr>
          <p:cNvPr id="17" name="Shape 15"/>
          <p:cNvSpPr/>
          <p:nvPr/>
        </p:nvSpPr>
        <p:spPr>
          <a:xfrm>
            <a:off x="6217920" y="1645920"/>
            <a:ext cx="2583180" cy="2011680"/>
          </a:xfrm>
          <a:prstGeom prst="roundRect">
            <a:avLst>
              <a:gd name="adj" fmla="val 3636"/>
            </a:avLst>
          </a:prstGeom>
          <a:solidFill>
            <a:srgbClr val="EEF1F4"/>
          </a:solidFill>
          <a:ln/>
        </p:spPr>
      </p:sp>
      <p:sp>
        <p:nvSpPr>
          <p:cNvPr id="18" name="Shape 16"/>
          <p:cNvSpPr/>
          <p:nvPr/>
        </p:nvSpPr>
        <p:spPr>
          <a:xfrm>
            <a:off x="6419088" y="1847088"/>
            <a:ext cx="365760" cy="365760"/>
          </a:xfrm>
          <a:prstGeom prst="ellipse">
            <a:avLst/>
          </a:prstGeom>
          <a:solidFill>
            <a:srgbClr val="1E2761"/>
          </a:solidFill>
          <a:ln/>
        </p:spPr>
      </p:sp>
      <p:sp>
        <p:nvSpPr>
          <p:cNvPr id="19" name="Text 17"/>
          <p:cNvSpPr/>
          <p:nvPr/>
        </p:nvSpPr>
        <p:spPr>
          <a:xfrm>
            <a:off x="6419088" y="184708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6419088" y="2304288"/>
            <a:ext cx="21808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Dynatrace Davis AI</a:t>
            </a:r>
            <a:endParaRPr lang="en-US" sz="1350" dirty="0"/>
          </a:p>
        </p:txBody>
      </p:sp>
      <p:sp>
        <p:nvSpPr>
          <p:cNvPr id="21" name="Text 19"/>
          <p:cNvSpPr/>
          <p:nvPr/>
        </p:nvSpPr>
        <p:spPr>
          <a:xfrm>
            <a:off x="6419088" y="2633472"/>
            <a:ext cx="2180844" cy="89611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Strong baseline: FedRAMP, StateRAMP, ISO 27001, SOC 2 Type II, CSA STAR L2 Gold certified.</a:t>
            </a:r>
            <a:endParaRPr lang="en-US" sz="950" dirty="0"/>
          </a:p>
        </p:txBody>
      </p:sp>
      <p:sp>
        <p:nvSpPr>
          <p:cNvPr id="22" name="Shape 20"/>
          <p:cNvSpPr/>
          <p:nvPr/>
        </p:nvSpPr>
        <p:spPr>
          <a:xfrm>
            <a:off x="9075420" y="1645920"/>
            <a:ext cx="2583180" cy="2011680"/>
          </a:xfrm>
          <a:prstGeom prst="roundRect">
            <a:avLst>
              <a:gd name="adj" fmla="val 3636"/>
            </a:avLst>
          </a:prstGeom>
          <a:solidFill>
            <a:srgbClr val="EEF1F4"/>
          </a:solidFill>
          <a:ln/>
        </p:spPr>
      </p:sp>
      <p:sp>
        <p:nvSpPr>
          <p:cNvPr id="23" name="Shape 21"/>
          <p:cNvSpPr/>
          <p:nvPr/>
        </p:nvSpPr>
        <p:spPr>
          <a:xfrm>
            <a:off x="9276588" y="1847088"/>
            <a:ext cx="365760" cy="365760"/>
          </a:xfrm>
          <a:prstGeom prst="ellipse">
            <a:avLst/>
          </a:prstGeom>
          <a:solidFill>
            <a:srgbClr val="1E2761"/>
          </a:solidFill>
          <a:ln/>
        </p:spPr>
      </p:sp>
      <p:sp>
        <p:nvSpPr>
          <p:cNvPr id="24" name="Text 22"/>
          <p:cNvSpPr/>
          <p:nvPr/>
        </p:nvSpPr>
        <p:spPr>
          <a:xfrm>
            <a:off x="9276588" y="184708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9276588" y="2304288"/>
            <a:ext cx="21808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Edwin AI (LogicMonitor)</a:t>
            </a:r>
            <a:endParaRPr lang="en-US" sz="1350" dirty="0"/>
          </a:p>
        </p:txBody>
      </p:sp>
      <p:sp>
        <p:nvSpPr>
          <p:cNvPr id="26" name="Text 24"/>
          <p:cNvSpPr/>
          <p:nvPr/>
        </p:nvSpPr>
        <p:spPr>
          <a:xfrm>
            <a:off x="9276588" y="2633472"/>
            <a:ext cx="2180844" cy="89611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SOC 2 / ISO certified, but SaaS-only with no SG data-residency or MAS TRM mapping published yet.</a:t>
            </a:r>
            <a:endParaRPr lang="en-US" sz="950" dirty="0"/>
          </a:p>
        </p:txBody>
      </p:sp>
      <p:sp>
        <p:nvSpPr>
          <p:cNvPr id="27" name="Shape 25"/>
          <p:cNvSpPr/>
          <p:nvPr/>
        </p:nvSpPr>
        <p:spPr>
          <a:xfrm>
            <a:off x="502920" y="3886200"/>
            <a:ext cx="11155680" cy="1828800"/>
          </a:xfrm>
          <a:prstGeom prst="roundRect">
            <a:avLst>
              <a:gd name="adj" fmla="val 4000"/>
            </a:avLst>
          </a:prstGeom>
          <a:solidFill>
            <a:srgbClr val="1E2761"/>
          </a:solidFill>
          <a:ln/>
        </p:spPr>
      </p:sp>
      <p:sp>
        <p:nvSpPr>
          <p:cNvPr id="28" name="Text 26"/>
          <p:cNvSpPr/>
          <p:nvPr/>
        </p:nvSpPr>
        <p:spPr>
          <a:xfrm>
            <a:off x="777240" y="4023360"/>
            <a:ext cx="1060704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2026 MAS Requirements Directly Relevant to This Program</a:t>
            </a:r>
            <a:endParaRPr lang="en-US" sz="1300" dirty="0"/>
          </a:p>
        </p:txBody>
      </p:sp>
      <p:sp>
        <p:nvSpPr>
          <p:cNvPr id="29" name="Shape 27"/>
          <p:cNvSpPr/>
          <p:nvPr/>
        </p:nvSpPr>
        <p:spPr>
          <a:xfrm>
            <a:off x="777240" y="4480560"/>
            <a:ext cx="109728" cy="109728"/>
          </a:xfrm>
          <a:prstGeom prst="ellipse">
            <a:avLst/>
          </a:prstGeom>
          <a:solidFill>
            <a:srgbClr val="02C39A"/>
          </a:solidFill>
          <a:ln/>
        </p:spPr>
      </p:sp>
      <p:sp>
        <p:nvSpPr>
          <p:cNvPr id="30" name="Text 28"/>
          <p:cNvSpPr/>
          <p:nvPr/>
        </p:nvSpPr>
        <p:spPr>
          <a:xfrm>
            <a:off x="1005840" y="4379976"/>
            <a:ext cx="5074920" cy="530352"/>
          </a:xfrm>
          <a:prstGeom prst="rect">
            <a:avLst/>
          </a:prstGeom>
          <a:noFill/>
          <a:ln/>
        </p:spPr>
        <p:txBody>
          <a:bodyPr wrap="square" rtlCol="0" anchor="t"/>
          <a:lstStyle/>
          <a:p>
            <a:pPr indent="0" marL="0">
              <a:lnSpc>
                <a:spcPct val="110000"/>
              </a:lnSpc>
              <a:buNone/>
            </a:pPr>
            <a:r>
              <a:rPr lang="en-US" sz="950" dirty="0">
                <a:solidFill>
                  <a:srgbClr val="CADCFC"/>
                </a:solidFill>
                <a:latin typeface="Calibri" pitchFamily="34" charset="0"/>
                <a:ea typeface="Calibri" pitchFamily="34" charset="-122"/>
                <a:cs typeface="Calibri" pitchFamily="34" charset="-120"/>
              </a:rPr>
              <a:t>FSM-N05 / FSM-N06 — Zero-Trust for privileged access; 4-hour RTO for critical systems</a:t>
            </a:r>
            <a:endParaRPr lang="en-US" sz="950" dirty="0"/>
          </a:p>
        </p:txBody>
      </p:sp>
      <p:sp>
        <p:nvSpPr>
          <p:cNvPr id="31" name="Shape 29"/>
          <p:cNvSpPr/>
          <p:nvPr/>
        </p:nvSpPr>
        <p:spPr>
          <a:xfrm>
            <a:off x="6172200" y="4480560"/>
            <a:ext cx="109728" cy="109728"/>
          </a:xfrm>
          <a:prstGeom prst="ellipse">
            <a:avLst/>
          </a:prstGeom>
          <a:solidFill>
            <a:srgbClr val="02C39A"/>
          </a:solidFill>
          <a:ln/>
        </p:spPr>
      </p:sp>
      <p:sp>
        <p:nvSpPr>
          <p:cNvPr id="32" name="Text 30"/>
          <p:cNvSpPr/>
          <p:nvPr/>
        </p:nvSpPr>
        <p:spPr>
          <a:xfrm>
            <a:off x="6400800" y="4379976"/>
            <a:ext cx="5074920" cy="530352"/>
          </a:xfrm>
          <a:prstGeom prst="rect">
            <a:avLst/>
          </a:prstGeom>
          <a:noFill/>
          <a:ln/>
        </p:spPr>
        <p:txBody>
          <a:bodyPr wrap="square" rtlCol="0" anchor="t"/>
          <a:lstStyle/>
          <a:p>
            <a:pPr indent="0" marL="0">
              <a:lnSpc>
                <a:spcPct val="110000"/>
              </a:lnSpc>
              <a:buNone/>
            </a:pPr>
            <a:r>
              <a:rPr lang="en-US" sz="950" dirty="0">
                <a:solidFill>
                  <a:srgbClr val="CADCFC"/>
                </a:solidFill>
                <a:latin typeface="Calibri" pitchFamily="34" charset="0"/>
                <a:ea typeface="Calibri" pitchFamily="34" charset="-122"/>
                <a:cs typeface="Calibri" pitchFamily="34" charset="-120"/>
              </a:rPr>
              <a:t>Third-Party Risk (Mar 2026) — applies to any SaaS/cloud provider, not just “bank functions”; requires exit strategy per critical vendor</a:t>
            </a:r>
            <a:endParaRPr lang="en-US" sz="950" dirty="0"/>
          </a:p>
        </p:txBody>
      </p:sp>
      <p:sp>
        <p:nvSpPr>
          <p:cNvPr id="33" name="Shape 31"/>
          <p:cNvSpPr/>
          <p:nvPr/>
        </p:nvSpPr>
        <p:spPr>
          <a:xfrm>
            <a:off x="777240" y="5047488"/>
            <a:ext cx="109728" cy="109728"/>
          </a:xfrm>
          <a:prstGeom prst="ellipse">
            <a:avLst/>
          </a:prstGeom>
          <a:solidFill>
            <a:srgbClr val="02C39A"/>
          </a:solidFill>
          <a:ln/>
        </p:spPr>
      </p:sp>
      <p:sp>
        <p:nvSpPr>
          <p:cNvPr id="34" name="Text 32"/>
          <p:cNvSpPr/>
          <p:nvPr/>
        </p:nvSpPr>
        <p:spPr>
          <a:xfrm>
            <a:off x="1005840" y="4946904"/>
            <a:ext cx="5074920" cy="530352"/>
          </a:xfrm>
          <a:prstGeom prst="rect">
            <a:avLst/>
          </a:prstGeom>
          <a:noFill/>
          <a:ln/>
        </p:spPr>
        <p:txBody>
          <a:bodyPr wrap="square" rtlCol="0" anchor="t"/>
          <a:lstStyle/>
          <a:p>
            <a:pPr indent="0" marL="0">
              <a:lnSpc>
                <a:spcPct val="110000"/>
              </a:lnSpc>
              <a:buNone/>
            </a:pPr>
            <a:r>
              <a:rPr lang="en-US" sz="950" dirty="0">
                <a:solidFill>
                  <a:srgbClr val="CADCFC"/>
                </a:solidFill>
                <a:latin typeface="Calibri" pitchFamily="34" charset="0"/>
                <a:ea typeface="Calibri" pitchFamily="34" charset="-122"/>
                <a:cs typeface="Calibri" pitchFamily="34" charset="-120"/>
              </a:rPr>
              <a:t>AI Risk Management / Project MindForge — agentic AI requires human-in-the-loop and a central model performance/bias repository</a:t>
            </a:r>
            <a:endParaRPr lang="en-US" sz="950" dirty="0"/>
          </a:p>
        </p:txBody>
      </p:sp>
      <p:sp>
        <p:nvSpPr>
          <p:cNvPr id="35" name="Shape 33"/>
          <p:cNvSpPr/>
          <p:nvPr/>
        </p:nvSpPr>
        <p:spPr>
          <a:xfrm>
            <a:off x="6172200" y="5047488"/>
            <a:ext cx="109728" cy="109728"/>
          </a:xfrm>
          <a:prstGeom prst="ellipse">
            <a:avLst/>
          </a:prstGeom>
          <a:solidFill>
            <a:srgbClr val="02C39A"/>
          </a:solidFill>
          <a:ln/>
        </p:spPr>
      </p:sp>
      <p:sp>
        <p:nvSpPr>
          <p:cNvPr id="36" name="Text 34"/>
          <p:cNvSpPr/>
          <p:nvPr/>
        </p:nvSpPr>
        <p:spPr>
          <a:xfrm>
            <a:off x="6400800" y="4946904"/>
            <a:ext cx="5074920" cy="530352"/>
          </a:xfrm>
          <a:prstGeom prst="rect">
            <a:avLst/>
          </a:prstGeom>
          <a:noFill/>
          <a:ln/>
        </p:spPr>
        <p:txBody>
          <a:bodyPr wrap="square" rtlCol="0" anchor="t"/>
          <a:lstStyle/>
          <a:p>
            <a:pPr indent="0" marL="0">
              <a:lnSpc>
                <a:spcPct val="110000"/>
              </a:lnSpc>
              <a:buNone/>
            </a:pPr>
            <a:r>
              <a:rPr lang="en-US" sz="950" dirty="0">
                <a:solidFill>
                  <a:srgbClr val="CADCFC"/>
                </a:solidFill>
                <a:latin typeface="Calibri" pitchFamily="34" charset="0"/>
                <a:ea typeface="Calibri" pitchFamily="34" charset="-122"/>
                <a:cs typeface="Calibri" pitchFamily="34" charset="-120"/>
              </a:rPr>
              <a:t>FIs retain full accountability for outsourced technology risk regardless of vendor — no platform choice removes this obligation</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AI PLATFORM EVALUATION</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Recommendation by Deployment Scenario</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4 · PLATFORM EVALUATION</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21 / 33</a:t>
            </a:r>
            <a:endParaRPr lang="en-US" sz="850" dirty="0"/>
          </a:p>
        </p:txBody>
      </p:sp>
      <p:sp>
        <p:nvSpPr>
          <p:cNvPr id="7" name="Shape 5"/>
          <p:cNvSpPr/>
          <p:nvPr/>
        </p:nvSpPr>
        <p:spPr>
          <a:xfrm>
            <a:off x="502920" y="1737360"/>
            <a:ext cx="3611880" cy="4206240"/>
          </a:xfrm>
          <a:prstGeom prst="roundRect">
            <a:avLst>
              <a:gd name="adj" fmla="val 2532"/>
            </a:avLst>
          </a:prstGeom>
          <a:solidFill>
            <a:srgbClr val="EEF1F4"/>
          </a:solidFill>
          <a:ln/>
        </p:spPr>
      </p:sp>
      <p:sp>
        <p:nvSpPr>
          <p:cNvPr id="8" name="Text 6"/>
          <p:cNvSpPr/>
          <p:nvPr/>
        </p:nvSpPr>
        <p:spPr>
          <a:xfrm>
            <a:off x="731520" y="1965960"/>
            <a:ext cx="3154680" cy="548640"/>
          </a:xfrm>
          <a:prstGeom prst="rect">
            <a:avLst/>
          </a:prstGeom>
          <a:noFill/>
          <a:ln/>
        </p:spPr>
        <p:txBody>
          <a:bodyPr wrap="square" rtlCol="0" anchor="ctr"/>
          <a:lstStyle/>
          <a:p>
            <a:pPr indent="0" marL="0">
              <a:buNone/>
            </a:pPr>
            <a:r>
              <a:rPr lang="en-US" sz="1400" b="1" dirty="0">
                <a:solidFill>
                  <a:srgbClr val="232B3A"/>
                </a:solidFill>
                <a:latin typeface="Cambria" pitchFamily="34" charset="0"/>
                <a:ea typeface="Cambria" pitchFamily="34" charset="-122"/>
                <a:cs typeface="Cambria" pitchFamily="34" charset="-120"/>
              </a:rPr>
              <a:t>On-Prem Dominant / Regulated</a:t>
            </a:r>
            <a:endParaRPr lang="en-US" sz="1400" dirty="0"/>
          </a:p>
        </p:txBody>
      </p:sp>
      <p:sp>
        <p:nvSpPr>
          <p:cNvPr id="9" name="Shape 7"/>
          <p:cNvSpPr/>
          <p:nvPr/>
        </p:nvSpPr>
        <p:spPr>
          <a:xfrm>
            <a:off x="731520" y="2606040"/>
            <a:ext cx="3154680" cy="0"/>
          </a:xfrm>
          <a:prstGeom prst="line">
            <a:avLst/>
          </a:prstGeom>
          <a:noFill/>
          <a:ln w="12700">
            <a:solidFill>
              <a:srgbClr val="5B6B7C"/>
            </a:solidFill>
            <a:prstDash val="solid"/>
          </a:ln>
        </p:spPr>
      </p:sp>
      <p:sp>
        <p:nvSpPr>
          <p:cNvPr id="10" name="Text 8"/>
          <p:cNvSpPr/>
          <p:nvPr/>
        </p:nvSpPr>
        <p:spPr>
          <a:xfrm>
            <a:off x="731520" y="2743200"/>
            <a:ext cx="3154680" cy="5486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IBM Cloud Pak for AIOps</a:t>
            </a:r>
            <a:endParaRPr lang="en-US" sz="1300" dirty="0"/>
          </a:p>
        </p:txBody>
      </p:sp>
      <p:sp>
        <p:nvSpPr>
          <p:cNvPr id="11" name="Text 9"/>
          <p:cNvSpPr/>
          <p:nvPr/>
        </p:nvSpPr>
        <p:spPr>
          <a:xfrm>
            <a:off x="731520" y="3383280"/>
            <a:ext cx="3154680" cy="2377440"/>
          </a:xfrm>
          <a:prstGeom prst="rect">
            <a:avLst/>
          </a:prstGeom>
          <a:noFill/>
          <a:ln/>
        </p:spPr>
        <p:txBody>
          <a:bodyPr wrap="square" rtlCol="0" anchor="t"/>
          <a:lstStyle/>
          <a:p>
            <a:pPr indent="0" marL="0">
              <a:lnSpc>
                <a:spcPct val="120000"/>
              </a:lnSpc>
              <a:buNone/>
            </a:pPr>
            <a:r>
              <a:rPr lang="en-US" sz="1050" dirty="0">
                <a:solidFill>
                  <a:srgbClr val="6B7684"/>
                </a:solidFill>
                <a:latin typeface="Calibri" pitchFamily="34" charset="0"/>
                <a:ea typeface="Calibri" pitchFamily="34" charset="-122"/>
                <a:cs typeface="Calibri" pitchFamily="34" charset="-120"/>
              </a:rPr>
              <a:t>Only self-hosted option — telemetry never leaves our environment. Netcool-grade event management; native depth on SolarWinds, OEM, Instana, Splunk. Fallback: Edwin AI if SaaS metadata is compliance-cleared.</a:t>
            </a:r>
            <a:endParaRPr lang="en-US" sz="1050" dirty="0"/>
          </a:p>
        </p:txBody>
      </p:sp>
      <p:sp>
        <p:nvSpPr>
          <p:cNvPr id="12" name="Shape 10"/>
          <p:cNvSpPr/>
          <p:nvPr/>
        </p:nvSpPr>
        <p:spPr>
          <a:xfrm>
            <a:off x="4297680" y="1737360"/>
            <a:ext cx="3611880" cy="4206240"/>
          </a:xfrm>
          <a:prstGeom prst="roundRect">
            <a:avLst>
              <a:gd name="adj" fmla="val 2532"/>
            </a:avLst>
          </a:prstGeom>
          <a:solidFill>
            <a:srgbClr val="EEF1F4"/>
          </a:solidFill>
          <a:ln/>
        </p:spPr>
      </p:sp>
      <p:sp>
        <p:nvSpPr>
          <p:cNvPr id="13" name="Text 11"/>
          <p:cNvSpPr/>
          <p:nvPr/>
        </p:nvSpPr>
        <p:spPr>
          <a:xfrm>
            <a:off x="4526280" y="1965960"/>
            <a:ext cx="3154680" cy="548640"/>
          </a:xfrm>
          <a:prstGeom prst="rect">
            <a:avLst/>
          </a:prstGeom>
          <a:noFill/>
          <a:ln/>
        </p:spPr>
        <p:txBody>
          <a:bodyPr wrap="square" rtlCol="0" anchor="ctr"/>
          <a:lstStyle/>
          <a:p>
            <a:pPr indent="0" marL="0">
              <a:buNone/>
            </a:pPr>
            <a:r>
              <a:rPr lang="en-US" sz="1400" b="1" dirty="0">
                <a:solidFill>
                  <a:srgbClr val="232B3A"/>
                </a:solidFill>
                <a:latin typeface="Cambria" pitchFamily="34" charset="0"/>
                <a:ea typeface="Cambria" pitchFamily="34" charset="-122"/>
                <a:cs typeface="Cambria" pitchFamily="34" charset="-120"/>
              </a:rPr>
              <a:t>Cloud-First (Azure)</a:t>
            </a:r>
            <a:endParaRPr lang="en-US" sz="1400" dirty="0"/>
          </a:p>
        </p:txBody>
      </p:sp>
      <p:sp>
        <p:nvSpPr>
          <p:cNvPr id="14" name="Shape 12"/>
          <p:cNvSpPr/>
          <p:nvPr/>
        </p:nvSpPr>
        <p:spPr>
          <a:xfrm>
            <a:off x="4526280" y="2606040"/>
            <a:ext cx="3154680" cy="0"/>
          </a:xfrm>
          <a:prstGeom prst="line">
            <a:avLst/>
          </a:prstGeom>
          <a:noFill/>
          <a:ln w="12700">
            <a:solidFill>
              <a:srgbClr val="5B6B7C"/>
            </a:solidFill>
            <a:prstDash val="solid"/>
          </a:ln>
        </p:spPr>
      </p:sp>
      <p:sp>
        <p:nvSpPr>
          <p:cNvPr id="15" name="Text 13"/>
          <p:cNvSpPr/>
          <p:nvPr/>
        </p:nvSpPr>
        <p:spPr>
          <a:xfrm>
            <a:off x="4526280" y="2743200"/>
            <a:ext cx="3154680" cy="5486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Azure Observability Suite + Copilot</a:t>
            </a:r>
            <a:endParaRPr lang="en-US" sz="1300" dirty="0"/>
          </a:p>
        </p:txBody>
      </p:sp>
      <p:sp>
        <p:nvSpPr>
          <p:cNvPr id="16" name="Text 14"/>
          <p:cNvSpPr/>
          <p:nvPr/>
        </p:nvSpPr>
        <p:spPr>
          <a:xfrm>
            <a:off x="4526280" y="3383280"/>
            <a:ext cx="3154680" cy="2377440"/>
          </a:xfrm>
          <a:prstGeom prst="rect">
            <a:avLst/>
          </a:prstGeom>
          <a:noFill/>
          <a:ln/>
        </p:spPr>
        <p:txBody>
          <a:bodyPr wrap="square" rtlCol="0" anchor="t"/>
          <a:lstStyle/>
          <a:p>
            <a:pPr indent="0" marL="0">
              <a:lnSpc>
                <a:spcPct val="120000"/>
              </a:lnSpc>
              <a:buNone/>
            </a:pPr>
            <a:r>
              <a:rPr lang="en-US" sz="1050" dirty="0">
                <a:solidFill>
                  <a:srgbClr val="6B7684"/>
                </a:solidFill>
                <a:latin typeface="Calibri" pitchFamily="34" charset="0"/>
                <a:ea typeface="Calibri" pitchFamily="34" charset="-122"/>
                <a:cs typeface="Calibri" pitchFamily="34" charset="-120"/>
              </a:rPr>
              <a:t>Native, lowest-cost home for Azure Monitor / Log Analytics / Prometheus / Grafana. One security model (Entra), no new vendor. Assumes on-prem tools are retired or marginalized over time.</a:t>
            </a:r>
            <a:endParaRPr lang="en-US" sz="1050" dirty="0"/>
          </a:p>
        </p:txBody>
      </p:sp>
      <p:sp>
        <p:nvSpPr>
          <p:cNvPr id="17" name="Shape 15"/>
          <p:cNvSpPr/>
          <p:nvPr/>
        </p:nvSpPr>
        <p:spPr>
          <a:xfrm>
            <a:off x="8092440" y="1737360"/>
            <a:ext cx="3611880" cy="4206240"/>
          </a:xfrm>
          <a:prstGeom prst="roundRect">
            <a:avLst>
              <a:gd name="adj" fmla="val 2532"/>
            </a:avLst>
          </a:prstGeom>
          <a:solidFill>
            <a:srgbClr val="1E2761"/>
          </a:solidFill>
          <a:ln w="25400">
            <a:solidFill>
              <a:srgbClr val="02C39A"/>
            </a:solidFill>
            <a:prstDash val="solid"/>
          </a:ln>
        </p:spPr>
      </p:sp>
      <p:sp>
        <p:nvSpPr>
          <p:cNvPr id="18" name="Shape 16"/>
          <p:cNvSpPr/>
          <p:nvPr/>
        </p:nvSpPr>
        <p:spPr>
          <a:xfrm>
            <a:off x="8915400" y="1536192"/>
            <a:ext cx="1965960" cy="365760"/>
          </a:xfrm>
          <a:prstGeom prst="roundRect">
            <a:avLst>
              <a:gd name="adj" fmla="val 50000"/>
            </a:avLst>
          </a:prstGeom>
          <a:solidFill>
            <a:srgbClr val="02C39A"/>
          </a:solidFill>
          <a:ln/>
        </p:spPr>
      </p:sp>
      <p:sp>
        <p:nvSpPr>
          <p:cNvPr id="19" name="Text 17"/>
          <p:cNvSpPr/>
          <p:nvPr/>
        </p:nvSpPr>
        <p:spPr>
          <a:xfrm>
            <a:off x="8915400" y="1536192"/>
            <a:ext cx="1965960" cy="365760"/>
          </a:xfrm>
          <a:prstGeom prst="rect">
            <a:avLst/>
          </a:prstGeom>
          <a:noFill/>
          <a:ln/>
        </p:spPr>
        <p:txBody>
          <a:bodyPr wrap="square" rtlCol="0" anchor="ctr"/>
          <a:lstStyle/>
          <a:p>
            <a:pPr algn="ctr" indent="0" marL="0">
              <a:buNone/>
            </a:pPr>
            <a:r>
              <a:rPr lang="en-US" sz="850" b="1" dirty="0">
                <a:solidFill>
                  <a:srgbClr val="141B4D"/>
                </a:solidFill>
                <a:latin typeface="Calibri" pitchFamily="34" charset="0"/>
                <a:ea typeface="Calibri" pitchFamily="34" charset="-122"/>
                <a:cs typeface="Calibri" pitchFamily="34" charset="-120"/>
              </a:rPr>
              <a:t>PRIMARY RECOMMENDATION</a:t>
            </a:r>
            <a:endParaRPr lang="en-US" sz="850" dirty="0"/>
          </a:p>
        </p:txBody>
      </p:sp>
      <p:sp>
        <p:nvSpPr>
          <p:cNvPr id="20" name="Text 18"/>
          <p:cNvSpPr/>
          <p:nvPr/>
        </p:nvSpPr>
        <p:spPr>
          <a:xfrm>
            <a:off x="8321040" y="1965960"/>
            <a:ext cx="3154680" cy="54864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Hybrid (Our Reality Today)</a:t>
            </a:r>
            <a:endParaRPr lang="en-US" sz="1400" dirty="0"/>
          </a:p>
        </p:txBody>
      </p:sp>
      <p:sp>
        <p:nvSpPr>
          <p:cNvPr id="21" name="Shape 19"/>
          <p:cNvSpPr/>
          <p:nvPr/>
        </p:nvSpPr>
        <p:spPr>
          <a:xfrm>
            <a:off x="8321040" y="2606040"/>
            <a:ext cx="3154680" cy="0"/>
          </a:xfrm>
          <a:prstGeom prst="line">
            <a:avLst/>
          </a:prstGeom>
          <a:noFill/>
          <a:ln w="12700">
            <a:solidFill>
              <a:srgbClr val="02C39A"/>
            </a:solidFill>
            <a:prstDash val="solid"/>
          </a:ln>
        </p:spPr>
      </p:sp>
      <p:sp>
        <p:nvSpPr>
          <p:cNvPr id="22" name="Text 20"/>
          <p:cNvSpPr/>
          <p:nvPr/>
        </p:nvSpPr>
        <p:spPr>
          <a:xfrm>
            <a:off x="8321040" y="2743200"/>
            <a:ext cx="3154680" cy="54864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Edwin AI Overlay + Azure Stack Retained</a:t>
            </a:r>
            <a:endParaRPr lang="en-US" sz="1300" dirty="0"/>
          </a:p>
        </p:txBody>
      </p:sp>
      <p:sp>
        <p:nvSpPr>
          <p:cNvPr id="23" name="Text 21"/>
          <p:cNvSpPr/>
          <p:nvPr/>
        </p:nvSpPr>
        <p:spPr>
          <a:xfrm>
            <a:off x="8321040" y="3383280"/>
            <a:ext cx="3154680" cy="2377440"/>
          </a:xfrm>
          <a:prstGeom prst="rect">
            <a:avLst/>
          </a:prstGeom>
          <a:noFill/>
          <a:ln/>
        </p:spPr>
        <p:txBody>
          <a:bodyPr wrap="square"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Highest-scoring fit: OOTB connectors for nearly our whole estate, hybrid by design. Weeks-not-months deployment, no data replatforming, predictable subscription cost.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828800"/>
            <a:ext cx="5486400" cy="5486400"/>
          </a:xfrm>
          <a:prstGeom prst="ellipse">
            <a:avLst/>
          </a:prstGeom>
          <a:solidFill>
            <a:srgbClr val="141B4D"/>
          </a:solidFill>
          <a:ln/>
        </p:spPr>
      </p:sp>
      <p:sp>
        <p:nvSpPr>
          <p:cNvPr id="3" name="Shape 1"/>
          <p:cNvSpPr/>
          <p:nvPr/>
        </p:nvSpPr>
        <p:spPr>
          <a:xfrm>
            <a:off x="822960" y="2331720"/>
            <a:ext cx="822960" cy="822960"/>
          </a:xfrm>
          <a:prstGeom prst="roundRect">
            <a:avLst>
              <a:gd name="adj" fmla="val 13333"/>
            </a:avLst>
          </a:prstGeom>
          <a:solidFill>
            <a:srgbClr val="02C39A"/>
          </a:solidFill>
          <a:ln/>
        </p:spPr>
      </p:sp>
      <p:sp>
        <p:nvSpPr>
          <p:cNvPr id="4" name="Text 2"/>
          <p:cNvSpPr/>
          <p:nvPr/>
        </p:nvSpPr>
        <p:spPr>
          <a:xfrm>
            <a:off x="822960" y="2331720"/>
            <a:ext cx="822960" cy="822960"/>
          </a:xfrm>
          <a:prstGeom prst="rect">
            <a:avLst/>
          </a:prstGeom>
          <a:noFill/>
          <a:ln/>
        </p:spPr>
        <p:txBody>
          <a:bodyPr wrap="square" rtlCol="0" anchor="ctr"/>
          <a:lstStyle/>
          <a:p>
            <a:pPr algn="ctr" indent="0" marL="0">
              <a:buNone/>
            </a:pPr>
            <a:r>
              <a:rPr lang="en-US" sz="3200" b="1" dirty="0">
                <a:solidFill>
                  <a:srgbClr val="141B4D"/>
                </a:solidFill>
                <a:latin typeface="Cambria" pitchFamily="34" charset="0"/>
                <a:ea typeface="Cambria" pitchFamily="34" charset="-122"/>
                <a:cs typeface="Cambria" pitchFamily="34" charset="-120"/>
              </a:rPr>
              <a:t>22</a:t>
            </a:r>
            <a:endParaRPr lang="en-US" sz="3200" dirty="0"/>
          </a:p>
        </p:txBody>
      </p:sp>
      <p:sp>
        <p:nvSpPr>
          <p:cNvPr id="5" name="Text 3"/>
          <p:cNvSpPr/>
          <p:nvPr/>
        </p:nvSpPr>
        <p:spPr>
          <a:xfrm>
            <a:off x="1874520" y="237744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SECTION 5</a:t>
            </a:r>
            <a:endParaRPr lang="en-US" sz="1300" dirty="0"/>
          </a:p>
        </p:txBody>
      </p:sp>
      <p:sp>
        <p:nvSpPr>
          <p:cNvPr id="6" name="Text 4"/>
          <p:cNvSpPr/>
          <p:nvPr/>
        </p:nvSpPr>
        <p:spPr>
          <a:xfrm>
            <a:off x="1874520" y="2697480"/>
            <a:ext cx="9418320" cy="10058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Target Architecture</a:t>
            </a:r>
            <a:endParaRPr lang="en-US" sz="3400" dirty="0"/>
          </a:p>
        </p:txBody>
      </p:sp>
      <p:sp>
        <p:nvSpPr>
          <p:cNvPr id="7" name="Text 5"/>
          <p:cNvSpPr/>
          <p:nvPr/>
        </p:nvSpPr>
        <p:spPr>
          <a:xfrm>
            <a:off x="1874520" y="3611880"/>
            <a:ext cx="8778240" cy="54864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How AI becomes an intelligence and orchestration layer above the existing estate — no rip-and-replace</a:t>
            </a:r>
            <a:endParaRPr lang="en-US" sz="1400" dirty="0"/>
          </a:p>
        </p:txBody>
      </p:sp>
      <p:sp>
        <p:nvSpPr>
          <p:cNvPr id="8" name="Text 6"/>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SECTION</a:t>
            </a:r>
            <a:endParaRPr lang="en-US" sz="850" dirty="0"/>
          </a:p>
        </p:txBody>
      </p:sp>
      <p:sp>
        <p:nvSpPr>
          <p:cNvPr id="9" name="Text 7"/>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TARGET ARCHITECTURE</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Enterprise AI Reference Architecture</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5 · ARCHITECTURE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23 / 33</a:t>
            </a:r>
            <a:endParaRPr lang="en-US" sz="850" dirty="0"/>
          </a:p>
        </p:txBody>
      </p:sp>
      <p:sp>
        <p:nvSpPr>
          <p:cNvPr id="7" name="Shape 5"/>
          <p:cNvSpPr/>
          <p:nvPr/>
        </p:nvSpPr>
        <p:spPr>
          <a:xfrm>
            <a:off x="502920" y="1691640"/>
            <a:ext cx="1965960" cy="841248"/>
          </a:xfrm>
          <a:prstGeom prst="roundRect">
            <a:avLst>
              <a:gd name="adj" fmla="val 6522"/>
            </a:avLst>
          </a:prstGeom>
          <a:solidFill>
            <a:srgbClr val="1E2761"/>
          </a:solidFill>
          <a:ln/>
        </p:spPr>
      </p:sp>
      <p:sp>
        <p:nvSpPr>
          <p:cNvPr id="8" name="Text 6"/>
          <p:cNvSpPr/>
          <p:nvPr/>
        </p:nvSpPr>
        <p:spPr>
          <a:xfrm>
            <a:off x="640080" y="1691640"/>
            <a:ext cx="1737360" cy="841248"/>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Data Sources</a:t>
            </a:r>
            <a:endParaRPr lang="en-US" sz="1250" dirty="0"/>
          </a:p>
        </p:txBody>
      </p:sp>
      <p:sp>
        <p:nvSpPr>
          <p:cNvPr id="9" name="Shape 7"/>
          <p:cNvSpPr/>
          <p:nvPr/>
        </p:nvSpPr>
        <p:spPr>
          <a:xfrm>
            <a:off x="2606040" y="1691640"/>
            <a:ext cx="1432560" cy="841248"/>
          </a:xfrm>
          <a:prstGeom prst="roundRect">
            <a:avLst>
              <a:gd name="adj" fmla="val 6522"/>
            </a:avLst>
          </a:prstGeom>
          <a:solidFill>
            <a:srgbClr val="EEF1F4"/>
          </a:solidFill>
          <a:ln w="12700">
            <a:solidFill>
              <a:srgbClr val="DDE2E8"/>
            </a:solidFill>
            <a:prstDash val="solid"/>
          </a:ln>
        </p:spPr>
      </p:sp>
      <p:sp>
        <p:nvSpPr>
          <p:cNvPr id="10" name="Text 8"/>
          <p:cNvSpPr/>
          <p:nvPr/>
        </p:nvSpPr>
        <p:spPr>
          <a:xfrm>
            <a:off x="2651760" y="1691640"/>
            <a:ext cx="1341120"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Windows</a:t>
            </a:r>
            <a:endParaRPr lang="en-US" sz="950" dirty="0"/>
          </a:p>
        </p:txBody>
      </p:sp>
      <p:sp>
        <p:nvSpPr>
          <p:cNvPr id="11" name="Shape 9"/>
          <p:cNvSpPr/>
          <p:nvPr/>
        </p:nvSpPr>
        <p:spPr>
          <a:xfrm>
            <a:off x="4148328" y="1691640"/>
            <a:ext cx="1432560" cy="841248"/>
          </a:xfrm>
          <a:prstGeom prst="roundRect">
            <a:avLst>
              <a:gd name="adj" fmla="val 6522"/>
            </a:avLst>
          </a:prstGeom>
          <a:solidFill>
            <a:srgbClr val="EEF1F4"/>
          </a:solidFill>
          <a:ln w="12700">
            <a:solidFill>
              <a:srgbClr val="DDE2E8"/>
            </a:solidFill>
            <a:prstDash val="solid"/>
          </a:ln>
        </p:spPr>
      </p:sp>
      <p:sp>
        <p:nvSpPr>
          <p:cNvPr id="12" name="Text 10"/>
          <p:cNvSpPr/>
          <p:nvPr/>
        </p:nvSpPr>
        <p:spPr>
          <a:xfrm>
            <a:off x="4194048" y="1691640"/>
            <a:ext cx="1341120"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Linux</a:t>
            </a:r>
            <a:endParaRPr lang="en-US" sz="950" dirty="0"/>
          </a:p>
        </p:txBody>
      </p:sp>
      <p:sp>
        <p:nvSpPr>
          <p:cNvPr id="13" name="Shape 11"/>
          <p:cNvSpPr/>
          <p:nvPr/>
        </p:nvSpPr>
        <p:spPr>
          <a:xfrm>
            <a:off x="5690616" y="1691640"/>
            <a:ext cx="1432560" cy="841248"/>
          </a:xfrm>
          <a:prstGeom prst="roundRect">
            <a:avLst>
              <a:gd name="adj" fmla="val 6522"/>
            </a:avLst>
          </a:prstGeom>
          <a:solidFill>
            <a:srgbClr val="EEF1F4"/>
          </a:solidFill>
          <a:ln w="12700">
            <a:solidFill>
              <a:srgbClr val="DDE2E8"/>
            </a:solidFill>
            <a:prstDash val="solid"/>
          </a:ln>
        </p:spPr>
      </p:sp>
      <p:sp>
        <p:nvSpPr>
          <p:cNvPr id="14" name="Text 12"/>
          <p:cNvSpPr/>
          <p:nvPr/>
        </p:nvSpPr>
        <p:spPr>
          <a:xfrm>
            <a:off x="5736336" y="1691640"/>
            <a:ext cx="1341120"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VMware</a:t>
            </a:r>
            <a:endParaRPr lang="en-US" sz="950" dirty="0"/>
          </a:p>
        </p:txBody>
      </p:sp>
      <p:sp>
        <p:nvSpPr>
          <p:cNvPr id="15" name="Shape 13"/>
          <p:cNvSpPr/>
          <p:nvPr/>
        </p:nvSpPr>
        <p:spPr>
          <a:xfrm>
            <a:off x="7232904" y="1691640"/>
            <a:ext cx="1432560" cy="841248"/>
          </a:xfrm>
          <a:prstGeom prst="roundRect">
            <a:avLst>
              <a:gd name="adj" fmla="val 6522"/>
            </a:avLst>
          </a:prstGeom>
          <a:solidFill>
            <a:srgbClr val="EEF1F4"/>
          </a:solidFill>
          <a:ln w="12700">
            <a:solidFill>
              <a:srgbClr val="DDE2E8"/>
            </a:solidFill>
            <a:prstDash val="solid"/>
          </a:ln>
        </p:spPr>
      </p:sp>
      <p:sp>
        <p:nvSpPr>
          <p:cNvPr id="16" name="Text 14"/>
          <p:cNvSpPr/>
          <p:nvPr/>
        </p:nvSpPr>
        <p:spPr>
          <a:xfrm>
            <a:off x="7278624" y="1691640"/>
            <a:ext cx="1341120"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Kubernetes</a:t>
            </a:r>
            <a:endParaRPr lang="en-US" sz="950" dirty="0"/>
          </a:p>
        </p:txBody>
      </p:sp>
      <p:sp>
        <p:nvSpPr>
          <p:cNvPr id="17" name="Shape 15"/>
          <p:cNvSpPr/>
          <p:nvPr/>
        </p:nvSpPr>
        <p:spPr>
          <a:xfrm>
            <a:off x="8775192" y="1691640"/>
            <a:ext cx="1432560" cy="841248"/>
          </a:xfrm>
          <a:prstGeom prst="roundRect">
            <a:avLst>
              <a:gd name="adj" fmla="val 6522"/>
            </a:avLst>
          </a:prstGeom>
          <a:solidFill>
            <a:srgbClr val="EEF1F4"/>
          </a:solidFill>
          <a:ln w="12700">
            <a:solidFill>
              <a:srgbClr val="DDE2E8"/>
            </a:solidFill>
            <a:prstDash val="solid"/>
          </a:ln>
        </p:spPr>
      </p:sp>
      <p:sp>
        <p:nvSpPr>
          <p:cNvPr id="18" name="Text 16"/>
          <p:cNvSpPr/>
          <p:nvPr/>
        </p:nvSpPr>
        <p:spPr>
          <a:xfrm>
            <a:off x="8820912" y="1691640"/>
            <a:ext cx="1341120"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Oracle / SQL</a:t>
            </a:r>
            <a:endParaRPr lang="en-US" sz="950" dirty="0"/>
          </a:p>
        </p:txBody>
      </p:sp>
      <p:sp>
        <p:nvSpPr>
          <p:cNvPr id="19" name="Shape 17"/>
          <p:cNvSpPr/>
          <p:nvPr/>
        </p:nvSpPr>
        <p:spPr>
          <a:xfrm>
            <a:off x="10317480" y="1691640"/>
            <a:ext cx="1432560" cy="841248"/>
          </a:xfrm>
          <a:prstGeom prst="roundRect">
            <a:avLst>
              <a:gd name="adj" fmla="val 6522"/>
            </a:avLst>
          </a:prstGeom>
          <a:solidFill>
            <a:srgbClr val="EEF1F4"/>
          </a:solidFill>
          <a:ln w="12700">
            <a:solidFill>
              <a:srgbClr val="DDE2E8"/>
            </a:solidFill>
            <a:prstDash val="solid"/>
          </a:ln>
        </p:spPr>
      </p:sp>
      <p:sp>
        <p:nvSpPr>
          <p:cNvPr id="20" name="Text 18"/>
          <p:cNvSpPr/>
          <p:nvPr/>
        </p:nvSpPr>
        <p:spPr>
          <a:xfrm>
            <a:off x="10363200" y="1691640"/>
            <a:ext cx="1341120"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Network</a:t>
            </a:r>
            <a:endParaRPr lang="en-US" sz="950" dirty="0"/>
          </a:p>
        </p:txBody>
      </p:sp>
      <p:sp>
        <p:nvSpPr>
          <p:cNvPr id="21" name="Shape 19"/>
          <p:cNvSpPr/>
          <p:nvPr/>
        </p:nvSpPr>
        <p:spPr>
          <a:xfrm>
            <a:off x="6035040" y="2514600"/>
            <a:ext cx="274320" cy="146304"/>
          </a:xfrm>
          <a:prstGeom prst="downArrow">
            <a:avLst/>
          </a:prstGeom>
          <a:solidFill>
            <a:srgbClr val="5B6B7C"/>
          </a:solidFill>
          <a:ln/>
        </p:spPr>
      </p:sp>
      <p:sp>
        <p:nvSpPr>
          <p:cNvPr id="22" name="Shape 20"/>
          <p:cNvSpPr/>
          <p:nvPr/>
        </p:nvSpPr>
        <p:spPr>
          <a:xfrm>
            <a:off x="502920" y="2642616"/>
            <a:ext cx="1965960" cy="841248"/>
          </a:xfrm>
          <a:prstGeom prst="roundRect">
            <a:avLst>
              <a:gd name="adj" fmla="val 6522"/>
            </a:avLst>
          </a:prstGeom>
          <a:solidFill>
            <a:srgbClr val="1E2761"/>
          </a:solidFill>
          <a:ln/>
        </p:spPr>
      </p:sp>
      <p:sp>
        <p:nvSpPr>
          <p:cNvPr id="23" name="Text 21"/>
          <p:cNvSpPr/>
          <p:nvPr/>
        </p:nvSpPr>
        <p:spPr>
          <a:xfrm>
            <a:off x="640080" y="2642616"/>
            <a:ext cx="1737360" cy="841248"/>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Collection</a:t>
            </a:r>
            <a:endParaRPr lang="en-US" sz="1250" dirty="0"/>
          </a:p>
        </p:txBody>
      </p:sp>
      <p:sp>
        <p:nvSpPr>
          <p:cNvPr id="24" name="Shape 22"/>
          <p:cNvSpPr/>
          <p:nvPr/>
        </p:nvSpPr>
        <p:spPr>
          <a:xfrm>
            <a:off x="2606040" y="2642616"/>
            <a:ext cx="1741018" cy="841248"/>
          </a:xfrm>
          <a:prstGeom prst="roundRect">
            <a:avLst>
              <a:gd name="adj" fmla="val 6522"/>
            </a:avLst>
          </a:prstGeom>
          <a:solidFill>
            <a:srgbClr val="EEF1F4"/>
          </a:solidFill>
          <a:ln w="12700">
            <a:solidFill>
              <a:srgbClr val="DDE2E8"/>
            </a:solidFill>
            <a:prstDash val="solid"/>
          </a:ln>
        </p:spPr>
      </p:sp>
      <p:sp>
        <p:nvSpPr>
          <p:cNvPr id="25" name="Text 23"/>
          <p:cNvSpPr/>
          <p:nvPr/>
        </p:nvSpPr>
        <p:spPr>
          <a:xfrm>
            <a:off x="2651760" y="2642616"/>
            <a:ext cx="1649578"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SolarWinds</a:t>
            </a:r>
            <a:endParaRPr lang="en-US" sz="950" dirty="0"/>
          </a:p>
        </p:txBody>
      </p:sp>
      <p:sp>
        <p:nvSpPr>
          <p:cNvPr id="26" name="Shape 24"/>
          <p:cNvSpPr/>
          <p:nvPr/>
        </p:nvSpPr>
        <p:spPr>
          <a:xfrm>
            <a:off x="4456786" y="2642616"/>
            <a:ext cx="1741018" cy="841248"/>
          </a:xfrm>
          <a:prstGeom prst="roundRect">
            <a:avLst>
              <a:gd name="adj" fmla="val 6522"/>
            </a:avLst>
          </a:prstGeom>
          <a:solidFill>
            <a:srgbClr val="EEF1F4"/>
          </a:solidFill>
          <a:ln w="12700">
            <a:solidFill>
              <a:srgbClr val="DDE2E8"/>
            </a:solidFill>
            <a:prstDash val="solid"/>
          </a:ln>
        </p:spPr>
      </p:sp>
      <p:sp>
        <p:nvSpPr>
          <p:cNvPr id="27" name="Text 25"/>
          <p:cNvSpPr/>
          <p:nvPr/>
        </p:nvSpPr>
        <p:spPr>
          <a:xfrm>
            <a:off x="4502506" y="2642616"/>
            <a:ext cx="1649578"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OEM</a:t>
            </a:r>
            <a:endParaRPr lang="en-US" sz="950" dirty="0"/>
          </a:p>
        </p:txBody>
      </p:sp>
      <p:sp>
        <p:nvSpPr>
          <p:cNvPr id="28" name="Shape 26"/>
          <p:cNvSpPr/>
          <p:nvPr/>
        </p:nvSpPr>
        <p:spPr>
          <a:xfrm>
            <a:off x="6307531" y="2642616"/>
            <a:ext cx="1741018" cy="841248"/>
          </a:xfrm>
          <a:prstGeom prst="roundRect">
            <a:avLst>
              <a:gd name="adj" fmla="val 6522"/>
            </a:avLst>
          </a:prstGeom>
          <a:solidFill>
            <a:srgbClr val="EEF1F4"/>
          </a:solidFill>
          <a:ln w="12700">
            <a:solidFill>
              <a:srgbClr val="DDE2E8"/>
            </a:solidFill>
            <a:prstDash val="solid"/>
          </a:ln>
        </p:spPr>
      </p:sp>
      <p:sp>
        <p:nvSpPr>
          <p:cNvPr id="29" name="Text 27"/>
          <p:cNvSpPr/>
          <p:nvPr/>
        </p:nvSpPr>
        <p:spPr>
          <a:xfrm>
            <a:off x="6353251" y="2642616"/>
            <a:ext cx="1649578"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Prometheus/Grafana</a:t>
            </a:r>
            <a:endParaRPr lang="en-US" sz="950" dirty="0"/>
          </a:p>
        </p:txBody>
      </p:sp>
      <p:sp>
        <p:nvSpPr>
          <p:cNvPr id="30" name="Shape 28"/>
          <p:cNvSpPr/>
          <p:nvPr/>
        </p:nvSpPr>
        <p:spPr>
          <a:xfrm>
            <a:off x="8158277" y="2642616"/>
            <a:ext cx="1741018" cy="841248"/>
          </a:xfrm>
          <a:prstGeom prst="roundRect">
            <a:avLst>
              <a:gd name="adj" fmla="val 6522"/>
            </a:avLst>
          </a:prstGeom>
          <a:solidFill>
            <a:srgbClr val="EEF1F4"/>
          </a:solidFill>
          <a:ln w="12700">
            <a:solidFill>
              <a:srgbClr val="DDE2E8"/>
            </a:solidFill>
            <a:prstDash val="solid"/>
          </a:ln>
        </p:spPr>
      </p:sp>
      <p:sp>
        <p:nvSpPr>
          <p:cNvPr id="31" name="Text 29"/>
          <p:cNvSpPr/>
          <p:nvPr/>
        </p:nvSpPr>
        <p:spPr>
          <a:xfrm>
            <a:off x="8203997" y="2642616"/>
            <a:ext cx="1649578"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Azure Monitor</a:t>
            </a:r>
            <a:endParaRPr lang="en-US" sz="950" dirty="0"/>
          </a:p>
        </p:txBody>
      </p:sp>
      <p:sp>
        <p:nvSpPr>
          <p:cNvPr id="32" name="Shape 30"/>
          <p:cNvSpPr/>
          <p:nvPr/>
        </p:nvSpPr>
        <p:spPr>
          <a:xfrm>
            <a:off x="10009022" y="2642616"/>
            <a:ext cx="1741018" cy="841248"/>
          </a:xfrm>
          <a:prstGeom prst="roundRect">
            <a:avLst>
              <a:gd name="adj" fmla="val 6522"/>
            </a:avLst>
          </a:prstGeom>
          <a:solidFill>
            <a:srgbClr val="EEF1F4"/>
          </a:solidFill>
          <a:ln w="12700">
            <a:solidFill>
              <a:srgbClr val="DDE2E8"/>
            </a:solidFill>
            <a:prstDash val="solid"/>
          </a:ln>
        </p:spPr>
      </p:sp>
      <p:sp>
        <p:nvSpPr>
          <p:cNvPr id="33" name="Text 31"/>
          <p:cNvSpPr/>
          <p:nvPr/>
        </p:nvSpPr>
        <p:spPr>
          <a:xfrm>
            <a:off x="10054742" y="2642616"/>
            <a:ext cx="1649578"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IBM Instana</a:t>
            </a:r>
            <a:endParaRPr lang="en-US" sz="950" dirty="0"/>
          </a:p>
        </p:txBody>
      </p:sp>
      <p:sp>
        <p:nvSpPr>
          <p:cNvPr id="34" name="Shape 32"/>
          <p:cNvSpPr/>
          <p:nvPr/>
        </p:nvSpPr>
        <p:spPr>
          <a:xfrm>
            <a:off x="6035040" y="3465576"/>
            <a:ext cx="274320" cy="146304"/>
          </a:xfrm>
          <a:prstGeom prst="downArrow">
            <a:avLst/>
          </a:prstGeom>
          <a:solidFill>
            <a:srgbClr val="5B6B7C"/>
          </a:solidFill>
          <a:ln/>
        </p:spPr>
      </p:sp>
      <p:sp>
        <p:nvSpPr>
          <p:cNvPr id="35" name="Shape 33"/>
          <p:cNvSpPr/>
          <p:nvPr/>
        </p:nvSpPr>
        <p:spPr>
          <a:xfrm>
            <a:off x="502920" y="3593592"/>
            <a:ext cx="1965960" cy="841248"/>
          </a:xfrm>
          <a:prstGeom prst="roundRect">
            <a:avLst>
              <a:gd name="adj" fmla="val 6522"/>
            </a:avLst>
          </a:prstGeom>
          <a:solidFill>
            <a:srgbClr val="1E2761"/>
          </a:solidFill>
          <a:ln/>
        </p:spPr>
      </p:sp>
      <p:sp>
        <p:nvSpPr>
          <p:cNvPr id="36" name="Text 34"/>
          <p:cNvSpPr/>
          <p:nvPr/>
        </p:nvSpPr>
        <p:spPr>
          <a:xfrm>
            <a:off x="640080" y="3593592"/>
            <a:ext cx="1737360" cy="841248"/>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Observability &amp; Logs</a:t>
            </a:r>
            <a:endParaRPr lang="en-US" sz="1250" dirty="0"/>
          </a:p>
        </p:txBody>
      </p:sp>
      <p:sp>
        <p:nvSpPr>
          <p:cNvPr id="37" name="Shape 35"/>
          <p:cNvSpPr/>
          <p:nvPr/>
        </p:nvSpPr>
        <p:spPr>
          <a:xfrm>
            <a:off x="2606040" y="3593592"/>
            <a:ext cx="2203704" cy="841248"/>
          </a:xfrm>
          <a:prstGeom prst="roundRect">
            <a:avLst>
              <a:gd name="adj" fmla="val 6522"/>
            </a:avLst>
          </a:prstGeom>
          <a:solidFill>
            <a:srgbClr val="EEF1F4"/>
          </a:solidFill>
          <a:ln w="12700">
            <a:solidFill>
              <a:srgbClr val="DDE2E8"/>
            </a:solidFill>
            <a:prstDash val="solid"/>
          </a:ln>
        </p:spPr>
      </p:sp>
      <p:sp>
        <p:nvSpPr>
          <p:cNvPr id="38" name="Text 36"/>
          <p:cNvSpPr/>
          <p:nvPr/>
        </p:nvSpPr>
        <p:spPr>
          <a:xfrm>
            <a:off x="2651760" y="3593592"/>
            <a:ext cx="2112264"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Splunk</a:t>
            </a:r>
            <a:endParaRPr lang="en-US" sz="950" dirty="0"/>
          </a:p>
        </p:txBody>
      </p:sp>
      <p:sp>
        <p:nvSpPr>
          <p:cNvPr id="39" name="Shape 37"/>
          <p:cNvSpPr/>
          <p:nvPr/>
        </p:nvSpPr>
        <p:spPr>
          <a:xfrm>
            <a:off x="4919472" y="3593592"/>
            <a:ext cx="2203704" cy="841248"/>
          </a:xfrm>
          <a:prstGeom prst="roundRect">
            <a:avLst>
              <a:gd name="adj" fmla="val 6522"/>
            </a:avLst>
          </a:prstGeom>
          <a:solidFill>
            <a:srgbClr val="EEF1F4"/>
          </a:solidFill>
          <a:ln w="12700">
            <a:solidFill>
              <a:srgbClr val="DDE2E8"/>
            </a:solidFill>
            <a:prstDash val="solid"/>
          </a:ln>
        </p:spPr>
      </p:sp>
      <p:sp>
        <p:nvSpPr>
          <p:cNvPr id="40" name="Text 38"/>
          <p:cNvSpPr/>
          <p:nvPr/>
        </p:nvSpPr>
        <p:spPr>
          <a:xfrm>
            <a:off x="4965192" y="3593592"/>
            <a:ext cx="2112264"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Log Analytics</a:t>
            </a:r>
            <a:endParaRPr lang="en-US" sz="950" dirty="0"/>
          </a:p>
        </p:txBody>
      </p:sp>
      <p:sp>
        <p:nvSpPr>
          <p:cNvPr id="41" name="Shape 39"/>
          <p:cNvSpPr/>
          <p:nvPr/>
        </p:nvSpPr>
        <p:spPr>
          <a:xfrm>
            <a:off x="7232904" y="3593592"/>
            <a:ext cx="2203704" cy="841248"/>
          </a:xfrm>
          <a:prstGeom prst="roundRect">
            <a:avLst>
              <a:gd name="adj" fmla="val 6522"/>
            </a:avLst>
          </a:prstGeom>
          <a:solidFill>
            <a:srgbClr val="EEF1F4"/>
          </a:solidFill>
          <a:ln w="12700">
            <a:solidFill>
              <a:srgbClr val="DDE2E8"/>
            </a:solidFill>
            <a:prstDash val="solid"/>
          </a:ln>
        </p:spPr>
      </p:sp>
      <p:sp>
        <p:nvSpPr>
          <p:cNvPr id="42" name="Text 40"/>
          <p:cNvSpPr/>
          <p:nvPr/>
        </p:nvSpPr>
        <p:spPr>
          <a:xfrm>
            <a:off x="7278624" y="3593592"/>
            <a:ext cx="2112264"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Syslog</a:t>
            </a:r>
            <a:endParaRPr lang="en-US" sz="950" dirty="0"/>
          </a:p>
        </p:txBody>
      </p:sp>
      <p:sp>
        <p:nvSpPr>
          <p:cNvPr id="43" name="Shape 41"/>
          <p:cNvSpPr/>
          <p:nvPr/>
        </p:nvSpPr>
        <p:spPr>
          <a:xfrm>
            <a:off x="9546336" y="3593592"/>
            <a:ext cx="2203704" cy="841248"/>
          </a:xfrm>
          <a:prstGeom prst="roundRect">
            <a:avLst>
              <a:gd name="adj" fmla="val 6522"/>
            </a:avLst>
          </a:prstGeom>
          <a:solidFill>
            <a:srgbClr val="EEF1F4"/>
          </a:solidFill>
          <a:ln w="12700">
            <a:solidFill>
              <a:srgbClr val="DDE2E8"/>
            </a:solidFill>
            <a:prstDash val="solid"/>
          </a:ln>
        </p:spPr>
      </p:sp>
      <p:sp>
        <p:nvSpPr>
          <p:cNvPr id="44" name="Text 42"/>
          <p:cNvSpPr/>
          <p:nvPr/>
        </p:nvSpPr>
        <p:spPr>
          <a:xfrm>
            <a:off x="9592056" y="3593592"/>
            <a:ext cx="2112264"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App/Sec Logs</a:t>
            </a:r>
            <a:endParaRPr lang="en-US" sz="950" dirty="0"/>
          </a:p>
        </p:txBody>
      </p:sp>
      <p:sp>
        <p:nvSpPr>
          <p:cNvPr id="45" name="Shape 43"/>
          <p:cNvSpPr/>
          <p:nvPr/>
        </p:nvSpPr>
        <p:spPr>
          <a:xfrm>
            <a:off x="6035040" y="4416552"/>
            <a:ext cx="274320" cy="146304"/>
          </a:xfrm>
          <a:prstGeom prst="downArrow">
            <a:avLst/>
          </a:prstGeom>
          <a:solidFill>
            <a:srgbClr val="5B6B7C"/>
          </a:solidFill>
          <a:ln/>
        </p:spPr>
      </p:sp>
      <p:sp>
        <p:nvSpPr>
          <p:cNvPr id="46" name="Shape 44"/>
          <p:cNvSpPr/>
          <p:nvPr/>
        </p:nvSpPr>
        <p:spPr>
          <a:xfrm>
            <a:off x="502920" y="4544568"/>
            <a:ext cx="1965960" cy="841248"/>
          </a:xfrm>
          <a:prstGeom prst="roundRect">
            <a:avLst>
              <a:gd name="adj" fmla="val 6522"/>
            </a:avLst>
          </a:prstGeom>
          <a:solidFill>
            <a:srgbClr val="02C39A"/>
          </a:solidFill>
          <a:ln/>
        </p:spPr>
      </p:sp>
      <p:sp>
        <p:nvSpPr>
          <p:cNvPr id="47" name="Text 45"/>
          <p:cNvSpPr/>
          <p:nvPr/>
        </p:nvSpPr>
        <p:spPr>
          <a:xfrm>
            <a:off x="640080" y="4544568"/>
            <a:ext cx="1737360" cy="841248"/>
          </a:xfrm>
          <a:prstGeom prst="rect">
            <a:avLst/>
          </a:prstGeom>
          <a:noFill/>
          <a:ln/>
        </p:spPr>
        <p:txBody>
          <a:bodyPr wrap="square" rtlCol="0" anchor="ctr"/>
          <a:lstStyle/>
          <a:p>
            <a:pPr indent="0" marL="0">
              <a:buNone/>
            </a:pPr>
            <a:r>
              <a:rPr lang="en-US" sz="1250" b="1" dirty="0">
                <a:solidFill>
                  <a:srgbClr val="141B4D"/>
                </a:solidFill>
                <a:latin typeface="Cambria" pitchFamily="34" charset="0"/>
                <a:ea typeface="Cambria" pitchFamily="34" charset="-122"/>
                <a:cs typeface="Cambria" pitchFamily="34" charset="-120"/>
              </a:rPr>
              <a:t>AIOps Engine</a:t>
            </a:r>
            <a:endParaRPr lang="en-US" sz="1250" dirty="0"/>
          </a:p>
        </p:txBody>
      </p:sp>
      <p:sp>
        <p:nvSpPr>
          <p:cNvPr id="48" name="Shape 46"/>
          <p:cNvSpPr/>
          <p:nvPr/>
        </p:nvSpPr>
        <p:spPr>
          <a:xfrm>
            <a:off x="2606040" y="4544568"/>
            <a:ext cx="1432560" cy="841248"/>
          </a:xfrm>
          <a:prstGeom prst="roundRect">
            <a:avLst>
              <a:gd name="adj" fmla="val 6522"/>
            </a:avLst>
          </a:prstGeom>
          <a:solidFill>
            <a:srgbClr val="E4FBF5"/>
          </a:solidFill>
          <a:ln w="12700">
            <a:solidFill>
              <a:srgbClr val="019879"/>
            </a:solidFill>
            <a:prstDash val="solid"/>
          </a:ln>
        </p:spPr>
      </p:sp>
      <p:sp>
        <p:nvSpPr>
          <p:cNvPr id="49" name="Text 47"/>
          <p:cNvSpPr/>
          <p:nvPr/>
        </p:nvSpPr>
        <p:spPr>
          <a:xfrm>
            <a:off x="2651760" y="4544568"/>
            <a:ext cx="1341120" cy="841248"/>
          </a:xfrm>
          <a:prstGeom prst="rect">
            <a:avLst/>
          </a:prstGeom>
          <a:noFill/>
          <a:ln/>
        </p:spPr>
        <p:txBody>
          <a:bodyPr wrap="square" rtlCol="0" anchor="ctr"/>
          <a:lstStyle/>
          <a:p>
            <a:pPr algn="ctr" indent="0" marL="0">
              <a:lnSpc>
                <a:spcPct val="100000"/>
              </a:lnSpc>
              <a:buNone/>
            </a:pPr>
            <a:r>
              <a:rPr lang="en-US" sz="950" b="1" dirty="0">
                <a:solidFill>
                  <a:srgbClr val="019879"/>
                </a:solidFill>
                <a:latin typeface="Calibri" pitchFamily="34" charset="0"/>
                <a:ea typeface="Calibri" pitchFamily="34" charset="-122"/>
                <a:cs typeface="Calibri" pitchFamily="34" charset="-120"/>
              </a:rPr>
              <a:t>Correlate</a:t>
            </a:r>
            <a:endParaRPr lang="en-US" sz="950" dirty="0"/>
          </a:p>
        </p:txBody>
      </p:sp>
      <p:sp>
        <p:nvSpPr>
          <p:cNvPr id="50" name="Shape 48"/>
          <p:cNvSpPr/>
          <p:nvPr/>
        </p:nvSpPr>
        <p:spPr>
          <a:xfrm>
            <a:off x="4148328" y="4544568"/>
            <a:ext cx="1432560" cy="841248"/>
          </a:xfrm>
          <a:prstGeom prst="roundRect">
            <a:avLst>
              <a:gd name="adj" fmla="val 6522"/>
            </a:avLst>
          </a:prstGeom>
          <a:solidFill>
            <a:srgbClr val="E4FBF5"/>
          </a:solidFill>
          <a:ln w="12700">
            <a:solidFill>
              <a:srgbClr val="019879"/>
            </a:solidFill>
            <a:prstDash val="solid"/>
          </a:ln>
        </p:spPr>
      </p:sp>
      <p:sp>
        <p:nvSpPr>
          <p:cNvPr id="51" name="Text 49"/>
          <p:cNvSpPr/>
          <p:nvPr/>
        </p:nvSpPr>
        <p:spPr>
          <a:xfrm>
            <a:off x="4194048" y="4544568"/>
            <a:ext cx="1341120" cy="841248"/>
          </a:xfrm>
          <a:prstGeom prst="rect">
            <a:avLst/>
          </a:prstGeom>
          <a:noFill/>
          <a:ln/>
        </p:spPr>
        <p:txBody>
          <a:bodyPr wrap="square" rtlCol="0" anchor="ctr"/>
          <a:lstStyle/>
          <a:p>
            <a:pPr algn="ctr" indent="0" marL="0">
              <a:lnSpc>
                <a:spcPct val="100000"/>
              </a:lnSpc>
              <a:buNone/>
            </a:pPr>
            <a:r>
              <a:rPr lang="en-US" sz="950" b="1" dirty="0">
                <a:solidFill>
                  <a:srgbClr val="019879"/>
                </a:solidFill>
                <a:latin typeface="Calibri" pitchFamily="34" charset="0"/>
                <a:ea typeface="Calibri" pitchFamily="34" charset="-122"/>
                <a:cs typeface="Calibri" pitchFamily="34" charset="-120"/>
              </a:rPr>
              <a:t>Anomaly / ML</a:t>
            </a:r>
            <a:endParaRPr lang="en-US" sz="950" dirty="0"/>
          </a:p>
        </p:txBody>
      </p:sp>
      <p:sp>
        <p:nvSpPr>
          <p:cNvPr id="52" name="Shape 50"/>
          <p:cNvSpPr/>
          <p:nvPr/>
        </p:nvSpPr>
        <p:spPr>
          <a:xfrm>
            <a:off x="5690616" y="4544568"/>
            <a:ext cx="1432560" cy="841248"/>
          </a:xfrm>
          <a:prstGeom prst="roundRect">
            <a:avLst>
              <a:gd name="adj" fmla="val 6522"/>
            </a:avLst>
          </a:prstGeom>
          <a:solidFill>
            <a:srgbClr val="E4FBF5"/>
          </a:solidFill>
          <a:ln w="12700">
            <a:solidFill>
              <a:srgbClr val="019879"/>
            </a:solidFill>
            <a:prstDash val="solid"/>
          </a:ln>
        </p:spPr>
      </p:sp>
      <p:sp>
        <p:nvSpPr>
          <p:cNvPr id="53" name="Text 51"/>
          <p:cNvSpPr/>
          <p:nvPr/>
        </p:nvSpPr>
        <p:spPr>
          <a:xfrm>
            <a:off x="5736336" y="4544568"/>
            <a:ext cx="1341120" cy="841248"/>
          </a:xfrm>
          <a:prstGeom prst="rect">
            <a:avLst/>
          </a:prstGeom>
          <a:noFill/>
          <a:ln/>
        </p:spPr>
        <p:txBody>
          <a:bodyPr wrap="square" rtlCol="0" anchor="ctr"/>
          <a:lstStyle/>
          <a:p>
            <a:pPr algn="ctr" indent="0" marL="0">
              <a:lnSpc>
                <a:spcPct val="100000"/>
              </a:lnSpc>
              <a:buNone/>
            </a:pPr>
            <a:r>
              <a:rPr lang="en-US" sz="950" b="1" dirty="0">
                <a:solidFill>
                  <a:srgbClr val="019879"/>
                </a:solidFill>
                <a:latin typeface="Calibri" pitchFamily="34" charset="0"/>
                <a:ea typeface="Calibri" pitchFamily="34" charset="-122"/>
                <a:cs typeface="Calibri" pitchFamily="34" charset="-120"/>
              </a:rPr>
              <a:t>Knowledge Graph</a:t>
            </a:r>
            <a:endParaRPr lang="en-US" sz="950" dirty="0"/>
          </a:p>
        </p:txBody>
      </p:sp>
      <p:sp>
        <p:nvSpPr>
          <p:cNvPr id="54" name="Shape 52"/>
          <p:cNvSpPr/>
          <p:nvPr/>
        </p:nvSpPr>
        <p:spPr>
          <a:xfrm>
            <a:off x="7232904" y="4544568"/>
            <a:ext cx="1432560" cy="841248"/>
          </a:xfrm>
          <a:prstGeom prst="roundRect">
            <a:avLst>
              <a:gd name="adj" fmla="val 6522"/>
            </a:avLst>
          </a:prstGeom>
          <a:solidFill>
            <a:srgbClr val="E4FBF5"/>
          </a:solidFill>
          <a:ln w="12700">
            <a:solidFill>
              <a:srgbClr val="019879"/>
            </a:solidFill>
            <a:prstDash val="solid"/>
          </a:ln>
        </p:spPr>
      </p:sp>
      <p:sp>
        <p:nvSpPr>
          <p:cNvPr id="55" name="Text 53"/>
          <p:cNvSpPr/>
          <p:nvPr/>
        </p:nvSpPr>
        <p:spPr>
          <a:xfrm>
            <a:off x="7278624" y="4544568"/>
            <a:ext cx="1341120" cy="841248"/>
          </a:xfrm>
          <a:prstGeom prst="rect">
            <a:avLst/>
          </a:prstGeom>
          <a:noFill/>
          <a:ln/>
        </p:spPr>
        <p:txBody>
          <a:bodyPr wrap="square" rtlCol="0" anchor="ctr"/>
          <a:lstStyle/>
          <a:p>
            <a:pPr algn="ctr" indent="0" marL="0">
              <a:lnSpc>
                <a:spcPct val="100000"/>
              </a:lnSpc>
              <a:buNone/>
            </a:pPr>
            <a:r>
              <a:rPr lang="en-US" sz="950" b="1" dirty="0">
                <a:solidFill>
                  <a:srgbClr val="019879"/>
                </a:solidFill>
                <a:latin typeface="Calibri" pitchFamily="34" charset="0"/>
                <a:ea typeface="Calibri" pitchFamily="34" charset="-122"/>
                <a:cs typeface="Calibri" pitchFamily="34" charset="-120"/>
              </a:rPr>
              <a:t>RCA</a:t>
            </a:r>
            <a:endParaRPr lang="en-US" sz="950" dirty="0"/>
          </a:p>
        </p:txBody>
      </p:sp>
      <p:sp>
        <p:nvSpPr>
          <p:cNvPr id="56" name="Shape 54"/>
          <p:cNvSpPr/>
          <p:nvPr/>
        </p:nvSpPr>
        <p:spPr>
          <a:xfrm>
            <a:off x="8775192" y="4544568"/>
            <a:ext cx="1432560" cy="841248"/>
          </a:xfrm>
          <a:prstGeom prst="roundRect">
            <a:avLst>
              <a:gd name="adj" fmla="val 6522"/>
            </a:avLst>
          </a:prstGeom>
          <a:solidFill>
            <a:srgbClr val="E4FBF5"/>
          </a:solidFill>
          <a:ln w="12700">
            <a:solidFill>
              <a:srgbClr val="019879"/>
            </a:solidFill>
            <a:prstDash val="solid"/>
          </a:ln>
        </p:spPr>
      </p:sp>
      <p:sp>
        <p:nvSpPr>
          <p:cNvPr id="57" name="Text 55"/>
          <p:cNvSpPr/>
          <p:nvPr/>
        </p:nvSpPr>
        <p:spPr>
          <a:xfrm>
            <a:off x="8820912" y="4544568"/>
            <a:ext cx="1341120" cy="841248"/>
          </a:xfrm>
          <a:prstGeom prst="rect">
            <a:avLst/>
          </a:prstGeom>
          <a:noFill/>
          <a:ln/>
        </p:spPr>
        <p:txBody>
          <a:bodyPr wrap="square" rtlCol="0" anchor="ctr"/>
          <a:lstStyle/>
          <a:p>
            <a:pPr algn="ctr" indent="0" marL="0">
              <a:lnSpc>
                <a:spcPct val="100000"/>
              </a:lnSpc>
              <a:buNone/>
            </a:pPr>
            <a:r>
              <a:rPr lang="en-US" sz="950" b="1" dirty="0">
                <a:solidFill>
                  <a:srgbClr val="019879"/>
                </a:solidFill>
                <a:latin typeface="Calibri" pitchFamily="34" charset="0"/>
                <a:ea typeface="Calibri" pitchFamily="34" charset="-122"/>
                <a:cs typeface="Calibri" pitchFamily="34" charset="-120"/>
              </a:rPr>
              <a:t>Forecast</a:t>
            </a:r>
            <a:endParaRPr lang="en-US" sz="950" dirty="0"/>
          </a:p>
        </p:txBody>
      </p:sp>
      <p:sp>
        <p:nvSpPr>
          <p:cNvPr id="58" name="Shape 56"/>
          <p:cNvSpPr/>
          <p:nvPr/>
        </p:nvSpPr>
        <p:spPr>
          <a:xfrm>
            <a:off x="10317480" y="4544568"/>
            <a:ext cx="1432560" cy="841248"/>
          </a:xfrm>
          <a:prstGeom prst="roundRect">
            <a:avLst>
              <a:gd name="adj" fmla="val 6522"/>
            </a:avLst>
          </a:prstGeom>
          <a:solidFill>
            <a:srgbClr val="E4FBF5"/>
          </a:solidFill>
          <a:ln w="12700">
            <a:solidFill>
              <a:srgbClr val="019879"/>
            </a:solidFill>
            <a:prstDash val="solid"/>
          </a:ln>
        </p:spPr>
      </p:sp>
      <p:sp>
        <p:nvSpPr>
          <p:cNvPr id="59" name="Text 57"/>
          <p:cNvSpPr/>
          <p:nvPr/>
        </p:nvSpPr>
        <p:spPr>
          <a:xfrm>
            <a:off x="10363200" y="4544568"/>
            <a:ext cx="1341120" cy="841248"/>
          </a:xfrm>
          <a:prstGeom prst="rect">
            <a:avLst/>
          </a:prstGeom>
          <a:noFill/>
          <a:ln/>
        </p:spPr>
        <p:txBody>
          <a:bodyPr wrap="square" rtlCol="0" anchor="ctr"/>
          <a:lstStyle/>
          <a:p>
            <a:pPr algn="ctr" indent="0" marL="0">
              <a:lnSpc>
                <a:spcPct val="100000"/>
              </a:lnSpc>
              <a:buNone/>
            </a:pPr>
            <a:r>
              <a:rPr lang="en-US" sz="950" b="1" dirty="0">
                <a:solidFill>
                  <a:srgbClr val="019879"/>
                </a:solidFill>
                <a:latin typeface="Calibri" pitchFamily="34" charset="0"/>
                <a:ea typeface="Calibri" pitchFamily="34" charset="-122"/>
                <a:cs typeface="Calibri" pitchFamily="34" charset="-120"/>
              </a:rPr>
              <a:t>Automate</a:t>
            </a:r>
            <a:endParaRPr lang="en-US" sz="950" dirty="0"/>
          </a:p>
        </p:txBody>
      </p:sp>
      <p:sp>
        <p:nvSpPr>
          <p:cNvPr id="60" name="Shape 58"/>
          <p:cNvSpPr/>
          <p:nvPr/>
        </p:nvSpPr>
        <p:spPr>
          <a:xfrm>
            <a:off x="6035040" y="5367528"/>
            <a:ext cx="274320" cy="146304"/>
          </a:xfrm>
          <a:prstGeom prst="downArrow">
            <a:avLst/>
          </a:prstGeom>
          <a:solidFill>
            <a:srgbClr val="5B6B7C"/>
          </a:solidFill>
          <a:ln/>
        </p:spPr>
      </p:sp>
      <p:sp>
        <p:nvSpPr>
          <p:cNvPr id="61" name="Shape 59"/>
          <p:cNvSpPr/>
          <p:nvPr/>
        </p:nvSpPr>
        <p:spPr>
          <a:xfrm>
            <a:off x="502920" y="5495544"/>
            <a:ext cx="1965960" cy="841248"/>
          </a:xfrm>
          <a:prstGeom prst="roundRect">
            <a:avLst>
              <a:gd name="adj" fmla="val 6522"/>
            </a:avLst>
          </a:prstGeom>
          <a:solidFill>
            <a:srgbClr val="1E2761"/>
          </a:solidFill>
          <a:ln/>
        </p:spPr>
      </p:sp>
      <p:sp>
        <p:nvSpPr>
          <p:cNvPr id="62" name="Text 60"/>
          <p:cNvSpPr/>
          <p:nvPr/>
        </p:nvSpPr>
        <p:spPr>
          <a:xfrm>
            <a:off x="640080" y="5495544"/>
            <a:ext cx="1737360" cy="841248"/>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Consumers</a:t>
            </a:r>
            <a:endParaRPr lang="en-US" sz="1250" dirty="0"/>
          </a:p>
        </p:txBody>
      </p:sp>
      <p:sp>
        <p:nvSpPr>
          <p:cNvPr id="63" name="Shape 61"/>
          <p:cNvSpPr/>
          <p:nvPr/>
        </p:nvSpPr>
        <p:spPr>
          <a:xfrm>
            <a:off x="2606040" y="5495544"/>
            <a:ext cx="1741018" cy="841248"/>
          </a:xfrm>
          <a:prstGeom prst="roundRect">
            <a:avLst>
              <a:gd name="adj" fmla="val 6522"/>
            </a:avLst>
          </a:prstGeom>
          <a:solidFill>
            <a:srgbClr val="EEF1F4"/>
          </a:solidFill>
          <a:ln w="12700">
            <a:solidFill>
              <a:srgbClr val="DDE2E8"/>
            </a:solidFill>
            <a:prstDash val="solid"/>
          </a:ln>
        </p:spPr>
      </p:sp>
      <p:sp>
        <p:nvSpPr>
          <p:cNvPr id="64" name="Text 62"/>
          <p:cNvSpPr/>
          <p:nvPr/>
        </p:nvSpPr>
        <p:spPr>
          <a:xfrm>
            <a:off x="2651760" y="5495544"/>
            <a:ext cx="1649578"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NOC</a:t>
            </a:r>
            <a:endParaRPr lang="en-US" sz="950" dirty="0"/>
          </a:p>
        </p:txBody>
      </p:sp>
      <p:sp>
        <p:nvSpPr>
          <p:cNvPr id="65" name="Shape 63"/>
          <p:cNvSpPr/>
          <p:nvPr/>
        </p:nvSpPr>
        <p:spPr>
          <a:xfrm>
            <a:off x="4456786" y="5495544"/>
            <a:ext cx="1741018" cy="841248"/>
          </a:xfrm>
          <a:prstGeom prst="roundRect">
            <a:avLst>
              <a:gd name="adj" fmla="val 6522"/>
            </a:avLst>
          </a:prstGeom>
          <a:solidFill>
            <a:srgbClr val="EEF1F4"/>
          </a:solidFill>
          <a:ln w="12700">
            <a:solidFill>
              <a:srgbClr val="DDE2E8"/>
            </a:solidFill>
            <a:prstDash val="solid"/>
          </a:ln>
        </p:spPr>
      </p:sp>
      <p:sp>
        <p:nvSpPr>
          <p:cNvPr id="66" name="Text 64"/>
          <p:cNvSpPr/>
          <p:nvPr/>
        </p:nvSpPr>
        <p:spPr>
          <a:xfrm>
            <a:off x="4502506" y="5495544"/>
            <a:ext cx="1649578"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SOC</a:t>
            </a:r>
            <a:endParaRPr lang="en-US" sz="950" dirty="0"/>
          </a:p>
        </p:txBody>
      </p:sp>
      <p:sp>
        <p:nvSpPr>
          <p:cNvPr id="67" name="Shape 65"/>
          <p:cNvSpPr/>
          <p:nvPr/>
        </p:nvSpPr>
        <p:spPr>
          <a:xfrm>
            <a:off x="6307531" y="5495544"/>
            <a:ext cx="1741018" cy="841248"/>
          </a:xfrm>
          <a:prstGeom prst="roundRect">
            <a:avLst>
              <a:gd name="adj" fmla="val 6522"/>
            </a:avLst>
          </a:prstGeom>
          <a:solidFill>
            <a:srgbClr val="EEF1F4"/>
          </a:solidFill>
          <a:ln w="12700">
            <a:solidFill>
              <a:srgbClr val="DDE2E8"/>
            </a:solidFill>
            <a:prstDash val="solid"/>
          </a:ln>
        </p:spPr>
      </p:sp>
      <p:sp>
        <p:nvSpPr>
          <p:cNvPr id="68" name="Text 66"/>
          <p:cNvSpPr/>
          <p:nvPr/>
        </p:nvSpPr>
        <p:spPr>
          <a:xfrm>
            <a:off x="6353251" y="5495544"/>
            <a:ext cx="1649578"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DBA / Infra</a:t>
            </a:r>
            <a:endParaRPr lang="en-US" sz="950" dirty="0"/>
          </a:p>
        </p:txBody>
      </p:sp>
      <p:sp>
        <p:nvSpPr>
          <p:cNvPr id="69" name="Shape 67"/>
          <p:cNvSpPr/>
          <p:nvPr/>
        </p:nvSpPr>
        <p:spPr>
          <a:xfrm>
            <a:off x="8158277" y="5495544"/>
            <a:ext cx="1741018" cy="841248"/>
          </a:xfrm>
          <a:prstGeom prst="roundRect">
            <a:avLst>
              <a:gd name="adj" fmla="val 6522"/>
            </a:avLst>
          </a:prstGeom>
          <a:solidFill>
            <a:srgbClr val="EEF1F4"/>
          </a:solidFill>
          <a:ln w="12700">
            <a:solidFill>
              <a:srgbClr val="DDE2E8"/>
            </a:solidFill>
            <a:prstDash val="solid"/>
          </a:ln>
        </p:spPr>
      </p:sp>
      <p:sp>
        <p:nvSpPr>
          <p:cNvPr id="70" name="Text 68"/>
          <p:cNvSpPr/>
          <p:nvPr/>
        </p:nvSpPr>
        <p:spPr>
          <a:xfrm>
            <a:off x="8203997" y="5495544"/>
            <a:ext cx="1649578"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CIO Dashboards</a:t>
            </a:r>
            <a:endParaRPr lang="en-US" sz="950" dirty="0"/>
          </a:p>
        </p:txBody>
      </p:sp>
      <p:sp>
        <p:nvSpPr>
          <p:cNvPr id="71" name="Shape 69"/>
          <p:cNvSpPr/>
          <p:nvPr/>
        </p:nvSpPr>
        <p:spPr>
          <a:xfrm>
            <a:off x="10009022" y="5495544"/>
            <a:ext cx="1741018" cy="841248"/>
          </a:xfrm>
          <a:prstGeom prst="roundRect">
            <a:avLst>
              <a:gd name="adj" fmla="val 6522"/>
            </a:avLst>
          </a:prstGeom>
          <a:solidFill>
            <a:srgbClr val="EEF1F4"/>
          </a:solidFill>
          <a:ln w="12700">
            <a:solidFill>
              <a:srgbClr val="DDE2E8"/>
            </a:solidFill>
            <a:prstDash val="solid"/>
          </a:ln>
        </p:spPr>
      </p:sp>
      <p:sp>
        <p:nvSpPr>
          <p:cNvPr id="72" name="Text 70"/>
          <p:cNvSpPr/>
          <p:nvPr/>
        </p:nvSpPr>
        <p:spPr>
          <a:xfrm>
            <a:off x="10054742" y="5495544"/>
            <a:ext cx="1649578" cy="841248"/>
          </a:xfrm>
          <a:prstGeom prst="rect">
            <a:avLst/>
          </a:prstGeom>
          <a:noFill/>
          <a:ln/>
        </p:spPr>
        <p:txBody>
          <a:bodyPr wrap="square" rtlCol="0" anchor="ctr"/>
          <a:lstStyle/>
          <a:p>
            <a:pPr algn="ctr" indent="0" marL="0">
              <a:lnSpc>
                <a:spcPct val="100000"/>
              </a:lnSpc>
              <a:buNone/>
            </a:pPr>
            <a:r>
              <a:rPr lang="en-US" sz="950" dirty="0">
                <a:solidFill>
                  <a:srgbClr val="232B3A"/>
                </a:solidFill>
                <a:latin typeface="Calibri" pitchFamily="34" charset="0"/>
                <a:ea typeface="Calibri" pitchFamily="34" charset="-122"/>
                <a:cs typeface="Calibri" pitchFamily="34" charset="-120"/>
              </a:rPr>
              <a:t>ServiceNow</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TARGET ARCHITECTURE</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Integration Model: AI as a Manager-of-Managers Overlay</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5 · ARCHITECTURE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24 / 33</a:t>
            </a:r>
            <a:endParaRPr lang="en-US" sz="850" dirty="0"/>
          </a:p>
        </p:txBody>
      </p:sp>
      <p:sp>
        <p:nvSpPr>
          <p:cNvPr id="7" name="Shape 5"/>
          <p:cNvSpPr/>
          <p:nvPr/>
        </p:nvSpPr>
        <p:spPr>
          <a:xfrm>
            <a:off x="502920" y="1737360"/>
            <a:ext cx="3535680" cy="1828800"/>
          </a:xfrm>
          <a:prstGeom prst="roundRect">
            <a:avLst>
              <a:gd name="adj" fmla="val 4000"/>
            </a:avLst>
          </a:prstGeom>
          <a:solidFill>
            <a:srgbClr val="EEF1F4"/>
          </a:solidFill>
          <a:ln/>
        </p:spPr>
      </p:sp>
      <p:sp>
        <p:nvSpPr>
          <p:cNvPr id="8" name="Shape 6"/>
          <p:cNvSpPr/>
          <p:nvPr/>
        </p:nvSpPr>
        <p:spPr>
          <a:xfrm>
            <a:off x="704088" y="1938528"/>
            <a:ext cx="365760" cy="365760"/>
          </a:xfrm>
          <a:prstGeom prst="ellipse">
            <a:avLst/>
          </a:prstGeom>
          <a:solidFill>
            <a:srgbClr val="1E2761"/>
          </a:solidFill>
          <a:ln/>
        </p:spPr>
      </p:sp>
      <p:sp>
        <p:nvSpPr>
          <p:cNvPr id="9" name="Text 7"/>
          <p:cNvSpPr/>
          <p:nvPr/>
        </p:nvSpPr>
        <p:spPr>
          <a:xfrm>
            <a:off x="704088" y="193852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704088" y="2395728"/>
            <a:ext cx="31333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1. Centralized Ingestion</a:t>
            </a:r>
            <a:endParaRPr lang="en-US" sz="1350" dirty="0"/>
          </a:p>
        </p:txBody>
      </p:sp>
      <p:sp>
        <p:nvSpPr>
          <p:cNvPr id="11" name="Text 9"/>
          <p:cNvSpPr/>
          <p:nvPr/>
        </p:nvSpPr>
        <p:spPr>
          <a:xfrm>
            <a:off x="704088" y="2724912"/>
            <a:ext cx="3133344" cy="71323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Native APIs &amp; lightweight webhooks stream metrics, syslog and traces from SolarWinds, OEM, Instana, Splunk and Prometheus into one secure collection boundary.</a:t>
            </a:r>
            <a:endParaRPr lang="en-US" sz="950" dirty="0"/>
          </a:p>
        </p:txBody>
      </p:sp>
      <p:sp>
        <p:nvSpPr>
          <p:cNvPr id="12" name="Shape 10"/>
          <p:cNvSpPr/>
          <p:nvPr/>
        </p:nvSpPr>
        <p:spPr>
          <a:xfrm>
            <a:off x="4312920" y="1737360"/>
            <a:ext cx="3535680" cy="1828800"/>
          </a:xfrm>
          <a:prstGeom prst="roundRect">
            <a:avLst>
              <a:gd name="adj" fmla="val 4000"/>
            </a:avLst>
          </a:prstGeom>
          <a:solidFill>
            <a:srgbClr val="EEF1F4"/>
          </a:solidFill>
          <a:ln/>
        </p:spPr>
      </p:sp>
      <p:sp>
        <p:nvSpPr>
          <p:cNvPr id="13" name="Shape 11"/>
          <p:cNvSpPr/>
          <p:nvPr/>
        </p:nvSpPr>
        <p:spPr>
          <a:xfrm>
            <a:off x="4514088" y="1938528"/>
            <a:ext cx="365760" cy="365760"/>
          </a:xfrm>
          <a:prstGeom prst="ellipse">
            <a:avLst/>
          </a:prstGeom>
          <a:solidFill>
            <a:srgbClr val="1E2761"/>
          </a:solidFill>
          <a:ln/>
        </p:spPr>
      </p:sp>
      <p:sp>
        <p:nvSpPr>
          <p:cNvPr id="14" name="Text 12"/>
          <p:cNvSpPr/>
          <p:nvPr/>
        </p:nvSpPr>
        <p:spPr>
          <a:xfrm>
            <a:off x="4514088" y="193852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4514088" y="2395728"/>
            <a:ext cx="31333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2. Dynamic AI Core</a:t>
            </a:r>
            <a:endParaRPr lang="en-US" sz="1350" dirty="0"/>
          </a:p>
        </p:txBody>
      </p:sp>
      <p:sp>
        <p:nvSpPr>
          <p:cNvPr id="16" name="Text 14"/>
          <p:cNvSpPr/>
          <p:nvPr/>
        </p:nvSpPr>
        <p:spPr>
          <a:xfrm>
            <a:off x="4514088" y="2724912"/>
            <a:ext cx="3133344" cy="71323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Real-time normalization; topology graphs cluster duplicate signals, isolate noise, and pinpoint the primary root-cause trigger.</a:t>
            </a:r>
            <a:endParaRPr lang="en-US" sz="950" dirty="0"/>
          </a:p>
        </p:txBody>
      </p:sp>
      <p:sp>
        <p:nvSpPr>
          <p:cNvPr id="17" name="Shape 15"/>
          <p:cNvSpPr/>
          <p:nvPr/>
        </p:nvSpPr>
        <p:spPr>
          <a:xfrm>
            <a:off x="8122920" y="1737360"/>
            <a:ext cx="3535680" cy="1828800"/>
          </a:xfrm>
          <a:prstGeom prst="roundRect">
            <a:avLst>
              <a:gd name="adj" fmla="val 4000"/>
            </a:avLst>
          </a:prstGeom>
          <a:solidFill>
            <a:srgbClr val="EEF1F4"/>
          </a:solidFill>
          <a:ln/>
        </p:spPr>
      </p:sp>
      <p:sp>
        <p:nvSpPr>
          <p:cNvPr id="18" name="Shape 16"/>
          <p:cNvSpPr/>
          <p:nvPr/>
        </p:nvSpPr>
        <p:spPr>
          <a:xfrm>
            <a:off x="8324088" y="1938528"/>
            <a:ext cx="365760" cy="365760"/>
          </a:xfrm>
          <a:prstGeom prst="ellipse">
            <a:avLst/>
          </a:prstGeom>
          <a:solidFill>
            <a:srgbClr val="1E2761"/>
          </a:solidFill>
          <a:ln/>
        </p:spPr>
      </p:sp>
      <p:sp>
        <p:nvSpPr>
          <p:cNvPr id="19" name="Text 17"/>
          <p:cNvSpPr/>
          <p:nvPr/>
        </p:nvSpPr>
        <p:spPr>
          <a:xfrm>
            <a:off x="8324088" y="193852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8324088" y="2395728"/>
            <a:ext cx="31333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3. Action &amp; Remediation</a:t>
            </a:r>
            <a:endParaRPr lang="en-US" sz="1350" dirty="0"/>
          </a:p>
        </p:txBody>
      </p:sp>
      <p:sp>
        <p:nvSpPr>
          <p:cNvPr id="21" name="Text 19"/>
          <p:cNvSpPr/>
          <p:nvPr/>
        </p:nvSpPr>
        <p:spPr>
          <a:xfrm>
            <a:off x="8324088" y="2724912"/>
            <a:ext cx="3133344" cy="71323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Bidirectional ServiceNow integration drives automated workflows; safely invokes recovery playbooks under human-approval guardrails.</a:t>
            </a:r>
            <a:endParaRPr lang="en-US" sz="950" dirty="0"/>
          </a:p>
        </p:txBody>
      </p:sp>
      <p:sp>
        <p:nvSpPr>
          <p:cNvPr id="22" name="Shape 20"/>
          <p:cNvSpPr/>
          <p:nvPr/>
        </p:nvSpPr>
        <p:spPr>
          <a:xfrm>
            <a:off x="502920" y="3794760"/>
            <a:ext cx="11155680" cy="1874520"/>
          </a:xfrm>
          <a:prstGeom prst="roundRect">
            <a:avLst>
              <a:gd name="adj" fmla="val 3902"/>
            </a:avLst>
          </a:prstGeom>
          <a:solidFill>
            <a:srgbClr val="1E2761"/>
          </a:solidFill>
          <a:ln/>
        </p:spPr>
      </p:sp>
      <p:sp>
        <p:nvSpPr>
          <p:cNvPr id="23" name="Text 21"/>
          <p:cNvSpPr/>
          <p:nvPr/>
        </p:nvSpPr>
        <p:spPr>
          <a:xfrm>
            <a:off x="777240" y="3931920"/>
            <a:ext cx="1060704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Principle: everything below the line stays</a:t>
            </a:r>
            <a:endParaRPr lang="en-US" sz="1300" dirty="0"/>
          </a:p>
        </p:txBody>
      </p:sp>
      <p:sp>
        <p:nvSpPr>
          <p:cNvPr id="24" name="Shape 22"/>
          <p:cNvSpPr/>
          <p:nvPr/>
        </p:nvSpPr>
        <p:spPr>
          <a:xfrm>
            <a:off x="777240" y="4434840"/>
            <a:ext cx="1097280" cy="384048"/>
          </a:xfrm>
          <a:prstGeom prst="roundRect">
            <a:avLst>
              <a:gd name="adj" fmla="val 50000"/>
            </a:avLst>
          </a:prstGeom>
          <a:solidFill>
            <a:srgbClr val="141B4D"/>
          </a:solidFill>
          <a:ln w="9525">
            <a:solidFill>
              <a:srgbClr val="02C39A"/>
            </a:solidFill>
            <a:prstDash val="solid"/>
          </a:ln>
        </p:spPr>
      </p:sp>
      <p:sp>
        <p:nvSpPr>
          <p:cNvPr id="25" name="Text 23"/>
          <p:cNvSpPr/>
          <p:nvPr/>
        </p:nvSpPr>
        <p:spPr>
          <a:xfrm>
            <a:off x="777240" y="4434840"/>
            <a:ext cx="1097280" cy="38404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SolarWinds</a:t>
            </a:r>
            <a:endParaRPr lang="en-US" sz="1000" dirty="0"/>
          </a:p>
        </p:txBody>
      </p:sp>
      <p:sp>
        <p:nvSpPr>
          <p:cNvPr id="26" name="Shape 24"/>
          <p:cNvSpPr/>
          <p:nvPr/>
        </p:nvSpPr>
        <p:spPr>
          <a:xfrm>
            <a:off x="2020824" y="4434840"/>
            <a:ext cx="1097280" cy="384048"/>
          </a:xfrm>
          <a:prstGeom prst="roundRect">
            <a:avLst>
              <a:gd name="adj" fmla="val 50000"/>
            </a:avLst>
          </a:prstGeom>
          <a:solidFill>
            <a:srgbClr val="141B4D"/>
          </a:solidFill>
          <a:ln w="9525">
            <a:solidFill>
              <a:srgbClr val="02C39A"/>
            </a:solidFill>
            <a:prstDash val="solid"/>
          </a:ln>
        </p:spPr>
      </p:sp>
      <p:sp>
        <p:nvSpPr>
          <p:cNvPr id="27" name="Text 25"/>
          <p:cNvSpPr/>
          <p:nvPr/>
        </p:nvSpPr>
        <p:spPr>
          <a:xfrm>
            <a:off x="2020824" y="4434840"/>
            <a:ext cx="1097280" cy="38404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Oracle OEM</a:t>
            </a:r>
            <a:endParaRPr lang="en-US" sz="1000" dirty="0"/>
          </a:p>
        </p:txBody>
      </p:sp>
      <p:sp>
        <p:nvSpPr>
          <p:cNvPr id="28" name="Shape 26"/>
          <p:cNvSpPr/>
          <p:nvPr/>
        </p:nvSpPr>
        <p:spPr>
          <a:xfrm>
            <a:off x="3264408" y="4434840"/>
            <a:ext cx="1175004" cy="384048"/>
          </a:xfrm>
          <a:prstGeom prst="roundRect">
            <a:avLst>
              <a:gd name="adj" fmla="val 50000"/>
            </a:avLst>
          </a:prstGeom>
          <a:solidFill>
            <a:srgbClr val="141B4D"/>
          </a:solidFill>
          <a:ln w="9525">
            <a:solidFill>
              <a:srgbClr val="02C39A"/>
            </a:solidFill>
            <a:prstDash val="solid"/>
          </a:ln>
        </p:spPr>
      </p:sp>
      <p:sp>
        <p:nvSpPr>
          <p:cNvPr id="29" name="Text 27"/>
          <p:cNvSpPr/>
          <p:nvPr/>
        </p:nvSpPr>
        <p:spPr>
          <a:xfrm>
            <a:off x="3264408" y="4434840"/>
            <a:ext cx="1175004" cy="38404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IBM Instana</a:t>
            </a:r>
            <a:endParaRPr lang="en-US" sz="1000" dirty="0"/>
          </a:p>
        </p:txBody>
      </p:sp>
      <p:sp>
        <p:nvSpPr>
          <p:cNvPr id="30" name="Shape 28"/>
          <p:cNvSpPr/>
          <p:nvPr/>
        </p:nvSpPr>
        <p:spPr>
          <a:xfrm>
            <a:off x="4585716" y="4434840"/>
            <a:ext cx="786384" cy="384048"/>
          </a:xfrm>
          <a:prstGeom prst="roundRect">
            <a:avLst>
              <a:gd name="adj" fmla="val 50000"/>
            </a:avLst>
          </a:prstGeom>
          <a:solidFill>
            <a:srgbClr val="141B4D"/>
          </a:solidFill>
          <a:ln w="9525">
            <a:solidFill>
              <a:srgbClr val="02C39A"/>
            </a:solidFill>
            <a:prstDash val="solid"/>
          </a:ln>
        </p:spPr>
      </p:sp>
      <p:sp>
        <p:nvSpPr>
          <p:cNvPr id="31" name="Text 29"/>
          <p:cNvSpPr/>
          <p:nvPr/>
        </p:nvSpPr>
        <p:spPr>
          <a:xfrm>
            <a:off x="4585716" y="4434840"/>
            <a:ext cx="786384" cy="38404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Splunk</a:t>
            </a:r>
            <a:endParaRPr lang="en-US" sz="1000" dirty="0"/>
          </a:p>
        </p:txBody>
      </p:sp>
      <p:sp>
        <p:nvSpPr>
          <p:cNvPr id="32" name="Shape 30"/>
          <p:cNvSpPr/>
          <p:nvPr/>
        </p:nvSpPr>
        <p:spPr>
          <a:xfrm>
            <a:off x="5518404" y="4434840"/>
            <a:ext cx="1330452" cy="384048"/>
          </a:xfrm>
          <a:prstGeom prst="roundRect">
            <a:avLst>
              <a:gd name="adj" fmla="val 50000"/>
            </a:avLst>
          </a:prstGeom>
          <a:solidFill>
            <a:srgbClr val="141B4D"/>
          </a:solidFill>
          <a:ln w="9525">
            <a:solidFill>
              <a:srgbClr val="02C39A"/>
            </a:solidFill>
            <a:prstDash val="solid"/>
          </a:ln>
        </p:spPr>
      </p:sp>
      <p:sp>
        <p:nvSpPr>
          <p:cNvPr id="33" name="Text 31"/>
          <p:cNvSpPr/>
          <p:nvPr/>
        </p:nvSpPr>
        <p:spPr>
          <a:xfrm>
            <a:off x="5518404" y="4434840"/>
            <a:ext cx="1330452" cy="38404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Azure Monitor</a:t>
            </a:r>
            <a:endParaRPr lang="en-US" sz="1000" dirty="0"/>
          </a:p>
        </p:txBody>
      </p:sp>
      <p:sp>
        <p:nvSpPr>
          <p:cNvPr id="34" name="Shape 32"/>
          <p:cNvSpPr/>
          <p:nvPr/>
        </p:nvSpPr>
        <p:spPr>
          <a:xfrm>
            <a:off x="6995160" y="4434840"/>
            <a:ext cx="1719072" cy="384048"/>
          </a:xfrm>
          <a:prstGeom prst="roundRect">
            <a:avLst>
              <a:gd name="adj" fmla="val 50000"/>
            </a:avLst>
          </a:prstGeom>
          <a:solidFill>
            <a:srgbClr val="141B4D"/>
          </a:solidFill>
          <a:ln w="9525">
            <a:solidFill>
              <a:srgbClr val="02C39A"/>
            </a:solidFill>
            <a:prstDash val="solid"/>
          </a:ln>
        </p:spPr>
      </p:sp>
      <p:sp>
        <p:nvSpPr>
          <p:cNvPr id="35" name="Text 33"/>
          <p:cNvSpPr/>
          <p:nvPr/>
        </p:nvSpPr>
        <p:spPr>
          <a:xfrm>
            <a:off x="6995160" y="4434840"/>
            <a:ext cx="1719072" cy="38404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Prometheus/Grafana</a:t>
            </a:r>
            <a:endParaRPr lang="en-US" sz="1000" dirty="0"/>
          </a:p>
        </p:txBody>
      </p:sp>
      <p:sp>
        <p:nvSpPr>
          <p:cNvPr id="36" name="Shape 34"/>
          <p:cNvSpPr/>
          <p:nvPr/>
        </p:nvSpPr>
        <p:spPr>
          <a:xfrm>
            <a:off x="8860536" y="4434840"/>
            <a:ext cx="941832" cy="384048"/>
          </a:xfrm>
          <a:prstGeom prst="roundRect">
            <a:avLst>
              <a:gd name="adj" fmla="val 50000"/>
            </a:avLst>
          </a:prstGeom>
          <a:solidFill>
            <a:srgbClr val="141B4D"/>
          </a:solidFill>
          <a:ln w="9525">
            <a:solidFill>
              <a:srgbClr val="02C39A"/>
            </a:solidFill>
            <a:prstDash val="solid"/>
          </a:ln>
        </p:spPr>
      </p:sp>
      <p:sp>
        <p:nvSpPr>
          <p:cNvPr id="37" name="Text 35"/>
          <p:cNvSpPr/>
          <p:nvPr/>
        </p:nvSpPr>
        <p:spPr>
          <a:xfrm>
            <a:off x="8860536" y="4434840"/>
            <a:ext cx="941832" cy="38404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CyberArk</a:t>
            </a:r>
            <a:endParaRPr lang="en-US" sz="1000" dirty="0"/>
          </a:p>
        </p:txBody>
      </p:sp>
      <p:sp>
        <p:nvSpPr>
          <p:cNvPr id="38" name="Shape 36"/>
          <p:cNvSpPr/>
          <p:nvPr/>
        </p:nvSpPr>
        <p:spPr>
          <a:xfrm>
            <a:off x="9948672" y="4434840"/>
            <a:ext cx="1097280" cy="384048"/>
          </a:xfrm>
          <a:prstGeom prst="roundRect">
            <a:avLst>
              <a:gd name="adj" fmla="val 50000"/>
            </a:avLst>
          </a:prstGeom>
          <a:solidFill>
            <a:srgbClr val="141B4D"/>
          </a:solidFill>
          <a:ln w="9525">
            <a:solidFill>
              <a:srgbClr val="02C39A"/>
            </a:solidFill>
            <a:prstDash val="solid"/>
          </a:ln>
        </p:spPr>
      </p:sp>
      <p:sp>
        <p:nvSpPr>
          <p:cNvPr id="39" name="Text 37"/>
          <p:cNvSpPr/>
          <p:nvPr/>
        </p:nvSpPr>
        <p:spPr>
          <a:xfrm>
            <a:off x="9948672" y="4434840"/>
            <a:ext cx="1097280" cy="38404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ServiceNow</a:t>
            </a:r>
            <a:endParaRPr lang="en-US" sz="1000" dirty="0"/>
          </a:p>
        </p:txBody>
      </p:sp>
      <p:sp>
        <p:nvSpPr>
          <p:cNvPr id="40" name="Text 38"/>
          <p:cNvSpPr/>
          <p:nvPr/>
        </p:nvSpPr>
        <p:spPr>
          <a:xfrm>
            <a:off x="777240" y="4983480"/>
            <a:ext cx="10607040" cy="594360"/>
          </a:xfrm>
          <a:prstGeom prst="rect">
            <a:avLst/>
          </a:prstGeom>
          <a:noFill/>
          <a:ln/>
        </p:spPr>
        <p:txBody>
          <a:bodyPr wrap="square" rtlCol="0" anchor="ctr"/>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Data flows up via native connectors, webhooks, APIs or syslog forwarding. Enriched incidents flow out to ITSM / ChatOps / on-call — no tool is replaced, and optionality to swap underlying tools later is preserved.</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TARGET ARCHITECTURE</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AI Processing Pipeline — From Raw Signal to Closed-Loop Action</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5 · ARCHITECTURE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25 / 33</a:t>
            </a:r>
            <a:endParaRPr lang="en-US" sz="850" dirty="0"/>
          </a:p>
        </p:txBody>
      </p:sp>
      <p:sp>
        <p:nvSpPr>
          <p:cNvPr id="7" name="Shape 5"/>
          <p:cNvSpPr/>
          <p:nvPr/>
        </p:nvSpPr>
        <p:spPr>
          <a:xfrm>
            <a:off x="502920" y="2743200"/>
            <a:ext cx="1093216" cy="1188720"/>
          </a:xfrm>
          <a:prstGeom prst="roundRect">
            <a:avLst>
              <a:gd name="adj" fmla="val 6691"/>
            </a:avLst>
          </a:prstGeom>
          <a:solidFill>
            <a:srgbClr val="1E2761"/>
          </a:solidFill>
          <a:ln/>
        </p:spPr>
      </p:sp>
      <p:sp>
        <p:nvSpPr>
          <p:cNvPr id="8" name="Text 6"/>
          <p:cNvSpPr/>
          <p:nvPr/>
        </p:nvSpPr>
        <p:spPr>
          <a:xfrm>
            <a:off x="539496" y="2743200"/>
            <a:ext cx="1020064" cy="1188720"/>
          </a:xfrm>
          <a:prstGeom prst="rect">
            <a:avLst/>
          </a:prstGeom>
          <a:noFill/>
          <a:ln/>
        </p:spPr>
        <p:txBody>
          <a:bodyPr wrap="square"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Ingest</a:t>
            </a:r>
            <a:endParaRPr lang="en-US" sz="1000" dirty="0"/>
          </a:p>
        </p:txBody>
      </p:sp>
      <p:sp>
        <p:nvSpPr>
          <p:cNvPr id="9" name="Shape 7"/>
          <p:cNvSpPr/>
          <p:nvPr/>
        </p:nvSpPr>
        <p:spPr>
          <a:xfrm>
            <a:off x="1605280" y="3200400"/>
            <a:ext cx="146304" cy="274320"/>
          </a:xfrm>
          <a:prstGeom prst="rightArrow">
            <a:avLst/>
          </a:prstGeom>
          <a:solidFill>
            <a:srgbClr val="5B6B7C"/>
          </a:solidFill>
          <a:ln/>
        </p:spPr>
      </p:sp>
      <p:sp>
        <p:nvSpPr>
          <p:cNvPr id="10" name="Shape 8"/>
          <p:cNvSpPr/>
          <p:nvPr/>
        </p:nvSpPr>
        <p:spPr>
          <a:xfrm>
            <a:off x="1760728" y="2743200"/>
            <a:ext cx="1093216" cy="1188720"/>
          </a:xfrm>
          <a:prstGeom prst="roundRect">
            <a:avLst>
              <a:gd name="adj" fmla="val 6691"/>
            </a:avLst>
          </a:prstGeom>
          <a:solidFill>
            <a:srgbClr val="1E2761"/>
          </a:solidFill>
          <a:ln/>
        </p:spPr>
      </p:sp>
      <p:sp>
        <p:nvSpPr>
          <p:cNvPr id="11" name="Text 9"/>
          <p:cNvSpPr/>
          <p:nvPr/>
        </p:nvSpPr>
        <p:spPr>
          <a:xfrm>
            <a:off x="1797304" y="2743200"/>
            <a:ext cx="1020064" cy="1188720"/>
          </a:xfrm>
          <a:prstGeom prst="rect">
            <a:avLst/>
          </a:prstGeom>
          <a:noFill/>
          <a:ln/>
        </p:spPr>
        <p:txBody>
          <a:bodyPr wrap="square"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Normalize</a:t>
            </a:r>
            <a:endParaRPr lang="en-US" sz="1000" dirty="0"/>
          </a:p>
        </p:txBody>
      </p:sp>
      <p:sp>
        <p:nvSpPr>
          <p:cNvPr id="12" name="Shape 10"/>
          <p:cNvSpPr/>
          <p:nvPr/>
        </p:nvSpPr>
        <p:spPr>
          <a:xfrm>
            <a:off x="2863088" y="3200400"/>
            <a:ext cx="146304" cy="274320"/>
          </a:xfrm>
          <a:prstGeom prst="rightArrow">
            <a:avLst/>
          </a:prstGeom>
          <a:solidFill>
            <a:srgbClr val="5B6B7C"/>
          </a:solidFill>
          <a:ln/>
        </p:spPr>
      </p:sp>
      <p:sp>
        <p:nvSpPr>
          <p:cNvPr id="13" name="Shape 11"/>
          <p:cNvSpPr/>
          <p:nvPr/>
        </p:nvSpPr>
        <p:spPr>
          <a:xfrm>
            <a:off x="3018536" y="2743200"/>
            <a:ext cx="1093216" cy="1188720"/>
          </a:xfrm>
          <a:prstGeom prst="roundRect">
            <a:avLst>
              <a:gd name="adj" fmla="val 6691"/>
            </a:avLst>
          </a:prstGeom>
          <a:solidFill>
            <a:srgbClr val="1E2761"/>
          </a:solidFill>
          <a:ln/>
        </p:spPr>
      </p:sp>
      <p:sp>
        <p:nvSpPr>
          <p:cNvPr id="14" name="Text 12"/>
          <p:cNvSpPr/>
          <p:nvPr/>
        </p:nvSpPr>
        <p:spPr>
          <a:xfrm>
            <a:off x="3055112" y="2743200"/>
            <a:ext cx="1020064" cy="1188720"/>
          </a:xfrm>
          <a:prstGeom prst="rect">
            <a:avLst/>
          </a:prstGeom>
          <a:noFill/>
          <a:ln/>
        </p:spPr>
        <p:txBody>
          <a:bodyPr wrap="square"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Dedup</a:t>
            </a:r>
            <a:endParaRPr lang="en-US" sz="1000" dirty="0"/>
          </a:p>
        </p:txBody>
      </p:sp>
      <p:sp>
        <p:nvSpPr>
          <p:cNvPr id="15" name="Shape 13"/>
          <p:cNvSpPr/>
          <p:nvPr/>
        </p:nvSpPr>
        <p:spPr>
          <a:xfrm>
            <a:off x="4120896" y="3200400"/>
            <a:ext cx="146304" cy="274320"/>
          </a:xfrm>
          <a:prstGeom prst="rightArrow">
            <a:avLst/>
          </a:prstGeom>
          <a:solidFill>
            <a:srgbClr val="5B6B7C"/>
          </a:solidFill>
          <a:ln/>
        </p:spPr>
      </p:sp>
      <p:sp>
        <p:nvSpPr>
          <p:cNvPr id="16" name="Shape 14"/>
          <p:cNvSpPr/>
          <p:nvPr/>
        </p:nvSpPr>
        <p:spPr>
          <a:xfrm>
            <a:off x="4276344" y="2743200"/>
            <a:ext cx="1093216" cy="1188720"/>
          </a:xfrm>
          <a:prstGeom prst="roundRect">
            <a:avLst>
              <a:gd name="adj" fmla="val 6691"/>
            </a:avLst>
          </a:prstGeom>
          <a:solidFill>
            <a:srgbClr val="1E2761"/>
          </a:solidFill>
          <a:ln/>
        </p:spPr>
      </p:sp>
      <p:sp>
        <p:nvSpPr>
          <p:cNvPr id="17" name="Text 15"/>
          <p:cNvSpPr/>
          <p:nvPr/>
        </p:nvSpPr>
        <p:spPr>
          <a:xfrm>
            <a:off x="4312920" y="2743200"/>
            <a:ext cx="1020064" cy="1188720"/>
          </a:xfrm>
          <a:prstGeom prst="rect">
            <a:avLst/>
          </a:prstGeom>
          <a:noFill/>
          <a:ln/>
        </p:spPr>
        <p:txBody>
          <a:bodyPr wrap="square"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Correlate</a:t>
            </a:r>
            <a:endParaRPr lang="en-US" sz="1000" dirty="0"/>
          </a:p>
        </p:txBody>
      </p:sp>
      <p:sp>
        <p:nvSpPr>
          <p:cNvPr id="18" name="Shape 16"/>
          <p:cNvSpPr/>
          <p:nvPr/>
        </p:nvSpPr>
        <p:spPr>
          <a:xfrm>
            <a:off x="5378704" y="3200400"/>
            <a:ext cx="146304" cy="274320"/>
          </a:xfrm>
          <a:prstGeom prst="rightArrow">
            <a:avLst/>
          </a:prstGeom>
          <a:solidFill>
            <a:srgbClr val="5B6B7C"/>
          </a:solidFill>
          <a:ln/>
        </p:spPr>
      </p:sp>
      <p:sp>
        <p:nvSpPr>
          <p:cNvPr id="19" name="Shape 17"/>
          <p:cNvSpPr/>
          <p:nvPr/>
        </p:nvSpPr>
        <p:spPr>
          <a:xfrm>
            <a:off x="5534152" y="2743200"/>
            <a:ext cx="1093216" cy="1188720"/>
          </a:xfrm>
          <a:prstGeom prst="roundRect">
            <a:avLst>
              <a:gd name="adj" fmla="val 6691"/>
            </a:avLst>
          </a:prstGeom>
          <a:solidFill>
            <a:srgbClr val="1E2761"/>
          </a:solidFill>
          <a:ln/>
        </p:spPr>
      </p:sp>
      <p:sp>
        <p:nvSpPr>
          <p:cNvPr id="20" name="Text 18"/>
          <p:cNvSpPr/>
          <p:nvPr/>
        </p:nvSpPr>
        <p:spPr>
          <a:xfrm>
            <a:off x="5570728" y="2743200"/>
            <a:ext cx="1020064" cy="1188720"/>
          </a:xfrm>
          <a:prstGeom prst="rect">
            <a:avLst/>
          </a:prstGeom>
          <a:noFill/>
          <a:ln/>
        </p:spPr>
        <p:txBody>
          <a:bodyPr wrap="square"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Detect (ML)</a:t>
            </a:r>
            <a:endParaRPr lang="en-US" sz="1000" dirty="0"/>
          </a:p>
        </p:txBody>
      </p:sp>
      <p:sp>
        <p:nvSpPr>
          <p:cNvPr id="21" name="Shape 19"/>
          <p:cNvSpPr/>
          <p:nvPr/>
        </p:nvSpPr>
        <p:spPr>
          <a:xfrm>
            <a:off x="6636512" y="3200400"/>
            <a:ext cx="146304" cy="274320"/>
          </a:xfrm>
          <a:prstGeom prst="rightArrow">
            <a:avLst/>
          </a:prstGeom>
          <a:solidFill>
            <a:srgbClr val="5B6B7C"/>
          </a:solidFill>
          <a:ln/>
        </p:spPr>
      </p:sp>
      <p:sp>
        <p:nvSpPr>
          <p:cNvPr id="22" name="Shape 20"/>
          <p:cNvSpPr/>
          <p:nvPr/>
        </p:nvSpPr>
        <p:spPr>
          <a:xfrm>
            <a:off x="6791960" y="2743200"/>
            <a:ext cx="1093216" cy="1188720"/>
          </a:xfrm>
          <a:prstGeom prst="roundRect">
            <a:avLst>
              <a:gd name="adj" fmla="val 6691"/>
            </a:avLst>
          </a:prstGeom>
          <a:solidFill>
            <a:srgbClr val="1E2761"/>
          </a:solidFill>
          <a:ln/>
        </p:spPr>
      </p:sp>
      <p:sp>
        <p:nvSpPr>
          <p:cNvPr id="23" name="Text 21"/>
          <p:cNvSpPr/>
          <p:nvPr/>
        </p:nvSpPr>
        <p:spPr>
          <a:xfrm>
            <a:off x="6828536" y="2743200"/>
            <a:ext cx="1020064" cy="1188720"/>
          </a:xfrm>
          <a:prstGeom prst="rect">
            <a:avLst/>
          </a:prstGeom>
          <a:noFill/>
          <a:ln/>
        </p:spPr>
        <p:txBody>
          <a:bodyPr wrap="square"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RCA</a:t>
            </a:r>
            <a:endParaRPr lang="en-US" sz="1000" dirty="0"/>
          </a:p>
        </p:txBody>
      </p:sp>
      <p:sp>
        <p:nvSpPr>
          <p:cNvPr id="24" name="Shape 22"/>
          <p:cNvSpPr/>
          <p:nvPr/>
        </p:nvSpPr>
        <p:spPr>
          <a:xfrm>
            <a:off x="7894320" y="3200400"/>
            <a:ext cx="146304" cy="274320"/>
          </a:xfrm>
          <a:prstGeom prst="rightArrow">
            <a:avLst/>
          </a:prstGeom>
          <a:solidFill>
            <a:srgbClr val="5B6B7C"/>
          </a:solidFill>
          <a:ln/>
        </p:spPr>
      </p:sp>
      <p:sp>
        <p:nvSpPr>
          <p:cNvPr id="25" name="Shape 23"/>
          <p:cNvSpPr/>
          <p:nvPr/>
        </p:nvSpPr>
        <p:spPr>
          <a:xfrm>
            <a:off x="8049768" y="2743200"/>
            <a:ext cx="1093216" cy="1188720"/>
          </a:xfrm>
          <a:prstGeom prst="roundRect">
            <a:avLst>
              <a:gd name="adj" fmla="val 6691"/>
            </a:avLst>
          </a:prstGeom>
          <a:solidFill>
            <a:srgbClr val="1E2761"/>
          </a:solidFill>
          <a:ln/>
        </p:spPr>
      </p:sp>
      <p:sp>
        <p:nvSpPr>
          <p:cNvPr id="26" name="Text 24"/>
          <p:cNvSpPr/>
          <p:nvPr/>
        </p:nvSpPr>
        <p:spPr>
          <a:xfrm>
            <a:off x="8086344" y="2743200"/>
            <a:ext cx="1020064" cy="1188720"/>
          </a:xfrm>
          <a:prstGeom prst="rect">
            <a:avLst/>
          </a:prstGeom>
          <a:noFill/>
          <a:ln/>
        </p:spPr>
        <p:txBody>
          <a:bodyPr wrap="square"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Recommend</a:t>
            </a:r>
            <a:endParaRPr lang="en-US" sz="1000" dirty="0"/>
          </a:p>
        </p:txBody>
      </p:sp>
      <p:sp>
        <p:nvSpPr>
          <p:cNvPr id="27" name="Shape 25"/>
          <p:cNvSpPr/>
          <p:nvPr/>
        </p:nvSpPr>
        <p:spPr>
          <a:xfrm>
            <a:off x="9152128" y="3200400"/>
            <a:ext cx="146304" cy="274320"/>
          </a:xfrm>
          <a:prstGeom prst="rightArrow">
            <a:avLst/>
          </a:prstGeom>
          <a:solidFill>
            <a:srgbClr val="5B6B7C"/>
          </a:solidFill>
          <a:ln/>
        </p:spPr>
      </p:sp>
      <p:sp>
        <p:nvSpPr>
          <p:cNvPr id="28" name="Shape 26"/>
          <p:cNvSpPr/>
          <p:nvPr/>
        </p:nvSpPr>
        <p:spPr>
          <a:xfrm>
            <a:off x="9307576" y="2743200"/>
            <a:ext cx="1093216" cy="1188720"/>
          </a:xfrm>
          <a:prstGeom prst="roundRect">
            <a:avLst>
              <a:gd name="adj" fmla="val 6691"/>
            </a:avLst>
          </a:prstGeom>
          <a:solidFill>
            <a:srgbClr val="02C39A"/>
          </a:solidFill>
          <a:ln/>
        </p:spPr>
      </p:sp>
      <p:sp>
        <p:nvSpPr>
          <p:cNvPr id="29" name="Text 27"/>
          <p:cNvSpPr/>
          <p:nvPr/>
        </p:nvSpPr>
        <p:spPr>
          <a:xfrm>
            <a:off x="9344152" y="2743200"/>
            <a:ext cx="1020064" cy="1188720"/>
          </a:xfrm>
          <a:prstGeom prst="rect">
            <a:avLst/>
          </a:prstGeom>
          <a:noFill/>
          <a:ln/>
        </p:spPr>
        <p:txBody>
          <a:bodyPr wrap="square" rtlCol="0" anchor="ctr"/>
          <a:lstStyle/>
          <a:p>
            <a:pPr algn="ctr" indent="0" marL="0">
              <a:lnSpc>
                <a:spcPct val="100000"/>
              </a:lnSpc>
              <a:buNone/>
            </a:pPr>
            <a:r>
              <a:rPr lang="en-US" sz="1000" b="1" dirty="0">
                <a:solidFill>
                  <a:srgbClr val="141B4D"/>
                </a:solidFill>
                <a:latin typeface="Calibri" pitchFamily="34" charset="0"/>
                <a:ea typeface="Calibri" pitchFamily="34" charset="-122"/>
                <a:cs typeface="Calibri" pitchFamily="34" charset="-120"/>
              </a:rPr>
              <a:t>Runbook</a:t>
            </a:r>
            <a:endParaRPr lang="en-US" sz="1000" dirty="0"/>
          </a:p>
        </p:txBody>
      </p:sp>
      <p:sp>
        <p:nvSpPr>
          <p:cNvPr id="30" name="Shape 28"/>
          <p:cNvSpPr/>
          <p:nvPr/>
        </p:nvSpPr>
        <p:spPr>
          <a:xfrm>
            <a:off x="10409936" y="3200400"/>
            <a:ext cx="146304" cy="274320"/>
          </a:xfrm>
          <a:prstGeom prst="rightArrow">
            <a:avLst/>
          </a:prstGeom>
          <a:solidFill>
            <a:srgbClr val="5B6B7C"/>
          </a:solidFill>
          <a:ln/>
        </p:spPr>
      </p:sp>
      <p:sp>
        <p:nvSpPr>
          <p:cNvPr id="31" name="Shape 29"/>
          <p:cNvSpPr/>
          <p:nvPr/>
        </p:nvSpPr>
        <p:spPr>
          <a:xfrm>
            <a:off x="10565384" y="2743200"/>
            <a:ext cx="1093216" cy="1188720"/>
          </a:xfrm>
          <a:prstGeom prst="roundRect">
            <a:avLst>
              <a:gd name="adj" fmla="val 6691"/>
            </a:avLst>
          </a:prstGeom>
          <a:solidFill>
            <a:srgbClr val="02C39A"/>
          </a:solidFill>
          <a:ln/>
        </p:spPr>
      </p:sp>
      <p:sp>
        <p:nvSpPr>
          <p:cNvPr id="32" name="Text 30"/>
          <p:cNvSpPr/>
          <p:nvPr/>
        </p:nvSpPr>
        <p:spPr>
          <a:xfrm>
            <a:off x="10601960" y="2743200"/>
            <a:ext cx="1020064" cy="1188720"/>
          </a:xfrm>
          <a:prstGeom prst="rect">
            <a:avLst/>
          </a:prstGeom>
          <a:noFill/>
          <a:ln/>
        </p:spPr>
        <p:txBody>
          <a:bodyPr wrap="square" rtlCol="0" anchor="ctr"/>
          <a:lstStyle/>
          <a:p>
            <a:pPr algn="ctr" indent="0" marL="0">
              <a:lnSpc>
                <a:spcPct val="100000"/>
              </a:lnSpc>
              <a:buNone/>
            </a:pPr>
            <a:r>
              <a:rPr lang="en-US" sz="1000" b="1" dirty="0">
                <a:solidFill>
                  <a:srgbClr val="141B4D"/>
                </a:solidFill>
                <a:latin typeface="Calibri" pitchFamily="34" charset="0"/>
                <a:ea typeface="Calibri" pitchFamily="34" charset="-122"/>
                <a:cs typeface="Calibri" pitchFamily="34" charset="-120"/>
              </a:rPr>
              <a:t>Remediate</a:t>
            </a:r>
            <a:endParaRPr lang="en-US" sz="1000" dirty="0"/>
          </a:p>
        </p:txBody>
      </p:sp>
      <p:sp>
        <p:nvSpPr>
          <p:cNvPr id="33" name="Text 31"/>
          <p:cNvSpPr/>
          <p:nvPr/>
        </p:nvSpPr>
        <p:spPr>
          <a:xfrm>
            <a:off x="8049768" y="2377440"/>
            <a:ext cx="2186432" cy="274320"/>
          </a:xfrm>
          <a:prstGeom prst="rect">
            <a:avLst/>
          </a:prstGeom>
          <a:noFill/>
          <a:ln/>
        </p:spPr>
        <p:txBody>
          <a:bodyPr wrap="square" rtlCol="0" anchor="ctr"/>
          <a:lstStyle/>
          <a:p>
            <a:pPr algn="ctr" indent="0" marL="0">
              <a:buNone/>
            </a:pPr>
            <a:r>
              <a:rPr lang="en-US" sz="950" b="1" i="1" dirty="0">
                <a:solidFill>
                  <a:srgbClr val="D98E04"/>
                </a:solidFill>
                <a:latin typeface="Calibri" pitchFamily="34" charset="0"/>
                <a:ea typeface="Calibri" pitchFamily="34" charset="-122"/>
                <a:cs typeface="Calibri" pitchFamily="34" charset="-120"/>
              </a:rPr>
              <a:t>Human approval gate</a:t>
            </a:r>
            <a:endParaRPr lang="en-US" sz="950" dirty="0"/>
          </a:p>
        </p:txBody>
      </p:sp>
      <p:sp>
        <p:nvSpPr>
          <p:cNvPr id="34" name="Shape 32"/>
          <p:cNvSpPr/>
          <p:nvPr/>
        </p:nvSpPr>
        <p:spPr>
          <a:xfrm>
            <a:off x="502920" y="4389120"/>
            <a:ext cx="11155680" cy="1508760"/>
          </a:xfrm>
          <a:prstGeom prst="roundRect">
            <a:avLst>
              <a:gd name="adj" fmla="val 4848"/>
            </a:avLst>
          </a:prstGeom>
          <a:solidFill>
            <a:srgbClr val="EEF1F4"/>
          </a:solidFill>
          <a:ln/>
        </p:spPr>
      </p:sp>
      <p:sp>
        <p:nvSpPr>
          <p:cNvPr id="35" name="Text 33"/>
          <p:cNvSpPr/>
          <p:nvPr/>
        </p:nvSpPr>
        <p:spPr>
          <a:xfrm>
            <a:off x="731520" y="4526280"/>
            <a:ext cx="10607040" cy="1280160"/>
          </a:xfrm>
          <a:prstGeom prst="rect">
            <a:avLst/>
          </a:prstGeom>
          <a:noFill/>
          <a:ln/>
        </p:spPr>
        <p:txBody>
          <a:bodyPr wrap="square" rtlCol="0" anchor="t"/>
          <a:lstStyle/>
          <a:p>
            <a:pPr indent="0" marL="0">
              <a:lnSpc>
                <a:spcPct val="125000"/>
              </a:lnSpc>
              <a:buNone/>
            </a:pPr>
            <a:r>
              <a:rPr lang="en-US" sz="1150" b="1" dirty="0">
                <a:solidFill>
                  <a:srgbClr val="1E2761"/>
                </a:solidFill>
                <a:latin typeface="Calibri" pitchFamily="34" charset="0"/>
                <a:ea typeface="Calibri" pitchFamily="34" charset="-122"/>
                <a:cs typeface="Calibri" pitchFamily="34" charset="-120"/>
              </a:rPr>
              <a:t>Blue stages </a:t>
            </a:r>
            <a:pPr indent="0" marL="0">
              <a:lnSpc>
                <a:spcPct val="125000"/>
              </a:lnSpc>
              <a:buNone/>
            </a:pPr>
            <a:r>
              <a:rPr lang="en-US" sz="1150" dirty="0">
                <a:solidFill>
                  <a:srgbClr val="232B3A"/>
                </a:solidFill>
                <a:latin typeface="Calibri" pitchFamily="34" charset="0"/>
                <a:ea typeface="Calibri" pitchFamily="34" charset="-122"/>
                <a:cs typeface="Calibri" pitchFamily="34" charset="-120"/>
              </a:rPr>
              <a:t>(ingest through recommend) run continuously and autonomously — this is where 80%+ of the noise-reduction and diagnostic value is created.
</a:t>
            </a:r>
            <a:pPr indent="0" marL="0">
              <a:lnSpc>
                <a:spcPct val="125000"/>
              </a:lnSpc>
              <a:buNone/>
            </a:pPr>
            <a:r>
              <a:rPr lang="en-US" sz="1150" b="1" dirty="0">
                <a:solidFill>
                  <a:srgbClr val="019879"/>
                </a:solidFill>
                <a:latin typeface="Calibri" pitchFamily="34" charset="0"/>
                <a:ea typeface="Calibri" pitchFamily="34" charset="-122"/>
                <a:cs typeface="Calibri" pitchFamily="34" charset="-120"/>
              </a:rPr>
              <a:t>Teal stages </a:t>
            </a:r>
            <a:pPr indent="0" marL="0">
              <a:lnSpc>
                <a:spcPct val="125000"/>
              </a:lnSpc>
              <a:buNone/>
            </a:pPr>
            <a:r>
              <a:rPr lang="en-US" sz="1150" dirty="0">
                <a:solidFill>
                  <a:srgbClr val="232B3A"/>
                </a:solidFill>
                <a:latin typeface="Calibri" pitchFamily="34" charset="0"/>
                <a:ea typeface="Calibri" pitchFamily="34" charset="-122"/>
                <a:cs typeface="Calibri" pitchFamily="34" charset="-120"/>
              </a:rPr>
              <a:t>(runbook, remediate) execute only within pre-approved policy guardrails, with mandatory human checkpoints for high-risk or production-impacting changes, and full audit logging throughout.</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828800"/>
            <a:ext cx="5486400" cy="5486400"/>
          </a:xfrm>
          <a:prstGeom prst="ellipse">
            <a:avLst/>
          </a:prstGeom>
          <a:solidFill>
            <a:srgbClr val="141B4D"/>
          </a:solidFill>
          <a:ln/>
        </p:spPr>
      </p:sp>
      <p:sp>
        <p:nvSpPr>
          <p:cNvPr id="3" name="Shape 1"/>
          <p:cNvSpPr/>
          <p:nvPr/>
        </p:nvSpPr>
        <p:spPr>
          <a:xfrm>
            <a:off x="822960" y="2331720"/>
            <a:ext cx="822960" cy="822960"/>
          </a:xfrm>
          <a:prstGeom prst="roundRect">
            <a:avLst>
              <a:gd name="adj" fmla="val 13333"/>
            </a:avLst>
          </a:prstGeom>
          <a:solidFill>
            <a:srgbClr val="02C39A"/>
          </a:solidFill>
          <a:ln/>
        </p:spPr>
      </p:sp>
      <p:sp>
        <p:nvSpPr>
          <p:cNvPr id="4" name="Text 2"/>
          <p:cNvSpPr/>
          <p:nvPr/>
        </p:nvSpPr>
        <p:spPr>
          <a:xfrm>
            <a:off x="822960" y="2331720"/>
            <a:ext cx="822960" cy="822960"/>
          </a:xfrm>
          <a:prstGeom prst="rect">
            <a:avLst/>
          </a:prstGeom>
          <a:noFill/>
          <a:ln/>
        </p:spPr>
        <p:txBody>
          <a:bodyPr wrap="square" rtlCol="0" anchor="ctr"/>
          <a:lstStyle/>
          <a:p>
            <a:pPr algn="ctr" indent="0" marL="0">
              <a:buNone/>
            </a:pPr>
            <a:r>
              <a:rPr lang="en-US" sz="3200" b="1" dirty="0">
                <a:solidFill>
                  <a:srgbClr val="141B4D"/>
                </a:solidFill>
                <a:latin typeface="Cambria" pitchFamily="34" charset="0"/>
                <a:ea typeface="Cambria" pitchFamily="34" charset="-122"/>
                <a:cs typeface="Cambria" pitchFamily="34" charset="-120"/>
              </a:rPr>
              <a:t>26</a:t>
            </a:r>
            <a:endParaRPr lang="en-US" sz="3200" dirty="0"/>
          </a:p>
        </p:txBody>
      </p:sp>
      <p:sp>
        <p:nvSpPr>
          <p:cNvPr id="5" name="Text 3"/>
          <p:cNvSpPr/>
          <p:nvPr/>
        </p:nvSpPr>
        <p:spPr>
          <a:xfrm>
            <a:off x="1874520" y="237744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SECTION 6</a:t>
            </a:r>
            <a:endParaRPr lang="en-US" sz="1300" dirty="0"/>
          </a:p>
        </p:txBody>
      </p:sp>
      <p:sp>
        <p:nvSpPr>
          <p:cNvPr id="6" name="Text 4"/>
          <p:cNvSpPr/>
          <p:nvPr/>
        </p:nvSpPr>
        <p:spPr>
          <a:xfrm>
            <a:off x="1874520" y="2697480"/>
            <a:ext cx="9418320" cy="10058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Business Case, Roadmap &amp; Governance</a:t>
            </a:r>
            <a:endParaRPr lang="en-US" sz="3400" dirty="0"/>
          </a:p>
        </p:txBody>
      </p:sp>
      <p:sp>
        <p:nvSpPr>
          <p:cNvPr id="7" name="Text 5"/>
          <p:cNvSpPr/>
          <p:nvPr/>
        </p:nvSpPr>
        <p:spPr>
          <a:xfrm>
            <a:off x="1874520" y="3611880"/>
            <a:ext cx="8778240" cy="54864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Expected outcomes, investment, sequencing and the controls that keep AI safely in the loop</a:t>
            </a:r>
            <a:endParaRPr lang="en-US" sz="1400" dirty="0"/>
          </a:p>
        </p:txBody>
      </p:sp>
      <p:sp>
        <p:nvSpPr>
          <p:cNvPr id="8" name="Text 6"/>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SECTION</a:t>
            </a:r>
            <a:endParaRPr lang="en-US" sz="850" dirty="0"/>
          </a:p>
        </p:txBody>
      </p:sp>
      <p:sp>
        <p:nvSpPr>
          <p:cNvPr id="9" name="Text 7"/>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BUSINESS CASE</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Before vs. After — Executive KPI Comparison</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6 · BUSINESS CASE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27 / 33</a:t>
            </a:r>
            <a:endParaRPr lang="en-US" sz="850" dirty="0"/>
          </a:p>
        </p:txBody>
      </p:sp>
      <p:sp>
        <p:nvSpPr>
          <p:cNvPr id="7" name="Shape 5"/>
          <p:cNvSpPr/>
          <p:nvPr/>
        </p:nvSpPr>
        <p:spPr>
          <a:xfrm>
            <a:off x="502920" y="1691640"/>
            <a:ext cx="3291840" cy="365760"/>
          </a:xfrm>
          <a:prstGeom prst="rect">
            <a:avLst/>
          </a:prstGeom>
          <a:solidFill>
            <a:srgbClr val="1E2761"/>
          </a:solidFill>
          <a:ln w="6350">
            <a:solidFill>
              <a:srgbClr val="FFFFFF"/>
            </a:solidFill>
            <a:prstDash val="solid"/>
          </a:ln>
        </p:spPr>
      </p:sp>
      <p:sp>
        <p:nvSpPr>
          <p:cNvPr id="8" name="Text 6"/>
          <p:cNvSpPr/>
          <p:nvPr/>
        </p:nvSpPr>
        <p:spPr>
          <a:xfrm>
            <a:off x="557784" y="1691640"/>
            <a:ext cx="3182112"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p>
        </p:txBody>
      </p:sp>
      <p:sp>
        <p:nvSpPr>
          <p:cNvPr id="9" name="Shape 7"/>
          <p:cNvSpPr/>
          <p:nvPr/>
        </p:nvSpPr>
        <p:spPr>
          <a:xfrm>
            <a:off x="3794760" y="1691640"/>
            <a:ext cx="3108960" cy="365760"/>
          </a:xfrm>
          <a:prstGeom prst="rect">
            <a:avLst/>
          </a:prstGeom>
          <a:solidFill>
            <a:srgbClr val="1E2761"/>
          </a:solidFill>
          <a:ln w="6350">
            <a:solidFill>
              <a:srgbClr val="FFFFFF"/>
            </a:solidFill>
            <a:prstDash val="solid"/>
          </a:ln>
        </p:spPr>
      </p:sp>
      <p:sp>
        <p:nvSpPr>
          <p:cNvPr id="10" name="Text 8"/>
          <p:cNvSpPr/>
          <p:nvPr/>
        </p:nvSpPr>
        <p:spPr>
          <a:xfrm>
            <a:off x="3849624" y="1691640"/>
            <a:ext cx="2999232"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Before AI</a:t>
            </a:r>
            <a:endParaRPr lang="en-US" sz="1050" dirty="0"/>
          </a:p>
        </p:txBody>
      </p:sp>
      <p:sp>
        <p:nvSpPr>
          <p:cNvPr id="11" name="Shape 9"/>
          <p:cNvSpPr/>
          <p:nvPr/>
        </p:nvSpPr>
        <p:spPr>
          <a:xfrm>
            <a:off x="6903720" y="1691640"/>
            <a:ext cx="3291840" cy="365760"/>
          </a:xfrm>
          <a:prstGeom prst="rect">
            <a:avLst/>
          </a:prstGeom>
          <a:solidFill>
            <a:srgbClr val="1E2761"/>
          </a:solidFill>
          <a:ln w="6350">
            <a:solidFill>
              <a:srgbClr val="FFFFFF"/>
            </a:solidFill>
            <a:prstDash val="solid"/>
          </a:ln>
        </p:spPr>
      </p:sp>
      <p:sp>
        <p:nvSpPr>
          <p:cNvPr id="12" name="Text 10"/>
          <p:cNvSpPr/>
          <p:nvPr/>
        </p:nvSpPr>
        <p:spPr>
          <a:xfrm>
            <a:off x="6958584" y="1691640"/>
            <a:ext cx="3182112"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After AI (Target)</a:t>
            </a:r>
            <a:endParaRPr lang="en-US" sz="1050" dirty="0"/>
          </a:p>
        </p:txBody>
      </p:sp>
      <p:sp>
        <p:nvSpPr>
          <p:cNvPr id="13" name="Shape 11"/>
          <p:cNvSpPr/>
          <p:nvPr/>
        </p:nvSpPr>
        <p:spPr>
          <a:xfrm>
            <a:off x="10195560" y="1691640"/>
            <a:ext cx="1463040" cy="365760"/>
          </a:xfrm>
          <a:prstGeom prst="rect">
            <a:avLst/>
          </a:prstGeom>
          <a:solidFill>
            <a:srgbClr val="1E2761"/>
          </a:solidFill>
          <a:ln w="6350">
            <a:solidFill>
              <a:srgbClr val="FFFFFF"/>
            </a:solidFill>
            <a:prstDash val="solid"/>
          </a:ln>
        </p:spPr>
      </p:sp>
      <p:sp>
        <p:nvSpPr>
          <p:cNvPr id="14" name="Text 12"/>
          <p:cNvSpPr/>
          <p:nvPr/>
        </p:nvSpPr>
        <p:spPr>
          <a:xfrm>
            <a:off x="10250424" y="1691640"/>
            <a:ext cx="1353312"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Change</a:t>
            </a:r>
            <a:endParaRPr lang="en-US" sz="1050" dirty="0"/>
          </a:p>
        </p:txBody>
      </p:sp>
      <p:sp>
        <p:nvSpPr>
          <p:cNvPr id="15" name="Shape 13"/>
          <p:cNvSpPr/>
          <p:nvPr/>
        </p:nvSpPr>
        <p:spPr>
          <a:xfrm>
            <a:off x="502920" y="2057400"/>
            <a:ext cx="3291840" cy="466344"/>
          </a:xfrm>
          <a:prstGeom prst="rect">
            <a:avLst/>
          </a:prstGeom>
          <a:solidFill>
            <a:srgbClr val="FFFFFF"/>
          </a:solidFill>
          <a:ln w="6350">
            <a:solidFill>
              <a:srgbClr val="DDE2E8"/>
            </a:solidFill>
            <a:prstDash val="solid"/>
          </a:ln>
        </p:spPr>
      </p:sp>
      <p:sp>
        <p:nvSpPr>
          <p:cNvPr id="16" name="Text 14"/>
          <p:cNvSpPr/>
          <p:nvPr/>
        </p:nvSpPr>
        <p:spPr>
          <a:xfrm>
            <a:off x="576072" y="2057400"/>
            <a:ext cx="3145536" cy="466344"/>
          </a:xfrm>
          <a:prstGeom prst="rect">
            <a:avLst/>
          </a:prstGeom>
          <a:noFill/>
          <a:ln/>
        </p:spPr>
        <p:txBody>
          <a:bodyPr wrap="square" rtlCol="0" anchor="ctr"/>
          <a:lstStyle/>
          <a:p>
            <a:pPr algn="l" indent="0" marL="0">
              <a:buNone/>
            </a:pPr>
            <a:r>
              <a:rPr lang="en-US" sz="1000" b="1" dirty="0">
                <a:solidFill>
                  <a:srgbClr val="1E2761"/>
                </a:solidFill>
                <a:latin typeface="Calibri" pitchFamily="34" charset="0"/>
                <a:ea typeface="Calibri" pitchFamily="34" charset="-122"/>
                <a:cs typeface="Calibri" pitchFamily="34" charset="-120"/>
              </a:rPr>
              <a:t>Alert volume</a:t>
            </a:r>
            <a:endParaRPr lang="en-US" sz="1000" dirty="0"/>
          </a:p>
        </p:txBody>
      </p:sp>
      <p:sp>
        <p:nvSpPr>
          <p:cNvPr id="17" name="Shape 15"/>
          <p:cNvSpPr/>
          <p:nvPr/>
        </p:nvSpPr>
        <p:spPr>
          <a:xfrm>
            <a:off x="3794760" y="2057400"/>
            <a:ext cx="3108960" cy="466344"/>
          </a:xfrm>
          <a:prstGeom prst="rect">
            <a:avLst/>
          </a:prstGeom>
          <a:solidFill>
            <a:srgbClr val="FFFFFF"/>
          </a:solidFill>
          <a:ln w="6350">
            <a:solidFill>
              <a:srgbClr val="DDE2E8"/>
            </a:solidFill>
            <a:prstDash val="solid"/>
          </a:ln>
        </p:spPr>
      </p:sp>
      <p:sp>
        <p:nvSpPr>
          <p:cNvPr id="18" name="Text 16"/>
          <p:cNvSpPr/>
          <p:nvPr/>
        </p:nvSpPr>
        <p:spPr>
          <a:xfrm>
            <a:off x="3867912" y="2057400"/>
            <a:ext cx="2962656" cy="466344"/>
          </a:xfrm>
          <a:prstGeom prst="rect">
            <a:avLst/>
          </a:prstGeom>
          <a:noFill/>
          <a:ln/>
        </p:spPr>
        <p:txBody>
          <a:bodyPr wrap="square" rtlCol="0" anchor="ctr"/>
          <a:lstStyle/>
          <a:p>
            <a:pPr algn="l" indent="0" marL="0">
              <a:buNone/>
            </a:pPr>
            <a:r>
              <a:rPr lang="en-US" sz="1000" dirty="0">
                <a:solidFill>
                  <a:srgbClr val="232B3A"/>
                </a:solidFill>
                <a:latin typeface="Calibri" pitchFamily="34" charset="0"/>
                <a:ea typeface="Calibri" pitchFamily="34" charset="-122"/>
                <a:cs typeface="Calibri" pitchFamily="34" charset="-120"/>
              </a:rPr>
              <a:t>10,000s / month, mostly noise</a:t>
            </a:r>
            <a:endParaRPr lang="en-US" sz="1000" dirty="0"/>
          </a:p>
        </p:txBody>
      </p:sp>
      <p:sp>
        <p:nvSpPr>
          <p:cNvPr id="19" name="Shape 17"/>
          <p:cNvSpPr/>
          <p:nvPr/>
        </p:nvSpPr>
        <p:spPr>
          <a:xfrm>
            <a:off x="6903720" y="2057400"/>
            <a:ext cx="3291840" cy="466344"/>
          </a:xfrm>
          <a:prstGeom prst="rect">
            <a:avLst/>
          </a:prstGeom>
          <a:solidFill>
            <a:srgbClr val="FFFFFF"/>
          </a:solidFill>
          <a:ln w="6350">
            <a:solidFill>
              <a:srgbClr val="DDE2E8"/>
            </a:solidFill>
            <a:prstDash val="solid"/>
          </a:ln>
        </p:spPr>
      </p:sp>
      <p:sp>
        <p:nvSpPr>
          <p:cNvPr id="20" name="Text 18"/>
          <p:cNvSpPr/>
          <p:nvPr/>
        </p:nvSpPr>
        <p:spPr>
          <a:xfrm>
            <a:off x="6976872" y="2057400"/>
            <a:ext cx="3145536" cy="466344"/>
          </a:xfrm>
          <a:prstGeom prst="rect">
            <a:avLst/>
          </a:prstGeom>
          <a:noFill/>
          <a:ln/>
        </p:spPr>
        <p:txBody>
          <a:bodyPr wrap="square" rtlCol="0" anchor="ctr"/>
          <a:lstStyle/>
          <a:p>
            <a:pPr algn="l" indent="0" marL="0">
              <a:buNone/>
            </a:pPr>
            <a:r>
              <a:rPr lang="en-US" sz="1000" dirty="0">
                <a:solidFill>
                  <a:srgbClr val="019879"/>
                </a:solidFill>
                <a:latin typeface="Calibri" pitchFamily="34" charset="0"/>
                <a:ea typeface="Calibri" pitchFamily="34" charset="-122"/>
                <a:cs typeface="Calibri" pitchFamily="34" charset="-120"/>
              </a:rPr>
              <a:t>50–70% reduction</a:t>
            </a:r>
            <a:endParaRPr lang="en-US" sz="1000" dirty="0"/>
          </a:p>
        </p:txBody>
      </p:sp>
      <p:sp>
        <p:nvSpPr>
          <p:cNvPr id="21" name="Shape 19"/>
          <p:cNvSpPr/>
          <p:nvPr/>
        </p:nvSpPr>
        <p:spPr>
          <a:xfrm>
            <a:off x="10195560" y="2057400"/>
            <a:ext cx="1463040" cy="466344"/>
          </a:xfrm>
          <a:prstGeom prst="rect">
            <a:avLst/>
          </a:prstGeom>
          <a:solidFill>
            <a:srgbClr val="FFFFFF"/>
          </a:solidFill>
          <a:ln w="6350">
            <a:solidFill>
              <a:srgbClr val="DDE2E8"/>
            </a:solidFill>
            <a:prstDash val="solid"/>
          </a:ln>
        </p:spPr>
      </p:sp>
      <p:sp>
        <p:nvSpPr>
          <p:cNvPr id="22" name="Text 20"/>
          <p:cNvSpPr/>
          <p:nvPr/>
        </p:nvSpPr>
        <p:spPr>
          <a:xfrm>
            <a:off x="10268712" y="2057400"/>
            <a:ext cx="1316736" cy="466344"/>
          </a:xfrm>
          <a:prstGeom prst="rect">
            <a:avLst/>
          </a:prstGeom>
          <a:noFill/>
          <a:ln/>
        </p:spPr>
        <p:txBody>
          <a:bodyPr wrap="square" rtlCol="0" anchor="ctr"/>
          <a:lstStyle/>
          <a:p>
            <a:pPr algn="ctr" indent="0" marL="0">
              <a:buNone/>
            </a:pPr>
            <a:r>
              <a:rPr lang="en-US" sz="1000" b="1" dirty="0">
                <a:solidFill>
                  <a:srgbClr val="019879"/>
                </a:solidFill>
                <a:latin typeface="Calibri" pitchFamily="34" charset="0"/>
                <a:ea typeface="Calibri" pitchFamily="34" charset="-122"/>
                <a:cs typeface="Calibri" pitchFamily="34" charset="-120"/>
              </a:rPr>
              <a:t>↓ Noise</a:t>
            </a:r>
            <a:endParaRPr lang="en-US" sz="1000" dirty="0"/>
          </a:p>
        </p:txBody>
      </p:sp>
      <p:sp>
        <p:nvSpPr>
          <p:cNvPr id="23" name="Shape 21"/>
          <p:cNvSpPr/>
          <p:nvPr/>
        </p:nvSpPr>
        <p:spPr>
          <a:xfrm>
            <a:off x="502920" y="2523744"/>
            <a:ext cx="3291840" cy="466344"/>
          </a:xfrm>
          <a:prstGeom prst="rect">
            <a:avLst/>
          </a:prstGeom>
          <a:solidFill>
            <a:srgbClr val="EEF1F4"/>
          </a:solidFill>
          <a:ln w="6350">
            <a:solidFill>
              <a:srgbClr val="DDE2E8"/>
            </a:solidFill>
            <a:prstDash val="solid"/>
          </a:ln>
        </p:spPr>
      </p:sp>
      <p:sp>
        <p:nvSpPr>
          <p:cNvPr id="24" name="Text 22"/>
          <p:cNvSpPr/>
          <p:nvPr/>
        </p:nvSpPr>
        <p:spPr>
          <a:xfrm>
            <a:off x="576072" y="2523744"/>
            <a:ext cx="3145536" cy="466344"/>
          </a:xfrm>
          <a:prstGeom prst="rect">
            <a:avLst/>
          </a:prstGeom>
          <a:noFill/>
          <a:ln/>
        </p:spPr>
        <p:txBody>
          <a:bodyPr wrap="square" rtlCol="0" anchor="ctr"/>
          <a:lstStyle/>
          <a:p>
            <a:pPr algn="l" indent="0" marL="0">
              <a:buNone/>
            </a:pPr>
            <a:r>
              <a:rPr lang="en-US" sz="1000" b="1" dirty="0">
                <a:solidFill>
                  <a:srgbClr val="1E2761"/>
                </a:solidFill>
                <a:latin typeface="Calibri" pitchFamily="34" charset="0"/>
                <a:ea typeface="Calibri" pitchFamily="34" charset="-122"/>
                <a:cs typeface="Calibri" pitchFamily="34" charset="-120"/>
              </a:rPr>
              <a:t>MTTR (major incidents)</a:t>
            </a:r>
            <a:endParaRPr lang="en-US" sz="1000" dirty="0"/>
          </a:p>
        </p:txBody>
      </p:sp>
      <p:sp>
        <p:nvSpPr>
          <p:cNvPr id="25" name="Shape 23"/>
          <p:cNvSpPr/>
          <p:nvPr/>
        </p:nvSpPr>
        <p:spPr>
          <a:xfrm>
            <a:off x="3794760" y="2523744"/>
            <a:ext cx="3108960" cy="466344"/>
          </a:xfrm>
          <a:prstGeom prst="rect">
            <a:avLst/>
          </a:prstGeom>
          <a:solidFill>
            <a:srgbClr val="EEF1F4"/>
          </a:solidFill>
          <a:ln w="6350">
            <a:solidFill>
              <a:srgbClr val="DDE2E8"/>
            </a:solidFill>
            <a:prstDash val="solid"/>
          </a:ln>
        </p:spPr>
      </p:sp>
      <p:sp>
        <p:nvSpPr>
          <p:cNvPr id="26" name="Text 24"/>
          <p:cNvSpPr/>
          <p:nvPr/>
        </p:nvSpPr>
        <p:spPr>
          <a:xfrm>
            <a:off x="3867912" y="2523744"/>
            <a:ext cx="2962656" cy="466344"/>
          </a:xfrm>
          <a:prstGeom prst="rect">
            <a:avLst/>
          </a:prstGeom>
          <a:noFill/>
          <a:ln/>
        </p:spPr>
        <p:txBody>
          <a:bodyPr wrap="square" rtlCol="0" anchor="ctr"/>
          <a:lstStyle/>
          <a:p>
            <a:pPr algn="l" indent="0" marL="0">
              <a:buNone/>
            </a:pPr>
            <a:r>
              <a:rPr lang="en-US" sz="1000" dirty="0">
                <a:solidFill>
                  <a:srgbClr val="232B3A"/>
                </a:solidFill>
                <a:latin typeface="Calibri" pitchFamily="34" charset="0"/>
                <a:ea typeface="Calibri" pitchFamily="34" charset="-122"/>
                <a:cs typeface="Calibri" pitchFamily="34" charset="-120"/>
              </a:rPr>
              <a:t>~90 minutes (manual correlation)</a:t>
            </a:r>
            <a:endParaRPr lang="en-US" sz="1000" dirty="0"/>
          </a:p>
        </p:txBody>
      </p:sp>
      <p:sp>
        <p:nvSpPr>
          <p:cNvPr id="27" name="Shape 25"/>
          <p:cNvSpPr/>
          <p:nvPr/>
        </p:nvSpPr>
        <p:spPr>
          <a:xfrm>
            <a:off x="6903720" y="2523744"/>
            <a:ext cx="3291840" cy="466344"/>
          </a:xfrm>
          <a:prstGeom prst="rect">
            <a:avLst/>
          </a:prstGeom>
          <a:solidFill>
            <a:srgbClr val="EEF1F4"/>
          </a:solidFill>
          <a:ln w="6350">
            <a:solidFill>
              <a:srgbClr val="DDE2E8"/>
            </a:solidFill>
            <a:prstDash val="solid"/>
          </a:ln>
        </p:spPr>
      </p:sp>
      <p:sp>
        <p:nvSpPr>
          <p:cNvPr id="28" name="Text 26"/>
          <p:cNvSpPr/>
          <p:nvPr/>
        </p:nvSpPr>
        <p:spPr>
          <a:xfrm>
            <a:off x="6976872" y="2523744"/>
            <a:ext cx="3145536" cy="466344"/>
          </a:xfrm>
          <a:prstGeom prst="rect">
            <a:avLst/>
          </a:prstGeom>
          <a:noFill/>
          <a:ln/>
        </p:spPr>
        <p:txBody>
          <a:bodyPr wrap="square" rtlCol="0" anchor="ctr"/>
          <a:lstStyle/>
          <a:p>
            <a:pPr algn="l" indent="0" marL="0">
              <a:buNone/>
            </a:pPr>
            <a:r>
              <a:rPr lang="en-US" sz="1000" dirty="0">
                <a:solidFill>
                  <a:srgbClr val="019879"/>
                </a:solidFill>
                <a:latin typeface="Calibri" pitchFamily="34" charset="0"/>
                <a:ea typeface="Calibri" pitchFamily="34" charset="-122"/>
                <a:cs typeface="Calibri" pitchFamily="34" charset="-120"/>
              </a:rPr>
              <a:t>30–50% improvement</a:t>
            </a:r>
            <a:endParaRPr lang="en-US" sz="1000" dirty="0"/>
          </a:p>
        </p:txBody>
      </p:sp>
      <p:sp>
        <p:nvSpPr>
          <p:cNvPr id="29" name="Shape 27"/>
          <p:cNvSpPr/>
          <p:nvPr/>
        </p:nvSpPr>
        <p:spPr>
          <a:xfrm>
            <a:off x="10195560" y="2523744"/>
            <a:ext cx="1463040" cy="466344"/>
          </a:xfrm>
          <a:prstGeom prst="rect">
            <a:avLst/>
          </a:prstGeom>
          <a:solidFill>
            <a:srgbClr val="EEF1F4"/>
          </a:solidFill>
          <a:ln w="6350">
            <a:solidFill>
              <a:srgbClr val="DDE2E8"/>
            </a:solidFill>
            <a:prstDash val="solid"/>
          </a:ln>
        </p:spPr>
      </p:sp>
      <p:sp>
        <p:nvSpPr>
          <p:cNvPr id="30" name="Text 28"/>
          <p:cNvSpPr/>
          <p:nvPr/>
        </p:nvSpPr>
        <p:spPr>
          <a:xfrm>
            <a:off x="10268712" y="2523744"/>
            <a:ext cx="1316736" cy="466344"/>
          </a:xfrm>
          <a:prstGeom prst="rect">
            <a:avLst/>
          </a:prstGeom>
          <a:noFill/>
          <a:ln/>
        </p:spPr>
        <p:txBody>
          <a:bodyPr wrap="square" rtlCol="0" anchor="ctr"/>
          <a:lstStyle/>
          <a:p>
            <a:pPr algn="ctr" indent="0" marL="0">
              <a:buNone/>
            </a:pPr>
            <a:r>
              <a:rPr lang="en-US" sz="1000" b="1" dirty="0">
                <a:solidFill>
                  <a:srgbClr val="019879"/>
                </a:solidFill>
                <a:latin typeface="Calibri" pitchFamily="34" charset="0"/>
                <a:ea typeface="Calibri" pitchFamily="34" charset="-122"/>
                <a:cs typeface="Calibri" pitchFamily="34" charset="-120"/>
              </a:rPr>
              <a:t>↓ Time</a:t>
            </a:r>
            <a:endParaRPr lang="en-US" sz="1000" dirty="0"/>
          </a:p>
        </p:txBody>
      </p:sp>
      <p:sp>
        <p:nvSpPr>
          <p:cNvPr id="31" name="Shape 29"/>
          <p:cNvSpPr/>
          <p:nvPr/>
        </p:nvSpPr>
        <p:spPr>
          <a:xfrm>
            <a:off x="502920" y="2990088"/>
            <a:ext cx="3291840" cy="466344"/>
          </a:xfrm>
          <a:prstGeom prst="rect">
            <a:avLst/>
          </a:prstGeom>
          <a:solidFill>
            <a:srgbClr val="FFFFFF"/>
          </a:solidFill>
          <a:ln w="6350">
            <a:solidFill>
              <a:srgbClr val="DDE2E8"/>
            </a:solidFill>
            <a:prstDash val="solid"/>
          </a:ln>
        </p:spPr>
      </p:sp>
      <p:sp>
        <p:nvSpPr>
          <p:cNvPr id="32" name="Text 30"/>
          <p:cNvSpPr/>
          <p:nvPr/>
        </p:nvSpPr>
        <p:spPr>
          <a:xfrm>
            <a:off x="576072" y="2990088"/>
            <a:ext cx="3145536" cy="466344"/>
          </a:xfrm>
          <a:prstGeom prst="rect">
            <a:avLst/>
          </a:prstGeom>
          <a:noFill/>
          <a:ln/>
        </p:spPr>
        <p:txBody>
          <a:bodyPr wrap="square" rtlCol="0" anchor="ctr"/>
          <a:lstStyle/>
          <a:p>
            <a:pPr algn="l" indent="0" marL="0">
              <a:buNone/>
            </a:pPr>
            <a:r>
              <a:rPr lang="en-US" sz="1000" b="1" dirty="0">
                <a:solidFill>
                  <a:srgbClr val="1E2761"/>
                </a:solidFill>
                <a:latin typeface="Calibri" pitchFamily="34" charset="0"/>
                <a:ea typeface="Calibri" pitchFamily="34" charset="-122"/>
                <a:cs typeface="Calibri" pitchFamily="34" charset="-120"/>
              </a:rPr>
              <a:t>Consoles touched per incident</a:t>
            </a:r>
            <a:endParaRPr lang="en-US" sz="1000" dirty="0"/>
          </a:p>
        </p:txBody>
      </p:sp>
      <p:sp>
        <p:nvSpPr>
          <p:cNvPr id="33" name="Shape 31"/>
          <p:cNvSpPr/>
          <p:nvPr/>
        </p:nvSpPr>
        <p:spPr>
          <a:xfrm>
            <a:off x="3794760" y="2990088"/>
            <a:ext cx="3108960" cy="466344"/>
          </a:xfrm>
          <a:prstGeom prst="rect">
            <a:avLst/>
          </a:prstGeom>
          <a:solidFill>
            <a:srgbClr val="FFFFFF"/>
          </a:solidFill>
          <a:ln w="6350">
            <a:solidFill>
              <a:srgbClr val="DDE2E8"/>
            </a:solidFill>
            <a:prstDash val="solid"/>
          </a:ln>
        </p:spPr>
      </p:sp>
      <p:sp>
        <p:nvSpPr>
          <p:cNvPr id="34" name="Text 32"/>
          <p:cNvSpPr/>
          <p:nvPr/>
        </p:nvSpPr>
        <p:spPr>
          <a:xfrm>
            <a:off x="3867912" y="2990088"/>
            <a:ext cx="2962656" cy="466344"/>
          </a:xfrm>
          <a:prstGeom prst="rect">
            <a:avLst/>
          </a:prstGeom>
          <a:noFill/>
          <a:ln/>
        </p:spPr>
        <p:txBody>
          <a:bodyPr wrap="square" rtlCol="0" anchor="ctr"/>
          <a:lstStyle/>
          <a:p>
            <a:pPr algn="l" indent="0" marL="0">
              <a:buNone/>
            </a:pPr>
            <a:r>
              <a:rPr lang="en-US" sz="1000" dirty="0">
                <a:solidFill>
                  <a:srgbClr val="232B3A"/>
                </a:solidFill>
                <a:latin typeface="Calibri" pitchFamily="34" charset="0"/>
                <a:ea typeface="Calibri" pitchFamily="34" charset="-122"/>
                <a:cs typeface="Calibri" pitchFamily="34" charset="-120"/>
              </a:rPr>
              <a:t>5–9</a:t>
            </a:r>
            <a:endParaRPr lang="en-US" sz="1000" dirty="0"/>
          </a:p>
        </p:txBody>
      </p:sp>
      <p:sp>
        <p:nvSpPr>
          <p:cNvPr id="35" name="Shape 33"/>
          <p:cNvSpPr/>
          <p:nvPr/>
        </p:nvSpPr>
        <p:spPr>
          <a:xfrm>
            <a:off x="6903720" y="2990088"/>
            <a:ext cx="3291840" cy="466344"/>
          </a:xfrm>
          <a:prstGeom prst="rect">
            <a:avLst/>
          </a:prstGeom>
          <a:solidFill>
            <a:srgbClr val="FFFFFF"/>
          </a:solidFill>
          <a:ln w="6350">
            <a:solidFill>
              <a:srgbClr val="DDE2E8"/>
            </a:solidFill>
            <a:prstDash val="solid"/>
          </a:ln>
        </p:spPr>
      </p:sp>
      <p:sp>
        <p:nvSpPr>
          <p:cNvPr id="36" name="Text 34"/>
          <p:cNvSpPr/>
          <p:nvPr/>
        </p:nvSpPr>
        <p:spPr>
          <a:xfrm>
            <a:off x="6976872" y="2990088"/>
            <a:ext cx="3145536" cy="466344"/>
          </a:xfrm>
          <a:prstGeom prst="rect">
            <a:avLst/>
          </a:prstGeom>
          <a:noFill/>
          <a:ln/>
        </p:spPr>
        <p:txBody>
          <a:bodyPr wrap="square" rtlCol="0" anchor="ctr"/>
          <a:lstStyle/>
          <a:p>
            <a:pPr algn="l" indent="0" marL="0">
              <a:buNone/>
            </a:pPr>
            <a:r>
              <a:rPr lang="en-US" sz="1000" dirty="0">
                <a:solidFill>
                  <a:srgbClr val="019879"/>
                </a:solidFill>
                <a:latin typeface="Calibri" pitchFamily="34" charset="0"/>
                <a:ea typeface="Calibri" pitchFamily="34" charset="-122"/>
                <a:cs typeface="Calibri" pitchFamily="34" charset="-120"/>
              </a:rPr>
              <a:t>1 correlated view</a:t>
            </a:r>
            <a:endParaRPr lang="en-US" sz="1000" dirty="0"/>
          </a:p>
        </p:txBody>
      </p:sp>
      <p:sp>
        <p:nvSpPr>
          <p:cNvPr id="37" name="Shape 35"/>
          <p:cNvSpPr/>
          <p:nvPr/>
        </p:nvSpPr>
        <p:spPr>
          <a:xfrm>
            <a:off x="10195560" y="2990088"/>
            <a:ext cx="1463040" cy="466344"/>
          </a:xfrm>
          <a:prstGeom prst="rect">
            <a:avLst/>
          </a:prstGeom>
          <a:solidFill>
            <a:srgbClr val="FFFFFF"/>
          </a:solidFill>
          <a:ln w="6350">
            <a:solidFill>
              <a:srgbClr val="DDE2E8"/>
            </a:solidFill>
            <a:prstDash val="solid"/>
          </a:ln>
        </p:spPr>
      </p:sp>
      <p:sp>
        <p:nvSpPr>
          <p:cNvPr id="38" name="Text 36"/>
          <p:cNvSpPr/>
          <p:nvPr/>
        </p:nvSpPr>
        <p:spPr>
          <a:xfrm>
            <a:off x="10268712" y="2990088"/>
            <a:ext cx="1316736" cy="466344"/>
          </a:xfrm>
          <a:prstGeom prst="rect">
            <a:avLst/>
          </a:prstGeom>
          <a:noFill/>
          <a:ln/>
        </p:spPr>
        <p:txBody>
          <a:bodyPr wrap="square" rtlCol="0" anchor="ctr"/>
          <a:lstStyle/>
          <a:p>
            <a:pPr algn="ctr" indent="0" marL="0">
              <a:buNone/>
            </a:pPr>
            <a:r>
              <a:rPr lang="en-US" sz="1000" b="1" dirty="0">
                <a:solidFill>
                  <a:srgbClr val="019879"/>
                </a:solidFill>
                <a:latin typeface="Calibri" pitchFamily="34" charset="0"/>
                <a:ea typeface="Calibri" pitchFamily="34" charset="-122"/>
                <a:cs typeface="Calibri" pitchFamily="34" charset="-120"/>
              </a:rPr>
              <a:t>↓ Complexity</a:t>
            </a:r>
            <a:endParaRPr lang="en-US" sz="1000" dirty="0"/>
          </a:p>
        </p:txBody>
      </p:sp>
      <p:sp>
        <p:nvSpPr>
          <p:cNvPr id="39" name="Shape 37"/>
          <p:cNvSpPr/>
          <p:nvPr/>
        </p:nvSpPr>
        <p:spPr>
          <a:xfrm>
            <a:off x="502920" y="3456432"/>
            <a:ext cx="3291840" cy="466344"/>
          </a:xfrm>
          <a:prstGeom prst="rect">
            <a:avLst/>
          </a:prstGeom>
          <a:solidFill>
            <a:srgbClr val="EEF1F4"/>
          </a:solidFill>
          <a:ln w="6350">
            <a:solidFill>
              <a:srgbClr val="DDE2E8"/>
            </a:solidFill>
            <a:prstDash val="solid"/>
          </a:ln>
        </p:spPr>
      </p:sp>
      <p:sp>
        <p:nvSpPr>
          <p:cNvPr id="40" name="Text 38"/>
          <p:cNvSpPr/>
          <p:nvPr/>
        </p:nvSpPr>
        <p:spPr>
          <a:xfrm>
            <a:off x="576072" y="3456432"/>
            <a:ext cx="3145536" cy="466344"/>
          </a:xfrm>
          <a:prstGeom prst="rect">
            <a:avLst/>
          </a:prstGeom>
          <a:noFill/>
          <a:ln/>
        </p:spPr>
        <p:txBody>
          <a:bodyPr wrap="square" rtlCol="0" anchor="ctr"/>
          <a:lstStyle/>
          <a:p>
            <a:pPr algn="l" indent="0" marL="0">
              <a:buNone/>
            </a:pPr>
            <a:r>
              <a:rPr lang="en-US" sz="1000" b="1" dirty="0">
                <a:solidFill>
                  <a:srgbClr val="1E2761"/>
                </a:solidFill>
                <a:latin typeface="Calibri" pitchFamily="34" charset="0"/>
                <a:ea typeface="Calibri" pitchFamily="34" charset="-122"/>
                <a:cs typeface="Calibri" pitchFamily="34" charset="-120"/>
              </a:rPr>
              <a:t>Root-cause capability</a:t>
            </a:r>
            <a:endParaRPr lang="en-US" sz="1000" dirty="0"/>
          </a:p>
        </p:txBody>
      </p:sp>
      <p:sp>
        <p:nvSpPr>
          <p:cNvPr id="41" name="Shape 39"/>
          <p:cNvSpPr/>
          <p:nvPr/>
        </p:nvSpPr>
        <p:spPr>
          <a:xfrm>
            <a:off x="3794760" y="3456432"/>
            <a:ext cx="3108960" cy="466344"/>
          </a:xfrm>
          <a:prstGeom prst="rect">
            <a:avLst/>
          </a:prstGeom>
          <a:solidFill>
            <a:srgbClr val="EEF1F4"/>
          </a:solidFill>
          <a:ln w="6350">
            <a:solidFill>
              <a:srgbClr val="DDE2E8"/>
            </a:solidFill>
            <a:prstDash val="solid"/>
          </a:ln>
        </p:spPr>
      </p:sp>
      <p:sp>
        <p:nvSpPr>
          <p:cNvPr id="42" name="Text 40"/>
          <p:cNvSpPr/>
          <p:nvPr/>
        </p:nvSpPr>
        <p:spPr>
          <a:xfrm>
            <a:off x="3867912" y="3456432"/>
            <a:ext cx="2962656" cy="466344"/>
          </a:xfrm>
          <a:prstGeom prst="rect">
            <a:avLst/>
          </a:prstGeom>
          <a:noFill/>
          <a:ln/>
        </p:spPr>
        <p:txBody>
          <a:bodyPr wrap="square" rtlCol="0" anchor="ctr"/>
          <a:lstStyle/>
          <a:p>
            <a:pPr algn="l" indent="0" marL="0">
              <a:buNone/>
            </a:pPr>
            <a:r>
              <a:rPr lang="en-US" sz="1000" dirty="0">
                <a:solidFill>
                  <a:srgbClr val="232B3A"/>
                </a:solidFill>
                <a:latin typeface="Calibri" pitchFamily="34" charset="0"/>
                <a:ea typeface="Calibri" pitchFamily="34" charset="-122"/>
                <a:cs typeface="Calibri" pitchFamily="34" charset="-120"/>
              </a:rPr>
              <a:t>Zero cross-tool RCA</a:t>
            </a:r>
            <a:endParaRPr lang="en-US" sz="1000" dirty="0"/>
          </a:p>
        </p:txBody>
      </p:sp>
      <p:sp>
        <p:nvSpPr>
          <p:cNvPr id="43" name="Shape 41"/>
          <p:cNvSpPr/>
          <p:nvPr/>
        </p:nvSpPr>
        <p:spPr>
          <a:xfrm>
            <a:off x="6903720" y="3456432"/>
            <a:ext cx="3291840" cy="466344"/>
          </a:xfrm>
          <a:prstGeom prst="rect">
            <a:avLst/>
          </a:prstGeom>
          <a:solidFill>
            <a:srgbClr val="EEF1F4"/>
          </a:solidFill>
          <a:ln w="6350">
            <a:solidFill>
              <a:srgbClr val="DDE2E8"/>
            </a:solidFill>
            <a:prstDash val="solid"/>
          </a:ln>
        </p:spPr>
      </p:sp>
      <p:sp>
        <p:nvSpPr>
          <p:cNvPr id="44" name="Text 42"/>
          <p:cNvSpPr/>
          <p:nvPr/>
        </p:nvSpPr>
        <p:spPr>
          <a:xfrm>
            <a:off x="6976872" y="3456432"/>
            <a:ext cx="3145536" cy="466344"/>
          </a:xfrm>
          <a:prstGeom prst="rect">
            <a:avLst/>
          </a:prstGeom>
          <a:noFill/>
          <a:ln/>
        </p:spPr>
        <p:txBody>
          <a:bodyPr wrap="square" rtlCol="0" anchor="ctr"/>
          <a:lstStyle/>
          <a:p>
            <a:pPr algn="l" indent="0" marL="0">
              <a:buNone/>
            </a:pPr>
            <a:r>
              <a:rPr lang="en-US" sz="1000" dirty="0">
                <a:solidFill>
                  <a:srgbClr val="019879"/>
                </a:solidFill>
                <a:latin typeface="Calibri" pitchFamily="34" charset="0"/>
                <a:ea typeface="Calibri" pitchFamily="34" charset="-122"/>
                <a:cs typeface="Calibri" pitchFamily="34" charset="-120"/>
              </a:rPr>
              <a:t>AI-assisted, topology-driven RCA</a:t>
            </a:r>
            <a:endParaRPr lang="en-US" sz="1000" dirty="0"/>
          </a:p>
        </p:txBody>
      </p:sp>
      <p:sp>
        <p:nvSpPr>
          <p:cNvPr id="45" name="Shape 43"/>
          <p:cNvSpPr/>
          <p:nvPr/>
        </p:nvSpPr>
        <p:spPr>
          <a:xfrm>
            <a:off x="10195560" y="3456432"/>
            <a:ext cx="1463040" cy="466344"/>
          </a:xfrm>
          <a:prstGeom prst="rect">
            <a:avLst/>
          </a:prstGeom>
          <a:solidFill>
            <a:srgbClr val="EEF1F4"/>
          </a:solidFill>
          <a:ln w="6350">
            <a:solidFill>
              <a:srgbClr val="DDE2E8"/>
            </a:solidFill>
            <a:prstDash val="solid"/>
          </a:ln>
        </p:spPr>
      </p:sp>
      <p:sp>
        <p:nvSpPr>
          <p:cNvPr id="46" name="Text 44"/>
          <p:cNvSpPr/>
          <p:nvPr/>
        </p:nvSpPr>
        <p:spPr>
          <a:xfrm>
            <a:off x="10268712" y="3456432"/>
            <a:ext cx="1316736" cy="466344"/>
          </a:xfrm>
          <a:prstGeom prst="rect">
            <a:avLst/>
          </a:prstGeom>
          <a:noFill/>
          <a:ln/>
        </p:spPr>
        <p:txBody>
          <a:bodyPr wrap="square" rtlCol="0" anchor="ctr"/>
          <a:lstStyle/>
          <a:p>
            <a:pPr algn="ctr" indent="0" marL="0">
              <a:buNone/>
            </a:pPr>
            <a:r>
              <a:rPr lang="en-US" sz="1000" b="1" dirty="0">
                <a:solidFill>
                  <a:srgbClr val="019879"/>
                </a:solidFill>
                <a:latin typeface="Calibri" pitchFamily="34" charset="0"/>
                <a:ea typeface="Calibri" pitchFamily="34" charset="-122"/>
                <a:cs typeface="Calibri" pitchFamily="34" charset="-120"/>
              </a:rPr>
              <a:t>↑ Capability</a:t>
            </a:r>
            <a:endParaRPr lang="en-US" sz="1000" dirty="0"/>
          </a:p>
        </p:txBody>
      </p:sp>
      <p:sp>
        <p:nvSpPr>
          <p:cNvPr id="47" name="Shape 45"/>
          <p:cNvSpPr/>
          <p:nvPr/>
        </p:nvSpPr>
        <p:spPr>
          <a:xfrm>
            <a:off x="502920" y="3922776"/>
            <a:ext cx="3291840" cy="466344"/>
          </a:xfrm>
          <a:prstGeom prst="rect">
            <a:avLst/>
          </a:prstGeom>
          <a:solidFill>
            <a:srgbClr val="FFFFFF"/>
          </a:solidFill>
          <a:ln w="6350">
            <a:solidFill>
              <a:srgbClr val="DDE2E8"/>
            </a:solidFill>
            <a:prstDash val="solid"/>
          </a:ln>
        </p:spPr>
      </p:sp>
      <p:sp>
        <p:nvSpPr>
          <p:cNvPr id="48" name="Text 46"/>
          <p:cNvSpPr/>
          <p:nvPr/>
        </p:nvSpPr>
        <p:spPr>
          <a:xfrm>
            <a:off x="576072" y="3922776"/>
            <a:ext cx="3145536" cy="466344"/>
          </a:xfrm>
          <a:prstGeom prst="rect">
            <a:avLst/>
          </a:prstGeom>
          <a:noFill/>
          <a:ln/>
        </p:spPr>
        <p:txBody>
          <a:bodyPr wrap="square" rtlCol="0" anchor="ctr"/>
          <a:lstStyle/>
          <a:p>
            <a:pPr algn="l" indent="0" marL="0">
              <a:buNone/>
            </a:pPr>
            <a:r>
              <a:rPr lang="en-US" sz="1000" b="1" dirty="0">
                <a:solidFill>
                  <a:srgbClr val="1E2761"/>
                </a:solidFill>
                <a:latin typeface="Calibri" pitchFamily="34" charset="0"/>
                <a:ea typeface="Calibri" pitchFamily="34" charset="-122"/>
                <a:cs typeface="Calibri" pitchFamily="34" charset="-120"/>
              </a:rPr>
              <a:t>Operational efficiency</a:t>
            </a:r>
            <a:endParaRPr lang="en-US" sz="1000" dirty="0"/>
          </a:p>
        </p:txBody>
      </p:sp>
      <p:sp>
        <p:nvSpPr>
          <p:cNvPr id="49" name="Shape 47"/>
          <p:cNvSpPr/>
          <p:nvPr/>
        </p:nvSpPr>
        <p:spPr>
          <a:xfrm>
            <a:off x="3794760" y="3922776"/>
            <a:ext cx="3108960" cy="466344"/>
          </a:xfrm>
          <a:prstGeom prst="rect">
            <a:avLst/>
          </a:prstGeom>
          <a:solidFill>
            <a:srgbClr val="FFFFFF"/>
          </a:solidFill>
          <a:ln w="6350">
            <a:solidFill>
              <a:srgbClr val="DDE2E8"/>
            </a:solidFill>
            <a:prstDash val="solid"/>
          </a:ln>
        </p:spPr>
      </p:sp>
      <p:sp>
        <p:nvSpPr>
          <p:cNvPr id="50" name="Text 48"/>
          <p:cNvSpPr/>
          <p:nvPr/>
        </p:nvSpPr>
        <p:spPr>
          <a:xfrm>
            <a:off x="3867912" y="3922776"/>
            <a:ext cx="2962656" cy="466344"/>
          </a:xfrm>
          <a:prstGeom prst="rect">
            <a:avLst/>
          </a:prstGeom>
          <a:noFill/>
          <a:ln/>
        </p:spPr>
        <p:txBody>
          <a:bodyPr wrap="square" rtlCol="0" anchor="ctr"/>
          <a:lstStyle/>
          <a:p>
            <a:pPr algn="l" indent="0" marL="0">
              <a:buNone/>
            </a:pPr>
            <a:r>
              <a:rPr lang="en-US" sz="1000" dirty="0">
                <a:solidFill>
                  <a:srgbClr val="232B3A"/>
                </a:solidFill>
                <a:latin typeface="Calibri" pitchFamily="34" charset="0"/>
                <a:ea typeface="Calibri" pitchFamily="34" charset="-122"/>
                <a:cs typeface="Calibri" pitchFamily="34" charset="-120"/>
              </a:rPr>
              <a:t>Baseline</a:t>
            </a:r>
            <a:endParaRPr lang="en-US" sz="1000" dirty="0"/>
          </a:p>
        </p:txBody>
      </p:sp>
      <p:sp>
        <p:nvSpPr>
          <p:cNvPr id="51" name="Shape 49"/>
          <p:cNvSpPr/>
          <p:nvPr/>
        </p:nvSpPr>
        <p:spPr>
          <a:xfrm>
            <a:off x="6903720" y="3922776"/>
            <a:ext cx="3291840" cy="466344"/>
          </a:xfrm>
          <a:prstGeom prst="rect">
            <a:avLst/>
          </a:prstGeom>
          <a:solidFill>
            <a:srgbClr val="FFFFFF"/>
          </a:solidFill>
          <a:ln w="6350">
            <a:solidFill>
              <a:srgbClr val="DDE2E8"/>
            </a:solidFill>
            <a:prstDash val="solid"/>
          </a:ln>
        </p:spPr>
      </p:sp>
      <p:sp>
        <p:nvSpPr>
          <p:cNvPr id="52" name="Text 50"/>
          <p:cNvSpPr/>
          <p:nvPr/>
        </p:nvSpPr>
        <p:spPr>
          <a:xfrm>
            <a:off x="6976872" y="3922776"/>
            <a:ext cx="3145536" cy="466344"/>
          </a:xfrm>
          <a:prstGeom prst="rect">
            <a:avLst/>
          </a:prstGeom>
          <a:noFill/>
          <a:ln/>
        </p:spPr>
        <p:txBody>
          <a:bodyPr wrap="square" rtlCol="0" anchor="ctr"/>
          <a:lstStyle/>
          <a:p>
            <a:pPr algn="l" indent="0" marL="0">
              <a:buNone/>
            </a:pPr>
            <a:r>
              <a:rPr lang="en-US" sz="1000" dirty="0">
                <a:solidFill>
                  <a:srgbClr val="019879"/>
                </a:solidFill>
                <a:latin typeface="Calibri" pitchFamily="34" charset="0"/>
                <a:ea typeface="Calibri" pitchFamily="34" charset="-122"/>
                <a:cs typeface="Calibri" pitchFamily="34" charset="-120"/>
              </a:rPr>
              <a:t>20–30% efficiency gain</a:t>
            </a:r>
            <a:endParaRPr lang="en-US" sz="1000" dirty="0"/>
          </a:p>
        </p:txBody>
      </p:sp>
      <p:sp>
        <p:nvSpPr>
          <p:cNvPr id="53" name="Shape 51"/>
          <p:cNvSpPr/>
          <p:nvPr/>
        </p:nvSpPr>
        <p:spPr>
          <a:xfrm>
            <a:off x="10195560" y="3922776"/>
            <a:ext cx="1463040" cy="466344"/>
          </a:xfrm>
          <a:prstGeom prst="rect">
            <a:avLst/>
          </a:prstGeom>
          <a:solidFill>
            <a:srgbClr val="FFFFFF"/>
          </a:solidFill>
          <a:ln w="6350">
            <a:solidFill>
              <a:srgbClr val="DDE2E8"/>
            </a:solidFill>
            <a:prstDash val="solid"/>
          </a:ln>
        </p:spPr>
      </p:sp>
      <p:sp>
        <p:nvSpPr>
          <p:cNvPr id="54" name="Text 52"/>
          <p:cNvSpPr/>
          <p:nvPr/>
        </p:nvSpPr>
        <p:spPr>
          <a:xfrm>
            <a:off x="10268712" y="3922776"/>
            <a:ext cx="1316736" cy="466344"/>
          </a:xfrm>
          <a:prstGeom prst="rect">
            <a:avLst/>
          </a:prstGeom>
          <a:noFill/>
          <a:ln/>
        </p:spPr>
        <p:txBody>
          <a:bodyPr wrap="square" rtlCol="0" anchor="ctr"/>
          <a:lstStyle/>
          <a:p>
            <a:pPr algn="ctr" indent="0" marL="0">
              <a:buNone/>
            </a:pPr>
            <a:r>
              <a:rPr lang="en-US" sz="1000" b="1" dirty="0">
                <a:solidFill>
                  <a:srgbClr val="019879"/>
                </a:solidFill>
                <a:latin typeface="Calibri" pitchFamily="34" charset="0"/>
                <a:ea typeface="Calibri" pitchFamily="34" charset="-122"/>
                <a:cs typeface="Calibri" pitchFamily="34" charset="-120"/>
              </a:rPr>
              <a:t>↑ Efficiency</a:t>
            </a:r>
            <a:endParaRPr lang="en-US" sz="1000" dirty="0"/>
          </a:p>
        </p:txBody>
      </p:sp>
      <p:sp>
        <p:nvSpPr>
          <p:cNvPr id="55" name="Shape 53"/>
          <p:cNvSpPr/>
          <p:nvPr/>
        </p:nvSpPr>
        <p:spPr>
          <a:xfrm>
            <a:off x="502920" y="4389120"/>
            <a:ext cx="3291840" cy="466344"/>
          </a:xfrm>
          <a:prstGeom prst="rect">
            <a:avLst/>
          </a:prstGeom>
          <a:solidFill>
            <a:srgbClr val="EEF1F4"/>
          </a:solidFill>
          <a:ln w="6350">
            <a:solidFill>
              <a:srgbClr val="DDE2E8"/>
            </a:solidFill>
            <a:prstDash val="solid"/>
          </a:ln>
        </p:spPr>
      </p:sp>
      <p:sp>
        <p:nvSpPr>
          <p:cNvPr id="56" name="Text 54"/>
          <p:cNvSpPr/>
          <p:nvPr/>
        </p:nvSpPr>
        <p:spPr>
          <a:xfrm>
            <a:off x="576072" y="4389120"/>
            <a:ext cx="3145536" cy="466344"/>
          </a:xfrm>
          <a:prstGeom prst="rect">
            <a:avLst/>
          </a:prstGeom>
          <a:noFill/>
          <a:ln/>
        </p:spPr>
        <p:txBody>
          <a:bodyPr wrap="square" rtlCol="0" anchor="ctr"/>
          <a:lstStyle/>
          <a:p>
            <a:pPr algn="l" indent="0" marL="0">
              <a:buNone/>
            </a:pPr>
            <a:r>
              <a:rPr lang="en-US" sz="1000" b="1" dirty="0">
                <a:solidFill>
                  <a:srgbClr val="1E2761"/>
                </a:solidFill>
                <a:latin typeface="Calibri" pitchFamily="34" charset="0"/>
                <a:ea typeface="Calibri" pitchFamily="34" charset="-122"/>
                <a:cs typeface="Calibri" pitchFamily="34" charset="-120"/>
              </a:rPr>
              <a:t>L1 manual effort (service desk)</a:t>
            </a:r>
            <a:endParaRPr lang="en-US" sz="1000" dirty="0"/>
          </a:p>
        </p:txBody>
      </p:sp>
      <p:sp>
        <p:nvSpPr>
          <p:cNvPr id="57" name="Shape 55"/>
          <p:cNvSpPr/>
          <p:nvPr/>
        </p:nvSpPr>
        <p:spPr>
          <a:xfrm>
            <a:off x="3794760" y="4389120"/>
            <a:ext cx="3108960" cy="466344"/>
          </a:xfrm>
          <a:prstGeom prst="rect">
            <a:avLst/>
          </a:prstGeom>
          <a:solidFill>
            <a:srgbClr val="EEF1F4"/>
          </a:solidFill>
          <a:ln w="6350">
            <a:solidFill>
              <a:srgbClr val="DDE2E8"/>
            </a:solidFill>
            <a:prstDash val="solid"/>
          </a:ln>
        </p:spPr>
      </p:sp>
      <p:sp>
        <p:nvSpPr>
          <p:cNvPr id="58" name="Text 56"/>
          <p:cNvSpPr/>
          <p:nvPr/>
        </p:nvSpPr>
        <p:spPr>
          <a:xfrm>
            <a:off x="3867912" y="4389120"/>
            <a:ext cx="2962656" cy="466344"/>
          </a:xfrm>
          <a:prstGeom prst="rect">
            <a:avLst/>
          </a:prstGeom>
          <a:noFill/>
          <a:ln/>
        </p:spPr>
        <p:txBody>
          <a:bodyPr wrap="square" rtlCol="0" anchor="ctr"/>
          <a:lstStyle/>
          <a:p>
            <a:pPr algn="l" indent="0" marL="0">
              <a:buNone/>
            </a:pPr>
            <a:r>
              <a:rPr lang="en-US" sz="1000" dirty="0">
                <a:solidFill>
                  <a:srgbClr val="232B3A"/>
                </a:solidFill>
                <a:latin typeface="Calibri" pitchFamily="34" charset="0"/>
                <a:ea typeface="Calibri" pitchFamily="34" charset="-122"/>
                <a:cs typeface="Calibri" pitchFamily="34" charset="-120"/>
              </a:rPr>
              <a:t>Baseline</a:t>
            </a:r>
            <a:endParaRPr lang="en-US" sz="1000" dirty="0"/>
          </a:p>
        </p:txBody>
      </p:sp>
      <p:sp>
        <p:nvSpPr>
          <p:cNvPr id="59" name="Shape 57"/>
          <p:cNvSpPr/>
          <p:nvPr/>
        </p:nvSpPr>
        <p:spPr>
          <a:xfrm>
            <a:off x="6903720" y="4389120"/>
            <a:ext cx="3291840" cy="466344"/>
          </a:xfrm>
          <a:prstGeom prst="rect">
            <a:avLst/>
          </a:prstGeom>
          <a:solidFill>
            <a:srgbClr val="EEF1F4"/>
          </a:solidFill>
          <a:ln w="6350">
            <a:solidFill>
              <a:srgbClr val="DDE2E8"/>
            </a:solidFill>
            <a:prstDash val="solid"/>
          </a:ln>
        </p:spPr>
      </p:sp>
      <p:sp>
        <p:nvSpPr>
          <p:cNvPr id="60" name="Text 58"/>
          <p:cNvSpPr/>
          <p:nvPr/>
        </p:nvSpPr>
        <p:spPr>
          <a:xfrm>
            <a:off x="6976872" y="4389120"/>
            <a:ext cx="3145536" cy="466344"/>
          </a:xfrm>
          <a:prstGeom prst="rect">
            <a:avLst/>
          </a:prstGeom>
          <a:noFill/>
          <a:ln/>
        </p:spPr>
        <p:txBody>
          <a:bodyPr wrap="square" rtlCol="0" anchor="ctr"/>
          <a:lstStyle/>
          <a:p>
            <a:pPr algn="l" indent="0" marL="0">
              <a:buNone/>
            </a:pPr>
            <a:r>
              <a:rPr lang="en-US" sz="1000" dirty="0">
                <a:solidFill>
                  <a:srgbClr val="019879"/>
                </a:solidFill>
                <a:latin typeface="Calibri" pitchFamily="34" charset="0"/>
                <a:ea typeface="Calibri" pitchFamily="34" charset="-122"/>
                <a:cs typeface="Calibri" pitchFamily="34" charset="-120"/>
              </a:rPr>
              <a:t>30–40% reduction</a:t>
            </a:r>
            <a:endParaRPr lang="en-US" sz="1000" dirty="0"/>
          </a:p>
        </p:txBody>
      </p:sp>
      <p:sp>
        <p:nvSpPr>
          <p:cNvPr id="61" name="Shape 59"/>
          <p:cNvSpPr/>
          <p:nvPr/>
        </p:nvSpPr>
        <p:spPr>
          <a:xfrm>
            <a:off x="10195560" y="4389120"/>
            <a:ext cx="1463040" cy="466344"/>
          </a:xfrm>
          <a:prstGeom prst="rect">
            <a:avLst/>
          </a:prstGeom>
          <a:solidFill>
            <a:srgbClr val="EEF1F4"/>
          </a:solidFill>
          <a:ln w="6350">
            <a:solidFill>
              <a:srgbClr val="DDE2E8"/>
            </a:solidFill>
            <a:prstDash val="solid"/>
          </a:ln>
        </p:spPr>
      </p:sp>
      <p:sp>
        <p:nvSpPr>
          <p:cNvPr id="62" name="Text 60"/>
          <p:cNvSpPr/>
          <p:nvPr/>
        </p:nvSpPr>
        <p:spPr>
          <a:xfrm>
            <a:off x="10268712" y="4389120"/>
            <a:ext cx="1316736" cy="466344"/>
          </a:xfrm>
          <a:prstGeom prst="rect">
            <a:avLst/>
          </a:prstGeom>
          <a:noFill/>
          <a:ln/>
        </p:spPr>
        <p:txBody>
          <a:bodyPr wrap="square" rtlCol="0" anchor="ctr"/>
          <a:lstStyle/>
          <a:p>
            <a:pPr algn="ctr" indent="0" marL="0">
              <a:buNone/>
            </a:pPr>
            <a:r>
              <a:rPr lang="en-US" sz="1000" b="1" dirty="0">
                <a:solidFill>
                  <a:srgbClr val="019879"/>
                </a:solidFill>
                <a:latin typeface="Calibri" pitchFamily="34" charset="0"/>
                <a:ea typeface="Calibri" pitchFamily="34" charset="-122"/>
                <a:cs typeface="Calibri" pitchFamily="34" charset="-120"/>
              </a:rPr>
              <a:t>↓ Effort</a:t>
            </a:r>
            <a:endParaRPr lang="en-US" sz="1000" dirty="0"/>
          </a:p>
        </p:txBody>
      </p:sp>
      <p:sp>
        <p:nvSpPr>
          <p:cNvPr id="63" name="Shape 61"/>
          <p:cNvSpPr/>
          <p:nvPr/>
        </p:nvSpPr>
        <p:spPr>
          <a:xfrm>
            <a:off x="502920" y="4855464"/>
            <a:ext cx="3291840" cy="466344"/>
          </a:xfrm>
          <a:prstGeom prst="rect">
            <a:avLst/>
          </a:prstGeom>
          <a:solidFill>
            <a:srgbClr val="FFFFFF"/>
          </a:solidFill>
          <a:ln w="6350">
            <a:solidFill>
              <a:srgbClr val="DDE2E8"/>
            </a:solidFill>
            <a:prstDash val="solid"/>
          </a:ln>
        </p:spPr>
      </p:sp>
      <p:sp>
        <p:nvSpPr>
          <p:cNvPr id="64" name="Text 62"/>
          <p:cNvSpPr/>
          <p:nvPr/>
        </p:nvSpPr>
        <p:spPr>
          <a:xfrm>
            <a:off x="576072" y="4855464"/>
            <a:ext cx="3145536" cy="466344"/>
          </a:xfrm>
          <a:prstGeom prst="rect">
            <a:avLst/>
          </a:prstGeom>
          <a:noFill/>
          <a:ln/>
        </p:spPr>
        <p:txBody>
          <a:bodyPr wrap="square" rtlCol="0" anchor="ctr"/>
          <a:lstStyle/>
          <a:p>
            <a:pPr algn="l" indent="0" marL="0">
              <a:buNone/>
            </a:pPr>
            <a:r>
              <a:rPr lang="en-US" sz="1000" b="1" dirty="0">
                <a:solidFill>
                  <a:srgbClr val="1E2761"/>
                </a:solidFill>
                <a:latin typeface="Calibri" pitchFamily="34" charset="0"/>
                <a:ea typeface="Calibri" pitchFamily="34" charset="-122"/>
                <a:cs typeface="Calibri" pitchFamily="34" charset="-120"/>
              </a:rPr>
              <a:t>Network alert noise</a:t>
            </a:r>
            <a:endParaRPr lang="en-US" sz="1000" dirty="0"/>
          </a:p>
        </p:txBody>
      </p:sp>
      <p:sp>
        <p:nvSpPr>
          <p:cNvPr id="65" name="Shape 63"/>
          <p:cNvSpPr/>
          <p:nvPr/>
        </p:nvSpPr>
        <p:spPr>
          <a:xfrm>
            <a:off x="3794760" y="4855464"/>
            <a:ext cx="3108960" cy="466344"/>
          </a:xfrm>
          <a:prstGeom prst="rect">
            <a:avLst/>
          </a:prstGeom>
          <a:solidFill>
            <a:srgbClr val="FFFFFF"/>
          </a:solidFill>
          <a:ln w="6350">
            <a:solidFill>
              <a:srgbClr val="DDE2E8"/>
            </a:solidFill>
            <a:prstDash val="solid"/>
          </a:ln>
        </p:spPr>
      </p:sp>
      <p:sp>
        <p:nvSpPr>
          <p:cNvPr id="66" name="Text 64"/>
          <p:cNvSpPr/>
          <p:nvPr/>
        </p:nvSpPr>
        <p:spPr>
          <a:xfrm>
            <a:off x="3867912" y="4855464"/>
            <a:ext cx="2962656" cy="466344"/>
          </a:xfrm>
          <a:prstGeom prst="rect">
            <a:avLst/>
          </a:prstGeom>
          <a:noFill/>
          <a:ln/>
        </p:spPr>
        <p:txBody>
          <a:bodyPr wrap="square" rtlCol="0" anchor="ctr"/>
          <a:lstStyle/>
          <a:p>
            <a:pPr algn="l" indent="0" marL="0">
              <a:buNone/>
            </a:pPr>
            <a:r>
              <a:rPr lang="en-US" sz="1000" dirty="0">
                <a:solidFill>
                  <a:srgbClr val="232B3A"/>
                </a:solidFill>
                <a:latin typeface="Calibri" pitchFamily="34" charset="0"/>
                <a:ea typeface="Calibri" pitchFamily="34" charset="-122"/>
                <a:cs typeface="Calibri" pitchFamily="34" charset="-120"/>
              </a:rPr>
              <a:t>Baseline</a:t>
            </a:r>
            <a:endParaRPr lang="en-US" sz="1000" dirty="0"/>
          </a:p>
        </p:txBody>
      </p:sp>
      <p:sp>
        <p:nvSpPr>
          <p:cNvPr id="67" name="Shape 65"/>
          <p:cNvSpPr/>
          <p:nvPr/>
        </p:nvSpPr>
        <p:spPr>
          <a:xfrm>
            <a:off x="6903720" y="4855464"/>
            <a:ext cx="3291840" cy="466344"/>
          </a:xfrm>
          <a:prstGeom prst="rect">
            <a:avLst/>
          </a:prstGeom>
          <a:solidFill>
            <a:srgbClr val="FFFFFF"/>
          </a:solidFill>
          <a:ln w="6350">
            <a:solidFill>
              <a:srgbClr val="DDE2E8"/>
            </a:solidFill>
            <a:prstDash val="solid"/>
          </a:ln>
        </p:spPr>
      </p:sp>
      <p:sp>
        <p:nvSpPr>
          <p:cNvPr id="68" name="Text 66"/>
          <p:cNvSpPr/>
          <p:nvPr/>
        </p:nvSpPr>
        <p:spPr>
          <a:xfrm>
            <a:off x="6976872" y="4855464"/>
            <a:ext cx="3145536" cy="466344"/>
          </a:xfrm>
          <a:prstGeom prst="rect">
            <a:avLst/>
          </a:prstGeom>
          <a:noFill/>
          <a:ln/>
        </p:spPr>
        <p:txBody>
          <a:bodyPr wrap="square" rtlCol="0" anchor="ctr"/>
          <a:lstStyle/>
          <a:p>
            <a:pPr algn="l" indent="0" marL="0">
              <a:buNone/>
            </a:pPr>
            <a:r>
              <a:rPr lang="en-US" sz="1000" dirty="0">
                <a:solidFill>
                  <a:srgbClr val="019879"/>
                </a:solidFill>
                <a:latin typeface="Calibri" pitchFamily="34" charset="0"/>
                <a:ea typeface="Calibri" pitchFamily="34" charset="-122"/>
                <a:cs typeface="Calibri" pitchFamily="34" charset="-120"/>
              </a:rPr>
              <a:t>Up to 70% reduction</a:t>
            </a:r>
            <a:endParaRPr lang="en-US" sz="1000" dirty="0"/>
          </a:p>
        </p:txBody>
      </p:sp>
      <p:sp>
        <p:nvSpPr>
          <p:cNvPr id="69" name="Shape 67"/>
          <p:cNvSpPr/>
          <p:nvPr/>
        </p:nvSpPr>
        <p:spPr>
          <a:xfrm>
            <a:off x="10195560" y="4855464"/>
            <a:ext cx="1463040" cy="466344"/>
          </a:xfrm>
          <a:prstGeom prst="rect">
            <a:avLst/>
          </a:prstGeom>
          <a:solidFill>
            <a:srgbClr val="FFFFFF"/>
          </a:solidFill>
          <a:ln w="6350">
            <a:solidFill>
              <a:srgbClr val="DDE2E8"/>
            </a:solidFill>
            <a:prstDash val="solid"/>
          </a:ln>
        </p:spPr>
      </p:sp>
      <p:sp>
        <p:nvSpPr>
          <p:cNvPr id="70" name="Text 68"/>
          <p:cNvSpPr/>
          <p:nvPr/>
        </p:nvSpPr>
        <p:spPr>
          <a:xfrm>
            <a:off x="10268712" y="4855464"/>
            <a:ext cx="1316736" cy="466344"/>
          </a:xfrm>
          <a:prstGeom prst="rect">
            <a:avLst/>
          </a:prstGeom>
          <a:noFill/>
          <a:ln/>
        </p:spPr>
        <p:txBody>
          <a:bodyPr wrap="square" rtlCol="0" anchor="ctr"/>
          <a:lstStyle/>
          <a:p>
            <a:pPr algn="ctr" indent="0" marL="0">
              <a:buNone/>
            </a:pPr>
            <a:r>
              <a:rPr lang="en-US" sz="1000" b="1" dirty="0">
                <a:solidFill>
                  <a:srgbClr val="019879"/>
                </a:solidFill>
                <a:latin typeface="Calibri" pitchFamily="34" charset="0"/>
                <a:ea typeface="Calibri" pitchFamily="34" charset="-122"/>
                <a:cs typeface="Calibri" pitchFamily="34" charset="-120"/>
              </a:rPr>
              <a:t>↓ Noise</a:t>
            </a:r>
            <a:endParaRPr lang="en-US" sz="1000" dirty="0"/>
          </a:p>
        </p:txBody>
      </p:sp>
      <p:sp>
        <p:nvSpPr>
          <p:cNvPr id="71" name="Shape 69"/>
          <p:cNvSpPr/>
          <p:nvPr/>
        </p:nvSpPr>
        <p:spPr>
          <a:xfrm>
            <a:off x="502920" y="5321808"/>
            <a:ext cx="3291840" cy="466344"/>
          </a:xfrm>
          <a:prstGeom prst="rect">
            <a:avLst/>
          </a:prstGeom>
          <a:solidFill>
            <a:srgbClr val="EEF1F4"/>
          </a:solidFill>
          <a:ln w="6350">
            <a:solidFill>
              <a:srgbClr val="DDE2E8"/>
            </a:solidFill>
            <a:prstDash val="solid"/>
          </a:ln>
        </p:spPr>
      </p:sp>
      <p:sp>
        <p:nvSpPr>
          <p:cNvPr id="72" name="Text 70"/>
          <p:cNvSpPr/>
          <p:nvPr/>
        </p:nvSpPr>
        <p:spPr>
          <a:xfrm>
            <a:off x="576072" y="5321808"/>
            <a:ext cx="3145536" cy="466344"/>
          </a:xfrm>
          <a:prstGeom prst="rect">
            <a:avLst/>
          </a:prstGeom>
          <a:noFill/>
          <a:ln/>
        </p:spPr>
        <p:txBody>
          <a:bodyPr wrap="square" rtlCol="0" anchor="ctr"/>
          <a:lstStyle/>
          <a:p>
            <a:pPr algn="l" indent="0" marL="0">
              <a:buNone/>
            </a:pPr>
            <a:r>
              <a:rPr lang="en-US" sz="1000" b="1" dirty="0">
                <a:solidFill>
                  <a:srgbClr val="1E2761"/>
                </a:solidFill>
                <a:latin typeface="Calibri" pitchFamily="34" charset="0"/>
                <a:ea typeface="Calibri" pitchFamily="34" charset="-122"/>
                <a:cs typeface="Calibri" pitchFamily="34" charset="-120"/>
              </a:rPr>
              <a:t>Change failure / audit readiness</a:t>
            </a:r>
            <a:endParaRPr lang="en-US" sz="1000" dirty="0"/>
          </a:p>
        </p:txBody>
      </p:sp>
      <p:sp>
        <p:nvSpPr>
          <p:cNvPr id="73" name="Shape 71"/>
          <p:cNvSpPr/>
          <p:nvPr/>
        </p:nvSpPr>
        <p:spPr>
          <a:xfrm>
            <a:off x="3794760" y="5321808"/>
            <a:ext cx="3108960" cy="466344"/>
          </a:xfrm>
          <a:prstGeom prst="rect">
            <a:avLst/>
          </a:prstGeom>
          <a:solidFill>
            <a:srgbClr val="EEF1F4"/>
          </a:solidFill>
          <a:ln w="6350">
            <a:solidFill>
              <a:srgbClr val="DDE2E8"/>
            </a:solidFill>
            <a:prstDash val="solid"/>
          </a:ln>
        </p:spPr>
      </p:sp>
      <p:sp>
        <p:nvSpPr>
          <p:cNvPr id="74" name="Text 72"/>
          <p:cNvSpPr/>
          <p:nvPr/>
        </p:nvSpPr>
        <p:spPr>
          <a:xfrm>
            <a:off x="3867912" y="5321808"/>
            <a:ext cx="2962656" cy="466344"/>
          </a:xfrm>
          <a:prstGeom prst="rect">
            <a:avLst/>
          </a:prstGeom>
          <a:noFill/>
          <a:ln/>
        </p:spPr>
        <p:txBody>
          <a:bodyPr wrap="square" rtlCol="0" anchor="ctr"/>
          <a:lstStyle/>
          <a:p>
            <a:pPr algn="l" indent="0" marL="0">
              <a:buNone/>
            </a:pPr>
            <a:r>
              <a:rPr lang="en-US" sz="1000" dirty="0">
                <a:solidFill>
                  <a:srgbClr val="232B3A"/>
                </a:solidFill>
                <a:latin typeface="Calibri" pitchFamily="34" charset="0"/>
                <a:ea typeface="Calibri" pitchFamily="34" charset="-122"/>
                <a:cs typeface="Calibri" pitchFamily="34" charset="-120"/>
              </a:rPr>
              <a:t>Manual, inconsistent evidence</a:t>
            </a:r>
            <a:endParaRPr lang="en-US" sz="1000" dirty="0"/>
          </a:p>
        </p:txBody>
      </p:sp>
      <p:sp>
        <p:nvSpPr>
          <p:cNvPr id="75" name="Shape 73"/>
          <p:cNvSpPr/>
          <p:nvPr/>
        </p:nvSpPr>
        <p:spPr>
          <a:xfrm>
            <a:off x="6903720" y="5321808"/>
            <a:ext cx="3291840" cy="466344"/>
          </a:xfrm>
          <a:prstGeom prst="rect">
            <a:avLst/>
          </a:prstGeom>
          <a:solidFill>
            <a:srgbClr val="EEF1F4"/>
          </a:solidFill>
          <a:ln w="6350">
            <a:solidFill>
              <a:srgbClr val="DDE2E8"/>
            </a:solidFill>
            <a:prstDash val="solid"/>
          </a:ln>
        </p:spPr>
      </p:sp>
      <p:sp>
        <p:nvSpPr>
          <p:cNvPr id="76" name="Text 74"/>
          <p:cNvSpPr/>
          <p:nvPr/>
        </p:nvSpPr>
        <p:spPr>
          <a:xfrm>
            <a:off x="6976872" y="5321808"/>
            <a:ext cx="3145536" cy="466344"/>
          </a:xfrm>
          <a:prstGeom prst="rect">
            <a:avLst/>
          </a:prstGeom>
          <a:noFill/>
          <a:ln/>
        </p:spPr>
        <p:txBody>
          <a:bodyPr wrap="square" rtlCol="0" anchor="ctr"/>
          <a:lstStyle/>
          <a:p>
            <a:pPr algn="l" indent="0" marL="0">
              <a:buNone/>
            </a:pPr>
            <a:r>
              <a:rPr lang="en-US" sz="1000" dirty="0">
                <a:solidFill>
                  <a:srgbClr val="019879"/>
                </a:solidFill>
                <a:latin typeface="Calibri" pitchFamily="34" charset="0"/>
                <a:ea typeface="Calibri" pitchFamily="34" charset="-122"/>
                <a:cs typeface="Calibri" pitchFamily="34" charset="-120"/>
              </a:rPr>
              <a:t>Automated audit trail &amp; evidence mapping</a:t>
            </a:r>
            <a:endParaRPr lang="en-US" sz="1000" dirty="0"/>
          </a:p>
        </p:txBody>
      </p:sp>
      <p:sp>
        <p:nvSpPr>
          <p:cNvPr id="77" name="Shape 75"/>
          <p:cNvSpPr/>
          <p:nvPr/>
        </p:nvSpPr>
        <p:spPr>
          <a:xfrm>
            <a:off x="10195560" y="5321808"/>
            <a:ext cx="1463040" cy="466344"/>
          </a:xfrm>
          <a:prstGeom prst="rect">
            <a:avLst/>
          </a:prstGeom>
          <a:solidFill>
            <a:srgbClr val="EEF1F4"/>
          </a:solidFill>
          <a:ln w="6350">
            <a:solidFill>
              <a:srgbClr val="DDE2E8"/>
            </a:solidFill>
            <a:prstDash val="solid"/>
          </a:ln>
        </p:spPr>
      </p:sp>
      <p:sp>
        <p:nvSpPr>
          <p:cNvPr id="78" name="Text 76"/>
          <p:cNvSpPr/>
          <p:nvPr/>
        </p:nvSpPr>
        <p:spPr>
          <a:xfrm>
            <a:off x="10268712" y="5321808"/>
            <a:ext cx="1316736" cy="466344"/>
          </a:xfrm>
          <a:prstGeom prst="rect">
            <a:avLst/>
          </a:prstGeom>
          <a:noFill/>
          <a:ln/>
        </p:spPr>
        <p:txBody>
          <a:bodyPr wrap="square" rtlCol="0" anchor="ctr"/>
          <a:lstStyle/>
          <a:p>
            <a:pPr algn="ctr" indent="0" marL="0">
              <a:buNone/>
            </a:pPr>
            <a:r>
              <a:rPr lang="en-US" sz="1000" b="1" dirty="0">
                <a:solidFill>
                  <a:srgbClr val="019879"/>
                </a:solidFill>
                <a:latin typeface="Calibri" pitchFamily="34" charset="0"/>
                <a:ea typeface="Calibri" pitchFamily="34" charset="-122"/>
                <a:cs typeface="Calibri" pitchFamily="34" charset="-120"/>
              </a:rPr>
              <a:t>↑ Compliance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BUSINESS CASE</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Investment Case &amp; Return</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6 · BUSINESS CASE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28 / 33</a:t>
            </a:r>
            <a:endParaRPr lang="en-US" sz="850" dirty="0"/>
          </a:p>
        </p:txBody>
      </p:sp>
      <p:sp>
        <p:nvSpPr>
          <p:cNvPr id="7" name="Shape 5"/>
          <p:cNvSpPr/>
          <p:nvPr/>
        </p:nvSpPr>
        <p:spPr>
          <a:xfrm>
            <a:off x="502920" y="1691640"/>
            <a:ext cx="3535680" cy="1417320"/>
          </a:xfrm>
          <a:prstGeom prst="roundRect">
            <a:avLst>
              <a:gd name="adj" fmla="val 5161"/>
            </a:avLst>
          </a:prstGeom>
          <a:solidFill>
            <a:srgbClr val="EEF1F4"/>
          </a:solidFill>
          <a:ln/>
        </p:spPr>
      </p:sp>
      <p:sp>
        <p:nvSpPr>
          <p:cNvPr id="8" name="Shape 6"/>
          <p:cNvSpPr/>
          <p:nvPr/>
        </p:nvSpPr>
        <p:spPr>
          <a:xfrm>
            <a:off x="667512" y="1856232"/>
            <a:ext cx="329184" cy="329184"/>
          </a:xfrm>
          <a:prstGeom prst="ellipse">
            <a:avLst/>
          </a:prstGeom>
          <a:solidFill>
            <a:srgbClr val="02C39A"/>
          </a:solidFill>
          <a:ln/>
        </p:spPr>
      </p:sp>
      <p:sp>
        <p:nvSpPr>
          <p:cNvPr id="9" name="Text 7"/>
          <p:cNvSpPr/>
          <p:nvPr/>
        </p:nvSpPr>
        <p:spPr>
          <a:xfrm>
            <a:off x="667512" y="1856232"/>
            <a:ext cx="329184" cy="329184"/>
          </a:xfrm>
          <a:prstGeom prst="rect">
            <a:avLst/>
          </a:prstGeom>
          <a:noFill/>
          <a:ln/>
        </p:spPr>
        <p:txBody>
          <a:bodyPr wrap="square" rtlCol="0" anchor="ctr"/>
          <a:lstStyle/>
          <a:p>
            <a:pPr algn="ctr" indent="0" marL="0">
              <a:buNone/>
            </a:pPr>
            <a:r>
              <a:rPr lang="en-US" sz="1200" b="1" dirty="0">
                <a:solidFill>
                  <a:srgbClr val="141B4D"/>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667512" y="2258568"/>
            <a:ext cx="3206496" cy="320040"/>
          </a:xfrm>
          <a:prstGeom prst="rect">
            <a:avLst/>
          </a:prstGeom>
          <a:noFill/>
          <a:ln/>
        </p:spPr>
        <p:txBody>
          <a:bodyPr wrap="square" rtlCol="0" anchor="ctr"/>
          <a:lstStyle/>
          <a:p>
            <a:pPr indent="0" marL="0">
              <a:buNone/>
            </a:pPr>
            <a:r>
              <a:rPr lang="en-US" sz="1200" b="1" dirty="0">
                <a:solidFill>
                  <a:srgbClr val="232B3A"/>
                </a:solidFill>
                <a:latin typeface="Cambria" pitchFamily="34" charset="0"/>
                <a:ea typeface="Cambria" pitchFamily="34" charset="-122"/>
                <a:cs typeface="Cambria" pitchFamily="34" charset="-120"/>
              </a:rPr>
              <a:t>Reduced MTTR</a:t>
            </a:r>
            <a:endParaRPr lang="en-US" sz="1200" dirty="0"/>
          </a:p>
        </p:txBody>
      </p:sp>
      <p:sp>
        <p:nvSpPr>
          <p:cNvPr id="11" name="Text 9"/>
          <p:cNvSpPr/>
          <p:nvPr/>
        </p:nvSpPr>
        <p:spPr>
          <a:xfrm>
            <a:off x="667512" y="2587752"/>
            <a:ext cx="3206496" cy="411480"/>
          </a:xfrm>
          <a:prstGeom prst="rect">
            <a:avLst/>
          </a:prstGeom>
          <a:noFill/>
          <a:ln/>
        </p:spPr>
        <p:txBody>
          <a:bodyPr wrap="square" rtlCol="0" anchor="ctr"/>
          <a:lstStyle/>
          <a:p>
            <a:pPr indent="0" marL="0">
              <a:lnSpc>
                <a:spcPct val="112000"/>
              </a:lnSpc>
              <a:buNone/>
            </a:pPr>
            <a:r>
              <a:rPr lang="en-US" sz="900" dirty="0">
                <a:solidFill>
                  <a:srgbClr val="6B7684"/>
                </a:solidFill>
                <a:latin typeface="Calibri" pitchFamily="34" charset="0"/>
                <a:ea typeface="Calibri" pitchFamily="34" charset="-122"/>
                <a:cs typeface="Calibri" pitchFamily="34" charset="-120"/>
              </a:rPr>
              <a:t>Fewer prolonged outages, lower business-impact cost, improved SLA compliance</a:t>
            </a:r>
            <a:endParaRPr lang="en-US" sz="900" dirty="0"/>
          </a:p>
        </p:txBody>
      </p:sp>
      <p:sp>
        <p:nvSpPr>
          <p:cNvPr id="12" name="Shape 10"/>
          <p:cNvSpPr/>
          <p:nvPr/>
        </p:nvSpPr>
        <p:spPr>
          <a:xfrm>
            <a:off x="4312920" y="1691640"/>
            <a:ext cx="3535680" cy="1417320"/>
          </a:xfrm>
          <a:prstGeom prst="roundRect">
            <a:avLst>
              <a:gd name="adj" fmla="val 5161"/>
            </a:avLst>
          </a:prstGeom>
          <a:solidFill>
            <a:srgbClr val="EEF1F4"/>
          </a:solidFill>
          <a:ln/>
        </p:spPr>
      </p:sp>
      <p:sp>
        <p:nvSpPr>
          <p:cNvPr id="13" name="Shape 11"/>
          <p:cNvSpPr/>
          <p:nvPr/>
        </p:nvSpPr>
        <p:spPr>
          <a:xfrm>
            <a:off x="4477512" y="1856232"/>
            <a:ext cx="329184" cy="329184"/>
          </a:xfrm>
          <a:prstGeom prst="ellipse">
            <a:avLst/>
          </a:prstGeom>
          <a:solidFill>
            <a:srgbClr val="02C39A"/>
          </a:solidFill>
          <a:ln/>
        </p:spPr>
      </p:sp>
      <p:sp>
        <p:nvSpPr>
          <p:cNvPr id="14" name="Text 12"/>
          <p:cNvSpPr/>
          <p:nvPr/>
        </p:nvSpPr>
        <p:spPr>
          <a:xfrm>
            <a:off x="4477512" y="1856232"/>
            <a:ext cx="329184" cy="329184"/>
          </a:xfrm>
          <a:prstGeom prst="rect">
            <a:avLst/>
          </a:prstGeom>
          <a:noFill/>
          <a:ln/>
        </p:spPr>
        <p:txBody>
          <a:bodyPr wrap="square" rtlCol="0" anchor="ctr"/>
          <a:lstStyle/>
          <a:p>
            <a:pPr algn="ctr" indent="0" marL="0">
              <a:buNone/>
            </a:pPr>
            <a:r>
              <a:rPr lang="en-US" sz="1200" b="1" dirty="0">
                <a:solidFill>
                  <a:srgbClr val="141B4D"/>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4477512" y="2258568"/>
            <a:ext cx="3206496" cy="320040"/>
          </a:xfrm>
          <a:prstGeom prst="rect">
            <a:avLst/>
          </a:prstGeom>
          <a:noFill/>
          <a:ln/>
        </p:spPr>
        <p:txBody>
          <a:bodyPr wrap="square" rtlCol="0" anchor="ctr"/>
          <a:lstStyle/>
          <a:p>
            <a:pPr indent="0" marL="0">
              <a:buNone/>
            </a:pPr>
            <a:r>
              <a:rPr lang="en-US" sz="1200" b="1" dirty="0">
                <a:solidFill>
                  <a:srgbClr val="232B3A"/>
                </a:solidFill>
                <a:latin typeface="Cambria" pitchFamily="34" charset="0"/>
                <a:ea typeface="Cambria" pitchFamily="34" charset="-122"/>
                <a:cs typeface="Cambria" pitchFamily="34" charset="-120"/>
              </a:rPr>
              <a:t>Lower manual effort</a:t>
            </a:r>
            <a:endParaRPr lang="en-US" sz="1200" dirty="0"/>
          </a:p>
        </p:txBody>
      </p:sp>
      <p:sp>
        <p:nvSpPr>
          <p:cNvPr id="16" name="Text 14"/>
          <p:cNvSpPr/>
          <p:nvPr/>
        </p:nvSpPr>
        <p:spPr>
          <a:xfrm>
            <a:off x="4477512" y="2587752"/>
            <a:ext cx="3206496" cy="411480"/>
          </a:xfrm>
          <a:prstGeom prst="rect">
            <a:avLst/>
          </a:prstGeom>
          <a:noFill/>
          <a:ln/>
        </p:spPr>
        <p:txBody>
          <a:bodyPr wrap="square" rtlCol="0" anchor="ctr"/>
          <a:lstStyle/>
          <a:p>
            <a:pPr indent="0" marL="0">
              <a:lnSpc>
                <a:spcPct val="112000"/>
              </a:lnSpc>
              <a:buNone/>
            </a:pPr>
            <a:r>
              <a:rPr lang="en-US" sz="900" dirty="0">
                <a:solidFill>
                  <a:srgbClr val="6B7684"/>
                </a:solidFill>
                <a:latin typeface="Calibri" pitchFamily="34" charset="0"/>
                <a:ea typeface="Calibri" pitchFamily="34" charset="-122"/>
                <a:cs typeface="Calibri" pitchFamily="34" charset="-120"/>
              </a:rPr>
              <a:t>L1/L2 headcount redirected from repetitive triage to higher-value engineering</a:t>
            </a:r>
            <a:endParaRPr lang="en-US" sz="900" dirty="0"/>
          </a:p>
        </p:txBody>
      </p:sp>
      <p:sp>
        <p:nvSpPr>
          <p:cNvPr id="17" name="Shape 15"/>
          <p:cNvSpPr/>
          <p:nvPr/>
        </p:nvSpPr>
        <p:spPr>
          <a:xfrm>
            <a:off x="8122920" y="1691640"/>
            <a:ext cx="3535680" cy="1417320"/>
          </a:xfrm>
          <a:prstGeom prst="roundRect">
            <a:avLst>
              <a:gd name="adj" fmla="val 5161"/>
            </a:avLst>
          </a:prstGeom>
          <a:solidFill>
            <a:srgbClr val="EEF1F4"/>
          </a:solidFill>
          <a:ln/>
        </p:spPr>
      </p:sp>
      <p:sp>
        <p:nvSpPr>
          <p:cNvPr id="18" name="Shape 16"/>
          <p:cNvSpPr/>
          <p:nvPr/>
        </p:nvSpPr>
        <p:spPr>
          <a:xfrm>
            <a:off x="8287512" y="1856232"/>
            <a:ext cx="329184" cy="329184"/>
          </a:xfrm>
          <a:prstGeom prst="ellipse">
            <a:avLst/>
          </a:prstGeom>
          <a:solidFill>
            <a:srgbClr val="02C39A"/>
          </a:solidFill>
          <a:ln/>
        </p:spPr>
      </p:sp>
      <p:sp>
        <p:nvSpPr>
          <p:cNvPr id="19" name="Text 17"/>
          <p:cNvSpPr/>
          <p:nvPr/>
        </p:nvSpPr>
        <p:spPr>
          <a:xfrm>
            <a:off x="8287512" y="1856232"/>
            <a:ext cx="329184" cy="329184"/>
          </a:xfrm>
          <a:prstGeom prst="rect">
            <a:avLst/>
          </a:prstGeom>
          <a:noFill/>
          <a:ln/>
        </p:spPr>
        <p:txBody>
          <a:bodyPr wrap="square" rtlCol="0" anchor="ctr"/>
          <a:lstStyle/>
          <a:p>
            <a:pPr algn="ctr" indent="0" marL="0">
              <a:buNone/>
            </a:pPr>
            <a:r>
              <a:rPr lang="en-US" sz="1200" b="1" dirty="0">
                <a:solidFill>
                  <a:srgbClr val="141B4D"/>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8287512" y="2258568"/>
            <a:ext cx="3206496" cy="320040"/>
          </a:xfrm>
          <a:prstGeom prst="rect">
            <a:avLst/>
          </a:prstGeom>
          <a:noFill/>
          <a:ln/>
        </p:spPr>
        <p:txBody>
          <a:bodyPr wrap="square" rtlCol="0" anchor="ctr"/>
          <a:lstStyle/>
          <a:p>
            <a:pPr indent="0" marL="0">
              <a:buNone/>
            </a:pPr>
            <a:r>
              <a:rPr lang="en-US" sz="1200" b="1" dirty="0">
                <a:solidFill>
                  <a:srgbClr val="232B3A"/>
                </a:solidFill>
                <a:latin typeface="Cambria" pitchFamily="34" charset="0"/>
                <a:ea typeface="Cambria" pitchFamily="34" charset="-122"/>
                <a:cs typeface="Cambria" pitchFamily="34" charset="-120"/>
              </a:rPr>
              <a:t>Fewer escalations</a:t>
            </a:r>
            <a:endParaRPr lang="en-US" sz="1200" dirty="0"/>
          </a:p>
        </p:txBody>
      </p:sp>
      <p:sp>
        <p:nvSpPr>
          <p:cNvPr id="21" name="Text 19"/>
          <p:cNvSpPr/>
          <p:nvPr/>
        </p:nvSpPr>
        <p:spPr>
          <a:xfrm>
            <a:off x="8287512" y="2587752"/>
            <a:ext cx="3206496" cy="411480"/>
          </a:xfrm>
          <a:prstGeom prst="rect">
            <a:avLst/>
          </a:prstGeom>
          <a:noFill/>
          <a:ln/>
        </p:spPr>
        <p:txBody>
          <a:bodyPr wrap="square" rtlCol="0" anchor="ctr"/>
          <a:lstStyle/>
          <a:p>
            <a:pPr indent="0" marL="0">
              <a:lnSpc>
                <a:spcPct val="112000"/>
              </a:lnSpc>
              <a:buNone/>
            </a:pPr>
            <a:r>
              <a:rPr lang="en-US" sz="900" dirty="0">
                <a:solidFill>
                  <a:srgbClr val="6B7684"/>
                </a:solidFill>
                <a:latin typeface="Calibri" pitchFamily="34" charset="0"/>
                <a:ea typeface="Calibri" pitchFamily="34" charset="-122"/>
                <a:cs typeface="Calibri" pitchFamily="34" charset="-120"/>
              </a:rPr>
              <a:t>Senior engineer time protected from routine incident work</a:t>
            </a:r>
            <a:endParaRPr lang="en-US" sz="900" dirty="0"/>
          </a:p>
        </p:txBody>
      </p:sp>
      <p:sp>
        <p:nvSpPr>
          <p:cNvPr id="22" name="Shape 20"/>
          <p:cNvSpPr/>
          <p:nvPr/>
        </p:nvSpPr>
        <p:spPr>
          <a:xfrm>
            <a:off x="502920" y="3337560"/>
            <a:ext cx="3535680" cy="1417320"/>
          </a:xfrm>
          <a:prstGeom prst="roundRect">
            <a:avLst>
              <a:gd name="adj" fmla="val 5161"/>
            </a:avLst>
          </a:prstGeom>
          <a:solidFill>
            <a:srgbClr val="EEF1F4"/>
          </a:solidFill>
          <a:ln/>
        </p:spPr>
      </p:sp>
      <p:sp>
        <p:nvSpPr>
          <p:cNvPr id="23" name="Shape 21"/>
          <p:cNvSpPr/>
          <p:nvPr/>
        </p:nvSpPr>
        <p:spPr>
          <a:xfrm>
            <a:off x="667512" y="3502152"/>
            <a:ext cx="329184" cy="329184"/>
          </a:xfrm>
          <a:prstGeom prst="ellipse">
            <a:avLst/>
          </a:prstGeom>
          <a:solidFill>
            <a:srgbClr val="02C39A"/>
          </a:solidFill>
          <a:ln/>
        </p:spPr>
      </p:sp>
      <p:sp>
        <p:nvSpPr>
          <p:cNvPr id="24" name="Text 22"/>
          <p:cNvSpPr/>
          <p:nvPr/>
        </p:nvSpPr>
        <p:spPr>
          <a:xfrm>
            <a:off x="667512" y="3502152"/>
            <a:ext cx="329184" cy="329184"/>
          </a:xfrm>
          <a:prstGeom prst="rect">
            <a:avLst/>
          </a:prstGeom>
          <a:noFill/>
          <a:ln/>
        </p:spPr>
        <p:txBody>
          <a:bodyPr wrap="square" rtlCol="0" anchor="ctr"/>
          <a:lstStyle/>
          <a:p>
            <a:pPr algn="ctr" indent="0" marL="0">
              <a:buNone/>
            </a:pPr>
            <a:r>
              <a:rPr lang="en-US" sz="1200" b="1" dirty="0">
                <a:solidFill>
                  <a:srgbClr val="141B4D"/>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667512" y="3904488"/>
            <a:ext cx="3206496" cy="320040"/>
          </a:xfrm>
          <a:prstGeom prst="rect">
            <a:avLst/>
          </a:prstGeom>
          <a:noFill/>
          <a:ln/>
        </p:spPr>
        <p:txBody>
          <a:bodyPr wrap="square" rtlCol="0" anchor="ctr"/>
          <a:lstStyle/>
          <a:p>
            <a:pPr indent="0" marL="0">
              <a:buNone/>
            </a:pPr>
            <a:r>
              <a:rPr lang="en-US" sz="1200" b="1" dirty="0">
                <a:solidFill>
                  <a:srgbClr val="232B3A"/>
                </a:solidFill>
                <a:latin typeface="Cambria" pitchFamily="34" charset="0"/>
                <a:ea typeface="Cambria" pitchFamily="34" charset="-122"/>
                <a:cs typeface="Cambria" pitchFamily="34" charset="-120"/>
              </a:rPr>
              <a:t>Faster audit readiness</a:t>
            </a:r>
            <a:endParaRPr lang="en-US" sz="1200" dirty="0"/>
          </a:p>
        </p:txBody>
      </p:sp>
      <p:sp>
        <p:nvSpPr>
          <p:cNvPr id="26" name="Text 24"/>
          <p:cNvSpPr/>
          <p:nvPr/>
        </p:nvSpPr>
        <p:spPr>
          <a:xfrm>
            <a:off x="667512" y="4233672"/>
            <a:ext cx="3206496" cy="411480"/>
          </a:xfrm>
          <a:prstGeom prst="rect">
            <a:avLst/>
          </a:prstGeom>
          <a:noFill/>
          <a:ln/>
        </p:spPr>
        <p:txBody>
          <a:bodyPr wrap="square" rtlCol="0" anchor="ctr"/>
          <a:lstStyle/>
          <a:p>
            <a:pPr indent="0" marL="0">
              <a:lnSpc>
                <a:spcPct val="112000"/>
              </a:lnSpc>
              <a:buNone/>
            </a:pPr>
            <a:r>
              <a:rPr lang="en-US" sz="900" dirty="0">
                <a:solidFill>
                  <a:srgbClr val="6B7684"/>
                </a:solidFill>
                <a:latin typeface="Calibri" pitchFamily="34" charset="0"/>
                <a:ea typeface="Calibri" pitchFamily="34" charset="-122"/>
                <a:cs typeface="Calibri" pitchFamily="34" charset="-120"/>
              </a:rPr>
              <a:t>Automated evidence mapping cuts audit-prep effort significantly</a:t>
            </a:r>
            <a:endParaRPr lang="en-US" sz="900" dirty="0"/>
          </a:p>
        </p:txBody>
      </p:sp>
      <p:sp>
        <p:nvSpPr>
          <p:cNvPr id="27" name="Shape 25"/>
          <p:cNvSpPr/>
          <p:nvPr/>
        </p:nvSpPr>
        <p:spPr>
          <a:xfrm>
            <a:off x="4312920" y="3337560"/>
            <a:ext cx="3535680" cy="1417320"/>
          </a:xfrm>
          <a:prstGeom prst="roundRect">
            <a:avLst>
              <a:gd name="adj" fmla="val 5161"/>
            </a:avLst>
          </a:prstGeom>
          <a:solidFill>
            <a:srgbClr val="EEF1F4"/>
          </a:solidFill>
          <a:ln/>
        </p:spPr>
      </p:sp>
      <p:sp>
        <p:nvSpPr>
          <p:cNvPr id="28" name="Shape 26"/>
          <p:cNvSpPr/>
          <p:nvPr/>
        </p:nvSpPr>
        <p:spPr>
          <a:xfrm>
            <a:off x="4477512" y="3502152"/>
            <a:ext cx="329184" cy="329184"/>
          </a:xfrm>
          <a:prstGeom prst="ellipse">
            <a:avLst/>
          </a:prstGeom>
          <a:solidFill>
            <a:srgbClr val="02C39A"/>
          </a:solidFill>
          <a:ln/>
        </p:spPr>
      </p:sp>
      <p:sp>
        <p:nvSpPr>
          <p:cNvPr id="29" name="Text 27"/>
          <p:cNvSpPr/>
          <p:nvPr/>
        </p:nvSpPr>
        <p:spPr>
          <a:xfrm>
            <a:off x="4477512" y="3502152"/>
            <a:ext cx="329184" cy="329184"/>
          </a:xfrm>
          <a:prstGeom prst="rect">
            <a:avLst/>
          </a:prstGeom>
          <a:noFill/>
          <a:ln/>
        </p:spPr>
        <p:txBody>
          <a:bodyPr wrap="square" rtlCol="0" anchor="ctr"/>
          <a:lstStyle/>
          <a:p>
            <a:pPr algn="ctr" indent="0" marL="0">
              <a:buNone/>
            </a:pPr>
            <a:r>
              <a:rPr lang="en-US" sz="1200" b="1" dirty="0">
                <a:solidFill>
                  <a:srgbClr val="141B4D"/>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4477512" y="3904488"/>
            <a:ext cx="3206496" cy="320040"/>
          </a:xfrm>
          <a:prstGeom prst="rect">
            <a:avLst/>
          </a:prstGeom>
          <a:noFill/>
          <a:ln/>
        </p:spPr>
        <p:txBody>
          <a:bodyPr wrap="square" rtlCol="0" anchor="ctr"/>
          <a:lstStyle/>
          <a:p>
            <a:pPr indent="0" marL="0">
              <a:buNone/>
            </a:pPr>
            <a:r>
              <a:rPr lang="en-US" sz="1200" b="1" dirty="0">
                <a:solidFill>
                  <a:srgbClr val="232B3A"/>
                </a:solidFill>
                <a:latin typeface="Cambria" pitchFamily="34" charset="0"/>
                <a:ea typeface="Cambria" pitchFamily="34" charset="-122"/>
                <a:cs typeface="Cambria" pitchFamily="34" charset="-120"/>
              </a:rPr>
              <a:t>Reduced overtime &amp; training cost</a:t>
            </a:r>
            <a:endParaRPr lang="en-US" sz="1200" dirty="0"/>
          </a:p>
        </p:txBody>
      </p:sp>
      <p:sp>
        <p:nvSpPr>
          <p:cNvPr id="31" name="Text 29"/>
          <p:cNvSpPr/>
          <p:nvPr/>
        </p:nvSpPr>
        <p:spPr>
          <a:xfrm>
            <a:off x="4477512" y="4233672"/>
            <a:ext cx="3206496" cy="411480"/>
          </a:xfrm>
          <a:prstGeom prst="rect">
            <a:avLst/>
          </a:prstGeom>
          <a:noFill/>
          <a:ln/>
        </p:spPr>
        <p:txBody>
          <a:bodyPr wrap="square" rtlCol="0" anchor="ctr"/>
          <a:lstStyle/>
          <a:p>
            <a:pPr indent="0" marL="0">
              <a:lnSpc>
                <a:spcPct val="112000"/>
              </a:lnSpc>
              <a:buNone/>
            </a:pPr>
            <a:r>
              <a:rPr lang="en-US" sz="900" dirty="0">
                <a:solidFill>
                  <a:srgbClr val="6B7684"/>
                </a:solidFill>
                <a:latin typeface="Calibri" pitchFamily="34" charset="0"/>
                <a:ea typeface="Calibri" pitchFamily="34" charset="-122"/>
                <a:cs typeface="Calibri" pitchFamily="34" charset="-120"/>
              </a:rPr>
              <a:t>Faster onboarding via AI-assisted knowledge, less after-hours firefighting</a:t>
            </a:r>
            <a:endParaRPr lang="en-US" sz="900" dirty="0"/>
          </a:p>
        </p:txBody>
      </p:sp>
      <p:sp>
        <p:nvSpPr>
          <p:cNvPr id="32" name="Shape 30"/>
          <p:cNvSpPr/>
          <p:nvPr/>
        </p:nvSpPr>
        <p:spPr>
          <a:xfrm>
            <a:off x="8122920" y="3337560"/>
            <a:ext cx="3535680" cy="1417320"/>
          </a:xfrm>
          <a:prstGeom prst="roundRect">
            <a:avLst>
              <a:gd name="adj" fmla="val 5161"/>
            </a:avLst>
          </a:prstGeom>
          <a:solidFill>
            <a:srgbClr val="EEF1F4"/>
          </a:solidFill>
          <a:ln/>
        </p:spPr>
      </p:sp>
      <p:sp>
        <p:nvSpPr>
          <p:cNvPr id="33" name="Shape 31"/>
          <p:cNvSpPr/>
          <p:nvPr/>
        </p:nvSpPr>
        <p:spPr>
          <a:xfrm>
            <a:off x="8287512" y="3502152"/>
            <a:ext cx="329184" cy="329184"/>
          </a:xfrm>
          <a:prstGeom prst="ellipse">
            <a:avLst/>
          </a:prstGeom>
          <a:solidFill>
            <a:srgbClr val="02C39A"/>
          </a:solidFill>
          <a:ln/>
        </p:spPr>
      </p:sp>
      <p:sp>
        <p:nvSpPr>
          <p:cNvPr id="34" name="Text 32"/>
          <p:cNvSpPr/>
          <p:nvPr/>
        </p:nvSpPr>
        <p:spPr>
          <a:xfrm>
            <a:off x="8287512" y="3502152"/>
            <a:ext cx="329184" cy="329184"/>
          </a:xfrm>
          <a:prstGeom prst="rect">
            <a:avLst/>
          </a:prstGeom>
          <a:noFill/>
          <a:ln/>
        </p:spPr>
        <p:txBody>
          <a:bodyPr wrap="square" rtlCol="0" anchor="ctr"/>
          <a:lstStyle/>
          <a:p>
            <a:pPr algn="ctr" indent="0" marL="0">
              <a:buNone/>
            </a:pPr>
            <a:r>
              <a:rPr lang="en-US" sz="1200" b="1" dirty="0">
                <a:solidFill>
                  <a:srgbClr val="141B4D"/>
                </a:solidFill>
                <a:latin typeface="Calibri" pitchFamily="34" charset="0"/>
                <a:ea typeface="Calibri" pitchFamily="34" charset="-122"/>
                <a:cs typeface="Calibri" pitchFamily="34" charset="-120"/>
              </a:rPr>
              <a:t>6</a:t>
            </a:r>
            <a:endParaRPr lang="en-US" sz="1200" dirty="0"/>
          </a:p>
        </p:txBody>
      </p:sp>
      <p:sp>
        <p:nvSpPr>
          <p:cNvPr id="35" name="Text 33"/>
          <p:cNvSpPr/>
          <p:nvPr/>
        </p:nvSpPr>
        <p:spPr>
          <a:xfrm>
            <a:off x="8287512" y="3904488"/>
            <a:ext cx="3206496" cy="320040"/>
          </a:xfrm>
          <a:prstGeom prst="rect">
            <a:avLst/>
          </a:prstGeom>
          <a:noFill/>
          <a:ln/>
        </p:spPr>
        <p:txBody>
          <a:bodyPr wrap="square" rtlCol="0" anchor="ctr"/>
          <a:lstStyle/>
          <a:p>
            <a:pPr indent="0" marL="0">
              <a:buNone/>
            </a:pPr>
            <a:r>
              <a:rPr lang="en-US" sz="1200" b="1" dirty="0">
                <a:solidFill>
                  <a:srgbClr val="232B3A"/>
                </a:solidFill>
                <a:latin typeface="Cambria" pitchFamily="34" charset="0"/>
                <a:ea typeface="Cambria" pitchFamily="34" charset="-122"/>
                <a:cs typeface="Cambria" pitchFamily="34" charset="-120"/>
              </a:rPr>
              <a:t>Avoided outage cost</a:t>
            </a:r>
            <a:endParaRPr lang="en-US" sz="1200" dirty="0"/>
          </a:p>
        </p:txBody>
      </p:sp>
      <p:sp>
        <p:nvSpPr>
          <p:cNvPr id="36" name="Text 34"/>
          <p:cNvSpPr/>
          <p:nvPr/>
        </p:nvSpPr>
        <p:spPr>
          <a:xfrm>
            <a:off x="8287512" y="4233672"/>
            <a:ext cx="3206496" cy="411480"/>
          </a:xfrm>
          <a:prstGeom prst="rect">
            <a:avLst/>
          </a:prstGeom>
          <a:noFill/>
          <a:ln/>
        </p:spPr>
        <p:txBody>
          <a:bodyPr wrap="square" rtlCol="0" anchor="ctr"/>
          <a:lstStyle/>
          <a:p>
            <a:pPr indent="0" marL="0">
              <a:lnSpc>
                <a:spcPct val="112000"/>
              </a:lnSpc>
              <a:buNone/>
            </a:pPr>
            <a:r>
              <a:rPr lang="en-US" sz="900" dirty="0">
                <a:solidFill>
                  <a:srgbClr val="6B7684"/>
                </a:solidFill>
                <a:latin typeface="Calibri" pitchFamily="34" charset="0"/>
                <a:ea typeface="Calibri" pitchFamily="34" charset="-122"/>
                <a:cs typeface="Calibri" pitchFamily="34" charset="-120"/>
              </a:rPr>
              <a:t>Predictive detection catches issues before customer impact</a:t>
            </a:r>
            <a:endParaRPr lang="en-US" sz="900" dirty="0"/>
          </a:p>
        </p:txBody>
      </p:sp>
      <p:sp>
        <p:nvSpPr>
          <p:cNvPr id="37" name="Shape 35"/>
          <p:cNvSpPr/>
          <p:nvPr/>
        </p:nvSpPr>
        <p:spPr>
          <a:xfrm>
            <a:off x="502920" y="4846320"/>
            <a:ext cx="11155680" cy="1417320"/>
          </a:xfrm>
          <a:prstGeom prst="roundRect">
            <a:avLst>
              <a:gd name="adj" fmla="val 5161"/>
            </a:avLst>
          </a:prstGeom>
          <a:solidFill>
            <a:srgbClr val="1E2761"/>
          </a:solidFill>
          <a:ln/>
        </p:spPr>
      </p:sp>
      <p:sp>
        <p:nvSpPr>
          <p:cNvPr id="38" name="Text 36"/>
          <p:cNvSpPr/>
          <p:nvPr/>
        </p:nvSpPr>
        <p:spPr>
          <a:xfrm>
            <a:off x="502920" y="4956048"/>
            <a:ext cx="3718560" cy="502920"/>
          </a:xfrm>
          <a:prstGeom prst="rect">
            <a:avLst/>
          </a:prstGeom>
          <a:noFill/>
          <a:ln/>
        </p:spPr>
        <p:txBody>
          <a:bodyPr wrap="square" rtlCol="0" anchor="ctr"/>
          <a:lstStyle/>
          <a:p>
            <a:pPr algn="ctr" indent="0" marL="0">
              <a:buNone/>
            </a:pPr>
            <a:r>
              <a:rPr lang="en-US" sz="2400" b="1" dirty="0">
                <a:solidFill>
                  <a:srgbClr val="02C39A"/>
                </a:solidFill>
                <a:latin typeface="Cambria" pitchFamily="34" charset="0"/>
                <a:ea typeface="Cambria" pitchFamily="34" charset="-122"/>
                <a:cs typeface="Cambria" pitchFamily="34" charset="-120"/>
              </a:rPr>
              <a:t>52%</a:t>
            </a:r>
            <a:endParaRPr lang="en-US" sz="2400" dirty="0"/>
          </a:p>
        </p:txBody>
      </p:sp>
      <p:sp>
        <p:nvSpPr>
          <p:cNvPr id="39" name="Text 37"/>
          <p:cNvSpPr/>
          <p:nvPr/>
        </p:nvSpPr>
        <p:spPr>
          <a:xfrm>
            <a:off x="685800" y="5486400"/>
            <a:ext cx="3352800" cy="685800"/>
          </a:xfrm>
          <a:prstGeom prst="rect">
            <a:avLst/>
          </a:prstGeom>
          <a:noFill/>
          <a:ln/>
        </p:spPr>
        <p:txBody>
          <a:bodyPr wrap="square" rtlCol="0" anchor="ctr"/>
          <a:lstStyle/>
          <a:p>
            <a:pPr algn="ctr" indent="0" marL="0">
              <a:lnSpc>
                <a:spcPct val="110000"/>
              </a:lnSpc>
              <a:buNone/>
            </a:pPr>
            <a:r>
              <a:rPr lang="en-US" sz="950" dirty="0">
                <a:solidFill>
                  <a:srgbClr val="CADCFC"/>
                </a:solidFill>
                <a:latin typeface="Calibri" pitchFamily="34" charset="0"/>
                <a:ea typeface="Calibri" pitchFamily="34" charset="-122"/>
                <a:cs typeface="Calibri" pitchFamily="34" charset="-120"/>
              </a:rPr>
              <a:t>Projected 3-yr TCO reduction vs. ingestion-based pricing model (node-based overlay)</a:t>
            </a:r>
            <a:endParaRPr lang="en-US" sz="950" dirty="0"/>
          </a:p>
        </p:txBody>
      </p:sp>
      <p:sp>
        <p:nvSpPr>
          <p:cNvPr id="40" name="Text 38"/>
          <p:cNvSpPr/>
          <p:nvPr/>
        </p:nvSpPr>
        <p:spPr>
          <a:xfrm>
            <a:off x="4221480" y="4956048"/>
            <a:ext cx="3718560" cy="502920"/>
          </a:xfrm>
          <a:prstGeom prst="rect">
            <a:avLst/>
          </a:prstGeom>
          <a:noFill/>
          <a:ln/>
        </p:spPr>
        <p:txBody>
          <a:bodyPr wrap="square" rtlCol="0" anchor="ctr"/>
          <a:lstStyle/>
          <a:p>
            <a:pPr algn="ctr" indent="0" marL="0">
              <a:buNone/>
            </a:pPr>
            <a:r>
              <a:rPr lang="en-US" sz="2400" b="1" dirty="0">
                <a:solidFill>
                  <a:srgbClr val="02C39A"/>
                </a:solidFill>
                <a:latin typeface="Cambria" pitchFamily="34" charset="0"/>
                <a:ea typeface="Cambria" pitchFamily="34" charset="-122"/>
                <a:cs typeface="Cambria" pitchFamily="34" charset="-120"/>
              </a:rPr>
              <a:t>313%</a:t>
            </a:r>
            <a:endParaRPr lang="en-US" sz="2400" dirty="0"/>
          </a:p>
        </p:txBody>
      </p:sp>
      <p:sp>
        <p:nvSpPr>
          <p:cNvPr id="41" name="Text 39"/>
          <p:cNvSpPr/>
          <p:nvPr/>
        </p:nvSpPr>
        <p:spPr>
          <a:xfrm>
            <a:off x="4404360" y="5486400"/>
            <a:ext cx="3352800" cy="685800"/>
          </a:xfrm>
          <a:prstGeom prst="rect">
            <a:avLst/>
          </a:prstGeom>
          <a:noFill/>
          <a:ln/>
        </p:spPr>
        <p:txBody>
          <a:bodyPr wrap="square" rtlCol="0" anchor="ctr"/>
          <a:lstStyle/>
          <a:p>
            <a:pPr algn="ctr" indent="0" marL="0">
              <a:lnSpc>
                <a:spcPct val="110000"/>
              </a:lnSpc>
              <a:buNone/>
            </a:pPr>
            <a:r>
              <a:rPr lang="en-US" sz="950" dirty="0">
                <a:solidFill>
                  <a:srgbClr val="CADCFC"/>
                </a:solidFill>
                <a:latin typeface="Calibri" pitchFamily="34" charset="0"/>
                <a:ea typeface="Calibri" pitchFamily="34" charset="-122"/>
                <a:cs typeface="Calibri" pitchFamily="34" charset="-120"/>
              </a:rPr>
              <a:t>3-yr ROI cited by Forrester TEI for a comparable AIOps overlay deployment</a:t>
            </a:r>
            <a:endParaRPr lang="en-US" sz="950" dirty="0"/>
          </a:p>
        </p:txBody>
      </p:sp>
      <p:sp>
        <p:nvSpPr>
          <p:cNvPr id="42" name="Shape 40"/>
          <p:cNvSpPr/>
          <p:nvPr/>
        </p:nvSpPr>
        <p:spPr>
          <a:xfrm>
            <a:off x="4221480" y="4956048"/>
            <a:ext cx="0" cy="1188720"/>
          </a:xfrm>
          <a:prstGeom prst="line">
            <a:avLst/>
          </a:prstGeom>
          <a:noFill/>
          <a:ln w="12700">
            <a:solidFill>
              <a:srgbClr val="141B4D"/>
            </a:solidFill>
            <a:prstDash val="solid"/>
          </a:ln>
        </p:spPr>
      </p:sp>
      <p:sp>
        <p:nvSpPr>
          <p:cNvPr id="43" name="Text 41"/>
          <p:cNvSpPr/>
          <p:nvPr/>
        </p:nvSpPr>
        <p:spPr>
          <a:xfrm>
            <a:off x="7940040" y="4956048"/>
            <a:ext cx="3718560" cy="502920"/>
          </a:xfrm>
          <a:prstGeom prst="rect">
            <a:avLst/>
          </a:prstGeom>
          <a:noFill/>
          <a:ln/>
        </p:spPr>
        <p:txBody>
          <a:bodyPr wrap="square" rtlCol="0" anchor="ctr"/>
          <a:lstStyle/>
          <a:p>
            <a:pPr algn="ctr" indent="0" marL="0">
              <a:buNone/>
            </a:pPr>
            <a:r>
              <a:rPr lang="en-US" sz="2400" b="1" dirty="0">
                <a:solidFill>
                  <a:srgbClr val="02C39A"/>
                </a:solidFill>
                <a:latin typeface="Cambria" pitchFamily="34" charset="0"/>
                <a:ea typeface="Cambria" pitchFamily="34" charset="-122"/>
                <a:cs typeface="Cambria" pitchFamily="34" charset="-120"/>
              </a:rPr>
              <a:t>3–6 mo</a:t>
            </a:r>
            <a:endParaRPr lang="en-US" sz="2400" dirty="0"/>
          </a:p>
        </p:txBody>
      </p:sp>
      <p:sp>
        <p:nvSpPr>
          <p:cNvPr id="44" name="Text 42"/>
          <p:cNvSpPr/>
          <p:nvPr/>
        </p:nvSpPr>
        <p:spPr>
          <a:xfrm>
            <a:off x="8122920" y="5486400"/>
            <a:ext cx="3352800" cy="685800"/>
          </a:xfrm>
          <a:prstGeom prst="rect">
            <a:avLst/>
          </a:prstGeom>
          <a:noFill/>
          <a:ln/>
        </p:spPr>
        <p:txBody>
          <a:bodyPr wrap="square" rtlCol="0" anchor="ctr"/>
          <a:lstStyle/>
          <a:p>
            <a:pPr algn="ctr" indent="0" marL="0">
              <a:lnSpc>
                <a:spcPct val="110000"/>
              </a:lnSpc>
              <a:buNone/>
            </a:pPr>
            <a:r>
              <a:rPr lang="en-US" sz="950" dirty="0">
                <a:solidFill>
                  <a:srgbClr val="CADCFC"/>
                </a:solidFill>
                <a:latin typeface="Calibri" pitchFamily="34" charset="0"/>
                <a:ea typeface="Calibri" pitchFamily="34" charset="-122"/>
                <a:cs typeface="Calibri" pitchFamily="34" charset="-120"/>
              </a:rPr>
              <a:t>ROI horizon for Service Desk / ITSM Copilot workstream — fastest payback</a:t>
            </a:r>
            <a:endParaRPr lang="en-US" sz="950" dirty="0"/>
          </a:p>
        </p:txBody>
      </p:sp>
      <p:sp>
        <p:nvSpPr>
          <p:cNvPr id="45" name="Shape 43"/>
          <p:cNvSpPr/>
          <p:nvPr/>
        </p:nvSpPr>
        <p:spPr>
          <a:xfrm>
            <a:off x="7940040" y="4956048"/>
            <a:ext cx="0" cy="1188720"/>
          </a:xfrm>
          <a:prstGeom prst="line">
            <a:avLst/>
          </a:prstGeom>
          <a:noFill/>
          <a:ln w="12700">
            <a:solidFill>
              <a:srgbClr val="141B4D"/>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BUSINESS CASE</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Where AI Reduces Cost — By Function</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6 · BUSINESS CASE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29 / 33</a:t>
            </a:r>
            <a:endParaRPr lang="en-US" sz="850" dirty="0"/>
          </a:p>
        </p:txBody>
      </p:sp>
      <p:sp>
        <p:nvSpPr>
          <p:cNvPr id="7" name="Shape 5"/>
          <p:cNvSpPr/>
          <p:nvPr/>
        </p:nvSpPr>
        <p:spPr>
          <a:xfrm>
            <a:off x="502920" y="1737360"/>
            <a:ext cx="2743200" cy="384048"/>
          </a:xfrm>
          <a:prstGeom prst="rect">
            <a:avLst/>
          </a:prstGeom>
          <a:solidFill>
            <a:srgbClr val="1E2761"/>
          </a:solidFill>
          <a:ln w="6350">
            <a:solidFill>
              <a:srgbClr val="FFFFFF"/>
            </a:solidFill>
            <a:prstDash val="solid"/>
          </a:ln>
        </p:spPr>
      </p:sp>
      <p:sp>
        <p:nvSpPr>
          <p:cNvPr id="8" name="Text 6"/>
          <p:cNvSpPr/>
          <p:nvPr/>
        </p:nvSpPr>
        <p:spPr>
          <a:xfrm>
            <a:off x="557784" y="1737360"/>
            <a:ext cx="2633472" cy="384048"/>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Workstream</a:t>
            </a:r>
            <a:endParaRPr lang="en-US" sz="1000" dirty="0"/>
          </a:p>
        </p:txBody>
      </p:sp>
      <p:sp>
        <p:nvSpPr>
          <p:cNvPr id="9" name="Shape 7"/>
          <p:cNvSpPr/>
          <p:nvPr/>
        </p:nvSpPr>
        <p:spPr>
          <a:xfrm>
            <a:off x="3246120" y="1737360"/>
            <a:ext cx="2286000" cy="384048"/>
          </a:xfrm>
          <a:prstGeom prst="rect">
            <a:avLst/>
          </a:prstGeom>
          <a:solidFill>
            <a:srgbClr val="1E2761"/>
          </a:solidFill>
          <a:ln w="6350">
            <a:solidFill>
              <a:srgbClr val="FFFFFF"/>
            </a:solidFill>
            <a:prstDash val="solid"/>
          </a:ln>
        </p:spPr>
      </p:sp>
      <p:sp>
        <p:nvSpPr>
          <p:cNvPr id="10" name="Text 8"/>
          <p:cNvSpPr/>
          <p:nvPr/>
        </p:nvSpPr>
        <p:spPr>
          <a:xfrm>
            <a:off x="3300984" y="1737360"/>
            <a:ext cx="2176272" cy="384048"/>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AI Solution Type</a:t>
            </a:r>
            <a:endParaRPr lang="en-US" sz="1000" dirty="0"/>
          </a:p>
        </p:txBody>
      </p:sp>
      <p:sp>
        <p:nvSpPr>
          <p:cNvPr id="11" name="Shape 9"/>
          <p:cNvSpPr/>
          <p:nvPr/>
        </p:nvSpPr>
        <p:spPr>
          <a:xfrm>
            <a:off x="5532120" y="1737360"/>
            <a:ext cx="3108960" cy="384048"/>
          </a:xfrm>
          <a:prstGeom prst="rect">
            <a:avLst/>
          </a:prstGeom>
          <a:solidFill>
            <a:srgbClr val="1E2761"/>
          </a:solidFill>
          <a:ln w="6350">
            <a:solidFill>
              <a:srgbClr val="FFFFFF"/>
            </a:solidFill>
            <a:prstDash val="solid"/>
          </a:ln>
        </p:spPr>
      </p:sp>
      <p:sp>
        <p:nvSpPr>
          <p:cNvPr id="12" name="Text 10"/>
          <p:cNvSpPr/>
          <p:nvPr/>
        </p:nvSpPr>
        <p:spPr>
          <a:xfrm>
            <a:off x="5586984" y="1737360"/>
            <a:ext cx="2999232" cy="384048"/>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Savings Driver</a:t>
            </a:r>
            <a:endParaRPr lang="en-US" sz="1000" dirty="0"/>
          </a:p>
        </p:txBody>
      </p:sp>
      <p:sp>
        <p:nvSpPr>
          <p:cNvPr id="13" name="Shape 11"/>
          <p:cNvSpPr/>
          <p:nvPr/>
        </p:nvSpPr>
        <p:spPr>
          <a:xfrm>
            <a:off x="8641080" y="1737360"/>
            <a:ext cx="1463040" cy="384048"/>
          </a:xfrm>
          <a:prstGeom prst="rect">
            <a:avLst/>
          </a:prstGeom>
          <a:solidFill>
            <a:srgbClr val="1E2761"/>
          </a:solidFill>
          <a:ln w="6350">
            <a:solidFill>
              <a:srgbClr val="FFFFFF"/>
            </a:solidFill>
            <a:prstDash val="solid"/>
          </a:ln>
        </p:spPr>
      </p:sp>
      <p:sp>
        <p:nvSpPr>
          <p:cNvPr id="14" name="Text 12"/>
          <p:cNvSpPr/>
          <p:nvPr/>
        </p:nvSpPr>
        <p:spPr>
          <a:xfrm>
            <a:off x="8695944" y="1737360"/>
            <a:ext cx="1353312" cy="384048"/>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Investment</a:t>
            </a:r>
            <a:endParaRPr lang="en-US" sz="1000" dirty="0"/>
          </a:p>
        </p:txBody>
      </p:sp>
      <p:sp>
        <p:nvSpPr>
          <p:cNvPr id="15" name="Shape 13"/>
          <p:cNvSpPr/>
          <p:nvPr/>
        </p:nvSpPr>
        <p:spPr>
          <a:xfrm>
            <a:off x="10104120" y="1737360"/>
            <a:ext cx="1554480" cy="384048"/>
          </a:xfrm>
          <a:prstGeom prst="rect">
            <a:avLst/>
          </a:prstGeom>
          <a:solidFill>
            <a:srgbClr val="1E2761"/>
          </a:solidFill>
          <a:ln w="6350">
            <a:solidFill>
              <a:srgbClr val="FFFFFF"/>
            </a:solidFill>
            <a:prstDash val="solid"/>
          </a:ln>
        </p:spPr>
      </p:sp>
      <p:sp>
        <p:nvSpPr>
          <p:cNvPr id="16" name="Text 14"/>
          <p:cNvSpPr/>
          <p:nvPr/>
        </p:nvSpPr>
        <p:spPr>
          <a:xfrm>
            <a:off x="10158984" y="1737360"/>
            <a:ext cx="1444752" cy="384048"/>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ROI Horizon</a:t>
            </a:r>
            <a:endParaRPr lang="en-US" sz="1000" dirty="0"/>
          </a:p>
        </p:txBody>
      </p:sp>
      <p:sp>
        <p:nvSpPr>
          <p:cNvPr id="17" name="Shape 15"/>
          <p:cNvSpPr/>
          <p:nvPr/>
        </p:nvSpPr>
        <p:spPr>
          <a:xfrm>
            <a:off x="502920" y="2121408"/>
            <a:ext cx="2743200" cy="530352"/>
          </a:xfrm>
          <a:prstGeom prst="rect">
            <a:avLst/>
          </a:prstGeom>
          <a:solidFill>
            <a:srgbClr val="FFFFFF"/>
          </a:solidFill>
          <a:ln w="6350">
            <a:solidFill>
              <a:srgbClr val="DDE2E8"/>
            </a:solidFill>
            <a:prstDash val="solid"/>
          </a:ln>
        </p:spPr>
      </p:sp>
      <p:sp>
        <p:nvSpPr>
          <p:cNvPr id="18" name="Text 16"/>
          <p:cNvSpPr/>
          <p:nvPr/>
        </p:nvSpPr>
        <p:spPr>
          <a:xfrm>
            <a:off x="566928" y="2121408"/>
            <a:ext cx="2615184" cy="530352"/>
          </a:xfrm>
          <a:prstGeom prst="rect">
            <a:avLst/>
          </a:prstGeom>
          <a:noFill/>
          <a:ln/>
        </p:spPr>
        <p:txBody>
          <a:bodyPr wrap="square" rtlCol="0" anchor="ctr"/>
          <a:lstStyle/>
          <a:p>
            <a:pPr indent="0" marL="0">
              <a:lnSpc>
                <a:spcPct val="100000"/>
              </a:lnSpc>
              <a:buNone/>
            </a:pPr>
            <a:r>
              <a:rPr lang="en-US" sz="950" b="1" dirty="0">
                <a:solidFill>
                  <a:srgbClr val="1E2761"/>
                </a:solidFill>
                <a:latin typeface="Calibri" pitchFamily="34" charset="0"/>
                <a:ea typeface="Calibri" pitchFamily="34" charset="-122"/>
                <a:cs typeface="Calibri" pitchFamily="34" charset="-120"/>
              </a:rPr>
              <a:t>Service Desk (L1)</a:t>
            </a:r>
            <a:endParaRPr lang="en-US" sz="950" dirty="0"/>
          </a:p>
        </p:txBody>
      </p:sp>
      <p:sp>
        <p:nvSpPr>
          <p:cNvPr id="19" name="Shape 17"/>
          <p:cNvSpPr/>
          <p:nvPr/>
        </p:nvSpPr>
        <p:spPr>
          <a:xfrm>
            <a:off x="3246120" y="2121408"/>
            <a:ext cx="2286000" cy="530352"/>
          </a:xfrm>
          <a:prstGeom prst="rect">
            <a:avLst/>
          </a:prstGeom>
          <a:solidFill>
            <a:srgbClr val="FFFFFF"/>
          </a:solidFill>
          <a:ln w="6350">
            <a:solidFill>
              <a:srgbClr val="DDE2E8"/>
            </a:solidFill>
            <a:prstDash val="solid"/>
          </a:ln>
        </p:spPr>
      </p:sp>
      <p:sp>
        <p:nvSpPr>
          <p:cNvPr id="20" name="Text 18"/>
          <p:cNvSpPr/>
          <p:nvPr/>
        </p:nvSpPr>
        <p:spPr>
          <a:xfrm>
            <a:off x="3310128" y="2121408"/>
            <a:ext cx="215798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ITSM Copilot</a:t>
            </a:r>
            <a:endParaRPr lang="en-US" sz="950" dirty="0"/>
          </a:p>
        </p:txBody>
      </p:sp>
      <p:sp>
        <p:nvSpPr>
          <p:cNvPr id="21" name="Shape 19"/>
          <p:cNvSpPr/>
          <p:nvPr/>
        </p:nvSpPr>
        <p:spPr>
          <a:xfrm>
            <a:off x="5532120" y="2121408"/>
            <a:ext cx="3108960" cy="530352"/>
          </a:xfrm>
          <a:prstGeom prst="rect">
            <a:avLst/>
          </a:prstGeom>
          <a:solidFill>
            <a:srgbClr val="FFFFFF"/>
          </a:solidFill>
          <a:ln w="6350">
            <a:solidFill>
              <a:srgbClr val="DDE2E8"/>
            </a:solidFill>
            <a:prstDash val="solid"/>
          </a:ln>
        </p:spPr>
      </p:sp>
      <p:sp>
        <p:nvSpPr>
          <p:cNvPr id="22" name="Text 20"/>
          <p:cNvSpPr/>
          <p:nvPr/>
        </p:nvSpPr>
        <p:spPr>
          <a:xfrm>
            <a:off x="5596128" y="2121408"/>
            <a:ext cx="298094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Reduced L1 effort, faster MTTR</a:t>
            </a:r>
            <a:endParaRPr lang="en-US" sz="950" dirty="0"/>
          </a:p>
        </p:txBody>
      </p:sp>
      <p:sp>
        <p:nvSpPr>
          <p:cNvPr id="23" name="Shape 21"/>
          <p:cNvSpPr/>
          <p:nvPr/>
        </p:nvSpPr>
        <p:spPr>
          <a:xfrm>
            <a:off x="8641080" y="2121408"/>
            <a:ext cx="1463040" cy="530352"/>
          </a:xfrm>
          <a:prstGeom prst="rect">
            <a:avLst/>
          </a:prstGeom>
          <a:solidFill>
            <a:srgbClr val="FFFFFF"/>
          </a:solidFill>
          <a:ln w="6350">
            <a:solidFill>
              <a:srgbClr val="DDE2E8"/>
            </a:solidFill>
            <a:prstDash val="solid"/>
          </a:ln>
        </p:spPr>
      </p:sp>
      <p:sp>
        <p:nvSpPr>
          <p:cNvPr id="24" name="Text 22"/>
          <p:cNvSpPr/>
          <p:nvPr/>
        </p:nvSpPr>
        <p:spPr>
          <a:xfrm>
            <a:off x="8705088" y="2121408"/>
            <a:ext cx="133502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Low</a:t>
            </a:r>
            <a:endParaRPr lang="en-US" sz="950" dirty="0"/>
          </a:p>
        </p:txBody>
      </p:sp>
      <p:sp>
        <p:nvSpPr>
          <p:cNvPr id="25" name="Shape 23"/>
          <p:cNvSpPr/>
          <p:nvPr/>
        </p:nvSpPr>
        <p:spPr>
          <a:xfrm>
            <a:off x="10104120" y="2121408"/>
            <a:ext cx="1554480" cy="530352"/>
          </a:xfrm>
          <a:prstGeom prst="rect">
            <a:avLst/>
          </a:prstGeom>
          <a:solidFill>
            <a:srgbClr val="FFFFFF"/>
          </a:solidFill>
          <a:ln w="6350">
            <a:solidFill>
              <a:srgbClr val="DDE2E8"/>
            </a:solidFill>
            <a:prstDash val="solid"/>
          </a:ln>
        </p:spPr>
      </p:sp>
      <p:sp>
        <p:nvSpPr>
          <p:cNvPr id="26" name="Text 24"/>
          <p:cNvSpPr/>
          <p:nvPr/>
        </p:nvSpPr>
        <p:spPr>
          <a:xfrm>
            <a:off x="10168128" y="2121408"/>
            <a:ext cx="142646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3–6 months</a:t>
            </a:r>
            <a:endParaRPr lang="en-US" sz="950" dirty="0"/>
          </a:p>
        </p:txBody>
      </p:sp>
      <p:sp>
        <p:nvSpPr>
          <p:cNvPr id="27" name="Shape 25"/>
          <p:cNvSpPr/>
          <p:nvPr/>
        </p:nvSpPr>
        <p:spPr>
          <a:xfrm>
            <a:off x="502920" y="2651760"/>
            <a:ext cx="2743200" cy="530352"/>
          </a:xfrm>
          <a:prstGeom prst="rect">
            <a:avLst/>
          </a:prstGeom>
          <a:solidFill>
            <a:srgbClr val="EEF1F4"/>
          </a:solidFill>
          <a:ln w="6350">
            <a:solidFill>
              <a:srgbClr val="DDE2E8"/>
            </a:solidFill>
            <a:prstDash val="solid"/>
          </a:ln>
        </p:spPr>
      </p:sp>
      <p:sp>
        <p:nvSpPr>
          <p:cNvPr id="28" name="Text 26"/>
          <p:cNvSpPr/>
          <p:nvPr/>
        </p:nvSpPr>
        <p:spPr>
          <a:xfrm>
            <a:off x="566928" y="2651760"/>
            <a:ext cx="2615184" cy="530352"/>
          </a:xfrm>
          <a:prstGeom prst="rect">
            <a:avLst/>
          </a:prstGeom>
          <a:noFill/>
          <a:ln/>
        </p:spPr>
        <p:txBody>
          <a:bodyPr wrap="square" rtlCol="0" anchor="ctr"/>
          <a:lstStyle/>
          <a:p>
            <a:pPr indent="0" marL="0">
              <a:lnSpc>
                <a:spcPct val="100000"/>
              </a:lnSpc>
              <a:buNone/>
            </a:pPr>
            <a:r>
              <a:rPr lang="en-US" sz="950" b="1" dirty="0">
                <a:solidFill>
                  <a:srgbClr val="1E2761"/>
                </a:solidFill>
                <a:latin typeface="Calibri" pitchFamily="34" charset="0"/>
                <a:ea typeface="Calibri" pitchFamily="34" charset="-122"/>
                <a:cs typeface="Calibri" pitchFamily="34" charset="-120"/>
              </a:rPr>
              <a:t>Network &amp; Infrastructure</a:t>
            </a:r>
            <a:endParaRPr lang="en-US" sz="950" dirty="0"/>
          </a:p>
        </p:txBody>
      </p:sp>
      <p:sp>
        <p:nvSpPr>
          <p:cNvPr id="29" name="Shape 27"/>
          <p:cNvSpPr/>
          <p:nvPr/>
        </p:nvSpPr>
        <p:spPr>
          <a:xfrm>
            <a:off x="3246120" y="2651760"/>
            <a:ext cx="2286000" cy="530352"/>
          </a:xfrm>
          <a:prstGeom prst="rect">
            <a:avLst/>
          </a:prstGeom>
          <a:solidFill>
            <a:srgbClr val="EEF1F4"/>
          </a:solidFill>
          <a:ln w="6350">
            <a:solidFill>
              <a:srgbClr val="DDE2E8"/>
            </a:solidFill>
            <a:prstDash val="solid"/>
          </a:ln>
        </p:spPr>
      </p:sp>
      <p:sp>
        <p:nvSpPr>
          <p:cNvPr id="30" name="Text 28"/>
          <p:cNvSpPr/>
          <p:nvPr/>
        </p:nvSpPr>
        <p:spPr>
          <a:xfrm>
            <a:off x="3310128" y="2651760"/>
            <a:ext cx="215798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AIOps Platform</a:t>
            </a:r>
            <a:endParaRPr lang="en-US" sz="950" dirty="0"/>
          </a:p>
        </p:txBody>
      </p:sp>
      <p:sp>
        <p:nvSpPr>
          <p:cNvPr id="31" name="Shape 29"/>
          <p:cNvSpPr/>
          <p:nvPr/>
        </p:nvSpPr>
        <p:spPr>
          <a:xfrm>
            <a:off x="5532120" y="2651760"/>
            <a:ext cx="3108960" cy="530352"/>
          </a:xfrm>
          <a:prstGeom prst="rect">
            <a:avLst/>
          </a:prstGeom>
          <a:solidFill>
            <a:srgbClr val="EEF1F4"/>
          </a:solidFill>
          <a:ln w="6350">
            <a:solidFill>
              <a:srgbClr val="DDE2E8"/>
            </a:solidFill>
            <a:prstDash val="solid"/>
          </a:ln>
        </p:spPr>
      </p:sp>
      <p:sp>
        <p:nvSpPr>
          <p:cNvPr id="32" name="Text 30"/>
          <p:cNvSpPr/>
          <p:nvPr/>
        </p:nvSpPr>
        <p:spPr>
          <a:xfrm>
            <a:off x="5596128" y="2651760"/>
            <a:ext cx="298094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Lower alert noise, fewer escalations</a:t>
            </a:r>
            <a:endParaRPr lang="en-US" sz="950" dirty="0"/>
          </a:p>
        </p:txBody>
      </p:sp>
      <p:sp>
        <p:nvSpPr>
          <p:cNvPr id="33" name="Shape 31"/>
          <p:cNvSpPr/>
          <p:nvPr/>
        </p:nvSpPr>
        <p:spPr>
          <a:xfrm>
            <a:off x="8641080" y="2651760"/>
            <a:ext cx="1463040" cy="530352"/>
          </a:xfrm>
          <a:prstGeom prst="rect">
            <a:avLst/>
          </a:prstGeom>
          <a:solidFill>
            <a:srgbClr val="EEF1F4"/>
          </a:solidFill>
          <a:ln w="6350">
            <a:solidFill>
              <a:srgbClr val="DDE2E8"/>
            </a:solidFill>
            <a:prstDash val="solid"/>
          </a:ln>
        </p:spPr>
      </p:sp>
      <p:sp>
        <p:nvSpPr>
          <p:cNvPr id="34" name="Text 32"/>
          <p:cNvSpPr/>
          <p:nvPr/>
        </p:nvSpPr>
        <p:spPr>
          <a:xfrm>
            <a:off x="8705088" y="2651760"/>
            <a:ext cx="133502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Medium</a:t>
            </a:r>
            <a:endParaRPr lang="en-US" sz="950" dirty="0"/>
          </a:p>
        </p:txBody>
      </p:sp>
      <p:sp>
        <p:nvSpPr>
          <p:cNvPr id="35" name="Shape 33"/>
          <p:cNvSpPr/>
          <p:nvPr/>
        </p:nvSpPr>
        <p:spPr>
          <a:xfrm>
            <a:off x="10104120" y="2651760"/>
            <a:ext cx="1554480" cy="530352"/>
          </a:xfrm>
          <a:prstGeom prst="rect">
            <a:avLst/>
          </a:prstGeom>
          <a:solidFill>
            <a:srgbClr val="EEF1F4"/>
          </a:solidFill>
          <a:ln w="6350">
            <a:solidFill>
              <a:srgbClr val="DDE2E8"/>
            </a:solidFill>
            <a:prstDash val="solid"/>
          </a:ln>
        </p:spPr>
      </p:sp>
      <p:sp>
        <p:nvSpPr>
          <p:cNvPr id="36" name="Text 34"/>
          <p:cNvSpPr/>
          <p:nvPr/>
        </p:nvSpPr>
        <p:spPr>
          <a:xfrm>
            <a:off x="10168128" y="2651760"/>
            <a:ext cx="142646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6–12 months</a:t>
            </a:r>
            <a:endParaRPr lang="en-US" sz="950" dirty="0"/>
          </a:p>
        </p:txBody>
      </p:sp>
      <p:sp>
        <p:nvSpPr>
          <p:cNvPr id="37" name="Shape 35"/>
          <p:cNvSpPr/>
          <p:nvPr/>
        </p:nvSpPr>
        <p:spPr>
          <a:xfrm>
            <a:off x="502920" y="3182112"/>
            <a:ext cx="2743200" cy="530352"/>
          </a:xfrm>
          <a:prstGeom prst="rect">
            <a:avLst/>
          </a:prstGeom>
          <a:solidFill>
            <a:srgbClr val="FFFFFF"/>
          </a:solidFill>
          <a:ln w="6350">
            <a:solidFill>
              <a:srgbClr val="DDE2E8"/>
            </a:solidFill>
            <a:prstDash val="solid"/>
          </a:ln>
        </p:spPr>
      </p:sp>
      <p:sp>
        <p:nvSpPr>
          <p:cNvPr id="38" name="Text 36"/>
          <p:cNvSpPr/>
          <p:nvPr/>
        </p:nvSpPr>
        <p:spPr>
          <a:xfrm>
            <a:off x="566928" y="3182112"/>
            <a:ext cx="2615184" cy="530352"/>
          </a:xfrm>
          <a:prstGeom prst="rect">
            <a:avLst/>
          </a:prstGeom>
          <a:noFill/>
          <a:ln/>
        </p:spPr>
        <p:txBody>
          <a:bodyPr wrap="square" rtlCol="0" anchor="ctr"/>
          <a:lstStyle/>
          <a:p>
            <a:pPr indent="0" marL="0">
              <a:lnSpc>
                <a:spcPct val="100000"/>
              </a:lnSpc>
              <a:buNone/>
            </a:pPr>
            <a:r>
              <a:rPr lang="en-US" sz="950" b="1" dirty="0">
                <a:solidFill>
                  <a:srgbClr val="1E2761"/>
                </a:solidFill>
                <a:latin typeface="Calibri" pitchFamily="34" charset="0"/>
                <a:ea typeface="Calibri" pitchFamily="34" charset="-122"/>
                <a:cs typeface="Calibri" pitchFamily="34" charset="-120"/>
              </a:rPr>
              <a:t>Vulnerability Management</a:t>
            </a:r>
            <a:endParaRPr lang="en-US" sz="950" dirty="0"/>
          </a:p>
        </p:txBody>
      </p:sp>
      <p:sp>
        <p:nvSpPr>
          <p:cNvPr id="39" name="Shape 37"/>
          <p:cNvSpPr/>
          <p:nvPr/>
        </p:nvSpPr>
        <p:spPr>
          <a:xfrm>
            <a:off x="3246120" y="3182112"/>
            <a:ext cx="2286000" cy="530352"/>
          </a:xfrm>
          <a:prstGeom prst="rect">
            <a:avLst/>
          </a:prstGeom>
          <a:solidFill>
            <a:srgbClr val="FFFFFF"/>
          </a:solidFill>
          <a:ln w="6350">
            <a:solidFill>
              <a:srgbClr val="DDE2E8"/>
            </a:solidFill>
            <a:prstDash val="solid"/>
          </a:ln>
        </p:spPr>
      </p:sp>
      <p:sp>
        <p:nvSpPr>
          <p:cNvPr id="40" name="Text 38"/>
          <p:cNvSpPr/>
          <p:nvPr/>
        </p:nvSpPr>
        <p:spPr>
          <a:xfrm>
            <a:off x="3310128" y="3182112"/>
            <a:ext cx="215798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Exposure AI</a:t>
            </a:r>
            <a:endParaRPr lang="en-US" sz="950" dirty="0"/>
          </a:p>
        </p:txBody>
      </p:sp>
      <p:sp>
        <p:nvSpPr>
          <p:cNvPr id="41" name="Shape 39"/>
          <p:cNvSpPr/>
          <p:nvPr/>
        </p:nvSpPr>
        <p:spPr>
          <a:xfrm>
            <a:off x="5532120" y="3182112"/>
            <a:ext cx="3108960" cy="530352"/>
          </a:xfrm>
          <a:prstGeom prst="rect">
            <a:avLst/>
          </a:prstGeom>
          <a:solidFill>
            <a:srgbClr val="FFFFFF"/>
          </a:solidFill>
          <a:ln w="6350">
            <a:solidFill>
              <a:srgbClr val="DDE2E8"/>
            </a:solidFill>
            <a:prstDash val="solid"/>
          </a:ln>
        </p:spPr>
      </p:sp>
      <p:sp>
        <p:nvSpPr>
          <p:cNvPr id="42" name="Text 40"/>
          <p:cNvSpPr/>
          <p:nvPr/>
        </p:nvSpPr>
        <p:spPr>
          <a:xfrm>
            <a:off x="5596128" y="3182112"/>
            <a:ext cx="298094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Optimized patching, reduced backlog</a:t>
            </a:r>
            <a:endParaRPr lang="en-US" sz="950" dirty="0"/>
          </a:p>
        </p:txBody>
      </p:sp>
      <p:sp>
        <p:nvSpPr>
          <p:cNvPr id="43" name="Shape 41"/>
          <p:cNvSpPr/>
          <p:nvPr/>
        </p:nvSpPr>
        <p:spPr>
          <a:xfrm>
            <a:off x="8641080" y="3182112"/>
            <a:ext cx="1463040" cy="530352"/>
          </a:xfrm>
          <a:prstGeom prst="rect">
            <a:avLst/>
          </a:prstGeom>
          <a:solidFill>
            <a:srgbClr val="FFFFFF"/>
          </a:solidFill>
          <a:ln w="6350">
            <a:solidFill>
              <a:srgbClr val="DDE2E8"/>
            </a:solidFill>
            <a:prstDash val="solid"/>
          </a:ln>
        </p:spPr>
      </p:sp>
      <p:sp>
        <p:nvSpPr>
          <p:cNvPr id="44" name="Text 42"/>
          <p:cNvSpPr/>
          <p:nvPr/>
        </p:nvSpPr>
        <p:spPr>
          <a:xfrm>
            <a:off x="8705088" y="3182112"/>
            <a:ext cx="133502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Medium</a:t>
            </a:r>
            <a:endParaRPr lang="en-US" sz="950" dirty="0"/>
          </a:p>
        </p:txBody>
      </p:sp>
      <p:sp>
        <p:nvSpPr>
          <p:cNvPr id="45" name="Shape 43"/>
          <p:cNvSpPr/>
          <p:nvPr/>
        </p:nvSpPr>
        <p:spPr>
          <a:xfrm>
            <a:off x="10104120" y="3182112"/>
            <a:ext cx="1554480" cy="530352"/>
          </a:xfrm>
          <a:prstGeom prst="rect">
            <a:avLst/>
          </a:prstGeom>
          <a:solidFill>
            <a:srgbClr val="FFFFFF"/>
          </a:solidFill>
          <a:ln w="6350">
            <a:solidFill>
              <a:srgbClr val="DDE2E8"/>
            </a:solidFill>
            <a:prstDash val="solid"/>
          </a:ln>
        </p:spPr>
      </p:sp>
      <p:sp>
        <p:nvSpPr>
          <p:cNvPr id="46" name="Text 44"/>
          <p:cNvSpPr/>
          <p:nvPr/>
        </p:nvSpPr>
        <p:spPr>
          <a:xfrm>
            <a:off x="10168128" y="3182112"/>
            <a:ext cx="142646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6–12 months</a:t>
            </a:r>
            <a:endParaRPr lang="en-US" sz="950" dirty="0"/>
          </a:p>
        </p:txBody>
      </p:sp>
      <p:sp>
        <p:nvSpPr>
          <p:cNvPr id="47" name="Shape 45"/>
          <p:cNvSpPr/>
          <p:nvPr/>
        </p:nvSpPr>
        <p:spPr>
          <a:xfrm>
            <a:off x="502920" y="3712464"/>
            <a:ext cx="2743200" cy="530352"/>
          </a:xfrm>
          <a:prstGeom prst="rect">
            <a:avLst/>
          </a:prstGeom>
          <a:solidFill>
            <a:srgbClr val="EEF1F4"/>
          </a:solidFill>
          <a:ln w="6350">
            <a:solidFill>
              <a:srgbClr val="DDE2E8"/>
            </a:solidFill>
            <a:prstDash val="solid"/>
          </a:ln>
        </p:spPr>
      </p:sp>
      <p:sp>
        <p:nvSpPr>
          <p:cNvPr id="48" name="Text 46"/>
          <p:cNvSpPr/>
          <p:nvPr/>
        </p:nvSpPr>
        <p:spPr>
          <a:xfrm>
            <a:off x="566928" y="3712464"/>
            <a:ext cx="2615184" cy="530352"/>
          </a:xfrm>
          <a:prstGeom prst="rect">
            <a:avLst/>
          </a:prstGeom>
          <a:noFill/>
          <a:ln/>
        </p:spPr>
        <p:txBody>
          <a:bodyPr wrap="square" rtlCol="0" anchor="ctr"/>
          <a:lstStyle/>
          <a:p>
            <a:pPr indent="0" marL="0">
              <a:lnSpc>
                <a:spcPct val="100000"/>
              </a:lnSpc>
              <a:buNone/>
            </a:pPr>
            <a:r>
              <a:rPr lang="en-US" sz="950" b="1" dirty="0">
                <a:solidFill>
                  <a:srgbClr val="1E2761"/>
                </a:solidFill>
                <a:latin typeface="Calibri" pitchFamily="34" charset="0"/>
                <a:ea typeface="Calibri" pitchFamily="34" charset="-122"/>
                <a:cs typeface="Calibri" pitchFamily="34" charset="-120"/>
              </a:rPr>
              <a:t>Audit &amp; Compliance</a:t>
            </a:r>
            <a:endParaRPr lang="en-US" sz="950" dirty="0"/>
          </a:p>
        </p:txBody>
      </p:sp>
      <p:sp>
        <p:nvSpPr>
          <p:cNvPr id="49" name="Shape 47"/>
          <p:cNvSpPr/>
          <p:nvPr/>
        </p:nvSpPr>
        <p:spPr>
          <a:xfrm>
            <a:off x="3246120" y="3712464"/>
            <a:ext cx="2286000" cy="530352"/>
          </a:xfrm>
          <a:prstGeom prst="rect">
            <a:avLst/>
          </a:prstGeom>
          <a:solidFill>
            <a:srgbClr val="EEF1F4"/>
          </a:solidFill>
          <a:ln w="6350">
            <a:solidFill>
              <a:srgbClr val="DDE2E8"/>
            </a:solidFill>
            <a:prstDash val="solid"/>
          </a:ln>
        </p:spPr>
      </p:sp>
      <p:sp>
        <p:nvSpPr>
          <p:cNvPr id="50" name="Text 48"/>
          <p:cNvSpPr/>
          <p:nvPr/>
        </p:nvSpPr>
        <p:spPr>
          <a:xfrm>
            <a:off x="3310128" y="3712464"/>
            <a:ext cx="215798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GRC Copilot</a:t>
            </a:r>
            <a:endParaRPr lang="en-US" sz="950" dirty="0"/>
          </a:p>
        </p:txBody>
      </p:sp>
      <p:sp>
        <p:nvSpPr>
          <p:cNvPr id="51" name="Shape 49"/>
          <p:cNvSpPr/>
          <p:nvPr/>
        </p:nvSpPr>
        <p:spPr>
          <a:xfrm>
            <a:off x="5532120" y="3712464"/>
            <a:ext cx="3108960" cy="530352"/>
          </a:xfrm>
          <a:prstGeom prst="rect">
            <a:avLst/>
          </a:prstGeom>
          <a:solidFill>
            <a:srgbClr val="EEF1F4"/>
          </a:solidFill>
          <a:ln w="6350">
            <a:solidFill>
              <a:srgbClr val="DDE2E8"/>
            </a:solidFill>
            <a:prstDash val="solid"/>
          </a:ln>
        </p:spPr>
      </p:sp>
      <p:sp>
        <p:nvSpPr>
          <p:cNvPr id="52" name="Text 50"/>
          <p:cNvSpPr/>
          <p:nvPr/>
        </p:nvSpPr>
        <p:spPr>
          <a:xfrm>
            <a:off x="5596128" y="3712464"/>
            <a:ext cx="298094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Lower audit-prep effort</a:t>
            </a:r>
            <a:endParaRPr lang="en-US" sz="950" dirty="0"/>
          </a:p>
        </p:txBody>
      </p:sp>
      <p:sp>
        <p:nvSpPr>
          <p:cNvPr id="53" name="Shape 51"/>
          <p:cNvSpPr/>
          <p:nvPr/>
        </p:nvSpPr>
        <p:spPr>
          <a:xfrm>
            <a:off x="8641080" y="3712464"/>
            <a:ext cx="1463040" cy="530352"/>
          </a:xfrm>
          <a:prstGeom prst="rect">
            <a:avLst/>
          </a:prstGeom>
          <a:solidFill>
            <a:srgbClr val="EEF1F4"/>
          </a:solidFill>
          <a:ln w="6350">
            <a:solidFill>
              <a:srgbClr val="DDE2E8"/>
            </a:solidFill>
            <a:prstDash val="solid"/>
          </a:ln>
        </p:spPr>
      </p:sp>
      <p:sp>
        <p:nvSpPr>
          <p:cNvPr id="54" name="Text 52"/>
          <p:cNvSpPr/>
          <p:nvPr/>
        </p:nvSpPr>
        <p:spPr>
          <a:xfrm>
            <a:off x="8705088" y="3712464"/>
            <a:ext cx="133502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High</a:t>
            </a:r>
            <a:endParaRPr lang="en-US" sz="950" dirty="0"/>
          </a:p>
        </p:txBody>
      </p:sp>
      <p:sp>
        <p:nvSpPr>
          <p:cNvPr id="55" name="Shape 53"/>
          <p:cNvSpPr/>
          <p:nvPr/>
        </p:nvSpPr>
        <p:spPr>
          <a:xfrm>
            <a:off x="10104120" y="3712464"/>
            <a:ext cx="1554480" cy="530352"/>
          </a:xfrm>
          <a:prstGeom prst="rect">
            <a:avLst/>
          </a:prstGeom>
          <a:solidFill>
            <a:srgbClr val="EEF1F4"/>
          </a:solidFill>
          <a:ln w="6350">
            <a:solidFill>
              <a:srgbClr val="DDE2E8"/>
            </a:solidFill>
            <a:prstDash val="solid"/>
          </a:ln>
        </p:spPr>
      </p:sp>
      <p:sp>
        <p:nvSpPr>
          <p:cNvPr id="56" name="Text 54"/>
          <p:cNvSpPr/>
          <p:nvPr/>
        </p:nvSpPr>
        <p:spPr>
          <a:xfrm>
            <a:off x="10168128" y="3712464"/>
            <a:ext cx="142646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12–18 months</a:t>
            </a:r>
            <a:endParaRPr lang="en-US" sz="950" dirty="0"/>
          </a:p>
        </p:txBody>
      </p:sp>
      <p:sp>
        <p:nvSpPr>
          <p:cNvPr id="57" name="Shape 55"/>
          <p:cNvSpPr/>
          <p:nvPr/>
        </p:nvSpPr>
        <p:spPr>
          <a:xfrm>
            <a:off x="502920" y="4242816"/>
            <a:ext cx="2743200" cy="530352"/>
          </a:xfrm>
          <a:prstGeom prst="rect">
            <a:avLst/>
          </a:prstGeom>
          <a:solidFill>
            <a:srgbClr val="FFFFFF"/>
          </a:solidFill>
          <a:ln w="6350">
            <a:solidFill>
              <a:srgbClr val="DDE2E8"/>
            </a:solidFill>
            <a:prstDash val="solid"/>
          </a:ln>
        </p:spPr>
      </p:sp>
      <p:sp>
        <p:nvSpPr>
          <p:cNvPr id="58" name="Text 56"/>
          <p:cNvSpPr/>
          <p:nvPr/>
        </p:nvSpPr>
        <p:spPr>
          <a:xfrm>
            <a:off x="566928" y="4242816"/>
            <a:ext cx="2615184" cy="530352"/>
          </a:xfrm>
          <a:prstGeom prst="rect">
            <a:avLst/>
          </a:prstGeom>
          <a:noFill/>
          <a:ln/>
        </p:spPr>
        <p:txBody>
          <a:bodyPr wrap="square" rtlCol="0" anchor="ctr"/>
          <a:lstStyle/>
          <a:p>
            <a:pPr indent="0" marL="0">
              <a:lnSpc>
                <a:spcPct val="100000"/>
              </a:lnSpc>
              <a:buNone/>
            </a:pPr>
            <a:r>
              <a:rPr lang="en-US" sz="950" b="1" dirty="0">
                <a:solidFill>
                  <a:srgbClr val="1E2761"/>
                </a:solidFill>
                <a:latin typeface="Calibri" pitchFamily="34" charset="0"/>
                <a:ea typeface="Calibri" pitchFamily="34" charset="-122"/>
                <a:cs typeface="Calibri" pitchFamily="34" charset="-120"/>
              </a:rPr>
              <a:t>Monitoring &amp; Observability</a:t>
            </a:r>
            <a:endParaRPr lang="en-US" sz="950" dirty="0"/>
          </a:p>
        </p:txBody>
      </p:sp>
      <p:sp>
        <p:nvSpPr>
          <p:cNvPr id="59" name="Shape 57"/>
          <p:cNvSpPr/>
          <p:nvPr/>
        </p:nvSpPr>
        <p:spPr>
          <a:xfrm>
            <a:off x="3246120" y="4242816"/>
            <a:ext cx="2286000" cy="530352"/>
          </a:xfrm>
          <a:prstGeom prst="rect">
            <a:avLst/>
          </a:prstGeom>
          <a:solidFill>
            <a:srgbClr val="FFFFFF"/>
          </a:solidFill>
          <a:ln w="6350">
            <a:solidFill>
              <a:srgbClr val="DDE2E8"/>
            </a:solidFill>
            <a:prstDash val="solid"/>
          </a:ln>
        </p:spPr>
      </p:sp>
      <p:sp>
        <p:nvSpPr>
          <p:cNvPr id="60" name="Text 58"/>
          <p:cNvSpPr/>
          <p:nvPr/>
        </p:nvSpPr>
        <p:spPr>
          <a:xfrm>
            <a:off x="3310128" y="4242816"/>
            <a:ext cx="215798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AIOps Overlay</a:t>
            </a:r>
            <a:endParaRPr lang="en-US" sz="950" dirty="0"/>
          </a:p>
        </p:txBody>
      </p:sp>
      <p:sp>
        <p:nvSpPr>
          <p:cNvPr id="61" name="Shape 59"/>
          <p:cNvSpPr/>
          <p:nvPr/>
        </p:nvSpPr>
        <p:spPr>
          <a:xfrm>
            <a:off x="5532120" y="4242816"/>
            <a:ext cx="3108960" cy="530352"/>
          </a:xfrm>
          <a:prstGeom prst="rect">
            <a:avLst/>
          </a:prstGeom>
          <a:solidFill>
            <a:srgbClr val="FFFFFF"/>
          </a:solidFill>
          <a:ln w="6350">
            <a:solidFill>
              <a:srgbClr val="DDE2E8"/>
            </a:solidFill>
            <a:prstDash val="solid"/>
          </a:ln>
        </p:spPr>
      </p:sp>
      <p:sp>
        <p:nvSpPr>
          <p:cNvPr id="62" name="Text 60"/>
          <p:cNvSpPr/>
          <p:nvPr/>
        </p:nvSpPr>
        <p:spPr>
          <a:xfrm>
            <a:off x="5596128" y="4242816"/>
            <a:ext cx="298094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Consolidated correlation, less tool-switching</a:t>
            </a:r>
            <a:endParaRPr lang="en-US" sz="950" dirty="0"/>
          </a:p>
        </p:txBody>
      </p:sp>
      <p:sp>
        <p:nvSpPr>
          <p:cNvPr id="63" name="Shape 61"/>
          <p:cNvSpPr/>
          <p:nvPr/>
        </p:nvSpPr>
        <p:spPr>
          <a:xfrm>
            <a:off x="8641080" y="4242816"/>
            <a:ext cx="1463040" cy="530352"/>
          </a:xfrm>
          <a:prstGeom prst="rect">
            <a:avLst/>
          </a:prstGeom>
          <a:solidFill>
            <a:srgbClr val="FFFFFF"/>
          </a:solidFill>
          <a:ln w="6350">
            <a:solidFill>
              <a:srgbClr val="DDE2E8"/>
            </a:solidFill>
            <a:prstDash val="solid"/>
          </a:ln>
        </p:spPr>
      </p:sp>
      <p:sp>
        <p:nvSpPr>
          <p:cNvPr id="64" name="Text 62"/>
          <p:cNvSpPr/>
          <p:nvPr/>
        </p:nvSpPr>
        <p:spPr>
          <a:xfrm>
            <a:off x="8705088" y="4242816"/>
            <a:ext cx="133502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Medium</a:t>
            </a:r>
            <a:endParaRPr lang="en-US" sz="950" dirty="0"/>
          </a:p>
        </p:txBody>
      </p:sp>
      <p:sp>
        <p:nvSpPr>
          <p:cNvPr id="65" name="Shape 63"/>
          <p:cNvSpPr/>
          <p:nvPr/>
        </p:nvSpPr>
        <p:spPr>
          <a:xfrm>
            <a:off x="10104120" y="4242816"/>
            <a:ext cx="1554480" cy="530352"/>
          </a:xfrm>
          <a:prstGeom prst="rect">
            <a:avLst/>
          </a:prstGeom>
          <a:solidFill>
            <a:srgbClr val="FFFFFF"/>
          </a:solidFill>
          <a:ln w="6350">
            <a:solidFill>
              <a:srgbClr val="DDE2E8"/>
            </a:solidFill>
            <a:prstDash val="solid"/>
          </a:ln>
        </p:spPr>
      </p:sp>
      <p:sp>
        <p:nvSpPr>
          <p:cNvPr id="66" name="Text 64"/>
          <p:cNvSpPr/>
          <p:nvPr/>
        </p:nvSpPr>
        <p:spPr>
          <a:xfrm>
            <a:off x="10168128" y="4242816"/>
            <a:ext cx="1426464" cy="530352"/>
          </a:xfrm>
          <a:prstGeom prst="rect">
            <a:avLst/>
          </a:prstGeom>
          <a:noFill/>
          <a:ln/>
        </p:spPr>
        <p:txBody>
          <a:bodyPr wrap="square" rtlCol="0" anchor="ctr"/>
          <a:lstStyle/>
          <a:p>
            <a:pPr indent="0" marL="0">
              <a:lnSpc>
                <a:spcPct val="100000"/>
              </a:lnSpc>
              <a:buNone/>
            </a:pPr>
            <a:r>
              <a:rPr lang="en-US" sz="950" dirty="0">
                <a:solidFill>
                  <a:srgbClr val="232B3A"/>
                </a:solidFill>
                <a:latin typeface="Calibri" pitchFamily="34" charset="0"/>
                <a:ea typeface="Calibri" pitchFamily="34" charset="-122"/>
                <a:cs typeface="Calibri" pitchFamily="34" charset="-120"/>
              </a:rPr>
              <a:t>6–12 months</a:t>
            </a:r>
            <a:endParaRPr lang="en-US" sz="950" dirty="0"/>
          </a:p>
        </p:txBody>
      </p:sp>
      <p:sp>
        <p:nvSpPr>
          <p:cNvPr id="67" name="Text 65"/>
          <p:cNvSpPr/>
          <p:nvPr/>
        </p:nvSpPr>
        <p:spPr>
          <a:xfrm>
            <a:off x="502920" y="4956048"/>
            <a:ext cx="11155680" cy="502920"/>
          </a:xfrm>
          <a:prstGeom prst="rect">
            <a:avLst/>
          </a:prstGeom>
          <a:noFill/>
          <a:ln/>
        </p:spPr>
        <p:txBody>
          <a:bodyPr wrap="square" rtlCol="0" anchor="ctr"/>
          <a:lstStyle/>
          <a:p>
            <a:pPr indent="0" marL="0">
              <a:buNone/>
            </a:pPr>
            <a:r>
              <a:rPr lang="en-US" sz="1050" i="1" dirty="0">
                <a:solidFill>
                  <a:srgbClr val="6B7684"/>
                </a:solidFill>
                <a:latin typeface="Calibri" pitchFamily="34" charset="0"/>
                <a:ea typeface="Calibri" pitchFamily="34" charset="-122"/>
                <a:cs typeface="Calibri" pitchFamily="34" charset="-120"/>
              </a:rPr>
              <a:t>Sequencing principle: fund the low-complexity, fast-payback workstreams first (Service Desk) to build organizational trust in AI-assisted operations before extending to higher-complexity, higher-risk domains.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BUSINESS CASE</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Executive KPI Dashboard (Illustrative)</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6 · BUSINESS CASE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30 / 33</a:t>
            </a:r>
            <a:endParaRPr lang="en-US" sz="850" dirty="0"/>
          </a:p>
        </p:txBody>
      </p:sp>
      <p:sp>
        <p:nvSpPr>
          <p:cNvPr id="7" name="Shape 5"/>
          <p:cNvSpPr/>
          <p:nvPr/>
        </p:nvSpPr>
        <p:spPr>
          <a:xfrm>
            <a:off x="502920" y="1691640"/>
            <a:ext cx="3535680" cy="1234440"/>
          </a:xfrm>
          <a:prstGeom prst="roundRect">
            <a:avLst>
              <a:gd name="adj" fmla="val 5926"/>
            </a:avLst>
          </a:prstGeom>
          <a:solidFill>
            <a:srgbClr val="1E2761"/>
          </a:solidFill>
          <a:ln/>
        </p:spPr>
      </p:sp>
      <p:sp>
        <p:nvSpPr>
          <p:cNvPr id="8" name="Text 6"/>
          <p:cNvSpPr/>
          <p:nvPr/>
        </p:nvSpPr>
        <p:spPr>
          <a:xfrm>
            <a:off x="685800" y="1819656"/>
            <a:ext cx="3169920" cy="274320"/>
          </a:xfrm>
          <a:prstGeom prst="rect">
            <a:avLst/>
          </a:prstGeom>
          <a:noFill/>
          <a:ln/>
        </p:spPr>
        <p:txBody>
          <a:bodyPr wrap="square" rtlCol="0" anchor="ctr"/>
          <a:lstStyle/>
          <a:p>
            <a:pPr indent="0" marL="0">
              <a:buNone/>
            </a:pPr>
            <a:r>
              <a:rPr lang="en-US" sz="1000" b="1" spc="100" kern="0" dirty="0">
                <a:solidFill>
                  <a:srgbClr val="CADCFC"/>
                </a:solidFill>
                <a:latin typeface="Calibri" pitchFamily="34" charset="0"/>
                <a:ea typeface="Calibri" pitchFamily="34" charset="-122"/>
                <a:cs typeface="Calibri" pitchFamily="34" charset="-120"/>
              </a:rPr>
              <a:t>MTTR</a:t>
            </a:r>
            <a:endParaRPr lang="en-US" sz="1000" dirty="0"/>
          </a:p>
        </p:txBody>
      </p:sp>
      <p:sp>
        <p:nvSpPr>
          <p:cNvPr id="9" name="Text 7"/>
          <p:cNvSpPr/>
          <p:nvPr/>
        </p:nvSpPr>
        <p:spPr>
          <a:xfrm>
            <a:off x="685800" y="2057400"/>
            <a:ext cx="3169920" cy="502920"/>
          </a:xfrm>
          <a:prstGeom prst="rect">
            <a:avLst/>
          </a:prstGeom>
          <a:noFill/>
          <a:ln/>
        </p:spPr>
        <p:txBody>
          <a:bodyPr wrap="square"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38 min</a:t>
            </a:r>
            <a:endParaRPr lang="en-US" sz="2600" dirty="0"/>
          </a:p>
        </p:txBody>
      </p:sp>
      <p:sp>
        <p:nvSpPr>
          <p:cNvPr id="10" name="Text 8"/>
          <p:cNvSpPr/>
          <p:nvPr/>
        </p:nvSpPr>
        <p:spPr>
          <a:xfrm>
            <a:off x="685800" y="2587752"/>
            <a:ext cx="3169920" cy="274320"/>
          </a:xfrm>
          <a:prstGeom prst="rect">
            <a:avLst/>
          </a:prstGeom>
          <a:noFill/>
          <a:ln/>
        </p:spPr>
        <p:txBody>
          <a:bodyPr wrap="square" rtlCol="0" anchor="ctr"/>
          <a:lstStyle/>
          <a:p>
            <a:pPr indent="0" marL="0">
              <a:buNone/>
            </a:pPr>
            <a:r>
              <a:rPr lang="en-US" sz="900" dirty="0">
                <a:solidFill>
                  <a:srgbClr val="CADCFC"/>
                </a:solidFill>
                <a:latin typeface="Calibri" pitchFamily="34" charset="0"/>
                <a:ea typeface="Calibri" pitchFamily="34" charset="-122"/>
                <a:cs typeface="Calibri" pitchFamily="34" charset="-120"/>
              </a:rPr>
              <a:t>↓ 42% vs. baseline</a:t>
            </a:r>
            <a:endParaRPr lang="en-US" sz="900" dirty="0"/>
          </a:p>
        </p:txBody>
      </p:sp>
      <p:sp>
        <p:nvSpPr>
          <p:cNvPr id="11" name="Shape 9"/>
          <p:cNvSpPr/>
          <p:nvPr/>
        </p:nvSpPr>
        <p:spPr>
          <a:xfrm>
            <a:off x="4312920" y="1691640"/>
            <a:ext cx="3535680" cy="1234440"/>
          </a:xfrm>
          <a:prstGeom prst="roundRect">
            <a:avLst>
              <a:gd name="adj" fmla="val 5926"/>
            </a:avLst>
          </a:prstGeom>
          <a:solidFill>
            <a:srgbClr val="1E2761"/>
          </a:solidFill>
          <a:ln/>
        </p:spPr>
      </p:sp>
      <p:sp>
        <p:nvSpPr>
          <p:cNvPr id="12" name="Text 10"/>
          <p:cNvSpPr/>
          <p:nvPr/>
        </p:nvSpPr>
        <p:spPr>
          <a:xfrm>
            <a:off x="4495800" y="1819656"/>
            <a:ext cx="3169920" cy="274320"/>
          </a:xfrm>
          <a:prstGeom prst="rect">
            <a:avLst/>
          </a:prstGeom>
          <a:noFill/>
          <a:ln/>
        </p:spPr>
        <p:txBody>
          <a:bodyPr wrap="square" rtlCol="0" anchor="ctr"/>
          <a:lstStyle/>
          <a:p>
            <a:pPr indent="0" marL="0">
              <a:buNone/>
            </a:pPr>
            <a:r>
              <a:rPr lang="en-US" sz="1000" b="1" spc="100" kern="0" dirty="0">
                <a:solidFill>
                  <a:srgbClr val="CADCFC"/>
                </a:solidFill>
                <a:latin typeface="Calibri" pitchFamily="34" charset="0"/>
                <a:ea typeface="Calibri" pitchFamily="34" charset="-122"/>
                <a:cs typeface="Calibri" pitchFamily="34" charset="-120"/>
              </a:rPr>
              <a:t>ALERT VOLUME</a:t>
            </a:r>
            <a:endParaRPr lang="en-US" sz="1000" dirty="0"/>
          </a:p>
        </p:txBody>
      </p:sp>
      <p:sp>
        <p:nvSpPr>
          <p:cNvPr id="13" name="Text 11"/>
          <p:cNvSpPr/>
          <p:nvPr/>
        </p:nvSpPr>
        <p:spPr>
          <a:xfrm>
            <a:off x="4495800" y="2057400"/>
            <a:ext cx="3169920" cy="502920"/>
          </a:xfrm>
          <a:prstGeom prst="rect">
            <a:avLst/>
          </a:prstGeom>
          <a:noFill/>
          <a:ln/>
        </p:spPr>
        <p:txBody>
          <a:bodyPr wrap="square"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62%</a:t>
            </a:r>
            <a:endParaRPr lang="en-US" sz="2600" dirty="0"/>
          </a:p>
        </p:txBody>
      </p:sp>
      <p:sp>
        <p:nvSpPr>
          <p:cNvPr id="14" name="Text 12"/>
          <p:cNvSpPr/>
          <p:nvPr/>
        </p:nvSpPr>
        <p:spPr>
          <a:xfrm>
            <a:off x="4495800" y="2587752"/>
            <a:ext cx="3169920" cy="274320"/>
          </a:xfrm>
          <a:prstGeom prst="rect">
            <a:avLst/>
          </a:prstGeom>
          <a:noFill/>
          <a:ln/>
        </p:spPr>
        <p:txBody>
          <a:bodyPr wrap="square" rtlCol="0" anchor="ctr"/>
          <a:lstStyle/>
          <a:p>
            <a:pPr indent="0" marL="0">
              <a:buNone/>
            </a:pPr>
            <a:r>
              <a:rPr lang="en-US" sz="900" dirty="0">
                <a:solidFill>
                  <a:srgbClr val="CADCFC"/>
                </a:solidFill>
                <a:latin typeface="Calibri" pitchFamily="34" charset="0"/>
                <a:ea typeface="Calibri" pitchFamily="34" charset="-122"/>
                <a:cs typeface="Calibri" pitchFamily="34" charset="-120"/>
              </a:rPr>
              <a:t>reduction month-over-month</a:t>
            </a:r>
            <a:endParaRPr lang="en-US" sz="900" dirty="0"/>
          </a:p>
        </p:txBody>
      </p:sp>
      <p:sp>
        <p:nvSpPr>
          <p:cNvPr id="15" name="Shape 13"/>
          <p:cNvSpPr/>
          <p:nvPr/>
        </p:nvSpPr>
        <p:spPr>
          <a:xfrm>
            <a:off x="8122920" y="1691640"/>
            <a:ext cx="3535680" cy="1234440"/>
          </a:xfrm>
          <a:prstGeom prst="roundRect">
            <a:avLst>
              <a:gd name="adj" fmla="val 5926"/>
            </a:avLst>
          </a:prstGeom>
          <a:solidFill>
            <a:srgbClr val="1E2761"/>
          </a:solidFill>
          <a:ln/>
        </p:spPr>
      </p:sp>
      <p:sp>
        <p:nvSpPr>
          <p:cNvPr id="16" name="Text 14"/>
          <p:cNvSpPr/>
          <p:nvPr/>
        </p:nvSpPr>
        <p:spPr>
          <a:xfrm>
            <a:off x="8305800" y="1819656"/>
            <a:ext cx="3169920" cy="274320"/>
          </a:xfrm>
          <a:prstGeom prst="rect">
            <a:avLst/>
          </a:prstGeom>
          <a:noFill/>
          <a:ln/>
        </p:spPr>
        <p:txBody>
          <a:bodyPr wrap="square" rtlCol="0" anchor="ctr"/>
          <a:lstStyle/>
          <a:p>
            <a:pPr indent="0" marL="0">
              <a:buNone/>
            </a:pPr>
            <a:r>
              <a:rPr lang="en-US" sz="1000" b="1" spc="100" kern="0" dirty="0">
                <a:solidFill>
                  <a:srgbClr val="CADCFC"/>
                </a:solidFill>
                <a:latin typeface="Calibri" pitchFamily="34" charset="0"/>
                <a:ea typeface="Calibri" pitchFamily="34" charset="-122"/>
                <a:cs typeface="Calibri" pitchFamily="34" charset="-120"/>
              </a:rPr>
              <a:t>AUTOMATION RATE</a:t>
            </a:r>
            <a:endParaRPr lang="en-US" sz="1000" dirty="0"/>
          </a:p>
        </p:txBody>
      </p:sp>
      <p:sp>
        <p:nvSpPr>
          <p:cNvPr id="17" name="Text 15"/>
          <p:cNvSpPr/>
          <p:nvPr/>
        </p:nvSpPr>
        <p:spPr>
          <a:xfrm>
            <a:off x="8305800" y="2057400"/>
            <a:ext cx="3169920" cy="502920"/>
          </a:xfrm>
          <a:prstGeom prst="rect">
            <a:avLst/>
          </a:prstGeom>
          <a:noFill/>
          <a:ln/>
        </p:spPr>
        <p:txBody>
          <a:bodyPr wrap="square"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34%</a:t>
            </a:r>
            <a:endParaRPr lang="en-US" sz="2600" dirty="0"/>
          </a:p>
        </p:txBody>
      </p:sp>
      <p:sp>
        <p:nvSpPr>
          <p:cNvPr id="18" name="Text 16"/>
          <p:cNvSpPr/>
          <p:nvPr/>
        </p:nvSpPr>
        <p:spPr>
          <a:xfrm>
            <a:off x="8305800" y="2587752"/>
            <a:ext cx="3169920" cy="274320"/>
          </a:xfrm>
          <a:prstGeom prst="rect">
            <a:avLst/>
          </a:prstGeom>
          <a:noFill/>
          <a:ln/>
        </p:spPr>
        <p:txBody>
          <a:bodyPr wrap="square" rtlCol="0" anchor="ctr"/>
          <a:lstStyle/>
          <a:p>
            <a:pPr indent="0" marL="0">
              <a:buNone/>
            </a:pPr>
            <a:r>
              <a:rPr lang="en-US" sz="900" dirty="0">
                <a:solidFill>
                  <a:srgbClr val="CADCFC"/>
                </a:solidFill>
                <a:latin typeface="Calibri" pitchFamily="34" charset="0"/>
                <a:ea typeface="Calibri" pitchFamily="34" charset="-122"/>
                <a:cs typeface="Calibri" pitchFamily="34" charset="-120"/>
              </a:rPr>
              <a:t>of incidents auto-remediated</a:t>
            </a:r>
            <a:endParaRPr lang="en-US" sz="900" dirty="0"/>
          </a:p>
        </p:txBody>
      </p:sp>
      <p:sp>
        <p:nvSpPr>
          <p:cNvPr id="19" name="Shape 17"/>
          <p:cNvSpPr/>
          <p:nvPr/>
        </p:nvSpPr>
        <p:spPr>
          <a:xfrm>
            <a:off x="502920" y="3200400"/>
            <a:ext cx="3535680" cy="1234440"/>
          </a:xfrm>
          <a:prstGeom prst="roundRect">
            <a:avLst>
              <a:gd name="adj" fmla="val 5926"/>
            </a:avLst>
          </a:prstGeom>
          <a:solidFill>
            <a:srgbClr val="1E2761"/>
          </a:solidFill>
          <a:ln/>
        </p:spPr>
      </p:sp>
      <p:sp>
        <p:nvSpPr>
          <p:cNvPr id="20" name="Text 18"/>
          <p:cNvSpPr/>
          <p:nvPr/>
        </p:nvSpPr>
        <p:spPr>
          <a:xfrm>
            <a:off x="685800" y="3328416"/>
            <a:ext cx="3169920" cy="274320"/>
          </a:xfrm>
          <a:prstGeom prst="rect">
            <a:avLst/>
          </a:prstGeom>
          <a:noFill/>
          <a:ln/>
        </p:spPr>
        <p:txBody>
          <a:bodyPr wrap="square" rtlCol="0" anchor="ctr"/>
          <a:lstStyle/>
          <a:p>
            <a:pPr indent="0" marL="0">
              <a:buNone/>
            </a:pPr>
            <a:r>
              <a:rPr lang="en-US" sz="1000" b="1" spc="100" kern="0" dirty="0">
                <a:solidFill>
                  <a:srgbClr val="CADCFC"/>
                </a:solidFill>
                <a:latin typeface="Calibri" pitchFamily="34" charset="0"/>
                <a:ea typeface="Calibri" pitchFamily="34" charset="-122"/>
                <a:cs typeface="Calibri" pitchFamily="34" charset="-120"/>
              </a:rPr>
              <a:t>SLA COMPLIANCE</a:t>
            </a:r>
            <a:endParaRPr lang="en-US" sz="1000" dirty="0"/>
          </a:p>
        </p:txBody>
      </p:sp>
      <p:sp>
        <p:nvSpPr>
          <p:cNvPr id="21" name="Text 19"/>
          <p:cNvSpPr/>
          <p:nvPr/>
        </p:nvSpPr>
        <p:spPr>
          <a:xfrm>
            <a:off x="685800" y="3566160"/>
            <a:ext cx="3169920" cy="502920"/>
          </a:xfrm>
          <a:prstGeom prst="rect">
            <a:avLst/>
          </a:prstGeom>
          <a:noFill/>
          <a:ln/>
        </p:spPr>
        <p:txBody>
          <a:bodyPr wrap="square"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97.2%</a:t>
            </a:r>
            <a:endParaRPr lang="en-US" sz="2600" dirty="0"/>
          </a:p>
        </p:txBody>
      </p:sp>
      <p:sp>
        <p:nvSpPr>
          <p:cNvPr id="22" name="Text 20"/>
          <p:cNvSpPr/>
          <p:nvPr/>
        </p:nvSpPr>
        <p:spPr>
          <a:xfrm>
            <a:off x="685800" y="4096512"/>
            <a:ext cx="3169920" cy="274320"/>
          </a:xfrm>
          <a:prstGeom prst="rect">
            <a:avLst/>
          </a:prstGeom>
          <a:noFill/>
          <a:ln/>
        </p:spPr>
        <p:txBody>
          <a:bodyPr wrap="square" rtlCol="0" anchor="ctr"/>
          <a:lstStyle/>
          <a:p>
            <a:pPr indent="0" marL="0">
              <a:buNone/>
            </a:pPr>
            <a:r>
              <a:rPr lang="en-US" sz="900" dirty="0">
                <a:solidFill>
                  <a:srgbClr val="CADCFC"/>
                </a:solidFill>
                <a:latin typeface="Calibri" pitchFamily="34" charset="0"/>
                <a:ea typeface="Calibri" pitchFamily="34" charset="-122"/>
                <a:cs typeface="Calibri" pitchFamily="34" charset="-120"/>
              </a:rPr>
              <a:t>↑ 4.1 pts vs. baseline</a:t>
            </a:r>
            <a:endParaRPr lang="en-US" sz="900" dirty="0"/>
          </a:p>
        </p:txBody>
      </p:sp>
      <p:sp>
        <p:nvSpPr>
          <p:cNvPr id="23" name="Shape 21"/>
          <p:cNvSpPr/>
          <p:nvPr/>
        </p:nvSpPr>
        <p:spPr>
          <a:xfrm>
            <a:off x="4312920" y="3200400"/>
            <a:ext cx="3535680" cy="1234440"/>
          </a:xfrm>
          <a:prstGeom prst="roundRect">
            <a:avLst>
              <a:gd name="adj" fmla="val 5926"/>
            </a:avLst>
          </a:prstGeom>
          <a:solidFill>
            <a:srgbClr val="1E2761"/>
          </a:solidFill>
          <a:ln/>
        </p:spPr>
      </p:sp>
      <p:sp>
        <p:nvSpPr>
          <p:cNvPr id="24" name="Text 22"/>
          <p:cNvSpPr/>
          <p:nvPr/>
        </p:nvSpPr>
        <p:spPr>
          <a:xfrm>
            <a:off x="4495800" y="3328416"/>
            <a:ext cx="3169920" cy="274320"/>
          </a:xfrm>
          <a:prstGeom prst="rect">
            <a:avLst/>
          </a:prstGeom>
          <a:noFill/>
          <a:ln/>
        </p:spPr>
        <p:txBody>
          <a:bodyPr wrap="square" rtlCol="0" anchor="ctr"/>
          <a:lstStyle/>
          <a:p>
            <a:pPr indent="0" marL="0">
              <a:buNone/>
            </a:pPr>
            <a:r>
              <a:rPr lang="en-US" sz="1000" b="1" spc="100" kern="0" dirty="0">
                <a:solidFill>
                  <a:srgbClr val="CADCFC"/>
                </a:solidFill>
                <a:latin typeface="Calibri" pitchFamily="34" charset="0"/>
                <a:ea typeface="Calibri" pitchFamily="34" charset="-122"/>
                <a:cs typeface="Calibri" pitchFamily="34" charset="-120"/>
              </a:rPr>
              <a:t>ROOT-CAUSE ACCURACY</a:t>
            </a:r>
            <a:endParaRPr lang="en-US" sz="1000" dirty="0"/>
          </a:p>
        </p:txBody>
      </p:sp>
      <p:sp>
        <p:nvSpPr>
          <p:cNvPr id="25" name="Text 23"/>
          <p:cNvSpPr/>
          <p:nvPr/>
        </p:nvSpPr>
        <p:spPr>
          <a:xfrm>
            <a:off x="4495800" y="3566160"/>
            <a:ext cx="3169920" cy="502920"/>
          </a:xfrm>
          <a:prstGeom prst="rect">
            <a:avLst/>
          </a:prstGeom>
          <a:noFill/>
          <a:ln/>
        </p:spPr>
        <p:txBody>
          <a:bodyPr wrap="square"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88%</a:t>
            </a:r>
            <a:endParaRPr lang="en-US" sz="2600" dirty="0"/>
          </a:p>
        </p:txBody>
      </p:sp>
      <p:sp>
        <p:nvSpPr>
          <p:cNvPr id="26" name="Text 24"/>
          <p:cNvSpPr/>
          <p:nvPr/>
        </p:nvSpPr>
        <p:spPr>
          <a:xfrm>
            <a:off x="4495800" y="4096512"/>
            <a:ext cx="3169920" cy="274320"/>
          </a:xfrm>
          <a:prstGeom prst="rect">
            <a:avLst/>
          </a:prstGeom>
          <a:noFill/>
          <a:ln/>
        </p:spPr>
        <p:txBody>
          <a:bodyPr wrap="square" rtlCol="0" anchor="ctr"/>
          <a:lstStyle/>
          <a:p>
            <a:pPr indent="0" marL="0">
              <a:buNone/>
            </a:pPr>
            <a:r>
              <a:rPr lang="en-US" sz="900" dirty="0">
                <a:solidFill>
                  <a:srgbClr val="CADCFC"/>
                </a:solidFill>
                <a:latin typeface="Calibri" pitchFamily="34" charset="0"/>
                <a:ea typeface="Calibri" pitchFamily="34" charset="-122"/>
                <a:cs typeface="Calibri" pitchFamily="34" charset="-120"/>
              </a:rPr>
              <a:t>AI-suggested RCA confirmed</a:t>
            </a:r>
            <a:endParaRPr lang="en-US" sz="900" dirty="0"/>
          </a:p>
        </p:txBody>
      </p:sp>
      <p:sp>
        <p:nvSpPr>
          <p:cNvPr id="27" name="Shape 25"/>
          <p:cNvSpPr/>
          <p:nvPr/>
        </p:nvSpPr>
        <p:spPr>
          <a:xfrm>
            <a:off x="8122920" y="3200400"/>
            <a:ext cx="3535680" cy="1234440"/>
          </a:xfrm>
          <a:prstGeom prst="roundRect">
            <a:avLst>
              <a:gd name="adj" fmla="val 5926"/>
            </a:avLst>
          </a:prstGeom>
          <a:solidFill>
            <a:srgbClr val="1E2761"/>
          </a:solidFill>
          <a:ln/>
        </p:spPr>
      </p:sp>
      <p:sp>
        <p:nvSpPr>
          <p:cNvPr id="28" name="Text 26"/>
          <p:cNvSpPr/>
          <p:nvPr/>
        </p:nvSpPr>
        <p:spPr>
          <a:xfrm>
            <a:off x="8305800" y="3328416"/>
            <a:ext cx="3169920" cy="274320"/>
          </a:xfrm>
          <a:prstGeom prst="rect">
            <a:avLst/>
          </a:prstGeom>
          <a:noFill/>
          <a:ln/>
        </p:spPr>
        <p:txBody>
          <a:bodyPr wrap="square" rtlCol="0" anchor="ctr"/>
          <a:lstStyle/>
          <a:p>
            <a:pPr indent="0" marL="0">
              <a:buNone/>
            </a:pPr>
            <a:r>
              <a:rPr lang="en-US" sz="1000" b="1" spc="100" kern="0" dirty="0">
                <a:solidFill>
                  <a:srgbClr val="CADCFC"/>
                </a:solidFill>
                <a:latin typeface="Calibri" pitchFamily="34" charset="0"/>
                <a:ea typeface="Calibri" pitchFamily="34" charset="-122"/>
                <a:cs typeface="Calibri" pitchFamily="34" charset="-120"/>
              </a:rPr>
              <a:t>AVAILABILITY</a:t>
            </a:r>
            <a:endParaRPr lang="en-US" sz="1000" dirty="0"/>
          </a:p>
        </p:txBody>
      </p:sp>
      <p:sp>
        <p:nvSpPr>
          <p:cNvPr id="29" name="Text 27"/>
          <p:cNvSpPr/>
          <p:nvPr/>
        </p:nvSpPr>
        <p:spPr>
          <a:xfrm>
            <a:off x="8305800" y="3566160"/>
            <a:ext cx="3169920" cy="502920"/>
          </a:xfrm>
          <a:prstGeom prst="rect">
            <a:avLst/>
          </a:prstGeom>
          <a:noFill/>
          <a:ln/>
        </p:spPr>
        <p:txBody>
          <a:bodyPr wrap="square"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99.95%</a:t>
            </a:r>
            <a:endParaRPr lang="en-US" sz="2600" dirty="0"/>
          </a:p>
        </p:txBody>
      </p:sp>
      <p:sp>
        <p:nvSpPr>
          <p:cNvPr id="30" name="Text 28"/>
          <p:cNvSpPr/>
          <p:nvPr/>
        </p:nvSpPr>
        <p:spPr>
          <a:xfrm>
            <a:off x="8305800" y="4096512"/>
            <a:ext cx="3169920" cy="274320"/>
          </a:xfrm>
          <a:prstGeom prst="rect">
            <a:avLst/>
          </a:prstGeom>
          <a:noFill/>
          <a:ln/>
        </p:spPr>
        <p:txBody>
          <a:bodyPr wrap="square" rtlCol="0" anchor="ctr"/>
          <a:lstStyle/>
          <a:p>
            <a:pPr indent="0" marL="0">
              <a:buNone/>
            </a:pPr>
            <a:r>
              <a:rPr lang="en-US" sz="900" dirty="0">
                <a:solidFill>
                  <a:srgbClr val="CADCFC"/>
                </a:solidFill>
                <a:latin typeface="Calibri" pitchFamily="34" charset="0"/>
                <a:ea typeface="Calibri" pitchFamily="34" charset="-122"/>
                <a:cs typeface="Calibri" pitchFamily="34" charset="-120"/>
              </a:rPr>
              <a:t>trailing 30 days</a:t>
            </a:r>
            <a:endParaRPr lang="en-US" sz="900" dirty="0"/>
          </a:p>
        </p:txBody>
      </p:sp>
      <p:sp>
        <p:nvSpPr>
          <p:cNvPr id="31" name="Text 29"/>
          <p:cNvSpPr/>
          <p:nvPr/>
        </p:nvSpPr>
        <p:spPr>
          <a:xfrm>
            <a:off x="502920" y="5989320"/>
            <a:ext cx="11155680" cy="365760"/>
          </a:xfrm>
          <a:prstGeom prst="rect">
            <a:avLst/>
          </a:prstGeom>
          <a:noFill/>
          <a:ln/>
        </p:spPr>
        <p:txBody>
          <a:bodyPr wrap="square" rtlCol="0" anchor="ctr"/>
          <a:lstStyle/>
          <a:p>
            <a:pPr indent="0" marL="0">
              <a:buNone/>
            </a:pPr>
            <a:r>
              <a:rPr lang="en-US" sz="1000" i="1" dirty="0">
                <a:solidFill>
                  <a:srgbClr val="6B7684"/>
                </a:solidFill>
                <a:latin typeface="Calibri" pitchFamily="34" charset="0"/>
                <a:ea typeface="Calibri" pitchFamily="34" charset="-122"/>
                <a:cs typeface="Calibri" pitchFamily="34" charset="-120"/>
              </a:rPr>
              <a:t>Illustrative dashboard structure for CIO / NOC / Capacity / Cloud views — actual figures to be baselined against current-state telemetry during the PoC phase.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ROADMAP</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Implementation Roadmap — Phased, Governed Rollout</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6 · ROADMAP &amp; GOVERNANCE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31 / 33</a:t>
            </a:r>
            <a:endParaRPr lang="en-US" sz="850" dirty="0"/>
          </a:p>
        </p:txBody>
      </p:sp>
      <p:sp>
        <p:nvSpPr>
          <p:cNvPr id="7" name="Shape 5"/>
          <p:cNvSpPr/>
          <p:nvPr/>
        </p:nvSpPr>
        <p:spPr>
          <a:xfrm>
            <a:off x="502920" y="1828800"/>
            <a:ext cx="2617470" cy="3566160"/>
          </a:xfrm>
          <a:prstGeom prst="roundRect">
            <a:avLst>
              <a:gd name="adj" fmla="val 2795"/>
            </a:avLst>
          </a:prstGeom>
          <a:solidFill>
            <a:srgbClr val="02C39A"/>
          </a:solidFill>
          <a:ln/>
        </p:spPr>
      </p:sp>
      <p:sp>
        <p:nvSpPr>
          <p:cNvPr id="8" name="Text 6"/>
          <p:cNvSpPr/>
          <p:nvPr/>
        </p:nvSpPr>
        <p:spPr>
          <a:xfrm>
            <a:off x="685800" y="2011680"/>
            <a:ext cx="2251710" cy="365760"/>
          </a:xfrm>
          <a:prstGeom prst="rect">
            <a:avLst/>
          </a:prstGeom>
          <a:noFill/>
          <a:ln/>
        </p:spPr>
        <p:txBody>
          <a:bodyPr wrap="square"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Phase 1</a:t>
            </a:r>
            <a:endParaRPr lang="en-US" sz="1600" dirty="0"/>
          </a:p>
        </p:txBody>
      </p:sp>
      <p:sp>
        <p:nvSpPr>
          <p:cNvPr id="9" name="Text 7"/>
          <p:cNvSpPr/>
          <p:nvPr/>
        </p:nvSpPr>
        <p:spPr>
          <a:xfrm>
            <a:off x="685800" y="2395728"/>
            <a:ext cx="2251710" cy="274320"/>
          </a:xfrm>
          <a:prstGeom prst="rect">
            <a:avLst/>
          </a:prstGeom>
          <a:noFill/>
          <a:ln/>
        </p:spPr>
        <p:txBody>
          <a:bodyPr wrap="square" rtlCol="0" anchor="ctr"/>
          <a:lstStyle/>
          <a:p>
            <a:pPr indent="0" marL="0">
              <a:buNone/>
            </a:pPr>
            <a:r>
              <a:rPr lang="en-US" sz="1000" b="1" dirty="0">
                <a:solidFill>
                  <a:srgbClr val="141B4D"/>
                </a:solidFill>
                <a:latin typeface="Calibri" pitchFamily="34" charset="0"/>
                <a:ea typeface="Calibri" pitchFamily="34" charset="-122"/>
                <a:cs typeface="Calibri" pitchFamily="34" charset="-120"/>
              </a:rPr>
              <a:t>0–3 months</a:t>
            </a:r>
            <a:endParaRPr lang="en-US" sz="1000" dirty="0"/>
          </a:p>
        </p:txBody>
      </p:sp>
      <p:sp>
        <p:nvSpPr>
          <p:cNvPr id="10" name="Text 8"/>
          <p:cNvSpPr/>
          <p:nvPr/>
        </p:nvSpPr>
        <p:spPr>
          <a:xfrm>
            <a:off x="685800" y="2724912"/>
            <a:ext cx="2251710" cy="365760"/>
          </a:xfrm>
          <a:prstGeom prst="rect">
            <a:avLst/>
          </a:prstGeom>
          <a:noFill/>
          <a:ln/>
        </p:spPr>
        <p:txBody>
          <a:bodyPr wrap="square" rtlCol="0" anchor="ctr"/>
          <a:lstStyle/>
          <a:p>
            <a:pPr indent="0" marL="0">
              <a:buNone/>
            </a:pPr>
            <a:r>
              <a:rPr lang="en-US" sz="1150" b="1" dirty="0">
                <a:solidFill>
                  <a:srgbClr val="141B4D"/>
                </a:solidFill>
                <a:latin typeface="Calibri" pitchFamily="34" charset="0"/>
                <a:ea typeface="Calibri" pitchFamily="34" charset="-122"/>
                <a:cs typeface="Calibri" pitchFamily="34" charset="-120"/>
              </a:rPr>
              <a:t>Quick Wins</a:t>
            </a:r>
            <a:endParaRPr lang="en-US" sz="1150" dirty="0"/>
          </a:p>
        </p:txBody>
      </p:sp>
      <p:sp>
        <p:nvSpPr>
          <p:cNvPr id="11" name="Text 9"/>
          <p:cNvSpPr/>
          <p:nvPr/>
        </p:nvSpPr>
        <p:spPr>
          <a:xfrm>
            <a:off x="685800" y="3154680"/>
            <a:ext cx="2251710" cy="2103120"/>
          </a:xfrm>
          <a:prstGeom prst="rect">
            <a:avLst/>
          </a:prstGeom>
          <a:noFill/>
          <a:ln/>
        </p:spPr>
        <p:txBody>
          <a:bodyPr wrap="square" rtlCol="0" anchor="t"/>
          <a:lstStyle/>
          <a:p>
            <a:pPr indent="0" marL="0">
              <a:lnSpc>
                <a:spcPct val="115000"/>
              </a:lnSpc>
              <a:buNone/>
            </a:pPr>
            <a:r>
              <a:rPr lang="en-US" sz="950" dirty="0">
                <a:solidFill>
                  <a:srgbClr val="141B4D"/>
                </a:solidFill>
                <a:latin typeface="Calibri" pitchFamily="34" charset="0"/>
                <a:ea typeface="Calibri" pitchFamily="34" charset="-122"/>
                <a:cs typeface="Calibri" pitchFamily="34" charset="-120"/>
              </a:rPr>
              <a:t>Approve PoC shortlist; connect SolarWinds, Splunk, Azure Monitor, Instana; replay 90 days of incidents; deploy Service Desk ticket summarization</a:t>
            </a:r>
            <a:endParaRPr lang="en-US" sz="950" dirty="0"/>
          </a:p>
        </p:txBody>
      </p:sp>
      <p:sp>
        <p:nvSpPr>
          <p:cNvPr id="12" name="Shape 10"/>
          <p:cNvSpPr/>
          <p:nvPr/>
        </p:nvSpPr>
        <p:spPr>
          <a:xfrm>
            <a:off x="3138678" y="3520440"/>
            <a:ext cx="192024" cy="274320"/>
          </a:xfrm>
          <a:prstGeom prst="rightArrow">
            <a:avLst/>
          </a:prstGeom>
          <a:solidFill>
            <a:srgbClr val="5B6B7C"/>
          </a:solidFill>
          <a:ln/>
        </p:spPr>
      </p:sp>
      <p:sp>
        <p:nvSpPr>
          <p:cNvPr id="13" name="Shape 11"/>
          <p:cNvSpPr/>
          <p:nvPr/>
        </p:nvSpPr>
        <p:spPr>
          <a:xfrm>
            <a:off x="3348990" y="1828800"/>
            <a:ext cx="2617470" cy="3566160"/>
          </a:xfrm>
          <a:prstGeom prst="roundRect">
            <a:avLst>
              <a:gd name="adj" fmla="val 2795"/>
            </a:avLst>
          </a:prstGeom>
          <a:solidFill>
            <a:srgbClr val="1E2761"/>
          </a:solidFill>
          <a:ln/>
        </p:spPr>
      </p:sp>
      <p:sp>
        <p:nvSpPr>
          <p:cNvPr id="14" name="Text 12"/>
          <p:cNvSpPr/>
          <p:nvPr/>
        </p:nvSpPr>
        <p:spPr>
          <a:xfrm>
            <a:off x="3531870" y="2011680"/>
            <a:ext cx="225171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Phase 2</a:t>
            </a:r>
            <a:endParaRPr lang="en-US" sz="1600" dirty="0"/>
          </a:p>
        </p:txBody>
      </p:sp>
      <p:sp>
        <p:nvSpPr>
          <p:cNvPr id="15" name="Text 13"/>
          <p:cNvSpPr/>
          <p:nvPr/>
        </p:nvSpPr>
        <p:spPr>
          <a:xfrm>
            <a:off x="3531870" y="2395728"/>
            <a:ext cx="2251710" cy="274320"/>
          </a:xfrm>
          <a:prstGeom prst="rect">
            <a:avLst/>
          </a:prstGeom>
          <a:noFill/>
          <a:ln/>
        </p:spPr>
        <p:txBody>
          <a:bodyPr wrap="square" rtlCol="0" anchor="ctr"/>
          <a:lstStyle/>
          <a:p>
            <a:pPr indent="0" marL="0">
              <a:buNone/>
            </a:pPr>
            <a:r>
              <a:rPr lang="en-US" sz="1000" b="1" dirty="0">
                <a:solidFill>
                  <a:srgbClr val="02C39A"/>
                </a:solidFill>
                <a:latin typeface="Calibri" pitchFamily="34" charset="0"/>
                <a:ea typeface="Calibri" pitchFamily="34" charset="-122"/>
                <a:cs typeface="Calibri" pitchFamily="34" charset="-120"/>
              </a:rPr>
              <a:t>3–6 months</a:t>
            </a:r>
            <a:endParaRPr lang="en-US" sz="1000" dirty="0"/>
          </a:p>
        </p:txBody>
      </p:sp>
      <p:sp>
        <p:nvSpPr>
          <p:cNvPr id="16" name="Text 14"/>
          <p:cNvSpPr/>
          <p:nvPr/>
        </p:nvSpPr>
        <p:spPr>
          <a:xfrm>
            <a:off x="3531870" y="2724912"/>
            <a:ext cx="2251710" cy="36576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AI-Assisted Operations</a:t>
            </a:r>
            <a:endParaRPr lang="en-US" sz="1150" dirty="0"/>
          </a:p>
        </p:txBody>
      </p:sp>
      <p:sp>
        <p:nvSpPr>
          <p:cNvPr id="17" name="Text 15"/>
          <p:cNvSpPr/>
          <p:nvPr/>
        </p:nvSpPr>
        <p:spPr>
          <a:xfrm>
            <a:off x="3531870" y="3154680"/>
            <a:ext cx="2251710" cy="2103120"/>
          </a:xfrm>
          <a:prstGeom prst="rect">
            <a:avLst/>
          </a:prstGeom>
          <a:noFill/>
          <a:ln/>
        </p:spPr>
        <p:txBody>
          <a:bodyPr wrap="square" rtlCol="0" anchor="t"/>
          <a:lstStyle/>
          <a:p>
            <a:pPr indent="0" marL="0">
              <a:lnSpc>
                <a:spcPct val="115000"/>
              </a:lnSpc>
              <a:buNone/>
            </a:pPr>
            <a:r>
              <a:rPr lang="en-US" sz="950" dirty="0">
                <a:solidFill>
                  <a:srgbClr val="CADCFC"/>
                </a:solidFill>
                <a:latin typeface="Calibri" pitchFamily="34" charset="0"/>
                <a:ea typeface="Calibri" pitchFamily="34" charset="-122"/>
                <a:cs typeface="Calibri" pitchFamily="34" charset="-120"/>
              </a:rPr>
              <a:t>AI correlation &amp; noise reduction live; alert routing to ServiceNow; vulnerability prioritization; runbook recommendations with human approval</a:t>
            </a:r>
            <a:endParaRPr lang="en-US" sz="950" dirty="0"/>
          </a:p>
        </p:txBody>
      </p:sp>
      <p:sp>
        <p:nvSpPr>
          <p:cNvPr id="18" name="Shape 16"/>
          <p:cNvSpPr/>
          <p:nvPr/>
        </p:nvSpPr>
        <p:spPr>
          <a:xfrm>
            <a:off x="5984748" y="3520440"/>
            <a:ext cx="192024" cy="274320"/>
          </a:xfrm>
          <a:prstGeom prst="rightArrow">
            <a:avLst/>
          </a:prstGeom>
          <a:solidFill>
            <a:srgbClr val="5B6B7C"/>
          </a:solidFill>
          <a:ln/>
        </p:spPr>
      </p:sp>
      <p:sp>
        <p:nvSpPr>
          <p:cNvPr id="19" name="Shape 17"/>
          <p:cNvSpPr/>
          <p:nvPr/>
        </p:nvSpPr>
        <p:spPr>
          <a:xfrm>
            <a:off x="6195060" y="1828800"/>
            <a:ext cx="2617470" cy="3566160"/>
          </a:xfrm>
          <a:prstGeom prst="roundRect">
            <a:avLst>
              <a:gd name="adj" fmla="val 2795"/>
            </a:avLst>
          </a:prstGeom>
          <a:solidFill>
            <a:srgbClr val="1E2761"/>
          </a:solidFill>
          <a:ln/>
        </p:spPr>
      </p:sp>
      <p:sp>
        <p:nvSpPr>
          <p:cNvPr id="20" name="Text 18"/>
          <p:cNvSpPr/>
          <p:nvPr/>
        </p:nvSpPr>
        <p:spPr>
          <a:xfrm>
            <a:off x="6377940" y="2011680"/>
            <a:ext cx="225171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Phase 3</a:t>
            </a:r>
            <a:endParaRPr lang="en-US" sz="1600" dirty="0"/>
          </a:p>
        </p:txBody>
      </p:sp>
      <p:sp>
        <p:nvSpPr>
          <p:cNvPr id="21" name="Text 19"/>
          <p:cNvSpPr/>
          <p:nvPr/>
        </p:nvSpPr>
        <p:spPr>
          <a:xfrm>
            <a:off x="6377940" y="2395728"/>
            <a:ext cx="2251710" cy="274320"/>
          </a:xfrm>
          <a:prstGeom prst="rect">
            <a:avLst/>
          </a:prstGeom>
          <a:noFill/>
          <a:ln/>
        </p:spPr>
        <p:txBody>
          <a:bodyPr wrap="square" rtlCol="0" anchor="ctr"/>
          <a:lstStyle/>
          <a:p>
            <a:pPr indent="0" marL="0">
              <a:buNone/>
            </a:pPr>
            <a:r>
              <a:rPr lang="en-US" sz="1000" b="1" dirty="0">
                <a:solidFill>
                  <a:srgbClr val="02C39A"/>
                </a:solidFill>
                <a:latin typeface="Calibri" pitchFamily="34" charset="0"/>
                <a:ea typeface="Calibri" pitchFamily="34" charset="-122"/>
                <a:cs typeface="Calibri" pitchFamily="34" charset="-120"/>
              </a:rPr>
              <a:t>6–12 months</a:t>
            </a:r>
            <a:endParaRPr lang="en-US" sz="1000" dirty="0"/>
          </a:p>
        </p:txBody>
      </p:sp>
      <p:sp>
        <p:nvSpPr>
          <p:cNvPr id="22" name="Text 20"/>
          <p:cNvSpPr/>
          <p:nvPr/>
        </p:nvSpPr>
        <p:spPr>
          <a:xfrm>
            <a:off x="6377940" y="2724912"/>
            <a:ext cx="2251710" cy="36576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Predictive Operations</a:t>
            </a:r>
            <a:endParaRPr lang="en-US" sz="1150" dirty="0"/>
          </a:p>
        </p:txBody>
      </p:sp>
      <p:sp>
        <p:nvSpPr>
          <p:cNvPr id="23" name="Text 21"/>
          <p:cNvSpPr/>
          <p:nvPr/>
        </p:nvSpPr>
        <p:spPr>
          <a:xfrm>
            <a:off x="6377940" y="3154680"/>
            <a:ext cx="2251710" cy="2103120"/>
          </a:xfrm>
          <a:prstGeom prst="rect">
            <a:avLst/>
          </a:prstGeom>
          <a:noFill/>
          <a:ln/>
        </p:spPr>
        <p:txBody>
          <a:bodyPr wrap="square" rtlCol="0" anchor="t"/>
          <a:lstStyle/>
          <a:p>
            <a:pPr indent="0" marL="0">
              <a:lnSpc>
                <a:spcPct val="115000"/>
              </a:lnSpc>
              <a:buNone/>
            </a:pPr>
            <a:r>
              <a:rPr lang="en-US" sz="950" dirty="0">
                <a:solidFill>
                  <a:srgbClr val="CADCFC"/>
                </a:solidFill>
                <a:latin typeface="Calibri" pitchFamily="34" charset="0"/>
                <a:ea typeface="Calibri" pitchFamily="34" charset="-122"/>
                <a:cs typeface="Calibri" pitchFamily="34" charset="-120"/>
              </a:rPr>
              <a:t>ML forecasting for capacity &amp; failure; automated evidence mapping for audit; expand across additional towers</a:t>
            </a:r>
            <a:endParaRPr lang="en-US" sz="950" dirty="0"/>
          </a:p>
        </p:txBody>
      </p:sp>
      <p:sp>
        <p:nvSpPr>
          <p:cNvPr id="24" name="Shape 22"/>
          <p:cNvSpPr/>
          <p:nvPr/>
        </p:nvSpPr>
        <p:spPr>
          <a:xfrm>
            <a:off x="8830818" y="3520440"/>
            <a:ext cx="192024" cy="274320"/>
          </a:xfrm>
          <a:prstGeom prst="rightArrow">
            <a:avLst/>
          </a:prstGeom>
          <a:solidFill>
            <a:srgbClr val="5B6B7C"/>
          </a:solidFill>
          <a:ln/>
        </p:spPr>
      </p:sp>
      <p:sp>
        <p:nvSpPr>
          <p:cNvPr id="25" name="Shape 23"/>
          <p:cNvSpPr/>
          <p:nvPr/>
        </p:nvSpPr>
        <p:spPr>
          <a:xfrm>
            <a:off x="9041130" y="1828800"/>
            <a:ext cx="2617470" cy="3566160"/>
          </a:xfrm>
          <a:prstGeom prst="roundRect">
            <a:avLst>
              <a:gd name="adj" fmla="val 2795"/>
            </a:avLst>
          </a:prstGeom>
          <a:solidFill>
            <a:srgbClr val="1E2761"/>
          </a:solidFill>
          <a:ln/>
        </p:spPr>
      </p:sp>
      <p:sp>
        <p:nvSpPr>
          <p:cNvPr id="26" name="Text 24"/>
          <p:cNvSpPr/>
          <p:nvPr/>
        </p:nvSpPr>
        <p:spPr>
          <a:xfrm>
            <a:off x="9224010" y="2011680"/>
            <a:ext cx="225171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Phase 4</a:t>
            </a:r>
            <a:endParaRPr lang="en-US" sz="1600" dirty="0"/>
          </a:p>
        </p:txBody>
      </p:sp>
      <p:sp>
        <p:nvSpPr>
          <p:cNvPr id="27" name="Text 25"/>
          <p:cNvSpPr/>
          <p:nvPr/>
        </p:nvSpPr>
        <p:spPr>
          <a:xfrm>
            <a:off x="9224010" y="2395728"/>
            <a:ext cx="2251710" cy="274320"/>
          </a:xfrm>
          <a:prstGeom prst="rect">
            <a:avLst/>
          </a:prstGeom>
          <a:noFill/>
          <a:ln/>
        </p:spPr>
        <p:txBody>
          <a:bodyPr wrap="square" rtlCol="0" anchor="ctr"/>
          <a:lstStyle/>
          <a:p>
            <a:pPr indent="0" marL="0">
              <a:buNone/>
            </a:pPr>
            <a:r>
              <a:rPr lang="en-US" sz="1000" b="1" dirty="0">
                <a:solidFill>
                  <a:srgbClr val="02C39A"/>
                </a:solidFill>
                <a:latin typeface="Calibri" pitchFamily="34" charset="0"/>
                <a:ea typeface="Calibri" pitchFamily="34" charset="-122"/>
                <a:cs typeface="Calibri" pitchFamily="34" charset="-120"/>
              </a:rPr>
              <a:t>12–24 months</a:t>
            </a:r>
            <a:endParaRPr lang="en-US" sz="1000" dirty="0"/>
          </a:p>
        </p:txBody>
      </p:sp>
      <p:sp>
        <p:nvSpPr>
          <p:cNvPr id="28" name="Text 26"/>
          <p:cNvSpPr/>
          <p:nvPr/>
        </p:nvSpPr>
        <p:spPr>
          <a:xfrm>
            <a:off x="9224010" y="2724912"/>
            <a:ext cx="2251710" cy="36576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Controlled Autonomous Ops</a:t>
            </a:r>
            <a:endParaRPr lang="en-US" sz="1150" dirty="0"/>
          </a:p>
        </p:txBody>
      </p:sp>
      <p:sp>
        <p:nvSpPr>
          <p:cNvPr id="29" name="Text 27"/>
          <p:cNvSpPr/>
          <p:nvPr/>
        </p:nvSpPr>
        <p:spPr>
          <a:xfrm>
            <a:off x="9224010" y="3154680"/>
            <a:ext cx="2251710" cy="2103120"/>
          </a:xfrm>
          <a:prstGeom prst="rect">
            <a:avLst/>
          </a:prstGeom>
          <a:noFill/>
          <a:ln/>
        </p:spPr>
        <p:txBody>
          <a:bodyPr wrap="square" rtlCol="0" anchor="t"/>
          <a:lstStyle/>
          <a:p>
            <a:pPr indent="0" marL="0">
              <a:lnSpc>
                <a:spcPct val="115000"/>
              </a:lnSpc>
              <a:buNone/>
            </a:pPr>
            <a:r>
              <a:rPr lang="en-US" sz="950" dirty="0">
                <a:solidFill>
                  <a:srgbClr val="CADCFC"/>
                </a:solidFill>
                <a:latin typeface="Calibri" pitchFamily="34" charset="0"/>
                <a:ea typeface="Calibri" pitchFamily="34" charset="-122"/>
                <a:cs typeface="Calibri" pitchFamily="34" charset="-120"/>
              </a:rPr>
              <a:t>Closed-loop auto-remediation for non-critical assets under strict policy governance; continuous auditing and model monitoring</a:t>
            </a:r>
            <a:endParaRPr lang="en-US" sz="950" dirty="0"/>
          </a:p>
        </p:txBody>
      </p:sp>
      <p:sp>
        <p:nvSpPr>
          <p:cNvPr id="30" name="Text 28"/>
          <p:cNvSpPr/>
          <p:nvPr/>
        </p:nvSpPr>
        <p:spPr>
          <a:xfrm>
            <a:off x="502920" y="5577840"/>
            <a:ext cx="11155680" cy="365760"/>
          </a:xfrm>
          <a:prstGeom prst="rect">
            <a:avLst/>
          </a:prstGeom>
          <a:noFill/>
          <a:ln/>
        </p:spPr>
        <p:txBody>
          <a:bodyPr wrap="square" rtlCol="0" anchor="ctr"/>
          <a:lstStyle/>
          <a:p>
            <a:pPr indent="0" marL="0">
              <a:buNone/>
            </a:pPr>
            <a:r>
              <a:rPr lang="en-US" sz="1050" i="1" dirty="0">
                <a:solidFill>
                  <a:srgbClr val="6B7684"/>
                </a:solidFill>
                <a:latin typeface="Calibri" pitchFamily="34" charset="0"/>
                <a:ea typeface="Calibri" pitchFamily="34" charset="-122"/>
                <a:cs typeface="Calibri" pitchFamily="34" charset="-120"/>
              </a:rPr>
              <a:t>Review gate at the end of each phase: measured KPIs must clear target thresholds before proceeding to the next phase.</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GOVERNANCE</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AI Governance &amp; Risk Management (MAS-Aligned)</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6 · ROADMAP &amp; GOVERNANCE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32 / 33</a:t>
            </a:r>
            <a:endParaRPr lang="en-US" sz="850" dirty="0"/>
          </a:p>
        </p:txBody>
      </p:sp>
      <p:sp>
        <p:nvSpPr>
          <p:cNvPr id="7" name="Shape 5"/>
          <p:cNvSpPr/>
          <p:nvPr/>
        </p:nvSpPr>
        <p:spPr>
          <a:xfrm>
            <a:off x="502920" y="1691640"/>
            <a:ext cx="2583180" cy="1965960"/>
          </a:xfrm>
          <a:prstGeom prst="roundRect">
            <a:avLst>
              <a:gd name="adj" fmla="val 3721"/>
            </a:avLst>
          </a:prstGeom>
          <a:solidFill>
            <a:srgbClr val="EEF1F4"/>
          </a:solidFill>
          <a:ln/>
        </p:spPr>
      </p:sp>
      <p:sp>
        <p:nvSpPr>
          <p:cNvPr id="8" name="Shape 6"/>
          <p:cNvSpPr/>
          <p:nvPr/>
        </p:nvSpPr>
        <p:spPr>
          <a:xfrm>
            <a:off x="704088" y="1892808"/>
            <a:ext cx="365760" cy="365760"/>
          </a:xfrm>
          <a:prstGeom prst="ellipse">
            <a:avLst/>
          </a:prstGeom>
          <a:solidFill>
            <a:srgbClr val="1E2761"/>
          </a:solidFill>
          <a:ln/>
        </p:spPr>
      </p:sp>
      <p:sp>
        <p:nvSpPr>
          <p:cNvPr id="9" name="Text 7"/>
          <p:cNvSpPr/>
          <p:nvPr/>
        </p:nvSpPr>
        <p:spPr>
          <a:xfrm>
            <a:off x="704088" y="189280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704088" y="2350008"/>
            <a:ext cx="21808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Approval Gates</a:t>
            </a:r>
            <a:endParaRPr lang="en-US" sz="1350" dirty="0"/>
          </a:p>
        </p:txBody>
      </p:sp>
      <p:sp>
        <p:nvSpPr>
          <p:cNvPr id="11" name="Text 9"/>
          <p:cNvSpPr/>
          <p:nvPr/>
        </p:nvSpPr>
        <p:spPr>
          <a:xfrm>
            <a:off x="704088" y="2679192"/>
            <a:ext cx="2180844" cy="85039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Mandatory human-in-the-loop checkpoints for production changes, access grants and patching — no bypass of policy.</a:t>
            </a:r>
            <a:endParaRPr lang="en-US" sz="950" dirty="0"/>
          </a:p>
        </p:txBody>
      </p:sp>
      <p:sp>
        <p:nvSpPr>
          <p:cNvPr id="12" name="Shape 10"/>
          <p:cNvSpPr/>
          <p:nvPr/>
        </p:nvSpPr>
        <p:spPr>
          <a:xfrm>
            <a:off x="3360420" y="1691640"/>
            <a:ext cx="2583180" cy="1965960"/>
          </a:xfrm>
          <a:prstGeom prst="roundRect">
            <a:avLst>
              <a:gd name="adj" fmla="val 3721"/>
            </a:avLst>
          </a:prstGeom>
          <a:solidFill>
            <a:srgbClr val="EEF1F4"/>
          </a:solidFill>
          <a:ln/>
        </p:spPr>
      </p:sp>
      <p:sp>
        <p:nvSpPr>
          <p:cNvPr id="13" name="Shape 11"/>
          <p:cNvSpPr/>
          <p:nvPr/>
        </p:nvSpPr>
        <p:spPr>
          <a:xfrm>
            <a:off x="3561588" y="1892808"/>
            <a:ext cx="365760" cy="365760"/>
          </a:xfrm>
          <a:prstGeom prst="ellipse">
            <a:avLst/>
          </a:prstGeom>
          <a:solidFill>
            <a:srgbClr val="1E2761"/>
          </a:solidFill>
          <a:ln/>
        </p:spPr>
      </p:sp>
      <p:sp>
        <p:nvSpPr>
          <p:cNvPr id="14" name="Text 12"/>
          <p:cNvSpPr/>
          <p:nvPr/>
        </p:nvSpPr>
        <p:spPr>
          <a:xfrm>
            <a:off x="3561588" y="189280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3561588" y="2350008"/>
            <a:ext cx="21808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Data Protection</a:t>
            </a:r>
            <a:endParaRPr lang="en-US" sz="1350" dirty="0"/>
          </a:p>
        </p:txBody>
      </p:sp>
      <p:sp>
        <p:nvSpPr>
          <p:cNvPr id="16" name="Text 14"/>
          <p:cNvSpPr/>
          <p:nvPr/>
        </p:nvSpPr>
        <p:spPr>
          <a:xfrm>
            <a:off x="3561588" y="2679192"/>
            <a:ext cx="2180844" cy="85039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Data-residency review, tenant isolation, and prompt/data filtering to prevent PII or credential leakage.</a:t>
            </a:r>
            <a:endParaRPr lang="en-US" sz="950" dirty="0"/>
          </a:p>
        </p:txBody>
      </p:sp>
      <p:sp>
        <p:nvSpPr>
          <p:cNvPr id="17" name="Shape 15"/>
          <p:cNvSpPr/>
          <p:nvPr/>
        </p:nvSpPr>
        <p:spPr>
          <a:xfrm>
            <a:off x="6217920" y="1691640"/>
            <a:ext cx="2583180" cy="1965960"/>
          </a:xfrm>
          <a:prstGeom prst="roundRect">
            <a:avLst>
              <a:gd name="adj" fmla="val 3721"/>
            </a:avLst>
          </a:prstGeom>
          <a:solidFill>
            <a:srgbClr val="EEF1F4"/>
          </a:solidFill>
          <a:ln/>
        </p:spPr>
      </p:sp>
      <p:sp>
        <p:nvSpPr>
          <p:cNvPr id="18" name="Shape 16"/>
          <p:cNvSpPr/>
          <p:nvPr/>
        </p:nvSpPr>
        <p:spPr>
          <a:xfrm>
            <a:off x="6419088" y="1892808"/>
            <a:ext cx="365760" cy="365760"/>
          </a:xfrm>
          <a:prstGeom prst="ellipse">
            <a:avLst/>
          </a:prstGeom>
          <a:solidFill>
            <a:srgbClr val="1E2761"/>
          </a:solidFill>
          <a:ln/>
        </p:spPr>
      </p:sp>
      <p:sp>
        <p:nvSpPr>
          <p:cNvPr id="19" name="Text 17"/>
          <p:cNvSpPr/>
          <p:nvPr/>
        </p:nvSpPr>
        <p:spPr>
          <a:xfrm>
            <a:off x="6419088" y="189280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6419088" y="2350008"/>
            <a:ext cx="21808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Auditability</a:t>
            </a:r>
            <a:endParaRPr lang="en-US" sz="1350" dirty="0"/>
          </a:p>
        </p:txBody>
      </p:sp>
      <p:sp>
        <p:nvSpPr>
          <p:cNvPr id="21" name="Text 19"/>
          <p:cNvSpPr/>
          <p:nvPr/>
        </p:nvSpPr>
        <p:spPr>
          <a:xfrm>
            <a:off x="6419088" y="2679192"/>
            <a:ext cx="2180844" cy="85039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End-to-end logging of model inputs, recommendations, approvals and execution — MAS TRM §9 aligned.</a:t>
            </a:r>
            <a:endParaRPr lang="en-US" sz="950" dirty="0"/>
          </a:p>
        </p:txBody>
      </p:sp>
      <p:sp>
        <p:nvSpPr>
          <p:cNvPr id="22" name="Shape 20"/>
          <p:cNvSpPr/>
          <p:nvPr/>
        </p:nvSpPr>
        <p:spPr>
          <a:xfrm>
            <a:off x="9075420" y="1691640"/>
            <a:ext cx="2583180" cy="1965960"/>
          </a:xfrm>
          <a:prstGeom prst="roundRect">
            <a:avLst>
              <a:gd name="adj" fmla="val 3721"/>
            </a:avLst>
          </a:prstGeom>
          <a:solidFill>
            <a:srgbClr val="EEF1F4"/>
          </a:solidFill>
          <a:ln/>
        </p:spPr>
      </p:sp>
      <p:sp>
        <p:nvSpPr>
          <p:cNvPr id="23" name="Shape 21"/>
          <p:cNvSpPr/>
          <p:nvPr/>
        </p:nvSpPr>
        <p:spPr>
          <a:xfrm>
            <a:off x="9276588" y="1892808"/>
            <a:ext cx="365760" cy="365760"/>
          </a:xfrm>
          <a:prstGeom prst="ellipse">
            <a:avLst/>
          </a:prstGeom>
          <a:solidFill>
            <a:srgbClr val="1E2761"/>
          </a:solidFill>
          <a:ln/>
        </p:spPr>
      </p:sp>
      <p:sp>
        <p:nvSpPr>
          <p:cNvPr id="24" name="Text 22"/>
          <p:cNvSpPr/>
          <p:nvPr/>
        </p:nvSpPr>
        <p:spPr>
          <a:xfrm>
            <a:off x="9276588" y="1892808"/>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9276588" y="2350008"/>
            <a:ext cx="2180844" cy="365760"/>
          </a:xfrm>
          <a:prstGeom prst="rect">
            <a:avLst/>
          </a:prstGeom>
          <a:noFill/>
          <a:ln/>
        </p:spPr>
        <p:txBody>
          <a:bodyPr wrap="square" rtlCol="0" anchor="ctr"/>
          <a:lstStyle/>
          <a:p>
            <a:pPr indent="0" marL="0">
              <a:buNone/>
            </a:pPr>
            <a:r>
              <a:rPr lang="en-US" sz="1350" b="1" dirty="0">
                <a:solidFill>
                  <a:srgbClr val="232B3A"/>
                </a:solidFill>
                <a:latin typeface="Cambria" pitchFamily="34" charset="0"/>
                <a:ea typeface="Cambria" pitchFamily="34" charset="-122"/>
                <a:cs typeface="Cambria" pitchFamily="34" charset="-120"/>
              </a:rPr>
              <a:t>Model Monitoring</a:t>
            </a:r>
            <a:endParaRPr lang="en-US" sz="1350" dirty="0"/>
          </a:p>
        </p:txBody>
      </p:sp>
      <p:sp>
        <p:nvSpPr>
          <p:cNvPr id="26" name="Text 24"/>
          <p:cNvSpPr/>
          <p:nvPr/>
        </p:nvSpPr>
        <p:spPr>
          <a:xfrm>
            <a:off x="9276588" y="2679192"/>
            <a:ext cx="2180844" cy="850392"/>
          </a:xfrm>
          <a:prstGeom prst="rect">
            <a:avLst/>
          </a:prstGeom>
          <a:noFill/>
          <a:ln/>
        </p:spPr>
        <p:txBody>
          <a:bodyPr wrap="square" rtlCol="0" anchor="t"/>
          <a:lstStyle/>
          <a:p>
            <a:pPr indent="0" marL="0">
              <a:lnSpc>
                <a:spcPct val="112000"/>
              </a:lnSpc>
              <a:buNone/>
            </a:pPr>
            <a:r>
              <a:rPr lang="en-US" sz="950" dirty="0">
                <a:solidFill>
                  <a:srgbClr val="6B7684"/>
                </a:solidFill>
                <a:latin typeface="Calibri" pitchFamily="34" charset="0"/>
                <a:ea typeface="Calibri" pitchFamily="34" charset="-122"/>
                <a:cs typeface="Calibri" pitchFamily="34" charset="-120"/>
              </a:rPr>
              <a:t>Continuous testing for prompt injection &amp; hallucination; central model performance/bias repository (MindForge).</a:t>
            </a:r>
            <a:endParaRPr lang="en-US" sz="950" dirty="0"/>
          </a:p>
        </p:txBody>
      </p:sp>
      <p:sp>
        <p:nvSpPr>
          <p:cNvPr id="27" name="Shape 25"/>
          <p:cNvSpPr/>
          <p:nvPr/>
        </p:nvSpPr>
        <p:spPr>
          <a:xfrm>
            <a:off x="502920" y="3886200"/>
            <a:ext cx="11155680" cy="1783080"/>
          </a:xfrm>
          <a:prstGeom prst="roundRect">
            <a:avLst>
              <a:gd name="adj" fmla="val 4103"/>
            </a:avLst>
          </a:prstGeom>
          <a:solidFill>
            <a:srgbClr val="1E2761"/>
          </a:solidFill>
          <a:ln/>
        </p:spPr>
      </p:sp>
      <p:sp>
        <p:nvSpPr>
          <p:cNvPr id="28" name="Text 26"/>
          <p:cNvSpPr/>
          <p:nvPr/>
        </p:nvSpPr>
        <p:spPr>
          <a:xfrm>
            <a:off x="777240" y="4023360"/>
            <a:ext cx="1060704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AI Adoption Framework — Matching Autonomy to Risk</a:t>
            </a:r>
            <a:endParaRPr lang="en-US" sz="1300" dirty="0"/>
          </a:p>
        </p:txBody>
      </p:sp>
      <p:sp>
        <p:nvSpPr>
          <p:cNvPr id="29" name="Text 27"/>
          <p:cNvSpPr/>
          <p:nvPr/>
        </p:nvSpPr>
        <p:spPr>
          <a:xfrm>
            <a:off x="685800" y="4434840"/>
            <a:ext cx="3352800" cy="274320"/>
          </a:xfrm>
          <a:prstGeom prst="rect">
            <a:avLst/>
          </a:prstGeom>
          <a:noFill/>
          <a:ln/>
        </p:spPr>
        <p:txBody>
          <a:bodyPr wrap="square" rtlCol="0" anchor="ctr"/>
          <a:lstStyle/>
          <a:p>
            <a:pPr indent="0" marL="0">
              <a:buNone/>
            </a:pPr>
            <a:r>
              <a:rPr lang="en-US" sz="1250" b="1" dirty="0">
                <a:solidFill>
                  <a:srgbClr val="02C39A"/>
                </a:solidFill>
                <a:latin typeface="Cambria" pitchFamily="34" charset="0"/>
                <a:ea typeface="Cambria" pitchFamily="34" charset="-122"/>
                <a:cs typeface="Cambria" pitchFamily="34" charset="-120"/>
              </a:rPr>
              <a:t>Assistive AI</a:t>
            </a:r>
            <a:endParaRPr lang="en-US" sz="1250" dirty="0"/>
          </a:p>
        </p:txBody>
      </p:sp>
      <p:sp>
        <p:nvSpPr>
          <p:cNvPr id="30" name="Text 28"/>
          <p:cNvSpPr/>
          <p:nvPr/>
        </p:nvSpPr>
        <p:spPr>
          <a:xfrm>
            <a:off x="685800" y="4709160"/>
            <a:ext cx="3352800" cy="228600"/>
          </a:xfrm>
          <a:prstGeom prst="rect">
            <a:avLst/>
          </a:prstGeom>
          <a:noFill/>
          <a:ln/>
        </p:spPr>
        <p:txBody>
          <a:bodyPr wrap="square" rtlCol="0" anchor="ctr"/>
          <a:lstStyle/>
          <a:p>
            <a:pPr indent="0" marL="0">
              <a:buNone/>
            </a:pPr>
            <a:r>
              <a:rPr lang="en-US" sz="950" b="1" dirty="0">
                <a:solidFill>
                  <a:srgbClr val="D98E04"/>
                </a:solidFill>
                <a:latin typeface="Calibri" pitchFamily="34" charset="0"/>
                <a:ea typeface="Calibri" pitchFamily="34" charset="-122"/>
                <a:cs typeface="Calibri" pitchFamily="34" charset="-120"/>
              </a:rPr>
              <a:t>Low Risk</a:t>
            </a:r>
            <a:endParaRPr lang="en-US" sz="950" dirty="0"/>
          </a:p>
        </p:txBody>
      </p:sp>
      <p:sp>
        <p:nvSpPr>
          <p:cNvPr id="31" name="Text 29"/>
          <p:cNvSpPr/>
          <p:nvPr/>
        </p:nvSpPr>
        <p:spPr>
          <a:xfrm>
            <a:off x="685800" y="4956048"/>
            <a:ext cx="3352800" cy="548640"/>
          </a:xfrm>
          <a:prstGeom prst="rect">
            <a:avLst/>
          </a:prstGeom>
          <a:noFill/>
          <a:ln/>
        </p:spPr>
        <p:txBody>
          <a:bodyPr wrap="square" rtlCol="0" anchor="ctr"/>
          <a:lstStyle/>
          <a:p>
            <a:pPr indent="0" marL="0">
              <a:lnSpc>
                <a:spcPct val="115000"/>
              </a:lnSpc>
              <a:buNone/>
            </a:pPr>
            <a:r>
              <a:rPr lang="en-US" sz="950" dirty="0">
                <a:solidFill>
                  <a:srgbClr val="CADCFC"/>
                </a:solidFill>
                <a:latin typeface="Calibri" pitchFamily="34" charset="0"/>
                <a:ea typeface="Calibri" pitchFamily="34" charset="-122"/>
                <a:cs typeface="Calibri" pitchFamily="34" charset="-120"/>
              </a:rPr>
              <a:t>Content generation, summarization, advisory support</a:t>
            </a:r>
            <a:endParaRPr lang="en-US" sz="950" dirty="0"/>
          </a:p>
        </p:txBody>
      </p:sp>
      <p:sp>
        <p:nvSpPr>
          <p:cNvPr id="32" name="Text 30"/>
          <p:cNvSpPr/>
          <p:nvPr/>
        </p:nvSpPr>
        <p:spPr>
          <a:xfrm>
            <a:off x="4404360" y="4434840"/>
            <a:ext cx="3352800" cy="274320"/>
          </a:xfrm>
          <a:prstGeom prst="rect">
            <a:avLst/>
          </a:prstGeom>
          <a:noFill/>
          <a:ln/>
        </p:spPr>
        <p:txBody>
          <a:bodyPr wrap="square" rtlCol="0" anchor="ctr"/>
          <a:lstStyle/>
          <a:p>
            <a:pPr indent="0" marL="0">
              <a:buNone/>
            </a:pPr>
            <a:r>
              <a:rPr lang="en-US" sz="1250" b="1" dirty="0">
                <a:solidFill>
                  <a:srgbClr val="02C39A"/>
                </a:solidFill>
                <a:latin typeface="Cambria" pitchFamily="34" charset="0"/>
                <a:ea typeface="Cambria" pitchFamily="34" charset="-122"/>
                <a:cs typeface="Cambria" pitchFamily="34" charset="-120"/>
              </a:rPr>
              <a:t>Semi-Autonomous</a:t>
            </a:r>
            <a:endParaRPr lang="en-US" sz="1250" dirty="0"/>
          </a:p>
        </p:txBody>
      </p:sp>
      <p:sp>
        <p:nvSpPr>
          <p:cNvPr id="33" name="Text 31"/>
          <p:cNvSpPr/>
          <p:nvPr/>
        </p:nvSpPr>
        <p:spPr>
          <a:xfrm>
            <a:off x="4404360" y="4709160"/>
            <a:ext cx="3352800" cy="228600"/>
          </a:xfrm>
          <a:prstGeom prst="rect">
            <a:avLst/>
          </a:prstGeom>
          <a:noFill/>
          <a:ln/>
        </p:spPr>
        <p:txBody>
          <a:bodyPr wrap="square" rtlCol="0" anchor="ctr"/>
          <a:lstStyle/>
          <a:p>
            <a:pPr indent="0" marL="0">
              <a:buNone/>
            </a:pPr>
            <a:r>
              <a:rPr lang="en-US" sz="950" b="1" dirty="0">
                <a:solidFill>
                  <a:srgbClr val="D98E04"/>
                </a:solidFill>
                <a:latin typeface="Calibri" pitchFamily="34" charset="0"/>
                <a:ea typeface="Calibri" pitchFamily="34" charset="-122"/>
                <a:cs typeface="Calibri" pitchFamily="34" charset="-120"/>
              </a:rPr>
              <a:t>Medium Risk</a:t>
            </a:r>
            <a:endParaRPr lang="en-US" sz="950" dirty="0"/>
          </a:p>
        </p:txBody>
      </p:sp>
      <p:sp>
        <p:nvSpPr>
          <p:cNvPr id="34" name="Text 32"/>
          <p:cNvSpPr/>
          <p:nvPr/>
        </p:nvSpPr>
        <p:spPr>
          <a:xfrm>
            <a:off x="4404360" y="4956048"/>
            <a:ext cx="3352800" cy="548640"/>
          </a:xfrm>
          <a:prstGeom prst="rect">
            <a:avLst/>
          </a:prstGeom>
          <a:noFill/>
          <a:ln/>
        </p:spPr>
        <p:txBody>
          <a:bodyPr wrap="square" rtlCol="0" anchor="ctr"/>
          <a:lstStyle/>
          <a:p>
            <a:pPr indent="0" marL="0">
              <a:lnSpc>
                <a:spcPct val="115000"/>
              </a:lnSpc>
              <a:buNone/>
            </a:pPr>
            <a:r>
              <a:rPr lang="en-US" sz="950" dirty="0">
                <a:solidFill>
                  <a:srgbClr val="CADCFC"/>
                </a:solidFill>
                <a:latin typeface="Calibri" pitchFamily="34" charset="0"/>
                <a:ea typeface="Calibri" pitchFamily="34" charset="-122"/>
                <a:cs typeface="Calibri" pitchFamily="34" charset="-120"/>
              </a:rPr>
              <a:t>Workflow execution with mandatory human verification</a:t>
            </a:r>
            <a:endParaRPr lang="en-US" sz="950" dirty="0"/>
          </a:p>
        </p:txBody>
      </p:sp>
      <p:sp>
        <p:nvSpPr>
          <p:cNvPr id="35" name="Shape 33"/>
          <p:cNvSpPr/>
          <p:nvPr/>
        </p:nvSpPr>
        <p:spPr>
          <a:xfrm>
            <a:off x="4221480" y="4434840"/>
            <a:ext cx="0" cy="1051560"/>
          </a:xfrm>
          <a:prstGeom prst="line">
            <a:avLst/>
          </a:prstGeom>
          <a:noFill/>
          <a:ln w="12700">
            <a:solidFill>
              <a:srgbClr val="141B4D"/>
            </a:solidFill>
            <a:prstDash val="solid"/>
          </a:ln>
        </p:spPr>
      </p:sp>
      <p:sp>
        <p:nvSpPr>
          <p:cNvPr id="36" name="Text 34"/>
          <p:cNvSpPr/>
          <p:nvPr/>
        </p:nvSpPr>
        <p:spPr>
          <a:xfrm>
            <a:off x="8122920" y="4434840"/>
            <a:ext cx="3352800" cy="274320"/>
          </a:xfrm>
          <a:prstGeom prst="rect">
            <a:avLst/>
          </a:prstGeom>
          <a:noFill/>
          <a:ln/>
        </p:spPr>
        <p:txBody>
          <a:bodyPr wrap="square" rtlCol="0" anchor="ctr"/>
          <a:lstStyle/>
          <a:p>
            <a:pPr indent="0" marL="0">
              <a:buNone/>
            </a:pPr>
            <a:r>
              <a:rPr lang="en-US" sz="1250" b="1" dirty="0">
                <a:solidFill>
                  <a:srgbClr val="02C39A"/>
                </a:solidFill>
                <a:latin typeface="Cambria" pitchFamily="34" charset="0"/>
                <a:ea typeface="Cambria" pitchFamily="34" charset="-122"/>
                <a:cs typeface="Cambria" pitchFamily="34" charset="-120"/>
              </a:rPr>
              <a:t>Controlled Autonomous</a:t>
            </a:r>
            <a:endParaRPr lang="en-US" sz="1250" dirty="0"/>
          </a:p>
        </p:txBody>
      </p:sp>
      <p:sp>
        <p:nvSpPr>
          <p:cNvPr id="37" name="Text 35"/>
          <p:cNvSpPr/>
          <p:nvPr/>
        </p:nvSpPr>
        <p:spPr>
          <a:xfrm>
            <a:off x="8122920" y="4709160"/>
            <a:ext cx="3352800" cy="228600"/>
          </a:xfrm>
          <a:prstGeom prst="rect">
            <a:avLst/>
          </a:prstGeom>
          <a:noFill/>
          <a:ln/>
        </p:spPr>
        <p:txBody>
          <a:bodyPr wrap="square" rtlCol="0" anchor="ctr"/>
          <a:lstStyle/>
          <a:p>
            <a:pPr indent="0" marL="0">
              <a:buNone/>
            </a:pPr>
            <a:r>
              <a:rPr lang="en-US" sz="950" b="1" dirty="0">
                <a:solidFill>
                  <a:srgbClr val="D98E04"/>
                </a:solidFill>
                <a:latin typeface="Calibri" pitchFamily="34" charset="0"/>
                <a:ea typeface="Calibri" pitchFamily="34" charset="-122"/>
                <a:cs typeface="Calibri" pitchFamily="34" charset="-120"/>
              </a:rPr>
              <a:t>High Risk</a:t>
            </a:r>
            <a:endParaRPr lang="en-US" sz="950" dirty="0"/>
          </a:p>
        </p:txBody>
      </p:sp>
      <p:sp>
        <p:nvSpPr>
          <p:cNvPr id="38" name="Text 36"/>
          <p:cNvSpPr/>
          <p:nvPr/>
        </p:nvSpPr>
        <p:spPr>
          <a:xfrm>
            <a:off x="8122920" y="4956048"/>
            <a:ext cx="3352800" cy="548640"/>
          </a:xfrm>
          <a:prstGeom prst="rect">
            <a:avLst/>
          </a:prstGeom>
          <a:noFill/>
          <a:ln/>
        </p:spPr>
        <p:txBody>
          <a:bodyPr wrap="square" rtlCol="0" anchor="ctr"/>
          <a:lstStyle/>
          <a:p>
            <a:pPr indent="0" marL="0">
              <a:lnSpc>
                <a:spcPct val="115000"/>
              </a:lnSpc>
              <a:buNone/>
            </a:pPr>
            <a:r>
              <a:rPr lang="en-US" sz="950" dirty="0">
                <a:solidFill>
                  <a:srgbClr val="CADCFC"/>
                </a:solidFill>
                <a:latin typeface="Calibri" pitchFamily="34" charset="0"/>
                <a:ea typeface="Calibri" pitchFamily="34" charset="-122"/>
                <a:cs typeface="Calibri" pitchFamily="34" charset="-120"/>
              </a:rPr>
              <a:t>Closed-loop remediation under strict policy &amp; audit</a:t>
            </a:r>
            <a:endParaRPr lang="en-US" sz="950" dirty="0"/>
          </a:p>
        </p:txBody>
      </p:sp>
      <p:sp>
        <p:nvSpPr>
          <p:cNvPr id="39" name="Shape 37"/>
          <p:cNvSpPr/>
          <p:nvPr/>
        </p:nvSpPr>
        <p:spPr>
          <a:xfrm>
            <a:off x="7940040" y="4434840"/>
            <a:ext cx="0" cy="1051560"/>
          </a:xfrm>
          <a:prstGeom prst="line">
            <a:avLst/>
          </a:prstGeom>
          <a:noFill/>
          <a:ln w="12700">
            <a:solidFill>
              <a:srgbClr val="141B4D"/>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02920" y="292608"/>
            <a:ext cx="9144000" cy="274320"/>
          </a:xfrm>
          <a:prstGeom prst="rect">
            <a:avLst/>
          </a:prstGeom>
          <a:noFill/>
          <a:ln/>
        </p:spPr>
        <p:txBody>
          <a:bodyPr wrap="square" rtlCol="0" anchor="ctr"/>
          <a:lstStyle/>
          <a:p>
            <a:pPr indent="0" marL="0">
              <a:buNone/>
            </a:pPr>
            <a:r>
              <a:rPr lang="en-US" sz="1100" b="1" spc="200" kern="0" dirty="0">
                <a:solidFill>
                  <a:srgbClr val="019879"/>
                </a:solidFill>
                <a:latin typeface="Calibri" pitchFamily="34" charset="0"/>
                <a:ea typeface="Calibri" pitchFamily="34" charset="-122"/>
                <a:cs typeface="Calibri" pitchFamily="34" charset="-120"/>
              </a:rPr>
              <a:t>FINAL RECOMMENDATION</a:t>
            </a:r>
            <a:endParaRPr lang="en-US" sz="1100" dirty="0"/>
          </a:p>
        </p:txBody>
      </p:sp>
      <p:sp>
        <p:nvSpPr>
          <p:cNvPr id="4" name="Text 2"/>
          <p:cNvSpPr/>
          <p:nvPr/>
        </p:nvSpPr>
        <p:spPr>
          <a:xfrm>
            <a:off x="502920" y="548640"/>
            <a:ext cx="11155680" cy="640080"/>
          </a:xfrm>
          <a:prstGeom prst="rect">
            <a:avLst/>
          </a:prstGeom>
          <a:noFill/>
          <a:ln/>
        </p:spPr>
        <p:txBody>
          <a:bodyPr wrap="square" rtlCol="0" anchor="ctr"/>
          <a:lstStyle/>
          <a:p>
            <a:pPr indent="0" marL="0">
              <a:buNone/>
            </a:pPr>
            <a:r>
              <a:rPr lang="en-US" sz="2700" b="1" dirty="0">
                <a:solidFill>
                  <a:srgbClr val="232B3A"/>
                </a:solidFill>
                <a:latin typeface="Cambria" pitchFamily="34" charset="0"/>
                <a:ea typeface="Cambria" pitchFamily="34" charset="-122"/>
                <a:cs typeface="Cambria" pitchFamily="34" charset="-120"/>
              </a:rPr>
              <a:t>Board Recommendation &amp; Investment Priorities</a:t>
            </a:r>
            <a:endParaRPr lang="en-US" sz="2700" dirty="0"/>
          </a:p>
        </p:txBody>
      </p:sp>
      <p:sp>
        <p:nvSpPr>
          <p:cNvPr id="5" name="Text 3"/>
          <p:cNvSpPr/>
          <p:nvPr/>
        </p:nvSpPr>
        <p:spPr>
          <a:xfrm>
            <a:off x="457200" y="6492240"/>
            <a:ext cx="6400800" cy="274320"/>
          </a:xfrm>
          <a:prstGeom prst="rect">
            <a:avLst/>
          </a:prstGeom>
          <a:noFill/>
          <a:ln/>
        </p:spPr>
        <p:txBody>
          <a:bodyPr wrap="square" rtlCol="0" anchor="ctr"/>
          <a:lstStyle/>
          <a:p>
            <a:pPr indent="0" marL="0">
              <a:buNone/>
            </a:pPr>
            <a:r>
              <a:rPr lang="en-US" sz="850" spc="100" kern="0" dirty="0">
                <a:solidFill>
                  <a:srgbClr val="6B7684"/>
                </a:solidFill>
                <a:latin typeface="Calibri" pitchFamily="34" charset="0"/>
                <a:ea typeface="Calibri" pitchFamily="34" charset="-122"/>
                <a:cs typeface="Calibri" pitchFamily="34" charset="-120"/>
              </a:rPr>
              <a:t>6 · ROADMAP &amp; GOVERNANCE</a:t>
            </a:r>
            <a:endParaRPr lang="en-US" sz="850" dirty="0"/>
          </a:p>
        </p:txBody>
      </p:sp>
      <p:sp>
        <p:nvSpPr>
          <p:cNvPr id="6" name="Text 4"/>
          <p:cNvSpPr/>
          <p:nvPr/>
        </p:nvSpPr>
        <p:spPr>
          <a:xfrm>
            <a:off x="11091672" y="6492240"/>
            <a:ext cx="731520" cy="274320"/>
          </a:xfrm>
          <a:prstGeom prst="rect">
            <a:avLst/>
          </a:prstGeom>
          <a:noFill/>
          <a:ln/>
        </p:spPr>
        <p:txBody>
          <a:bodyPr wrap="square"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33 / 33</a:t>
            </a:r>
            <a:endParaRPr lang="en-US" sz="850" dirty="0"/>
          </a:p>
        </p:txBody>
      </p:sp>
      <p:sp>
        <p:nvSpPr>
          <p:cNvPr id="7" name="Shape 5"/>
          <p:cNvSpPr/>
          <p:nvPr/>
        </p:nvSpPr>
        <p:spPr>
          <a:xfrm>
            <a:off x="502920" y="1737360"/>
            <a:ext cx="5440680" cy="1051560"/>
          </a:xfrm>
          <a:prstGeom prst="roundRect">
            <a:avLst>
              <a:gd name="adj" fmla="val 6957"/>
            </a:avLst>
          </a:prstGeom>
          <a:solidFill>
            <a:srgbClr val="EEF1F4"/>
          </a:solidFill>
          <a:ln/>
        </p:spPr>
      </p:sp>
      <p:sp>
        <p:nvSpPr>
          <p:cNvPr id="8" name="Shape 6"/>
          <p:cNvSpPr/>
          <p:nvPr/>
        </p:nvSpPr>
        <p:spPr>
          <a:xfrm>
            <a:off x="667512" y="1901952"/>
            <a:ext cx="365760" cy="365760"/>
          </a:xfrm>
          <a:prstGeom prst="roundRect">
            <a:avLst>
              <a:gd name="adj" fmla="val 22500"/>
            </a:avLst>
          </a:prstGeom>
          <a:solidFill>
            <a:srgbClr val="02C39A"/>
          </a:solidFill>
          <a:ln/>
        </p:spPr>
      </p:sp>
      <p:sp>
        <p:nvSpPr>
          <p:cNvPr id="9" name="Text 7"/>
          <p:cNvSpPr/>
          <p:nvPr/>
        </p:nvSpPr>
        <p:spPr>
          <a:xfrm>
            <a:off x="667512" y="1901952"/>
            <a:ext cx="365760" cy="365760"/>
          </a:xfrm>
          <a:prstGeom prst="rect">
            <a:avLst/>
          </a:prstGeom>
          <a:noFill/>
          <a:ln/>
        </p:spPr>
        <p:txBody>
          <a:bodyPr wrap="square" rtlCol="0" anchor="ctr"/>
          <a:lstStyle/>
          <a:p>
            <a:pPr algn="ctr" indent="0" marL="0">
              <a:buNone/>
            </a:pPr>
            <a:r>
              <a:rPr lang="en-US" sz="1400" b="1" dirty="0">
                <a:solidFill>
                  <a:srgbClr val="141B4D"/>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61288" y="1828800"/>
            <a:ext cx="4617720" cy="868680"/>
          </a:xfrm>
          <a:prstGeom prst="rect">
            <a:avLst/>
          </a:prstGeom>
          <a:noFill/>
          <a:ln/>
        </p:spPr>
        <p:txBody>
          <a:bodyPr wrap="square" rtlCol="0" anchor="ctr"/>
          <a:lstStyle/>
          <a:p>
            <a:pPr indent="0" marL="0">
              <a:lnSpc>
                <a:spcPct val="115000"/>
              </a:lnSpc>
              <a:buNone/>
            </a:pPr>
            <a:r>
              <a:rPr lang="en-US" sz="1050" dirty="0">
                <a:solidFill>
                  <a:srgbClr val="232B3A"/>
                </a:solidFill>
                <a:latin typeface="Calibri" pitchFamily="34" charset="0"/>
                <a:ea typeface="Calibri" pitchFamily="34" charset="-122"/>
                <a:cs typeface="Calibri" pitchFamily="34" charset="-120"/>
              </a:rPr>
              <a:t>Approve a two-platform PoC: Edwin AI (hybrid overlay) vs. IBM Cloud Pak for AIOps (regulated on-prem) over an 8-week evaluation window</a:t>
            </a:r>
            <a:endParaRPr lang="en-US" sz="1050" dirty="0"/>
          </a:p>
        </p:txBody>
      </p:sp>
      <p:sp>
        <p:nvSpPr>
          <p:cNvPr id="11" name="Shape 9"/>
          <p:cNvSpPr/>
          <p:nvPr/>
        </p:nvSpPr>
        <p:spPr>
          <a:xfrm>
            <a:off x="6217920" y="1737360"/>
            <a:ext cx="5440680" cy="1051560"/>
          </a:xfrm>
          <a:prstGeom prst="roundRect">
            <a:avLst>
              <a:gd name="adj" fmla="val 6957"/>
            </a:avLst>
          </a:prstGeom>
          <a:solidFill>
            <a:srgbClr val="EEF1F4"/>
          </a:solidFill>
          <a:ln/>
        </p:spPr>
      </p:sp>
      <p:sp>
        <p:nvSpPr>
          <p:cNvPr id="12" name="Shape 10"/>
          <p:cNvSpPr/>
          <p:nvPr/>
        </p:nvSpPr>
        <p:spPr>
          <a:xfrm>
            <a:off x="6382512" y="1901952"/>
            <a:ext cx="365760" cy="365760"/>
          </a:xfrm>
          <a:prstGeom prst="roundRect">
            <a:avLst>
              <a:gd name="adj" fmla="val 22500"/>
            </a:avLst>
          </a:prstGeom>
          <a:solidFill>
            <a:srgbClr val="02C39A"/>
          </a:solidFill>
          <a:ln/>
        </p:spPr>
      </p:sp>
      <p:sp>
        <p:nvSpPr>
          <p:cNvPr id="13" name="Text 11"/>
          <p:cNvSpPr/>
          <p:nvPr/>
        </p:nvSpPr>
        <p:spPr>
          <a:xfrm>
            <a:off x="6382512" y="1901952"/>
            <a:ext cx="365760" cy="365760"/>
          </a:xfrm>
          <a:prstGeom prst="rect">
            <a:avLst/>
          </a:prstGeom>
          <a:noFill/>
          <a:ln/>
        </p:spPr>
        <p:txBody>
          <a:bodyPr wrap="square" rtlCol="0" anchor="ctr"/>
          <a:lstStyle/>
          <a:p>
            <a:pPr algn="ctr" indent="0" marL="0">
              <a:buNone/>
            </a:pPr>
            <a:r>
              <a:rPr lang="en-US" sz="1400" b="1" dirty="0">
                <a:solidFill>
                  <a:srgbClr val="141B4D"/>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6876288" y="1828800"/>
            <a:ext cx="4617720" cy="868680"/>
          </a:xfrm>
          <a:prstGeom prst="rect">
            <a:avLst/>
          </a:prstGeom>
          <a:noFill/>
          <a:ln/>
        </p:spPr>
        <p:txBody>
          <a:bodyPr wrap="square" rtlCol="0" anchor="ctr"/>
          <a:lstStyle/>
          <a:p>
            <a:pPr indent="0" marL="0">
              <a:lnSpc>
                <a:spcPct val="115000"/>
              </a:lnSpc>
              <a:buNone/>
            </a:pPr>
            <a:r>
              <a:rPr lang="en-US" sz="1050" dirty="0">
                <a:solidFill>
                  <a:srgbClr val="232B3A"/>
                </a:solidFill>
                <a:latin typeface="Calibri" pitchFamily="34" charset="0"/>
                <a:ea typeface="Calibri" pitchFamily="34" charset="-122"/>
                <a:cs typeface="Calibri" pitchFamily="34" charset="-120"/>
              </a:rPr>
              <a:t>Sequence rollout starting with Service Desk / ITSM (fastest ROI, lowest risk) before Network and Platform Operations</a:t>
            </a:r>
            <a:endParaRPr lang="en-US" sz="1050" dirty="0"/>
          </a:p>
        </p:txBody>
      </p:sp>
      <p:sp>
        <p:nvSpPr>
          <p:cNvPr id="15" name="Shape 13"/>
          <p:cNvSpPr/>
          <p:nvPr/>
        </p:nvSpPr>
        <p:spPr>
          <a:xfrm>
            <a:off x="502920" y="2971800"/>
            <a:ext cx="5440680" cy="1051560"/>
          </a:xfrm>
          <a:prstGeom prst="roundRect">
            <a:avLst>
              <a:gd name="adj" fmla="val 6957"/>
            </a:avLst>
          </a:prstGeom>
          <a:solidFill>
            <a:srgbClr val="EEF1F4"/>
          </a:solidFill>
          <a:ln/>
        </p:spPr>
      </p:sp>
      <p:sp>
        <p:nvSpPr>
          <p:cNvPr id="16" name="Shape 14"/>
          <p:cNvSpPr/>
          <p:nvPr/>
        </p:nvSpPr>
        <p:spPr>
          <a:xfrm>
            <a:off x="667512" y="3136392"/>
            <a:ext cx="365760" cy="365760"/>
          </a:xfrm>
          <a:prstGeom prst="roundRect">
            <a:avLst>
              <a:gd name="adj" fmla="val 22500"/>
            </a:avLst>
          </a:prstGeom>
          <a:solidFill>
            <a:srgbClr val="02C39A"/>
          </a:solidFill>
          <a:ln/>
        </p:spPr>
      </p:sp>
      <p:sp>
        <p:nvSpPr>
          <p:cNvPr id="17" name="Text 15"/>
          <p:cNvSpPr/>
          <p:nvPr/>
        </p:nvSpPr>
        <p:spPr>
          <a:xfrm>
            <a:off x="667512" y="3136392"/>
            <a:ext cx="365760" cy="365760"/>
          </a:xfrm>
          <a:prstGeom prst="rect">
            <a:avLst/>
          </a:prstGeom>
          <a:noFill/>
          <a:ln/>
        </p:spPr>
        <p:txBody>
          <a:bodyPr wrap="square" rtlCol="0" anchor="ctr"/>
          <a:lstStyle/>
          <a:p>
            <a:pPr algn="ctr" indent="0" marL="0">
              <a:buNone/>
            </a:pPr>
            <a:r>
              <a:rPr lang="en-US" sz="1400" b="1" dirty="0">
                <a:solidFill>
                  <a:srgbClr val="141B4D"/>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61288" y="3063240"/>
            <a:ext cx="4617720" cy="868680"/>
          </a:xfrm>
          <a:prstGeom prst="rect">
            <a:avLst/>
          </a:prstGeom>
          <a:noFill/>
          <a:ln/>
        </p:spPr>
        <p:txBody>
          <a:bodyPr wrap="square" rtlCol="0" anchor="ctr"/>
          <a:lstStyle/>
          <a:p>
            <a:pPr indent="0" marL="0">
              <a:lnSpc>
                <a:spcPct val="115000"/>
              </a:lnSpc>
              <a:buNone/>
            </a:pPr>
            <a:r>
              <a:rPr lang="en-US" sz="1050" dirty="0">
                <a:solidFill>
                  <a:srgbClr val="232B3A"/>
                </a:solidFill>
                <a:latin typeface="Calibri" pitchFamily="34" charset="0"/>
                <a:ea typeface="Calibri" pitchFamily="34" charset="-122"/>
                <a:cs typeface="Calibri" pitchFamily="34" charset="-120"/>
              </a:rPr>
              <a:t>Adopt a Manager-of-Managers integration model — preserve SolarWinds, OEM, Instana, Splunk, ServiceNow and CyberArk investments</a:t>
            </a:r>
            <a:endParaRPr lang="en-US" sz="1050" dirty="0"/>
          </a:p>
        </p:txBody>
      </p:sp>
      <p:sp>
        <p:nvSpPr>
          <p:cNvPr id="19" name="Shape 17"/>
          <p:cNvSpPr/>
          <p:nvPr/>
        </p:nvSpPr>
        <p:spPr>
          <a:xfrm>
            <a:off x="6217920" y="2971800"/>
            <a:ext cx="5440680" cy="1051560"/>
          </a:xfrm>
          <a:prstGeom prst="roundRect">
            <a:avLst>
              <a:gd name="adj" fmla="val 6957"/>
            </a:avLst>
          </a:prstGeom>
          <a:solidFill>
            <a:srgbClr val="EEF1F4"/>
          </a:solidFill>
          <a:ln/>
        </p:spPr>
      </p:sp>
      <p:sp>
        <p:nvSpPr>
          <p:cNvPr id="20" name="Shape 18"/>
          <p:cNvSpPr/>
          <p:nvPr/>
        </p:nvSpPr>
        <p:spPr>
          <a:xfrm>
            <a:off x="6382512" y="3136392"/>
            <a:ext cx="365760" cy="365760"/>
          </a:xfrm>
          <a:prstGeom prst="roundRect">
            <a:avLst>
              <a:gd name="adj" fmla="val 22500"/>
            </a:avLst>
          </a:prstGeom>
          <a:solidFill>
            <a:srgbClr val="02C39A"/>
          </a:solidFill>
          <a:ln/>
        </p:spPr>
      </p:sp>
      <p:sp>
        <p:nvSpPr>
          <p:cNvPr id="21" name="Text 19"/>
          <p:cNvSpPr/>
          <p:nvPr/>
        </p:nvSpPr>
        <p:spPr>
          <a:xfrm>
            <a:off x="6382512" y="3136392"/>
            <a:ext cx="365760" cy="365760"/>
          </a:xfrm>
          <a:prstGeom prst="rect">
            <a:avLst/>
          </a:prstGeom>
          <a:noFill/>
          <a:ln/>
        </p:spPr>
        <p:txBody>
          <a:bodyPr wrap="square" rtlCol="0" anchor="ctr"/>
          <a:lstStyle/>
          <a:p>
            <a:pPr algn="ctr" indent="0" marL="0">
              <a:buNone/>
            </a:pPr>
            <a:r>
              <a:rPr lang="en-US" sz="1400" b="1" dirty="0">
                <a:solidFill>
                  <a:srgbClr val="141B4D"/>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6876288" y="3063240"/>
            <a:ext cx="4617720" cy="868680"/>
          </a:xfrm>
          <a:prstGeom prst="rect">
            <a:avLst/>
          </a:prstGeom>
          <a:noFill/>
          <a:ln/>
        </p:spPr>
        <p:txBody>
          <a:bodyPr wrap="square" rtlCol="0" anchor="ctr"/>
          <a:lstStyle/>
          <a:p>
            <a:pPr indent="0" marL="0">
              <a:lnSpc>
                <a:spcPct val="115000"/>
              </a:lnSpc>
              <a:buNone/>
            </a:pPr>
            <a:r>
              <a:rPr lang="en-US" sz="1050" dirty="0">
                <a:solidFill>
                  <a:srgbClr val="232B3A"/>
                </a:solidFill>
                <a:latin typeface="Calibri" pitchFamily="34" charset="0"/>
                <a:ea typeface="Calibri" pitchFamily="34" charset="-122"/>
                <a:cs typeface="Calibri" pitchFamily="34" charset="-120"/>
              </a:rPr>
              <a:t>Stand up an AI Governance framework now (approval gates, auditability, model monitoring) ahead of any autonomous execution</a:t>
            </a:r>
            <a:endParaRPr lang="en-US" sz="1050" dirty="0"/>
          </a:p>
        </p:txBody>
      </p:sp>
      <p:sp>
        <p:nvSpPr>
          <p:cNvPr id="23" name="Shape 21"/>
          <p:cNvSpPr/>
          <p:nvPr/>
        </p:nvSpPr>
        <p:spPr>
          <a:xfrm>
            <a:off x="502920" y="4206240"/>
            <a:ext cx="5440680" cy="1051560"/>
          </a:xfrm>
          <a:prstGeom prst="roundRect">
            <a:avLst>
              <a:gd name="adj" fmla="val 6957"/>
            </a:avLst>
          </a:prstGeom>
          <a:solidFill>
            <a:srgbClr val="EEF1F4"/>
          </a:solidFill>
          <a:ln/>
        </p:spPr>
      </p:sp>
      <p:sp>
        <p:nvSpPr>
          <p:cNvPr id="24" name="Shape 22"/>
          <p:cNvSpPr/>
          <p:nvPr/>
        </p:nvSpPr>
        <p:spPr>
          <a:xfrm>
            <a:off x="667512" y="4370832"/>
            <a:ext cx="365760" cy="365760"/>
          </a:xfrm>
          <a:prstGeom prst="roundRect">
            <a:avLst>
              <a:gd name="adj" fmla="val 22500"/>
            </a:avLst>
          </a:prstGeom>
          <a:solidFill>
            <a:srgbClr val="02C39A"/>
          </a:solidFill>
          <a:ln/>
        </p:spPr>
      </p:sp>
      <p:sp>
        <p:nvSpPr>
          <p:cNvPr id="25" name="Text 23"/>
          <p:cNvSpPr/>
          <p:nvPr/>
        </p:nvSpPr>
        <p:spPr>
          <a:xfrm>
            <a:off x="667512" y="4370832"/>
            <a:ext cx="365760" cy="365760"/>
          </a:xfrm>
          <a:prstGeom prst="rect">
            <a:avLst/>
          </a:prstGeom>
          <a:noFill/>
          <a:ln/>
        </p:spPr>
        <p:txBody>
          <a:bodyPr wrap="square" rtlCol="0" anchor="ctr"/>
          <a:lstStyle/>
          <a:p>
            <a:pPr algn="ctr" indent="0" marL="0">
              <a:buNone/>
            </a:pPr>
            <a:r>
              <a:rPr lang="en-US" sz="1400" b="1" dirty="0">
                <a:solidFill>
                  <a:srgbClr val="141B4D"/>
                </a:solidFill>
                <a:latin typeface="Cambria" pitchFamily="34" charset="0"/>
                <a:ea typeface="Cambria" pitchFamily="34" charset="-122"/>
                <a:cs typeface="Cambria" pitchFamily="34" charset="-120"/>
              </a:rPr>
              <a:t>5</a:t>
            </a:r>
            <a:endParaRPr lang="en-US" sz="1400" dirty="0"/>
          </a:p>
        </p:txBody>
      </p:sp>
      <p:sp>
        <p:nvSpPr>
          <p:cNvPr id="26" name="Text 24"/>
          <p:cNvSpPr/>
          <p:nvPr/>
        </p:nvSpPr>
        <p:spPr>
          <a:xfrm>
            <a:off x="1161288" y="4297680"/>
            <a:ext cx="4617720" cy="868680"/>
          </a:xfrm>
          <a:prstGeom prst="rect">
            <a:avLst/>
          </a:prstGeom>
          <a:noFill/>
          <a:ln/>
        </p:spPr>
        <p:txBody>
          <a:bodyPr wrap="square" rtlCol="0" anchor="ctr"/>
          <a:lstStyle/>
          <a:p>
            <a:pPr indent="0" marL="0">
              <a:lnSpc>
                <a:spcPct val="115000"/>
              </a:lnSpc>
              <a:buNone/>
            </a:pPr>
            <a:r>
              <a:rPr lang="en-US" sz="1050" dirty="0">
                <a:solidFill>
                  <a:srgbClr val="232B3A"/>
                </a:solidFill>
                <a:latin typeface="Calibri" pitchFamily="34" charset="0"/>
                <a:ea typeface="Calibri" pitchFamily="34" charset="-122"/>
                <a:cs typeface="Calibri" pitchFamily="34" charset="-120"/>
              </a:rPr>
              <a:t>Budget for a phased 12–24 month program moving from assistive AI to controlled autonomous operations</a:t>
            </a:r>
            <a:endParaRPr lang="en-US" sz="1050" dirty="0"/>
          </a:p>
        </p:txBody>
      </p:sp>
      <p:sp>
        <p:nvSpPr>
          <p:cNvPr id="27" name="Shape 25"/>
          <p:cNvSpPr/>
          <p:nvPr/>
        </p:nvSpPr>
        <p:spPr>
          <a:xfrm>
            <a:off x="6217920" y="4206240"/>
            <a:ext cx="5440680" cy="1051560"/>
          </a:xfrm>
          <a:prstGeom prst="roundRect">
            <a:avLst>
              <a:gd name="adj" fmla="val 6957"/>
            </a:avLst>
          </a:prstGeom>
          <a:solidFill>
            <a:srgbClr val="EEF1F4"/>
          </a:solidFill>
          <a:ln/>
        </p:spPr>
      </p:sp>
      <p:sp>
        <p:nvSpPr>
          <p:cNvPr id="28" name="Shape 26"/>
          <p:cNvSpPr/>
          <p:nvPr/>
        </p:nvSpPr>
        <p:spPr>
          <a:xfrm>
            <a:off x="6382512" y="4370832"/>
            <a:ext cx="365760" cy="365760"/>
          </a:xfrm>
          <a:prstGeom prst="roundRect">
            <a:avLst>
              <a:gd name="adj" fmla="val 22500"/>
            </a:avLst>
          </a:prstGeom>
          <a:solidFill>
            <a:srgbClr val="02C39A"/>
          </a:solidFill>
          <a:ln/>
        </p:spPr>
      </p:sp>
      <p:sp>
        <p:nvSpPr>
          <p:cNvPr id="29" name="Text 27"/>
          <p:cNvSpPr/>
          <p:nvPr/>
        </p:nvSpPr>
        <p:spPr>
          <a:xfrm>
            <a:off x="6382512" y="4370832"/>
            <a:ext cx="365760" cy="365760"/>
          </a:xfrm>
          <a:prstGeom prst="rect">
            <a:avLst/>
          </a:prstGeom>
          <a:noFill/>
          <a:ln/>
        </p:spPr>
        <p:txBody>
          <a:bodyPr wrap="square" rtlCol="0" anchor="ctr"/>
          <a:lstStyle/>
          <a:p>
            <a:pPr algn="ctr" indent="0" marL="0">
              <a:buNone/>
            </a:pPr>
            <a:r>
              <a:rPr lang="en-US" sz="1400" b="1" dirty="0">
                <a:solidFill>
                  <a:srgbClr val="141B4D"/>
                </a:solidFill>
                <a:latin typeface="Cambria" pitchFamily="34" charset="0"/>
                <a:ea typeface="Cambria" pitchFamily="34" charset="-122"/>
                <a:cs typeface="Cambria" pitchFamily="34" charset="-120"/>
              </a:rPr>
              <a:t>6</a:t>
            </a:r>
            <a:endParaRPr lang="en-US" sz="1400" dirty="0"/>
          </a:p>
        </p:txBody>
      </p:sp>
      <p:sp>
        <p:nvSpPr>
          <p:cNvPr id="30" name="Text 28"/>
          <p:cNvSpPr/>
          <p:nvPr/>
        </p:nvSpPr>
        <p:spPr>
          <a:xfrm>
            <a:off x="6876288" y="4297680"/>
            <a:ext cx="4617720" cy="868680"/>
          </a:xfrm>
          <a:prstGeom prst="rect">
            <a:avLst/>
          </a:prstGeom>
          <a:noFill/>
          <a:ln/>
        </p:spPr>
        <p:txBody>
          <a:bodyPr wrap="square" rtlCol="0" anchor="ctr"/>
          <a:lstStyle/>
          <a:p>
            <a:pPr indent="0" marL="0">
              <a:lnSpc>
                <a:spcPct val="115000"/>
              </a:lnSpc>
              <a:buNone/>
            </a:pPr>
            <a:r>
              <a:rPr lang="en-US" sz="1050" dirty="0">
                <a:solidFill>
                  <a:srgbClr val="232B3A"/>
                </a:solidFill>
                <a:latin typeface="Calibri" pitchFamily="34" charset="0"/>
                <a:ea typeface="Calibri" pitchFamily="34" charset="-122"/>
                <a:cs typeface="Calibri" pitchFamily="34" charset="-120"/>
              </a:rPr>
              <a:t>Mandate MAS TRM-aligned due diligence and contractual clauses for any SaaS-based AI vendor, regardless of final selection</a:t>
            </a:r>
            <a:endParaRPr lang="en-US" sz="1050" dirty="0"/>
          </a:p>
        </p:txBody>
      </p:sp>
      <p:sp>
        <p:nvSpPr>
          <p:cNvPr id="31" name="Shape 29"/>
          <p:cNvSpPr/>
          <p:nvPr/>
        </p:nvSpPr>
        <p:spPr>
          <a:xfrm>
            <a:off x="502920" y="5532120"/>
            <a:ext cx="11155680" cy="777240"/>
          </a:xfrm>
          <a:prstGeom prst="roundRect">
            <a:avLst>
              <a:gd name="adj" fmla="val 9412"/>
            </a:avLst>
          </a:prstGeom>
          <a:solidFill>
            <a:srgbClr val="1E2761"/>
          </a:solidFill>
          <a:ln/>
        </p:spPr>
      </p:sp>
      <p:sp>
        <p:nvSpPr>
          <p:cNvPr id="32" name="Text 30"/>
          <p:cNvSpPr/>
          <p:nvPr/>
        </p:nvSpPr>
        <p:spPr>
          <a:xfrm>
            <a:off x="777240" y="5532120"/>
            <a:ext cx="10607040" cy="777240"/>
          </a:xfrm>
          <a:prstGeom prst="rect">
            <a:avLst/>
          </a:prstGeom>
          <a:noFill/>
          <a:ln/>
        </p:spPr>
        <p:txBody>
          <a:bodyPr wrap="square" rtlCol="0" anchor="ctr"/>
          <a:lstStyle/>
          <a:p>
            <a:pPr indent="0" marL="0">
              <a:lnSpc>
                <a:spcPct val="115000"/>
              </a:lnSpc>
              <a:buNone/>
            </a:pPr>
            <a:r>
              <a:rPr lang="en-US" sz="1250" b="1" dirty="0">
                <a:solidFill>
                  <a:srgbClr val="02C39A"/>
                </a:solidFill>
                <a:latin typeface="Calibri" pitchFamily="34" charset="0"/>
                <a:ea typeface="Calibri" pitchFamily="34" charset="-122"/>
                <a:cs typeface="Calibri" pitchFamily="34" charset="-120"/>
              </a:rPr>
              <a:t>Decision requested today:  </a:t>
            </a:r>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approve the two-platform PoC shortlist, the 8-week evaluation timeline, and initial governance framework for agentic AI in production.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2026-07-24T12:42:50Z</dcterms:created>
  <dcterms:modified xsi:type="dcterms:W3CDTF">2026-07-24T12:42:50Z</dcterms:modified>
</cp:coreProperties>
</file>