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Architect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731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Financial Services | APAC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352044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424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426464"/>
            <a:ext cx="35204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426464"/>
            <a:ext cx="54864" cy="1078992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" y="153619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149961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Design Support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6616" y="1792224"/>
            <a:ext cx="3264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APAC-informed, high-level architecture blueprints aligned to banking standards, TSA review, and regulatory compliance.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28600" y="2596896"/>
            <a:ext cx="35204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8600" y="2596896"/>
            <a:ext cx="54864" cy="1078992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270662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5800" y="26700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 &amp; Planning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6616" y="2962656"/>
            <a:ext cx="3264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infra cost alignment to minimise mid-term budget adjustments and improve project execution efficiency.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28600" y="3767328"/>
            <a:ext cx="35204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28600" y="3767328"/>
            <a:ext cx="54864" cy="1078992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387705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5800" y="38404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56616" y="4133088"/>
            <a:ext cx="3264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secure infrastructure capacity for application initiatives to reduce execution risk across the delivery portfolio.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228600" y="4937760"/>
            <a:ext cx="35204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28600" y="4937760"/>
            <a:ext cx="54864" cy="1078992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5047488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5800" y="50109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Process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356616" y="5303520"/>
            <a:ext cx="3264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architecture blueprints, observability uplift (monitoring/APM), automation enablement, and capacity modelling.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977640" y="1005840"/>
            <a:ext cx="3657600" cy="347472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087368" y="1042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DELIVERABLES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977640" y="1426464"/>
            <a:ext cx="3657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977640" y="1426464"/>
            <a:ext cx="54864" cy="107899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5656" y="1517904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416552" y="1481328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Duplicate Systems Rationalization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105656" y="1819656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platform analysis &amp; functional dependency mapping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Rationalization decisions: Retire, Consolidate, Standardize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&amp; impact report (licensing, DC footprint, support)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3977640" y="2596896"/>
            <a:ext cx="365760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977640" y="2596896"/>
            <a:ext cx="54864" cy="1426464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5656" y="2688336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416552" y="265176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Candidate Assessment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4105656" y="2990088"/>
            <a:ext cx="34015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profiling: latency, data sensitivity, regulatory constraints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suitability scoring: Rehost, Replatform, Refactor, Retire, Retain, SaaS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 alignment: identity, network, security, DR patterns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comparison &amp; compliance-aligned migration wave plan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3977640" y="4114800"/>
            <a:ext cx="3657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3977640" y="4114800"/>
            <a:ext cx="54864" cy="71323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5656" y="4206240"/>
            <a:ext cx="237744" cy="23774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416552" y="4169664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Tech Refresh Solution Review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4105656" y="450799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pathways: upgrade, side-by-side migration, move-to-PaaS, retire</a:t>
            </a:r>
            <a:endParaRPr lang="en-US" sz="850" dirty="0"/>
          </a:p>
        </p:txBody>
      </p:sp>
      <p:sp>
        <p:nvSpPr>
          <p:cNvPr id="45" name="Shape 36"/>
          <p:cNvSpPr/>
          <p:nvPr/>
        </p:nvSpPr>
        <p:spPr>
          <a:xfrm>
            <a:off x="3977640" y="4919472"/>
            <a:ext cx="365760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3977640" y="4919472"/>
            <a:ext cx="54864" cy="877824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5656" y="5010912"/>
            <a:ext cx="237744" cy="237744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4416552" y="4974336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BizTech APAC Representation</a:t>
            </a:r>
            <a:endParaRPr lang="en-US" sz="950" dirty="0"/>
          </a:p>
        </p:txBody>
      </p:sp>
      <p:sp>
        <p:nvSpPr>
          <p:cNvPr id="49" name="Text 39"/>
          <p:cNvSpPr/>
          <p:nvPr/>
        </p:nvSpPr>
        <p:spPr>
          <a:xfrm>
            <a:off x="4105656" y="531266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APAC priorities are represented in global decision-making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strategy-execution gaps across regional tech initiatives</a:t>
            </a:r>
            <a:endParaRPr lang="en-US" sz="850" dirty="0"/>
          </a:p>
        </p:txBody>
      </p:sp>
      <p:sp>
        <p:nvSpPr>
          <p:cNvPr id="50" name="Shape 40"/>
          <p:cNvSpPr/>
          <p:nvPr/>
        </p:nvSpPr>
        <p:spPr>
          <a:xfrm>
            <a:off x="7863840" y="1005840"/>
            <a:ext cx="4069080" cy="347472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973568" y="10424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(KPIs)</a:t>
            </a:r>
            <a:endParaRPr lang="en-US" sz="1100" dirty="0"/>
          </a:p>
        </p:txBody>
      </p:sp>
      <p:sp>
        <p:nvSpPr>
          <p:cNvPr id="52" name="Shape 42"/>
          <p:cNvSpPr/>
          <p:nvPr/>
        </p:nvSpPr>
        <p:spPr>
          <a:xfrm>
            <a:off x="7863840" y="1426464"/>
            <a:ext cx="40690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7863840" y="1426464"/>
            <a:ext cx="54864" cy="49377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1856" y="1545336"/>
            <a:ext cx="228600" cy="228600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8284464" y="1527048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systems eliminated</a:t>
            </a:r>
            <a:endParaRPr lang="en-US" sz="900" dirty="0"/>
          </a:p>
        </p:txBody>
      </p:sp>
      <p:sp>
        <p:nvSpPr>
          <p:cNvPr id="56" name="Shape 45"/>
          <p:cNvSpPr/>
          <p:nvPr/>
        </p:nvSpPr>
        <p:spPr>
          <a:xfrm>
            <a:off x="7863840" y="1993392"/>
            <a:ext cx="40690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7" name="Shape 46"/>
          <p:cNvSpPr/>
          <p:nvPr/>
        </p:nvSpPr>
        <p:spPr>
          <a:xfrm>
            <a:off x="7863840" y="1993392"/>
            <a:ext cx="54864" cy="49377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1856" y="2112264"/>
            <a:ext cx="228600" cy="228600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8284464" y="2093976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successfully migrated to cloud</a:t>
            </a:r>
            <a:endParaRPr lang="en-US" sz="900" dirty="0"/>
          </a:p>
        </p:txBody>
      </p:sp>
      <p:sp>
        <p:nvSpPr>
          <p:cNvPr id="60" name="Shape 48"/>
          <p:cNvSpPr/>
          <p:nvPr/>
        </p:nvSpPr>
        <p:spPr>
          <a:xfrm>
            <a:off x="7863840" y="2560320"/>
            <a:ext cx="40690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1" name="Shape 49"/>
          <p:cNvSpPr/>
          <p:nvPr/>
        </p:nvSpPr>
        <p:spPr>
          <a:xfrm>
            <a:off x="7863840" y="2560320"/>
            <a:ext cx="54864" cy="49377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91856" y="2679192"/>
            <a:ext cx="228600" cy="228600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8284464" y="2660904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 systems remediated before deadline</a:t>
            </a:r>
            <a:endParaRPr lang="en-US" sz="900" dirty="0"/>
          </a:p>
        </p:txBody>
      </p:sp>
      <p:sp>
        <p:nvSpPr>
          <p:cNvPr id="64" name="Shape 51"/>
          <p:cNvSpPr/>
          <p:nvPr/>
        </p:nvSpPr>
        <p:spPr>
          <a:xfrm>
            <a:off x="7863840" y="3127248"/>
            <a:ext cx="40690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5" name="Shape 52"/>
          <p:cNvSpPr/>
          <p:nvPr/>
        </p:nvSpPr>
        <p:spPr>
          <a:xfrm>
            <a:off x="7863840" y="3127248"/>
            <a:ext cx="54864" cy="49377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1856" y="3246120"/>
            <a:ext cx="228600" cy="228600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8284464" y="3227832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reduction achieved</a:t>
            </a:r>
            <a:endParaRPr lang="en-US" sz="900" dirty="0"/>
          </a:p>
        </p:txBody>
      </p:sp>
      <p:sp>
        <p:nvSpPr>
          <p:cNvPr id="68" name="Shape 54"/>
          <p:cNvSpPr/>
          <p:nvPr/>
        </p:nvSpPr>
        <p:spPr>
          <a:xfrm>
            <a:off x="7863840" y="3694176"/>
            <a:ext cx="40690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9" name="Shape 55"/>
          <p:cNvSpPr/>
          <p:nvPr/>
        </p:nvSpPr>
        <p:spPr>
          <a:xfrm>
            <a:off x="7863840" y="3694176"/>
            <a:ext cx="54864" cy="49377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pic>
        <p:nvPicPr>
          <p:cNvPr id="7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1856" y="3813048"/>
            <a:ext cx="228600" cy="228600"/>
          </a:xfrm>
          <a:prstGeom prst="rect">
            <a:avLst/>
          </a:prstGeom>
        </p:spPr>
      </p:pic>
      <p:sp>
        <p:nvSpPr>
          <p:cNvPr id="71" name="Text 56"/>
          <p:cNvSpPr/>
          <p:nvPr/>
        </p:nvSpPr>
        <p:spPr>
          <a:xfrm>
            <a:off x="8284464" y="3794760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time reduction via automation</a:t>
            </a:r>
            <a:endParaRPr lang="en-US" sz="900" dirty="0"/>
          </a:p>
        </p:txBody>
      </p:sp>
      <p:sp>
        <p:nvSpPr>
          <p:cNvPr id="72" name="Shape 57"/>
          <p:cNvSpPr/>
          <p:nvPr/>
        </p:nvSpPr>
        <p:spPr>
          <a:xfrm>
            <a:off x="7863840" y="4315968"/>
            <a:ext cx="4069080" cy="22677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3" name="Text 58"/>
          <p:cNvSpPr/>
          <p:nvPr/>
        </p:nvSpPr>
        <p:spPr>
          <a:xfrm>
            <a:off x="8028432" y="4434840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Context</a:t>
            </a:r>
            <a:endParaRPr lang="en-US" sz="1100" dirty="0"/>
          </a:p>
        </p:txBody>
      </p:sp>
      <p:sp>
        <p:nvSpPr>
          <p:cNvPr id="74" name="Text 59"/>
          <p:cNvSpPr/>
          <p:nvPr/>
        </p:nvSpPr>
        <p:spPr>
          <a:xfrm>
            <a:off x="8028432" y="4754880"/>
            <a:ext cx="37947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C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TRM · MAS Cloud Advisory · PDPA · PCI DSS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C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(SG/APAC) · DR in Azure SEA · Audit trails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C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AD · Identity federation · Change Advisory Board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C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· CISO · Infra Leads · Cloud COE · BizTech Global</a:t>
            </a:r>
            <a:endParaRPr lang="en-US" sz="900" dirty="0"/>
          </a:p>
        </p:txBody>
      </p:sp>
      <p:sp>
        <p:nvSpPr>
          <p:cNvPr id="75" name="Shape 6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6" name="Text 61"/>
          <p:cNvSpPr/>
          <p:nvPr/>
        </p:nvSpPr>
        <p:spPr>
          <a:xfrm>
            <a:off x="274320" y="661111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Architecture | Banking &amp; Financial Services APAC | Confidential</a:t>
            </a:r>
            <a:endParaRPr lang="en-US" sz="800" dirty="0"/>
          </a:p>
        </p:txBody>
      </p:sp>
      <p:sp>
        <p:nvSpPr>
          <p:cNvPr id="77" name="Text 62"/>
          <p:cNvSpPr/>
          <p:nvPr/>
        </p:nvSpPr>
        <p:spPr>
          <a:xfrm>
            <a:off x="11521440" y="66111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2026-03-31T23:30:44Z</dcterms:created>
  <dcterms:modified xsi:type="dcterms:W3CDTF">2026-03-31T23:30:44Z</dcterms:modified>
</cp:coreProperties>
</file>