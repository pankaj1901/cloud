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5120640" cy="5120640"/>
          </a:xfrm>
          <a:prstGeom prst="ellipse">
            <a:avLst/>
          </a:prstGeom>
          <a:solidFill>
            <a:srgbClr val="0E4C7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DEFENSE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Awareness Training for IT Engineers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attack patterns your team is most likely to face — and the one verification rule that stops all of them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Pretexting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397764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3977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Vishing (TOAD)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397764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977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ClickFix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0536" y="397764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3977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0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02152" y="44805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4480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44805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4480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0536" y="44805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1E2C4E"/>
          </a:solidFill>
          <a:ln w="9525">
            <a:solidFill>
              <a:srgbClr val="355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0536" y="4480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IT Engineering / Desktop Support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#1: Help Desk Pretexting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targeted pattern against IT engineers right now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354312" y="36576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3657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F6F8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impersonates a locked-out or traveling employee, using details scraped from LinkedIn or breach data to pass basic verification, then requests a password or MFA reset.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targets your team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like Scattered Spider (UNC3944) specifically target IT help desks, impersonating employees to bypass MFA and gain initial access — documented as a top initial-access method in 2026 threat reporting.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weak verification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your employee ID?” is no longer safe — that data is a LinkedIn search away.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this is a VP — I'm traveling, lost my phone, and need my MFA reset right now, I have a board call in 5 minutes.”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DEDE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536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Urgency + inability to complete normal verification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4414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Name-dropping seniority to pressure the engineer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0083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Irritation or pushback when questioned further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E4C7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50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RESPONSE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3891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strong, pre-established identity proofing — verified callback to a number on file, video check, or manager co-sign — before ANY password or MFA reset. No exceptions for urgency or seniority.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#2 &amp; #3: The “Fake Fix” Pair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arrives by phone, one by screen — both end with the victim installing/running something themselves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Vishing (TOAD)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claims urgent action is needed and gives a phone number to call. The victim calls, reaches a fake “support” operator, and is talked into installing remote access software.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exact channel — phone-in support requests — engineers handle all day, making it easy to blend 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49834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 unsolicited number in an email/popup, pressure to install remote access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only call independently sourced numbers (directory/known vendor line); never install remote access at a caller's direction unless you initiated and verified the contact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6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0E4C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1737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ClickFix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error, CAPTCHA, or verification prompt instructs the user to open Run (Win+R) or a terminal and paste/execute a command — bypassing security software because the user runs it themselves.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run commands and use PowerShell/Run daily — this request feels routine, not suspicious.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3977640"/>
            <a:ext cx="484632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14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 any site/popup asking you to open Run or a terminal to “verify” or “fix” something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4663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no legitimate site ever requires this — treat as an active compromise attempt and report immediately, don't complete 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 &amp;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More Patterns to Recognize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channels, the same underlying playbook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859536"/>
          </a:xfrm>
          <a:prstGeom prst="roundRect">
            <a:avLst>
              <a:gd name="adj" fmla="val 6383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09344"/>
            <a:ext cx="475488" cy="475488"/>
          </a:xfrm>
          <a:prstGeom prst="ellipse">
            <a:avLst/>
          </a:prstGeom>
          <a:solidFill>
            <a:srgbClr val="0E4C7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93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/ Piggybacking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1490472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follows an authorized employee into a restricted area (server room, data center).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92440" y="14904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in individually every time; redirect anyone without visible credentials.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11183112" cy="859536"/>
          </a:xfrm>
          <a:prstGeom prst="roundRect">
            <a:avLst>
              <a:gd name="adj" fmla="val 6383"/>
            </a:avLst>
          </a:prstGeom>
          <a:solidFill>
            <a:srgbClr val="EF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52374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5237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0487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2404872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phishing using the same urgency/authority psychology as email or voice.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92440" y="24048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links in unsolicited texts; verify via the official app instead.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11183112" cy="859536"/>
          </a:xfrm>
          <a:prstGeom prst="roundRect">
            <a:avLst>
              <a:gd name="adj" fmla="val 6383"/>
            </a:avLst>
          </a:prstGeom>
          <a:solidFill>
            <a:srgbClr val="F6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438144"/>
            <a:ext cx="475488" cy="475488"/>
          </a:xfrm>
          <a:prstGeom prst="ellipse">
            <a:avLst/>
          </a:prstGeom>
          <a:solidFill>
            <a:srgbClr val="3FC7B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438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31927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 (QR Phishing)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94760" y="3319272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QR codes replace links specifically to dodge link-scanning security tools.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92440" y="33192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destination before scanning; never enter credentials after scanning.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11183112" cy="859536"/>
          </a:xfrm>
          <a:prstGeom prst="roundRect">
            <a:avLst>
              <a:gd name="adj" fmla="val 6383"/>
            </a:avLst>
          </a:prstGeom>
          <a:solidFill>
            <a:srgbClr val="EFF3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4352544"/>
            <a:ext cx="475488" cy="475488"/>
          </a:xfrm>
          <a:prstGeom prst="ellipse">
            <a:avLst/>
          </a:prstGeom>
          <a:solidFill>
            <a:srgbClr val="D98E2A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3525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23367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94760" y="4233672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trust exploitation — impersonating an exec/supplier to redirect payment or access.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92440" y="42336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payment/access-change request needs independent, non-email verification.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1183112" cy="859536"/>
          </a:xfrm>
          <a:prstGeom prst="roundRect">
            <a:avLst>
              <a:gd name="adj" fmla="val 6383"/>
            </a:avLst>
          </a:prstGeom>
          <a:solidFill>
            <a:srgbClr val="F6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5266944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266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14807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94760" y="5148072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alerts claim a device is infected, pressuring a click on a malicious “fix.”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92440" y="51480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act on unsolicited popups; close via task manager, verify with real tools.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4–8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Stops All Eight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in this training follows the same three-part 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E2C4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194560"/>
            <a:ext cx="502920" cy="502920"/>
          </a:xfrm>
          <a:prstGeom prst="ellipse">
            <a:avLst/>
          </a:prstGeom>
          <a:solidFill>
            <a:srgbClr val="0E4C7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believable reason to act — urgency, authority, familiarity, or curiosity.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87952" y="2743200"/>
            <a:ext cx="356616" cy="219456"/>
          </a:xfrm>
          <a:prstGeom prst="rightArrow">
            <a:avLst/>
          </a:prstGeom>
          <a:solidFill>
            <a:srgbClr val="7C93AB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E2C4E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not to slow down and verify — deadline, exhaustion, fear, seniority.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91272" y="2743200"/>
            <a:ext cx="356616" cy="219456"/>
          </a:xfrm>
          <a:prstGeom prst="rightArrow">
            <a:avLst/>
          </a:prstGeom>
          <a:solidFill>
            <a:srgbClr val="7C93A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19659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E2C4E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2194560"/>
            <a:ext cx="502920" cy="502920"/>
          </a:xfrm>
          <a:prstGeom prst="ellipse">
            <a:avLst/>
          </a:prstGeom>
          <a:solidFill>
            <a:srgbClr val="3FC7B8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834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to skip normal verification “just this once.”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10543032" cy="1600200"/>
          </a:xfrm>
          <a:prstGeom prst="roundRect">
            <a:avLst>
              <a:gd name="adj" fmla="val 4571"/>
            </a:avLst>
          </a:prstGeom>
          <a:solidFill>
            <a:srgbClr val="0E4C7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663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a credential, access, or command request + pressure to skip verification = STOP and verify independently — regardless of who it appears to be from, no exceptions.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Principle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Quick-Reference Cheat Sheet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this near your desk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53035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Pretexting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1417320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locked-out/traveling employee requests reset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38160" y="14173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callback, every 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1118311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84248"/>
            <a:ext cx="731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8424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Vishing (TOAD)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198424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pushes you to call a number, then “support” asks for remote access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38160" y="198424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 independently sourced numbers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51176"/>
            <a:ext cx="11183112" cy="53035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551176"/>
            <a:ext cx="73152" cy="530352"/>
          </a:xfrm>
          <a:prstGeom prst="rect">
            <a:avLst/>
          </a:prstGeom>
          <a:solidFill>
            <a:srgbClr val="0E4C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55117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ClickFix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551176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error tells you to paste a command into Run/terminal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38160" y="255117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site ever needs this — report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118104"/>
            <a:ext cx="1118311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118104"/>
            <a:ext cx="73152" cy="5303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11810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3118104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follows you into a secured area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8160" y="311810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in individually, always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685032"/>
            <a:ext cx="11183112" cy="53035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685032"/>
            <a:ext cx="73152" cy="5303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6850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37560" y="368503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SMS with a link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38160" y="368503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click; verify via official 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1118311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251960"/>
            <a:ext cx="73152" cy="530352"/>
          </a:xfrm>
          <a:prstGeom prst="rect">
            <a:avLst/>
          </a:prstGeom>
          <a:solidFill>
            <a:srgbClr val="3FC7B8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2519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37560" y="4251960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replacing a suspicious link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42519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destination before scanning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818888"/>
            <a:ext cx="11183112" cy="53035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4818888"/>
            <a:ext cx="73152" cy="530352"/>
          </a:xfrm>
          <a:prstGeom prst="rect">
            <a:avLst/>
          </a:prstGeom>
          <a:solidFill>
            <a:srgbClr val="D98E2A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8188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37560" y="481888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“Exec” emails requesting payment/access change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38160" y="4818888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a second, independent channel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385816"/>
            <a:ext cx="1118311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5385816"/>
            <a:ext cx="731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38581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37560" y="5385816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Alarming popup demanding an urgent “fix”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38160" y="538581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via task manager; never click through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2026-07-29T12:12:36Z</dcterms:created>
  <dcterms:modified xsi:type="dcterms:W3CDTF">2026-07-29T12:12:36Z</dcterms:modified>
</cp:coreProperties>
</file>