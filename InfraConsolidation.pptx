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F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30352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SYSTEM CONSOLIDATION  —  APAC Simplification Initiative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778240" y="0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APAC Countries  •  Siloed Systems  →  Common Consolidated Infrastructure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64592" y="585216"/>
            <a:ext cx="2633472" cy="21945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585216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64592" y="804672"/>
            <a:ext cx="263347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" y="841248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13 APAC countries each operating independent, siloed infra systems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56032" y="1156716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Duplicate backup, monitoring, file, print, DHCP &amp; DNS services per site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56032" y="1472184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Inconsistent standards, patch levels &amp; vendor contracts across regions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56032" y="1787652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High TCO from over-provisioned hardware and redundant licensing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6032" y="2103120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central visibility — incidents resolved in isolation, slow MTTR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64592" y="2523744"/>
            <a:ext cx="2633472" cy="219456"/>
          </a:xfrm>
          <a:prstGeom prst="rect">
            <a:avLst/>
          </a:prstGeom>
          <a:solidFill>
            <a:srgbClr val="1A3A8A"/>
          </a:solidFill>
          <a:ln w="12700">
            <a:solidFill>
              <a:srgbClr val="1A3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" y="2523744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64592" y="2743200"/>
            <a:ext cx="26334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779776"/>
            <a:ext cx="246888" cy="2926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779776"/>
            <a:ext cx="246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48640" y="2788920"/>
            <a:ext cx="21762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Infra Platform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8640" y="2935224"/>
            <a:ext cx="21762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standard stack: backup, monitoring, file, print, DHCP/DNS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56032" y="3145536"/>
            <a:ext cx="246888" cy="2926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145536"/>
            <a:ext cx="246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48640" y="3154680"/>
            <a:ext cx="21762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 &amp; Consolidate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" y="3300984"/>
            <a:ext cx="21762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13 siloed environments into regional hubs + local edge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56032" y="3511296"/>
            <a:ext cx="246888" cy="2926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511296"/>
            <a:ext cx="246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48640" y="3520440"/>
            <a:ext cx="21762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Operations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8640" y="3666744"/>
            <a:ext cx="21762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for monitoring, anomaly detection &amp; auto-remediation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56032" y="3877056"/>
            <a:ext cx="246888" cy="2926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3877056"/>
            <a:ext cx="246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48640" y="3886200"/>
            <a:ext cx="21762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8640" y="4032504"/>
            <a:ext cx="21762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40% TCO reduction through right-sizing &amp; consolidation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56032" y="4242816"/>
            <a:ext cx="246888" cy="2926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4242816"/>
            <a:ext cx="246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48640" y="4251960"/>
            <a:ext cx="21762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SLAs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8640" y="4398264"/>
            <a:ext cx="21762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uptime, backup RPO/RTO &amp; service SLAs across APAC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56032" y="4608576"/>
            <a:ext cx="246888" cy="2926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" y="4608576"/>
            <a:ext cx="246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48640" y="4617720"/>
            <a:ext cx="21762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Security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48640" y="4764024"/>
            <a:ext cx="21762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patching, hardening &amp; compliance enforcement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64592" y="5084064"/>
            <a:ext cx="2633472" cy="219456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4592" y="5084064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&amp; KPIs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64592" y="5303520"/>
            <a:ext cx="2633472" cy="1389888"/>
          </a:xfrm>
          <a:prstGeom prst="rect">
            <a:avLst/>
          </a:prstGeom>
          <a:solidFill>
            <a:srgbClr val="071330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74320" y="5340096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40%↓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74320" y="5614416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TCO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274320" y="5769864"/>
            <a:ext cx="80467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B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cost saving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1133856" y="5340096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13→3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133856" y="5614416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Hubs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1133856" y="5769864"/>
            <a:ext cx="80467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B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+ local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1993392" y="5340096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70%↓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993392" y="5614416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Count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1993392" y="5769864"/>
            <a:ext cx="80467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B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country stack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274320" y="5998464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60%↓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274320" y="6272784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274320" y="6428232"/>
            <a:ext cx="80467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B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resolution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1133856" y="5998464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1133856" y="6272784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1133856" y="6428232"/>
            <a:ext cx="80467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B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target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1993392" y="5998464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1993392" y="6272784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Coverage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1993392" y="6428232"/>
            <a:ext cx="80467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B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APAC systems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2907792" y="585216"/>
            <a:ext cx="4224528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907792" y="585216"/>
            <a:ext cx="4224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 —  13 Siloed Country Infra Environments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907792" y="804672"/>
            <a:ext cx="4224528" cy="5888736"/>
          </a:xfrm>
          <a:prstGeom prst="rect">
            <a:avLst/>
          </a:prstGeom>
          <a:solidFill>
            <a:srgbClr val="FFFFFF"/>
          </a:solidFill>
          <a:ln w="19050">
            <a:solidFill>
              <a:srgbClr val="F5A0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7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2999232" y="868680"/>
            <a:ext cx="4041648" cy="237744"/>
          </a:xfrm>
          <a:prstGeom prst="rect">
            <a:avLst/>
          </a:prstGeom>
          <a:solidFill>
            <a:srgbClr val="FEF2F2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026664" y="868680"/>
            <a:ext cx="3968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Each country runs its OWN independent: Backup  •  Monitoring  •  File Server  •  Print  •  DHCP/DNS  •  Patch Mgmt  •  Asset Mgmt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3026664" y="1161288"/>
            <a:ext cx="768096" cy="896112"/>
          </a:xfrm>
          <a:prstGeom prst="rect">
            <a:avLst/>
          </a:prstGeom>
          <a:solidFill>
            <a:srgbClr val="FAFAFA"/>
          </a:solidFill>
          <a:ln w="12700">
            <a:solidFill>
              <a:srgbClr val="C8D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3026664" y="1161288"/>
            <a:ext cx="768096" cy="21031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026664" y="1161288"/>
            <a:ext cx="7680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🇸🇬 SG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054096" y="1408176"/>
            <a:ext cx="133502" cy="566928"/>
          </a:xfrm>
          <a:prstGeom prst="rect">
            <a:avLst/>
          </a:prstGeom>
          <a:solidFill>
            <a:srgbClr val="1E7145">
              <a:alpha val="85000"/>
            </a:srgbClr>
          </a:solidFill>
          <a:ln w="7620">
            <a:solidFill>
              <a:srgbClr val="1E714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054096" y="1417320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BKP</a:t>
            </a:r>
            <a:endParaRPr lang="en-US" sz="550" dirty="0"/>
          </a:p>
        </p:txBody>
      </p:sp>
      <p:sp>
        <p:nvSpPr>
          <p:cNvPr id="72" name="Text 70"/>
          <p:cNvSpPr/>
          <p:nvPr/>
        </p:nvSpPr>
        <p:spPr>
          <a:xfrm>
            <a:off x="3054096" y="1700784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73" name="Shape 71"/>
          <p:cNvSpPr/>
          <p:nvPr/>
        </p:nvSpPr>
        <p:spPr>
          <a:xfrm>
            <a:off x="3196742" y="1408176"/>
            <a:ext cx="133502" cy="566928"/>
          </a:xfrm>
          <a:prstGeom prst="rect">
            <a:avLst/>
          </a:prstGeom>
          <a:solidFill>
            <a:srgbClr val="0E7490">
              <a:alpha val="85000"/>
            </a:srgbClr>
          </a:solidFill>
          <a:ln w="7620">
            <a:solidFill>
              <a:srgbClr val="0E749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196742" y="1417320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550" dirty="0"/>
          </a:p>
        </p:txBody>
      </p:sp>
      <p:sp>
        <p:nvSpPr>
          <p:cNvPr id="75" name="Text 73"/>
          <p:cNvSpPr/>
          <p:nvPr/>
        </p:nvSpPr>
        <p:spPr>
          <a:xfrm>
            <a:off x="3196742" y="1700784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76" name="Shape 74"/>
          <p:cNvSpPr/>
          <p:nvPr/>
        </p:nvSpPr>
        <p:spPr>
          <a:xfrm>
            <a:off x="3339389" y="1408176"/>
            <a:ext cx="133502" cy="566928"/>
          </a:xfrm>
          <a:prstGeom prst="rect">
            <a:avLst/>
          </a:prstGeom>
          <a:solidFill>
            <a:srgbClr val="1A3A8A">
              <a:alpha val="85000"/>
            </a:srgbClr>
          </a:solidFill>
          <a:ln w="7620">
            <a:solidFill>
              <a:srgbClr val="1A3A8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339389" y="1417320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550" dirty="0"/>
          </a:p>
        </p:txBody>
      </p:sp>
      <p:sp>
        <p:nvSpPr>
          <p:cNvPr id="78" name="Text 76"/>
          <p:cNvSpPr/>
          <p:nvPr/>
        </p:nvSpPr>
        <p:spPr>
          <a:xfrm>
            <a:off x="3339389" y="1700784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79" name="Shape 77"/>
          <p:cNvSpPr/>
          <p:nvPr/>
        </p:nvSpPr>
        <p:spPr>
          <a:xfrm>
            <a:off x="3482035" y="1408176"/>
            <a:ext cx="133502" cy="566928"/>
          </a:xfrm>
          <a:prstGeom prst="rect">
            <a:avLst/>
          </a:prstGeom>
          <a:solidFill>
            <a:srgbClr val="7C3AED">
              <a:alpha val="85000"/>
            </a:srgbClr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482035" y="1417320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</a:t>
            </a:r>
            <a:endParaRPr lang="en-US" sz="550" dirty="0"/>
          </a:p>
        </p:txBody>
      </p:sp>
      <p:sp>
        <p:nvSpPr>
          <p:cNvPr id="81" name="Text 79"/>
          <p:cNvSpPr/>
          <p:nvPr/>
        </p:nvSpPr>
        <p:spPr>
          <a:xfrm>
            <a:off x="3482035" y="1700784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82" name="Shape 80"/>
          <p:cNvSpPr/>
          <p:nvPr/>
        </p:nvSpPr>
        <p:spPr>
          <a:xfrm>
            <a:off x="3624682" y="1408176"/>
            <a:ext cx="133502" cy="566928"/>
          </a:xfrm>
          <a:prstGeom prst="rect">
            <a:avLst/>
          </a:prstGeom>
          <a:solidFill>
            <a:srgbClr val="B7770D">
              <a:alpha val="85000"/>
            </a:srgbClr>
          </a:solidFill>
          <a:ln w="7620">
            <a:solidFill>
              <a:srgbClr val="B7770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624682" y="1417320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</a:t>
            </a:r>
            <a:endParaRPr lang="en-US" sz="550" dirty="0"/>
          </a:p>
        </p:txBody>
      </p:sp>
      <p:sp>
        <p:nvSpPr>
          <p:cNvPr id="84" name="Text 82"/>
          <p:cNvSpPr/>
          <p:nvPr/>
        </p:nvSpPr>
        <p:spPr>
          <a:xfrm>
            <a:off x="3624682" y="1700784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85" name="Shape 83"/>
          <p:cNvSpPr/>
          <p:nvPr/>
        </p:nvSpPr>
        <p:spPr>
          <a:xfrm>
            <a:off x="3831336" y="1161288"/>
            <a:ext cx="768096" cy="896112"/>
          </a:xfrm>
          <a:prstGeom prst="rect">
            <a:avLst/>
          </a:prstGeom>
          <a:solidFill>
            <a:srgbClr val="FAFAFA"/>
          </a:solidFill>
          <a:ln w="12700">
            <a:solidFill>
              <a:srgbClr val="C8D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3831336" y="1161288"/>
            <a:ext cx="768096" cy="21031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831336" y="1161288"/>
            <a:ext cx="7680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🇲🇾 MY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3858768" y="1408176"/>
            <a:ext cx="133502" cy="566928"/>
          </a:xfrm>
          <a:prstGeom prst="rect">
            <a:avLst/>
          </a:prstGeom>
          <a:solidFill>
            <a:srgbClr val="1E7145">
              <a:alpha val="85000"/>
            </a:srgbClr>
          </a:solidFill>
          <a:ln w="7620">
            <a:solidFill>
              <a:srgbClr val="1E714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858768" y="1417320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BKP</a:t>
            </a:r>
            <a:endParaRPr lang="en-US" sz="550" dirty="0"/>
          </a:p>
        </p:txBody>
      </p:sp>
      <p:sp>
        <p:nvSpPr>
          <p:cNvPr id="90" name="Text 88"/>
          <p:cNvSpPr/>
          <p:nvPr/>
        </p:nvSpPr>
        <p:spPr>
          <a:xfrm>
            <a:off x="3858768" y="1700784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91" name="Shape 89"/>
          <p:cNvSpPr/>
          <p:nvPr/>
        </p:nvSpPr>
        <p:spPr>
          <a:xfrm>
            <a:off x="4001414" y="1408176"/>
            <a:ext cx="133502" cy="566928"/>
          </a:xfrm>
          <a:prstGeom prst="rect">
            <a:avLst/>
          </a:prstGeom>
          <a:solidFill>
            <a:srgbClr val="0E7490">
              <a:alpha val="85000"/>
            </a:srgbClr>
          </a:solidFill>
          <a:ln w="7620">
            <a:solidFill>
              <a:srgbClr val="0E749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001414" y="1417320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550" dirty="0"/>
          </a:p>
        </p:txBody>
      </p:sp>
      <p:sp>
        <p:nvSpPr>
          <p:cNvPr id="93" name="Text 91"/>
          <p:cNvSpPr/>
          <p:nvPr/>
        </p:nvSpPr>
        <p:spPr>
          <a:xfrm>
            <a:off x="4001414" y="1700784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94" name="Shape 92"/>
          <p:cNvSpPr/>
          <p:nvPr/>
        </p:nvSpPr>
        <p:spPr>
          <a:xfrm>
            <a:off x="4144061" y="1408176"/>
            <a:ext cx="133502" cy="566928"/>
          </a:xfrm>
          <a:prstGeom prst="rect">
            <a:avLst/>
          </a:prstGeom>
          <a:solidFill>
            <a:srgbClr val="1A3A8A">
              <a:alpha val="85000"/>
            </a:srgbClr>
          </a:solidFill>
          <a:ln w="7620">
            <a:solidFill>
              <a:srgbClr val="1A3A8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144061" y="1417320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550" dirty="0"/>
          </a:p>
        </p:txBody>
      </p:sp>
      <p:sp>
        <p:nvSpPr>
          <p:cNvPr id="96" name="Text 94"/>
          <p:cNvSpPr/>
          <p:nvPr/>
        </p:nvSpPr>
        <p:spPr>
          <a:xfrm>
            <a:off x="4144061" y="1700784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97" name="Shape 95"/>
          <p:cNvSpPr/>
          <p:nvPr/>
        </p:nvSpPr>
        <p:spPr>
          <a:xfrm>
            <a:off x="4286707" y="1408176"/>
            <a:ext cx="133502" cy="566928"/>
          </a:xfrm>
          <a:prstGeom prst="rect">
            <a:avLst/>
          </a:prstGeom>
          <a:solidFill>
            <a:srgbClr val="7C3AED">
              <a:alpha val="85000"/>
            </a:srgbClr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286707" y="1417320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</a:t>
            </a:r>
            <a:endParaRPr lang="en-US" sz="550" dirty="0"/>
          </a:p>
        </p:txBody>
      </p:sp>
      <p:sp>
        <p:nvSpPr>
          <p:cNvPr id="99" name="Text 97"/>
          <p:cNvSpPr/>
          <p:nvPr/>
        </p:nvSpPr>
        <p:spPr>
          <a:xfrm>
            <a:off x="4286707" y="1700784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100" name="Shape 98"/>
          <p:cNvSpPr/>
          <p:nvPr/>
        </p:nvSpPr>
        <p:spPr>
          <a:xfrm>
            <a:off x="4429354" y="1408176"/>
            <a:ext cx="133502" cy="566928"/>
          </a:xfrm>
          <a:prstGeom prst="rect">
            <a:avLst/>
          </a:prstGeom>
          <a:solidFill>
            <a:srgbClr val="B7770D">
              <a:alpha val="85000"/>
            </a:srgbClr>
          </a:solidFill>
          <a:ln w="7620">
            <a:solidFill>
              <a:srgbClr val="B7770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429354" y="1417320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</a:t>
            </a:r>
            <a:endParaRPr lang="en-US" sz="550" dirty="0"/>
          </a:p>
        </p:txBody>
      </p:sp>
      <p:sp>
        <p:nvSpPr>
          <p:cNvPr id="102" name="Text 100"/>
          <p:cNvSpPr/>
          <p:nvPr/>
        </p:nvSpPr>
        <p:spPr>
          <a:xfrm>
            <a:off x="4429354" y="1700784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103" name="Shape 101"/>
          <p:cNvSpPr/>
          <p:nvPr/>
        </p:nvSpPr>
        <p:spPr>
          <a:xfrm>
            <a:off x="4636008" y="1161288"/>
            <a:ext cx="768096" cy="896112"/>
          </a:xfrm>
          <a:prstGeom prst="rect">
            <a:avLst/>
          </a:prstGeom>
          <a:solidFill>
            <a:srgbClr val="FAFAFA"/>
          </a:solidFill>
          <a:ln w="12700">
            <a:solidFill>
              <a:srgbClr val="C8D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04" name="Shape 102"/>
          <p:cNvSpPr/>
          <p:nvPr/>
        </p:nvSpPr>
        <p:spPr>
          <a:xfrm>
            <a:off x="4636008" y="1161288"/>
            <a:ext cx="768096" cy="21031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636008" y="1161288"/>
            <a:ext cx="7680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🇹🇭 TH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4663440" y="1408176"/>
            <a:ext cx="133502" cy="566928"/>
          </a:xfrm>
          <a:prstGeom prst="rect">
            <a:avLst/>
          </a:prstGeom>
          <a:solidFill>
            <a:srgbClr val="1E7145">
              <a:alpha val="85000"/>
            </a:srgbClr>
          </a:solidFill>
          <a:ln w="7620">
            <a:solidFill>
              <a:srgbClr val="1E7145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663440" y="1417320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BKP</a:t>
            </a:r>
            <a:endParaRPr lang="en-US" sz="550" dirty="0"/>
          </a:p>
        </p:txBody>
      </p:sp>
      <p:sp>
        <p:nvSpPr>
          <p:cNvPr id="108" name="Text 106"/>
          <p:cNvSpPr/>
          <p:nvPr/>
        </p:nvSpPr>
        <p:spPr>
          <a:xfrm>
            <a:off x="4663440" y="1700784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109" name="Shape 107"/>
          <p:cNvSpPr/>
          <p:nvPr/>
        </p:nvSpPr>
        <p:spPr>
          <a:xfrm>
            <a:off x="4806086" y="1408176"/>
            <a:ext cx="133502" cy="566928"/>
          </a:xfrm>
          <a:prstGeom prst="rect">
            <a:avLst/>
          </a:prstGeom>
          <a:solidFill>
            <a:srgbClr val="0E7490">
              <a:alpha val="85000"/>
            </a:srgbClr>
          </a:solidFill>
          <a:ln w="7620">
            <a:solidFill>
              <a:srgbClr val="0E749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806086" y="1417320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550" dirty="0"/>
          </a:p>
        </p:txBody>
      </p:sp>
      <p:sp>
        <p:nvSpPr>
          <p:cNvPr id="111" name="Text 109"/>
          <p:cNvSpPr/>
          <p:nvPr/>
        </p:nvSpPr>
        <p:spPr>
          <a:xfrm>
            <a:off x="4806086" y="1700784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112" name="Shape 110"/>
          <p:cNvSpPr/>
          <p:nvPr/>
        </p:nvSpPr>
        <p:spPr>
          <a:xfrm>
            <a:off x="4948733" y="1408176"/>
            <a:ext cx="133502" cy="566928"/>
          </a:xfrm>
          <a:prstGeom prst="rect">
            <a:avLst/>
          </a:prstGeom>
          <a:solidFill>
            <a:srgbClr val="1A3A8A">
              <a:alpha val="85000"/>
            </a:srgbClr>
          </a:solidFill>
          <a:ln w="7620">
            <a:solidFill>
              <a:srgbClr val="1A3A8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948733" y="1417320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550" dirty="0"/>
          </a:p>
        </p:txBody>
      </p:sp>
      <p:sp>
        <p:nvSpPr>
          <p:cNvPr id="114" name="Text 112"/>
          <p:cNvSpPr/>
          <p:nvPr/>
        </p:nvSpPr>
        <p:spPr>
          <a:xfrm>
            <a:off x="4948733" y="1700784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115" name="Shape 113"/>
          <p:cNvSpPr/>
          <p:nvPr/>
        </p:nvSpPr>
        <p:spPr>
          <a:xfrm>
            <a:off x="5091379" y="1408176"/>
            <a:ext cx="133502" cy="566928"/>
          </a:xfrm>
          <a:prstGeom prst="rect">
            <a:avLst/>
          </a:prstGeom>
          <a:solidFill>
            <a:srgbClr val="7C3AED">
              <a:alpha val="85000"/>
            </a:srgbClr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091379" y="1417320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</a:t>
            </a:r>
            <a:endParaRPr lang="en-US" sz="550" dirty="0"/>
          </a:p>
        </p:txBody>
      </p:sp>
      <p:sp>
        <p:nvSpPr>
          <p:cNvPr id="117" name="Text 115"/>
          <p:cNvSpPr/>
          <p:nvPr/>
        </p:nvSpPr>
        <p:spPr>
          <a:xfrm>
            <a:off x="5091379" y="1700784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118" name="Shape 116"/>
          <p:cNvSpPr/>
          <p:nvPr/>
        </p:nvSpPr>
        <p:spPr>
          <a:xfrm>
            <a:off x="5234026" y="1408176"/>
            <a:ext cx="133502" cy="566928"/>
          </a:xfrm>
          <a:prstGeom prst="rect">
            <a:avLst/>
          </a:prstGeom>
          <a:solidFill>
            <a:srgbClr val="B7770D">
              <a:alpha val="85000"/>
            </a:srgbClr>
          </a:solidFill>
          <a:ln w="7620">
            <a:solidFill>
              <a:srgbClr val="B7770D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234026" y="1417320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</a:t>
            </a:r>
            <a:endParaRPr lang="en-US" sz="550" dirty="0"/>
          </a:p>
        </p:txBody>
      </p:sp>
      <p:sp>
        <p:nvSpPr>
          <p:cNvPr id="120" name="Text 118"/>
          <p:cNvSpPr/>
          <p:nvPr/>
        </p:nvSpPr>
        <p:spPr>
          <a:xfrm>
            <a:off x="5234026" y="1700784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121" name="Shape 119"/>
          <p:cNvSpPr/>
          <p:nvPr/>
        </p:nvSpPr>
        <p:spPr>
          <a:xfrm>
            <a:off x="5440680" y="1161288"/>
            <a:ext cx="768096" cy="896112"/>
          </a:xfrm>
          <a:prstGeom prst="rect">
            <a:avLst/>
          </a:prstGeom>
          <a:solidFill>
            <a:srgbClr val="FAFAFA"/>
          </a:solidFill>
          <a:ln w="12700">
            <a:solidFill>
              <a:srgbClr val="C8D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22" name="Shape 120"/>
          <p:cNvSpPr/>
          <p:nvPr/>
        </p:nvSpPr>
        <p:spPr>
          <a:xfrm>
            <a:off x="5440680" y="1161288"/>
            <a:ext cx="768096" cy="21031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440680" y="1161288"/>
            <a:ext cx="7680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🇮🇩 ID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5468112" y="1408176"/>
            <a:ext cx="133502" cy="566928"/>
          </a:xfrm>
          <a:prstGeom prst="rect">
            <a:avLst/>
          </a:prstGeom>
          <a:solidFill>
            <a:srgbClr val="1E7145">
              <a:alpha val="85000"/>
            </a:srgbClr>
          </a:solidFill>
          <a:ln w="7620">
            <a:solidFill>
              <a:srgbClr val="1E7145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468112" y="1417320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BKP</a:t>
            </a:r>
            <a:endParaRPr lang="en-US" sz="550" dirty="0"/>
          </a:p>
        </p:txBody>
      </p:sp>
      <p:sp>
        <p:nvSpPr>
          <p:cNvPr id="126" name="Text 124"/>
          <p:cNvSpPr/>
          <p:nvPr/>
        </p:nvSpPr>
        <p:spPr>
          <a:xfrm>
            <a:off x="5468112" y="1700784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127" name="Shape 125"/>
          <p:cNvSpPr/>
          <p:nvPr/>
        </p:nvSpPr>
        <p:spPr>
          <a:xfrm>
            <a:off x="5610758" y="1408176"/>
            <a:ext cx="133502" cy="566928"/>
          </a:xfrm>
          <a:prstGeom prst="rect">
            <a:avLst/>
          </a:prstGeom>
          <a:solidFill>
            <a:srgbClr val="0E7490">
              <a:alpha val="85000"/>
            </a:srgbClr>
          </a:solidFill>
          <a:ln w="7620">
            <a:solidFill>
              <a:srgbClr val="0E749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610758" y="1417320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550" dirty="0"/>
          </a:p>
        </p:txBody>
      </p:sp>
      <p:sp>
        <p:nvSpPr>
          <p:cNvPr id="129" name="Text 127"/>
          <p:cNvSpPr/>
          <p:nvPr/>
        </p:nvSpPr>
        <p:spPr>
          <a:xfrm>
            <a:off x="5610758" y="1700784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130" name="Shape 128"/>
          <p:cNvSpPr/>
          <p:nvPr/>
        </p:nvSpPr>
        <p:spPr>
          <a:xfrm>
            <a:off x="5753405" y="1408176"/>
            <a:ext cx="133502" cy="566928"/>
          </a:xfrm>
          <a:prstGeom prst="rect">
            <a:avLst/>
          </a:prstGeom>
          <a:solidFill>
            <a:srgbClr val="1A3A8A">
              <a:alpha val="85000"/>
            </a:srgbClr>
          </a:solidFill>
          <a:ln w="7620">
            <a:solidFill>
              <a:srgbClr val="1A3A8A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5753405" y="1417320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550" dirty="0"/>
          </a:p>
        </p:txBody>
      </p:sp>
      <p:sp>
        <p:nvSpPr>
          <p:cNvPr id="132" name="Text 130"/>
          <p:cNvSpPr/>
          <p:nvPr/>
        </p:nvSpPr>
        <p:spPr>
          <a:xfrm>
            <a:off x="5753405" y="1700784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133" name="Shape 131"/>
          <p:cNvSpPr/>
          <p:nvPr/>
        </p:nvSpPr>
        <p:spPr>
          <a:xfrm>
            <a:off x="5896051" y="1408176"/>
            <a:ext cx="133502" cy="566928"/>
          </a:xfrm>
          <a:prstGeom prst="rect">
            <a:avLst/>
          </a:prstGeom>
          <a:solidFill>
            <a:srgbClr val="7C3AED">
              <a:alpha val="85000"/>
            </a:srgbClr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5896051" y="1417320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</a:t>
            </a:r>
            <a:endParaRPr lang="en-US" sz="550" dirty="0"/>
          </a:p>
        </p:txBody>
      </p:sp>
      <p:sp>
        <p:nvSpPr>
          <p:cNvPr id="135" name="Text 133"/>
          <p:cNvSpPr/>
          <p:nvPr/>
        </p:nvSpPr>
        <p:spPr>
          <a:xfrm>
            <a:off x="5896051" y="1700784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136" name="Shape 134"/>
          <p:cNvSpPr/>
          <p:nvPr/>
        </p:nvSpPr>
        <p:spPr>
          <a:xfrm>
            <a:off x="6038698" y="1408176"/>
            <a:ext cx="133502" cy="566928"/>
          </a:xfrm>
          <a:prstGeom prst="rect">
            <a:avLst/>
          </a:prstGeom>
          <a:solidFill>
            <a:srgbClr val="B7770D">
              <a:alpha val="85000"/>
            </a:srgbClr>
          </a:solidFill>
          <a:ln w="7620">
            <a:solidFill>
              <a:srgbClr val="B7770D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6038698" y="1417320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</a:t>
            </a:r>
            <a:endParaRPr lang="en-US" sz="550" dirty="0"/>
          </a:p>
        </p:txBody>
      </p:sp>
      <p:sp>
        <p:nvSpPr>
          <p:cNvPr id="138" name="Text 136"/>
          <p:cNvSpPr/>
          <p:nvPr/>
        </p:nvSpPr>
        <p:spPr>
          <a:xfrm>
            <a:off x="6038698" y="1700784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139" name="Shape 137"/>
          <p:cNvSpPr/>
          <p:nvPr/>
        </p:nvSpPr>
        <p:spPr>
          <a:xfrm>
            <a:off x="6245352" y="1161288"/>
            <a:ext cx="768096" cy="896112"/>
          </a:xfrm>
          <a:prstGeom prst="rect">
            <a:avLst/>
          </a:prstGeom>
          <a:solidFill>
            <a:srgbClr val="FAFAFA"/>
          </a:solidFill>
          <a:ln w="12700">
            <a:solidFill>
              <a:srgbClr val="C8D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40" name="Shape 138"/>
          <p:cNvSpPr/>
          <p:nvPr/>
        </p:nvSpPr>
        <p:spPr>
          <a:xfrm>
            <a:off x="6245352" y="1161288"/>
            <a:ext cx="768096" cy="21031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6245352" y="1161288"/>
            <a:ext cx="7680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🇵🇭 PH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6272784" y="1408176"/>
            <a:ext cx="133502" cy="566928"/>
          </a:xfrm>
          <a:prstGeom prst="rect">
            <a:avLst/>
          </a:prstGeom>
          <a:solidFill>
            <a:srgbClr val="1E7145">
              <a:alpha val="85000"/>
            </a:srgbClr>
          </a:solidFill>
          <a:ln w="7620">
            <a:solidFill>
              <a:srgbClr val="1E7145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272784" y="1417320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BKP</a:t>
            </a:r>
            <a:endParaRPr lang="en-US" sz="550" dirty="0"/>
          </a:p>
        </p:txBody>
      </p:sp>
      <p:sp>
        <p:nvSpPr>
          <p:cNvPr id="144" name="Text 142"/>
          <p:cNvSpPr/>
          <p:nvPr/>
        </p:nvSpPr>
        <p:spPr>
          <a:xfrm>
            <a:off x="6272784" y="1700784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145" name="Shape 143"/>
          <p:cNvSpPr/>
          <p:nvPr/>
        </p:nvSpPr>
        <p:spPr>
          <a:xfrm>
            <a:off x="6415430" y="1408176"/>
            <a:ext cx="133502" cy="566928"/>
          </a:xfrm>
          <a:prstGeom prst="rect">
            <a:avLst/>
          </a:prstGeom>
          <a:solidFill>
            <a:srgbClr val="0E7490">
              <a:alpha val="85000"/>
            </a:srgbClr>
          </a:solidFill>
          <a:ln w="7620">
            <a:solidFill>
              <a:srgbClr val="0E749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6415430" y="1417320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550" dirty="0"/>
          </a:p>
        </p:txBody>
      </p:sp>
      <p:sp>
        <p:nvSpPr>
          <p:cNvPr id="147" name="Text 145"/>
          <p:cNvSpPr/>
          <p:nvPr/>
        </p:nvSpPr>
        <p:spPr>
          <a:xfrm>
            <a:off x="6415430" y="1700784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148" name="Shape 146"/>
          <p:cNvSpPr/>
          <p:nvPr/>
        </p:nvSpPr>
        <p:spPr>
          <a:xfrm>
            <a:off x="6558077" y="1408176"/>
            <a:ext cx="133502" cy="566928"/>
          </a:xfrm>
          <a:prstGeom prst="rect">
            <a:avLst/>
          </a:prstGeom>
          <a:solidFill>
            <a:srgbClr val="1A3A8A">
              <a:alpha val="85000"/>
            </a:srgbClr>
          </a:solidFill>
          <a:ln w="7620">
            <a:solidFill>
              <a:srgbClr val="1A3A8A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6558077" y="1417320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550" dirty="0"/>
          </a:p>
        </p:txBody>
      </p:sp>
      <p:sp>
        <p:nvSpPr>
          <p:cNvPr id="150" name="Text 148"/>
          <p:cNvSpPr/>
          <p:nvPr/>
        </p:nvSpPr>
        <p:spPr>
          <a:xfrm>
            <a:off x="6558077" y="1700784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151" name="Shape 149"/>
          <p:cNvSpPr/>
          <p:nvPr/>
        </p:nvSpPr>
        <p:spPr>
          <a:xfrm>
            <a:off x="6700723" y="1408176"/>
            <a:ext cx="133502" cy="566928"/>
          </a:xfrm>
          <a:prstGeom prst="rect">
            <a:avLst/>
          </a:prstGeom>
          <a:solidFill>
            <a:srgbClr val="7C3AED">
              <a:alpha val="85000"/>
            </a:srgbClr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6700723" y="1417320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</a:t>
            </a:r>
            <a:endParaRPr lang="en-US" sz="550" dirty="0"/>
          </a:p>
        </p:txBody>
      </p:sp>
      <p:sp>
        <p:nvSpPr>
          <p:cNvPr id="153" name="Text 151"/>
          <p:cNvSpPr/>
          <p:nvPr/>
        </p:nvSpPr>
        <p:spPr>
          <a:xfrm>
            <a:off x="6700723" y="1700784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154" name="Shape 152"/>
          <p:cNvSpPr/>
          <p:nvPr/>
        </p:nvSpPr>
        <p:spPr>
          <a:xfrm>
            <a:off x="6843370" y="1408176"/>
            <a:ext cx="133502" cy="566928"/>
          </a:xfrm>
          <a:prstGeom prst="rect">
            <a:avLst/>
          </a:prstGeom>
          <a:solidFill>
            <a:srgbClr val="B7770D">
              <a:alpha val="85000"/>
            </a:srgbClr>
          </a:solidFill>
          <a:ln w="7620">
            <a:solidFill>
              <a:srgbClr val="B7770D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843370" y="1417320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</a:t>
            </a:r>
            <a:endParaRPr lang="en-US" sz="550" dirty="0"/>
          </a:p>
        </p:txBody>
      </p:sp>
      <p:sp>
        <p:nvSpPr>
          <p:cNvPr id="156" name="Text 154"/>
          <p:cNvSpPr/>
          <p:nvPr/>
        </p:nvSpPr>
        <p:spPr>
          <a:xfrm>
            <a:off x="6843370" y="1700784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157" name="Shape 155"/>
          <p:cNvSpPr/>
          <p:nvPr/>
        </p:nvSpPr>
        <p:spPr>
          <a:xfrm>
            <a:off x="3026664" y="2148840"/>
            <a:ext cx="768096" cy="896112"/>
          </a:xfrm>
          <a:prstGeom prst="rect">
            <a:avLst/>
          </a:prstGeom>
          <a:solidFill>
            <a:srgbClr val="FAFAFA"/>
          </a:solidFill>
          <a:ln w="12700">
            <a:solidFill>
              <a:srgbClr val="C8D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58" name="Shape 156"/>
          <p:cNvSpPr/>
          <p:nvPr/>
        </p:nvSpPr>
        <p:spPr>
          <a:xfrm>
            <a:off x="3026664" y="2148840"/>
            <a:ext cx="768096" cy="21031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3026664" y="2148840"/>
            <a:ext cx="7680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🇻🇳 VN</a:t>
            </a:r>
            <a:endParaRPr lang="en-US" sz="800" dirty="0"/>
          </a:p>
        </p:txBody>
      </p:sp>
      <p:sp>
        <p:nvSpPr>
          <p:cNvPr id="160" name="Shape 158"/>
          <p:cNvSpPr/>
          <p:nvPr/>
        </p:nvSpPr>
        <p:spPr>
          <a:xfrm>
            <a:off x="3054096" y="2395728"/>
            <a:ext cx="133502" cy="566928"/>
          </a:xfrm>
          <a:prstGeom prst="rect">
            <a:avLst/>
          </a:prstGeom>
          <a:solidFill>
            <a:srgbClr val="1E7145">
              <a:alpha val="85000"/>
            </a:srgbClr>
          </a:solidFill>
          <a:ln w="7620">
            <a:solidFill>
              <a:srgbClr val="1E7145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3054096" y="2404872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BKP</a:t>
            </a:r>
            <a:endParaRPr lang="en-US" sz="550" dirty="0"/>
          </a:p>
        </p:txBody>
      </p:sp>
      <p:sp>
        <p:nvSpPr>
          <p:cNvPr id="162" name="Text 160"/>
          <p:cNvSpPr/>
          <p:nvPr/>
        </p:nvSpPr>
        <p:spPr>
          <a:xfrm>
            <a:off x="3054096" y="2688336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163" name="Shape 161"/>
          <p:cNvSpPr/>
          <p:nvPr/>
        </p:nvSpPr>
        <p:spPr>
          <a:xfrm>
            <a:off x="3196742" y="2395728"/>
            <a:ext cx="133502" cy="566928"/>
          </a:xfrm>
          <a:prstGeom prst="rect">
            <a:avLst/>
          </a:prstGeom>
          <a:solidFill>
            <a:srgbClr val="0E7490">
              <a:alpha val="85000"/>
            </a:srgbClr>
          </a:solidFill>
          <a:ln w="7620">
            <a:solidFill>
              <a:srgbClr val="0E7490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3196742" y="2404872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550" dirty="0"/>
          </a:p>
        </p:txBody>
      </p:sp>
      <p:sp>
        <p:nvSpPr>
          <p:cNvPr id="165" name="Text 163"/>
          <p:cNvSpPr/>
          <p:nvPr/>
        </p:nvSpPr>
        <p:spPr>
          <a:xfrm>
            <a:off x="3196742" y="2688336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166" name="Shape 164"/>
          <p:cNvSpPr/>
          <p:nvPr/>
        </p:nvSpPr>
        <p:spPr>
          <a:xfrm>
            <a:off x="3339389" y="2395728"/>
            <a:ext cx="133502" cy="566928"/>
          </a:xfrm>
          <a:prstGeom prst="rect">
            <a:avLst/>
          </a:prstGeom>
          <a:solidFill>
            <a:srgbClr val="1A3A8A">
              <a:alpha val="85000"/>
            </a:srgbClr>
          </a:solidFill>
          <a:ln w="7620">
            <a:solidFill>
              <a:srgbClr val="1A3A8A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3339389" y="2404872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550" dirty="0"/>
          </a:p>
        </p:txBody>
      </p:sp>
      <p:sp>
        <p:nvSpPr>
          <p:cNvPr id="168" name="Text 166"/>
          <p:cNvSpPr/>
          <p:nvPr/>
        </p:nvSpPr>
        <p:spPr>
          <a:xfrm>
            <a:off x="3339389" y="2688336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169" name="Shape 167"/>
          <p:cNvSpPr/>
          <p:nvPr/>
        </p:nvSpPr>
        <p:spPr>
          <a:xfrm>
            <a:off x="3482035" y="2395728"/>
            <a:ext cx="133502" cy="566928"/>
          </a:xfrm>
          <a:prstGeom prst="rect">
            <a:avLst/>
          </a:prstGeom>
          <a:solidFill>
            <a:srgbClr val="7C3AED">
              <a:alpha val="85000"/>
            </a:srgbClr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3482035" y="2404872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</a:t>
            </a:r>
            <a:endParaRPr lang="en-US" sz="550" dirty="0"/>
          </a:p>
        </p:txBody>
      </p:sp>
      <p:sp>
        <p:nvSpPr>
          <p:cNvPr id="171" name="Text 169"/>
          <p:cNvSpPr/>
          <p:nvPr/>
        </p:nvSpPr>
        <p:spPr>
          <a:xfrm>
            <a:off x="3482035" y="2688336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172" name="Shape 170"/>
          <p:cNvSpPr/>
          <p:nvPr/>
        </p:nvSpPr>
        <p:spPr>
          <a:xfrm>
            <a:off x="3624682" y="2395728"/>
            <a:ext cx="133502" cy="566928"/>
          </a:xfrm>
          <a:prstGeom prst="rect">
            <a:avLst/>
          </a:prstGeom>
          <a:solidFill>
            <a:srgbClr val="B7770D">
              <a:alpha val="85000"/>
            </a:srgbClr>
          </a:solidFill>
          <a:ln w="7620">
            <a:solidFill>
              <a:srgbClr val="B7770D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3624682" y="2404872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</a:t>
            </a:r>
            <a:endParaRPr lang="en-US" sz="550" dirty="0"/>
          </a:p>
        </p:txBody>
      </p:sp>
      <p:sp>
        <p:nvSpPr>
          <p:cNvPr id="174" name="Text 172"/>
          <p:cNvSpPr/>
          <p:nvPr/>
        </p:nvSpPr>
        <p:spPr>
          <a:xfrm>
            <a:off x="3624682" y="2688336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175" name="Shape 173"/>
          <p:cNvSpPr/>
          <p:nvPr/>
        </p:nvSpPr>
        <p:spPr>
          <a:xfrm>
            <a:off x="3831336" y="2148840"/>
            <a:ext cx="768096" cy="896112"/>
          </a:xfrm>
          <a:prstGeom prst="rect">
            <a:avLst/>
          </a:prstGeom>
          <a:solidFill>
            <a:srgbClr val="FAFAFA"/>
          </a:solidFill>
          <a:ln w="12700">
            <a:solidFill>
              <a:srgbClr val="C8D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76" name="Shape 174"/>
          <p:cNvSpPr/>
          <p:nvPr/>
        </p:nvSpPr>
        <p:spPr>
          <a:xfrm>
            <a:off x="3831336" y="2148840"/>
            <a:ext cx="768096" cy="21031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3831336" y="2148840"/>
            <a:ext cx="7680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🇭🇰 HK</a:t>
            </a:r>
            <a:endParaRPr lang="en-US" sz="800" dirty="0"/>
          </a:p>
        </p:txBody>
      </p:sp>
      <p:sp>
        <p:nvSpPr>
          <p:cNvPr id="178" name="Shape 176"/>
          <p:cNvSpPr/>
          <p:nvPr/>
        </p:nvSpPr>
        <p:spPr>
          <a:xfrm>
            <a:off x="3858768" y="2395728"/>
            <a:ext cx="133502" cy="566928"/>
          </a:xfrm>
          <a:prstGeom prst="rect">
            <a:avLst/>
          </a:prstGeom>
          <a:solidFill>
            <a:srgbClr val="1E7145">
              <a:alpha val="85000"/>
            </a:srgbClr>
          </a:solidFill>
          <a:ln w="7620">
            <a:solidFill>
              <a:srgbClr val="1E7145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3858768" y="2404872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BKP</a:t>
            </a:r>
            <a:endParaRPr lang="en-US" sz="550" dirty="0"/>
          </a:p>
        </p:txBody>
      </p:sp>
      <p:sp>
        <p:nvSpPr>
          <p:cNvPr id="180" name="Text 178"/>
          <p:cNvSpPr/>
          <p:nvPr/>
        </p:nvSpPr>
        <p:spPr>
          <a:xfrm>
            <a:off x="3858768" y="2688336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181" name="Shape 179"/>
          <p:cNvSpPr/>
          <p:nvPr/>
        </p:nvSpPr>
        <p:spPr>
          <a:xfrm>
            <a:off x="4001414" y="2395728"/>
            <a:ext cx="133502" cy="566928"/>
          </a:xfrm>
          <a:prstGeom prst="rect">
            <a:avLst/>
          </a:prstGeom>
          <a:solidFill>
            <a:srgbClr val="0E7490">
              <a:alpha val="85000"/>
            </a:srgbClr>
          </a:solidFill>
          <a:ln w="7620">
            <a:solidFill>
              <a:srgbClr val="0E7490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4001414" y="2404872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550" dirty="0"/>
          </a:p>
        </p:txBody>
      </p:sp>
      <p:sp>
        <p:nvSpPr>
          <p:cNvPr id="183" name="Text 181"/>
          <p:cNvSpPr/>
          <p:nvPr/>
        </p:nvSpPr>
        <p:spPr>
          <a:xfrm>
            <a:off x="4001414" y="2688336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184" name="Shape 182"/>
          <p:cNvSpPr/>
          <p:nvPr/>
        </p:nvSpPr>
        <p:spPr>
          <a:xfrm>
            <a:off x="4144061" y="2395728"/>
            <a:ext cx="133502" cy="566928"/>
          </a:xfrm>
          <a:prstGeom prst="rect">
            <a:avLst/>
          </a:prstGeom>
          <a:solidFill>
            <a:srgbClr val="1A3A8A">
              <a:alpha val="85000"/>
            </a:srgbClr>
          </a:solidFill>
          <a:ln w="7620">
            <a:solidFill>
              <a:srgbClr val="1A3A8A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4144061" y="2404872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550" dirty="0"/>
          </a:p>
        </p:txBody>
      </p:sp>
      <p:sp>
        <p:nvSpPr>
          <p:cNvPr id="186" name="Text 184"/>
          <p:cNvSpPr/>
          <p:nvPr/>
        </p:nvSpPr>
        <p:spPr>
          <a:xfrm>
            <a:off x="4144061" y="2688336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187" name="Shape 185"/>
          <p:cNvSpPr/>
          <p:nvPr/>
        </p:nvSpPr>
        <p:spPr>
          <a:xfrm>
            <a:off x="4286707" y="2395728"/>
            <a:ext cx="133502" cy="566928"/>
          </a:xfrm>
          <a:prstGeom prst="rect">
            <a:avLst/>
          </a:prstGeom>
          <a:solidFill>
            <a:srgbClr val="7C3AED">
              <a:alpha val="85000"/>
            </a:srgbClr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4286707" y="2404872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</a:t>
            </a:r>
            <a:endParaRPr lang="en-US" sz="550" dirty="0"/>
          </a:p>
        </p:txBody>
      </p:sp>
      <p:sp>
        <p:nvSpPr>
          <p:cNvPr id="189" name="Text 187"/>
          <p:cNvSpPr/>
          <p:nvPr/>
        </p:nvSpPr>
        <p:spPr>
          <a:xfrm>
            <a:off x="4286707" y="2688336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190" name="Shape 188"/>
          <p:cNvSpPr/>
          <p:nvPr/>
        </p:nvSpPr>
        <p:spPr>
          <a:xfrm>
            <a:off x="4429354" y="2395728"/>
            <a:ext cx="133502" cy="566928"/>
          </a:xfrm>
          <a:prstGeom prst="rect">
            <a:avLst/>
          </a:prstGeom>
          <a:solidFill>
            <a:srgbClr val="B7770D">
              <a:alpha val="85000"/>
            </a:srgbClr>
          </a:solidFill>
          <a:ln w="7620">
            <a:solidFill>
              <a:srgbClr val="B7770D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4429354" y="2404872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</a:t>
            </a:r>
            <a:endParaRPr lang="en-US" sz="550" dirty="0"/>
          </a:p>
        </p:txBody>
      </p:sp>
      <p:sp>
        <p:nvSpPr>
          <p:cNvPr id="192" name="Text 190"/>
          <p:cNvSpPr/>
          <p:nvPr/>
        </p:nvSpPr>
        <p:spPr>
          <a:xfrm>
            <a:off x="4429354" y="2688336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193" name="Shape 191"/>
          <p:cNvSpPr/>
          <p:nvPr/>
        </p:nvSpPr>
        <p:spPr>
          <a:xfrm>
            <a:off x="4636008" y="2148840"/>
            <a:ext cx="768096" cy="896112"/>
          </a:xfrm>
          <a:prstGeom prst="rect">
            <a:avLst/>
          </a:prstGeom>
          <a:solidFill>
            <a:srgbClr val="FAFAFA"/>
          </a:solidFill>
          <a:ln w="12700">
            <a:solidFill>
              <a:srgbClr val="C8D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94" name="Shape 192"/>
          <p:cNvSpPr/>
          <p:nvPr/>
        </p:nvSpPr>
        <p:spPr>
          <a:xfrm>
            <a:off x="4636008" y="2148840"/>
            <a:ext cx="768096" cy="21031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4636008" y="2148840"/>
            <a:ext cx="7680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🇹🇼 TW</a:t>
            </a:r>
            <a:endParaRPr lang="en-US" sz="800" dirty="0"/>
          </a:p>
        </p:txBody>
      </p:sp>
      <p:sp>
        <p:nvSpPr>
          <p:cNvPr id="196" name="Shape 194"/>
          <p:cNvSpPr/>
          <p:nvPr/>
        </p:nvSpPr>
        <p:spPr>
          <a:xfrm>
            <a:off x="4663440" y="2395728"/>
            <a:ext cx="133502" cy="566928"/>
          </a:xfrm>
          <a:prstGeom prst="rect">
            <a:avLst/>
          </a:prstGeom>
          <a:solidFill>
            <a:srgbClr val="1E7145">
              <a:alpha val="85000"/>
            </a:srgbClr>
          </a:solidFill>
          <a:ln w="7620">
            <a:solidFill>
              <a:srgbClr val="1E7145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4663440" y="2404872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BKP</a:t>
            </a:r>
            <a:endParaRPr lang="en-US" sz="550" dirty="0"/>
          </a:p>
        </p:txBody>
      </p:sp>
      <p:sp>
        <p:nvSpPr>
          <p:cNvPr id="198" name="Text 196"/>
          <p:cNvSpPr/>
          <p:nvPr/>
        </p:nvSpPr>
        <p:spPr>
          <a:xfrm>
            <a:off x="4663440" y="2688336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199" name="Shape 197"/>
          <p:cNvSpPr/>
          <p:nvPr/>
        </p:nvSpPr>
        <p:spPr>
          <a:xfrm>
            <a:off x="4806086" y="2395728"/>
            <a:ext cx="133502" cy="566928"/>
          </a:xfrm>
          <a:prstGeom prst="rect">
            <a:avLst/>
          </a:prstGeom>
          <a:solidFill>
            <a:srgbClr val="0E7490">
              <a:alpha val="85000"/>
            </a:srgbClr>
          </a:solidFill>
          <a:ln w="7620">
            <a:solidFill>
              <a:srgbClr val="0E7490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4806086" y="2404872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550" dirty="0"/>
          </a:p>
        </p:txBody>
      </p:sp>
      <p:sp>
        <p:nvSpPr>
          <p:cNvPr id="201" name="Text 199"/>
          <p:cNvSpPr/>
          <p:nvPr/>
        </p:nvSpPr>
        <p:spPr>
          <a:xfrm>
            <a:off x="4806086" y="2688336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202" name="Shape 200"/>
          <p:cNvSpPr/>
          <p:nvPr/>
        </p:nvSpPr>
        <p:spPr>
          <a:xfrm>
            <a:off x="4948733" y="2395728"/>
            <a:ext cx="133502" cy="566928"/>
          </a:xfrm>
          <a:prstGeom prst="rect">
            <a:avLst/>
          </a:prstGeom>
          <a:solidFill>
            <a:srgbClr val="1A3A8A">
              <a:alpha val="85000"/>
            </a:srgbClr>
          </a:solidFill>
          <a:ln w="7620">
            <a:solidFill>
              <a:srgbClr val="1A3A8A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4948733" y="2404872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550" dirty="0"/>
          </a:p>
        </p:txBody>
      </p:sp>
      <p:sp>
        <p:nvSpPr>
          <p:cNvPr id="204" name="Text 202"/>
          <p:cNvSpPr/>
          <p:nvPr/>
        </p:nvSpPr>
        <p:spPr>
          <a:xfrm>
            <a:off x="4948733" y="2688336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205" name="Shape 203"/>
          <p:cNvSpPr/>
          <p:nvPr/>
        </p:nvSpPr>
        <p:spPr>
          <a:xfrm>
            <a:off x="5091379" y="2395728"/>
            <a:ext cx="133502" cy="566928"/>
          </a:xfrm>
          <a:prstGeom prst="rect">
            <a:avLst/>
          </a:prstGeom>
          <a:solidFill>
            <a:srgbClr val="7C3AED">
              <a:alpha val="85000"/>
            </a:srgbClr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5091379" y="2404872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</a:t>
            </a:r>
            <a:endParaRPr lang="en-US" sz="550" dirty="0"/>
          </a:p>
        </p:txBody>
      </p:sp>
      <p:sp>
        <p:nvSpPr>
          <p:cNvPr id="207" name="Text 205"/>
          <p:cNvSpPr/>
          <p:nvPr/>
        </p:nvSpPr>
        <p:spPr>
          <a:xfrm>
            <a:off x="5091379" y="2688336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208" name="Shape 206"/>
          <p:cNvSpPr/>
          <p:nvPr/>
        </p:nvSpPr>
        <p:spPr>
          <a:xfrm>
            <a:off x="5234026" y="2395728"/>
            <a:ext cx="133502" cy="566928"/>
          </a:xfrm>
          <a:prstGeom prst="rect">
            <a:avLst/>
          </a:prstGeom>
          <a:solidFill>
            <a:srgbClr val="B7770D">
              <a:alpha val="85000"/>
            </a:srgbClr>
          </a:solidFill>
          <a:ln w="7620">
            <a:solidFill>
              <a:srgbClr val="B7770D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5234026" y="2404872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</a:t>
            </a:r>
            <a:endParaRPr lang="en-US" sz="550" dirty="0"/>
          </a:p>
        </p:txBody>
      </p:sp>
      <p:sp>
        <p:nvSpPr>
          <p:cNvPr id="210" name="Text 208"/>
          <p:cNvSpPr/>
          <p:nvPr/>
        </p:nvSpPr>
        <p:spPr>
          <a:xfrm>
            <a:off x="5234026" y="2688336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211" name="Shape 209"/>
          <p:cNvSpPr/>
          <p:nvPr/>
        </p:nvSpPr>
        <p:spPr>
          <a:xfrm>
            <a:off x="5440680" y="2148840"/>
            <a:ext cx="768096" cy="896112"/>
          </a:xfrm>
          <a:prstGeom prst="rect">
            <a:avLst/>
          </a:prstGeom>
          <a:solidFill>
            <a:srgbClr val="FAFAFA"/>
          </a:solidFill>
          <a:ln w="12700">
            <a:solidFill>
              <a:srgbClr val="C8D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12" name="Shape 210"/>
          <p:cNvSpPr/>
          <p:nvPr/>
        </p:nvSpPr>
        <p:spPr>
          <a:xfrm>
            <a:off x="5440680" y="2148840"/>
            <a:ext cx="768096" cy="21031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5440680" y="2148840"/>
            <a:ext cx="7680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🇯🇵 JP</a:t>
            </a:r>
            <a:endParaRPr lang="en-US" sz="800" dirty="0"/>
          </a:p>
        </p:txBody>
      </p:sp>
      <p:sp>
        <p:nvSpPr>
          <p:cNvPr id="214" name="Shape 212"/>
          <p:cNvSpPr/>
          <p:nvPr/>
        </p:nvSpPr>
        <p:spPr>
          <a:xfrm>
            <a:off x="5468112" y="2395728"/>
            <a:ext cx="133502" cy="566928"/>
          </a:xfrm>
          <a:prstGeom prst="rect">
            <a:avLst/>
          </a:prstGeom>
          <a:solidFill>
            <a:srgbClr val="1E7145">
              <a:alpha val="85000"/>
            </a:srgbClr>
          </a:solidFill>
          <a:ln w="7620">
            <a:solidFill>
              <a:srgbClr val="1E7145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5468112" y="2404872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BKP</a:t>
            </a:r>
            <a:endParaRPr lang="en-US" sz="550" dirty="0"/>
          </a:p>
        </p:txBody>
      </p:sp>
      <p:sp>
        <p:nvSpPr>
          <p:cNvPr id="216" name="Text 214"/>
          <p:cNvSpPr/>
          <p:nvPr/>
        </p:nvSpPr>
        <p:spPr>
          <a:xfrm>
            <a:off x="5468112" y="2688336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217" name="Shape 215"/>
          <p:cNvSpPr/>
          <p:nvPr/>
        </p:nvSpPr>
        <p:spPr>
          <a:xfrm>
            <a:off x="5610758" y="2395728"/>
            <a:ext cx="133502" cy="566928"/>
          </a:xfrm>
          <a:prstGeom prst="rect">
            <a:avLst/>
          </a:prstGeom>
          <a:solidFill>
            <a:srgbClr val="0E7490">
              <a:alpha val="85000"/>
            </a:srgbClr>
          </a:solidFill>
          <a:ln w="7620">
            <a:solidFill>
              <a:srgbClr val="0E7490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5610758" y="2404872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550" dirty="0"/>
          </a:p>
        </p:txBody>
      </p:sp>
      <p:sp>
        <p:nvSpPr>
          <p:cNvPr id="219" name="Text 217"/>
          <p:cNvSpPr/>
          <p:nvPr/>
        </p:nvSpPr>
        <p:spPr>
          <a:xfrm>
            <a:off x="5610758" y="2688336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220" name="Shape 218"/>
          <p:cNvSpPr/>
          <p:nvPr/>
        </p:nvSpPr>
        <p:spPr>
          <a:xfrm>
            <a:off x="5753405" y="2395728"/>
            <a:ext cx="133502" cy="566928"/>
          </a:xfrm>
          <a:prstGeom prst="rect">
            <a:avLst/>
          </a:prstGeom>
          <a:solidFill>
            <a:srgbClr val="1A3A8A">
              <a:alpha val="85000"/>
            </a:srgbClr>
          </a:solidFill>
          <a:ln w="7620">
            <a:solidFill>
              <a:srgbClr val="1A3A8A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5753405" y="2404872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550" dirty="0"/>
          </a:p>
        </p:txBody>
      </p:sp>
      <p:sp>
        <p:nvSpPr>
          <p:cNvPr id="222" name="Text 220"/>
          <p:cNvSpPr/>
          <p:nvPr/>
        </p:nvSpPr>
        <p:spPr>
          <a:xfrm>
            <a:off x="5753405" y="2688336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223" name="Shape 221"/>
          <p:cNvSpPr/>
          <p:nvPr/>
        </p:nvSpPr>
        <p:spPr>
          <a:xfrm>
            <a:off x="5896051" y="2395728"/>
            <a:ext cx="133502" cy="566928"/>
          </a:xfrm>
          <a:prstGeom prst="rect">
            <a:avLst/>
          </a:prstGeom>
          <a:solidFill>
            <a:srgbClr val="7C3AED">
              <a:alpha val="85000"/>
            </a:srgbClr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5896051" y="2404872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</a:t>
            </a:r>
            <a:endParaRPr lang="en-US" sz="550" dirty="0"/>
          </a:p>
        </p:txBody>
      </p:sp>
      <p:sp>
        <p:nvSpPr>
          <p:cNvPr id="225" name="Text 223"/>
          <p:cNvSpPr/>
          <p:nvPr/>
        </p:nvSpPr>
        <p:spPr>
          <a:xfrm>
            <a:off x="5896051" y="2688336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226" name="Shape 224"/>
          <p:cNvSpPr/>
          <p:nvPr/>
        </p:nvSpPr>
        <p:spPr>
          <a:xfrm>
            <a:off x="6038698" y="2395728"/>
            <a:ext cx="133502" cy="566928"/>
          </a:xfrm>
          <a:prstGeom prst="rect">
            <a:avLst/>
          </a:prstGeom>
          <a:solidFill>
            <a:srgbClr val="B7770D">
              <a:alpha val="85000"/>
            </a:srgbClr>
          </a:solidFill>
          <a:ln w="7620">
            <a:solidFill>
              <a:srgbClr val="B7770D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6038698" y="2404872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</a:t>
            </a:r>
            <a:endParaRPr lang="en-US" sz="550" dirty="0"/>
          </a:p>
        </p:txBody>
      </p:sp>
      <p:sp>
        <p:nvSpPr>
          <p:cNvPr id="228" name="Text 226"/>
          <p:cNvSpPr/>
          <p:nvPr/>
        </p:nvSpPr>
        <p:spPr>
          <a:xfrm>
            <a:off x="6038698" y="2688336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229" name="Shape 227"/>
          <p:cNvSpPr/>
          <p:nvPr/>
        </p:nvSpPr>
        <p:spPr>
          <a:xfrm>
            <a:off x="6245352" y="2148840"/>
            <a:ext cx="768096" cy="896112"/>
          </a:xfrm>
          <a:prstGeom prst="rect">
            <a:avLst/>
          </a:prstGeom>
          <a:solidFill>
            <a:srgbClr val="FAFAFA"/>
          </a:solidFill>
          <a:ln w="12700">
            <a:solidFill>
              <a:srgbClr val="C8D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30" name="Shape 228"/>
          <p:cNvSpPr/>
          <p:nvPr/>
        </p:nvSpPr>
        <p:spPr>
          <a:xfrm>
            <a:off x="6245352" y="2148840"/>
            <a:ext cx="768096" cy="21031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6245352" y="2148840"/>
            <a:ext cx="7680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🇰🇷 KR</a:t>
            </a:r>
            <a:endParaRPr lang="en-US" sz="800" dirty="0"/>
          </a:p>
        </p:txBody>
      </p:sp>
      <p:sp>
        <p:nvSpPr>
          <p:cNvPr id="232" name="Shape 230"/>
          <p:cNvSpPr/>
          <p:nvPr/>
        </p:nvSpPr>
        <p:spPr>
          <a:xfrm>
            <a:off x="6272784" y="2395728"/>
            <a:ext cx="133502" cy="566928"/>
          </a:xfrm>
          <a:prstGeom prst="rect">
            <a:avLst/>
          </a:prstGeom>
          <a:solidFill>
            <a:srgbClr val="1E7145">
              <a:alpha val="85000"/>
            </a:srgbClr>
          </a:solidFill>
          <a:ln w="7620">
            <a:solidFill>
              <a:srgbClr val="1E7145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6272784" y="2404872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BKP</a:t>
            </a:r>
            <a:endParaRPr lang="en-US" sz="550" dirty="0"/>
          </a:p>
        </p:txBody>
      </p:sp>
      <p:sp>
        <p:nvSpPr>
          <p:cNvPr id="234" name="Text 232"/>
          <p:cNvSpPr/>
          <p:nvPr/>
        </p:nvSpPr>
        <p:spPr>
          <a:xfrm>
            <a:off x="6272784" y="2688336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235" name="Shape 233"/>
          <p:cNvSpPr/>
          <p:nvPr/>
        </p:nvSpPr>
        <p:spPr>
          <a:xfrm>
            <a:off x="6415430" y="2395728"/>
            <a:ext cx="133502" cy="566928"/>
          </a:xfrm>
          <a:prstGeom prst="rect">
            <a:avLst/>
          </a:prstGeom>
          <a:solidFill>
            <a:srgbClr val="0E7490">
              <a:alpha val="85000"/>
            </a:srgbClr>
          </a:solidFill>
          <a:ln w="7620">
            <a:solidFill>
              <a:srgbClr val="0E7490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6415430" y="2404872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550" dirty="0"/>
          </a:p>
        </p:txBody>
      </p:sp>
      <p:sp>
        <p:nvSpPr>
          <p:cNvPr id="237" name="Text 235"/>
          <p:cNvSpPr/>
          <p:nvPr/>
        </p:nvSpPr>
        <p:spPr>
          <a:xfrm>
            <a:off x="6415430" y="2688336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238" name="Shape 236"/>
          <p:cNvSpPr/>
          <p:nvPr/>
        </p:nvSpPr>
        <p:spPr>
          <a:xfrm>
            <a:off x="6558077" y="2395728"/>
            <a:ext cx="133502" cy="566928"/>
          </a:xfrm>
          <a:prstGeom prst="rect">
            <a:avLst/>
          </a:prstGeom>
          <a:solidFill>
            <a:srgbClr val="1A3A8A">
              <a:alpha val="85000"/>
            </a:srgbClr>
          </a:solidFill>
          <a:ln w="7620">
            <a:solidFill>
              <a:srgbClr val="1A3A8A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6558077" y="2404872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550" dirty="0"/>
          </a:p>
        </p:txBody>
      </p:sp>
      <p:sp>
        <p:nvSpPr>
          <p:cNvPr id="240" name="Text 238"/>
          <p:cNvSpPr/>
          <p:nvPr/>
        </p:nvSpPr>
        <p:spPr>
          <a:xfrm>
            <a:off x="6558077" y="2688336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241" name="Shape 239"/>
          <p:cNvSpPr/>
          <p:nvPr/>
        </p:nvSpPr>
        <p:spPr>
          <a:xfrm>
            <a:off x="6700723" y="2395728"/>
            <a:ext cx="133502" cy="566928"/>
          </a:xfrm>
          <a:prstGeom prst="rect">
            <a:avLst/>
          </a:prstGeom>
          <a:solidFill>
            <a:srgbClr val="7C3AED">
              <a:alpha val="85000"/>
            </a:srgbClr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6700723" y="2404872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</a:t>
            </a:r>
            <a:endParaRPr lang="en-US" sz="550" dirty="0"/>
          </a:p>
        </p:txBody>
      </p:sp>
      <p:sp>
        <p:nvSpPr>
          <p:cNvPr id="243" name="Text 241"/>
          <p:cNvSpPr/>
          <p:nvPr/>
        </p:nvSpPr>
        <p:spPr>
          <a:xfrm>
            <a:off x="6700723" y="2688336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244" name="Shape 242"/>
          <p:cNvSpPr/>
          <p:nvPr/>
        </p:nvSpPr>
        <p:spPr>
          <a:xfrm>
            <a:off x="6843370" y="2395728"/>
            <a:ext cx="133502" cy="566928"/>
          </a:xfrm>
          <a:prstGeom prst="rect">
            <a:avLst/>
          </a:prstGeom>
          <a:solidFill>
            <a:srgbClr val="B7770D">
              <a:alpha val="85000"/>
            </a:srgbClr>
          </a:solidFill>
          <a:ln w="7620">
            <a:solidFill>
              <a:srgbClr val="B7770D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6843370" y="2404872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</a:t>
            </a:r>
            <a:endParaRPr lang="en-US" sz="550" dirty="0"/>
          </a:p>
        </p:txBody>
      </p:sp>
      <p:sp>
        <p:nvSpPr>
          <p:cNvPr id="246" name="Text 244"/>
          <p:cNvSpPr/>
          <p:nvPr/>
        </p:nvSpPr>
        <p:spPr>
          <a:xfrm>
            <a:off x="6843370" y="2688336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247" name="Shape 245"/>
          <p:cNvSpPr/>
          <p:nvPr/>
        </p:nvSpPr>
        <p:spPr>
          <a:xfrm>
            <a:off x="3831336" y="3136392"/>
            <a:ext cx="768096" cy="896112"/>
          </a:xfrm>
          <a:prstGeom prst="rect">
            <a:avLst/>
          </a:prstGeom>
          <a:solidFill>
            <a:srgbClr val="FAFAFA"/>
          </a:solidFill>
          <a:ln w="12700">
            <a:solidFill>
              <a:srgbClr val="C8D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48" name="Shape 246"/>
          <p:cNvSpPr/>
          <p:nvPr/>
        </p:nvSpPr>
        <p:spPr>
          <a:xfrm>
            <a:off x="3831336" y="3136392"/>
            <a:ext cx="768096" cy="21031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3831336" y="3136392"/>
            <a:ext cx="7680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🇦🇺 AU</a:t>
            </a:r>
            <a:endParaRPr lang="en-US" sz="800" dirty="0"/>
          </a:p>
        </p:txBody>
      </p:sp>
      <p:sp>
        <p:nvSpPr>
          <p:cNvPr id="250" name="Shape 248"/>
          <p:cNvSpPr/>
          <p:nvPr/>
        </p:nvSpPr>
        <p:spPr>
          <a:xfrm>
            <a:off x="3858768" y="3383280"/>
            <a:ext cx="133502" cy="566928"/>
          </a:xfrm>
          <a:prstGeom prst="rect">
            <a:avLst/>
          </a:prstGeom>
          <a:solidFill>
            <a:srgbClr val="1E7145">
              <a:alpha val="85000"/>
            </a:srgbClr>
          </a:solidFill>
          <a:ln w="7620">
            <a:solidFill>
              <a:srgbClr val="1E7145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3858768" y="3392424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BKP</a:t>
            </a:r>
            <a:endParaRPr lang="en-US" sz="550" dirty="0"/>
          </a:p>
        </p:txBody>
      </p:sp>
      <p:sp>
        <p:nvSpPr>
          <p:cNvPr id="252" name="Text 250"/>
          <p:cNvSpPr/>
          <p:nvPr/>
        </p:nvSpPr>
        <p:spPr>
          <a:xfrm>
            <a:off x="3858768" y="3675888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253" name="Shape 251"/>
          <p:cNvSpPr/>
          <p:nvPr/>
        </p:nvSpPr>
        <p:spPr>
          <a:xfrm>
            <a:off x="4001414" y="3383280"/>
            <a:ext cx="133502" cy="566928"/>
          </a:xfrm>
          <a:prstGeom prst="rect">
            <a:avLst/>
          </a:prstGeom>
          <a:solidFill>
            <a:srgbClr val="0E7490">
              <a:alpha val="85000"/>
            </a:srgbClr>
          </a:solidFill>
          <a:ln w="7620">
            <a:solidFill>
              <a:srgbClr val="0E7490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4001414" y="3392424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550" dirty="0"/>
          </a:p>
        </p:txBody>
      </p:sp>
      <p:sp>
        <p:nvSpPr>
          <p:cNvPr id="255" name="Text 253"/>
          <p:cNvSpPr/>
          <p:nvPr/>
        </p:nvSpPr>
        <p:spPr>
          <a:xfrm>
            <a:off x="4001414" y="3675888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256" name="Shape 254"/>
          <p:cNvSpPr/>
          <p:nvPr/>
        </p:nvSpPr>
        <p:spPr>
          <a:xfrm>
            <a:off x="4144061" y="3383280"/>
            <a:ext cx="133502" cy="566928"/>
          </a:xfrm>
          <a:prstGeom prst="rect">
            <a:avLst/>
          </a:prstGeom>
          <a:solidFill>
            <a:srgbClr val="1A3A8A">
              <a:alpha val="85000"/>
            </a:srgbClr>
          </a:solidFill>
          <a:ln w="7620">
            <a:solidFill>
              <a:srgbClr val="1A3A8A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4144061" y="3392424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550" dirty="0"/>
          </a:p>
        </p:txBody>
      </p:sp>
      <p:sp>
        <p:nvSpPr>
          <p:cNvPr id="258" name="Text 256"/>
          <p:cNvSpPr/>
          <p:nvPr/>
        </p:nvSpPr>
        <p:spPr>
          <a:xfrm>
            <a:off x="4144061" y="3675888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259" name="Shape 257"/>
          <p:cNvSpPr/>
          <p:nvPr/>
        </p:nvSpPr>
        <p:spPr>
          <a:xfrm>
            <a:off x="4286707" y="3383280"/>
            <a:ext cx="133502" cy="566928"/>
          </a:xfrm>
          <a:prstGeom prst="rect">
            <a:avLst/>
          </a:prstGeom>
          <a:solidFill>
            <a:srgbClr val="7C3AED">
              <a:alpha val="85000"/>
            </a:srgbClr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4286707" y="3392424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</a:t>
            </a:r>
            <a:endParaRPr lang="en-US" sz="550" dirty="0"/>
          </a:p>
        </p:txBody>
      </p:sp>
      <p:sp>
        <p:nvSpPr>
          <p:cNvPr id="261" name="Text 259"/>
          <p:cNvSpPr/>
          <p:nvPr/>
        </p:nvSpPr>
        <p:spPr>
          <a:xfrm>
            <a:off x="4286707" y="3675888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262" name="Shape 260"/>
          <p:cNvSpPr/>
          <p:nvPr/>
        </p:nvSpPr>
        <p:spPr>
          <a:xfrm>
            <a:off x="4429354" y="3383280"/>
            <a:ext cx="133502" cy="566928"/>
          </a:xfrm>
          <a:prstGeom prst="rect">
            <a:avLst/>
          </a:prstGeom>
          <a:solidFill>
            <a:srgbClr val="B7770D">
              <a:alpha val="85000"/>
            </a:srgbClr>
          </a:solidFill>
          <a:ln w="7620">
            <a:solidFill>
              <a:srgbClr val="B7770D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4429354" y="3392424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</a:t>
            </a:r>
            <a:endParaRPr lang="en-US" sz="550" dirty="0"/>
          </a:p>
        </p:txBody>
      </p:sp>
      <p:sp>
        <p:nvSpPr>
          <p:cNvPr id="264" name="Text 262"/>
          <p:cNvSpPr/>
          <p:nvPr/>
        </p:nvSpPr>
        <p:spPr>
          <a:xfrm>
            <a:off x="4429354" y="3675888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265" name="Shape 263"/>
          <p:cNvSpPr/>
          <p:nvPr/>
        </p:nvSpPr>
        <p:spPr>
          <a:xfrm>
            <a:off x="4636008" y="3136392"/>
            <a:ext cx="768096" cy="896112"/>
          </a:xfrm>
          <a:prstGeom prst="rect">
            <a:avLst/>
          </a:prstGeom>
          <a:solidFill>
            <a:srgbClr val="FAFAFA"/>
          </a:solidFill>
          <a:ln w="12700">
            <a:solidFill>
              <a:srgbClr val="C8D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66" name="Shape 264"/>
          <p:cNvSpPr/>
          <p:nvPr/>
        </p:nvSpPr>
        <p:spPr>
          <a:xfrm>
            <a:off x="4636008" y="3136392"/>
            <a:ext cx="768096" cy="21031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4636008" y="3136392"/>
            <a:ext cx="7680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IN</a:t>
            </a:r>
            <a:endParaRPr lang="en-US" sz="800" dirty="0"/>
          </a:p>
        </p:txBody>
      </p:sp>
      <p:sp>
        <p:nvSpPr>
          <p:cNvPr id="268" name="Shape 266"/>
          <p:cNvSpPr/>
          <p:nvPr/>
        </p:nvSpPr>
        <p:spPr>
          <a:xfrm>
            <a:off x="4663440" y="3383280"/>
            <a:ext cx="133502" cy="566928"/>
          </a:xfrm>
          <a:prstGeom prst="rect">
            <a:avLst/>
          </a:prstGeom>
          <a:solidFill>
            <a:srgbClr val="1E7145">
              <a:alpha val="85000"/>
            </a:srgbClr>
          </a:solidFill>
          <a:ln w="7620">
            <a:solidFill>
              <a:srgbClr val="1E7145"/>
            </a:solidFill>
            <a:prstDash val="solid"/>
          </a:ln>
        </p:spPr>
      </p:sp>
      <p:sp>
        <p:nvSpPr>
          <p:cNvPr id="269" name="Text 267"/>
          <p:cNvSpPr/>
          <p:nvPr/>
        </p:nvSpPr>
        <p:spPr>
          <a:xfrm>
            <a:off x="4663440" y="3392424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BKP</a:t>
            </a:r>
            <a:endParaRPr lang="en-US" sz="550" dirty="0"/>
          </a:p>
        </p:txBody>
      </p:sp>
      <p:sp>
        <p:nvSpPr>
          <p:cNvPr id="270" name="Text 268"/>
          <p:cNvSpPr/>
          <p:nvPr/>
        </p:nvSpPr>
        <p:spPr>
          <a:xfrm>
            <a:off x="4663440" y="3675888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271" name="Shape 269"/>
          <p:cNvSpPr/>
          <p:nvPr/>
        </p:nvSpPr>
        <p:spPr>
          <a:xfrm>
            <a:off x="4806086" y="3383280"/>
            <a:ext cx="133502" cy="566928"/>
          </a:xfrm>
          <a:prstGeom prst="rect">
            <a:avLst/>
          </a:prstGeom>
          <a:solidFill>
            <a:srgbClr val="0E7490">
              <a:alpha val="85000"/>
            </a:srgbClr>
          </a:solidFill>
          <a:ln w="7620">
            <a:solidFill>
              <a:srgbClr val="0E7490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4806086" y="3392424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550" dirty="0"/>
          </a:p>
        </p:txBody>
      </p:sp>
      <p:sp>
        <p:nvSpPr>
          <p:cNvPr id="273" name="Text 271"/>
          <p:cNvSpPr/>
          <p:nvPr/>
        </p:nvSpPr>
        <p:spPr>
          <a:xfrm>
            <a:off x="4806086" y="3675888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274" name="Shape 272"/>
          <p:cNvSpPr/>
          <p:nvPr/>
        </p:nvSpPr>
        <p:spPr>
          <a:xfrm>
            <a:off x="4948733" y="3383280"/>
            <a:ext cx="133502" cy="566928"/>
          </a:xfrm>
          <a:prstGeom prst="rect">
            <a:avLst/>
          </a:prstGeom>
          <a:solidFill>
            <a:srgbClr val="1A3A8A">
              <a:alpha val="85000"/>
            </a:srgbClr>
          </a:solidFill>
          <a:ln w="7620">
            <a:solidFill>
              <a:srgbClr val="1A3A8A"/>
            </a:solidFill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4948733" y="3392424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550" dirty="0"/>
          </a:p>
        </p:txBody>
      </p:sp>
      <p:sp>
        <p:nvSpPr>
          <p:cNvPr id="276" name="Text 274"/>
          <p:cNvSpPr/>
          <p:nvPr/>
        </p:nvSpPr>
        <p:spPr>
          <a:xfrm>
            <a:off x="4948733" y="3675888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277" name="Shape 275"/>
          <p:cNvSpPr/>
          <p:nvPr/>
        </p:nvSpPr>
        <p:spPr>
          <a:xfrm>
            <a:off x="5091379" y="3383280"/>
            <a:ext cx="133502" cy="566928"/>
          </a:xfrm>
          <a:prstGeom prst="rect">
            <a:avLst/>
          </a:prstGeom>
          <a:solidFill>
            <a:srgbClr val="7C3AED">
              <a:alpha val="85000"/>
            </a:srgbClr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5091379" y="3392424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</a:t>
            </a:r>
            <a:endParaRPr lang="en-US" sz="550" dirty="0"/>
          </a:p>
        </p:txBody>
      </p:sp>
      <p:sp>
        <p:nvSpPr>
          <p:cNvPr id="279" name="Text 277"/>
          <p:cNvSpPr/>
          <p:nvPr/>
        </p:nvSpPr>
        <p:spPr>
          <a:xfrm>
            <a:off x="5091379" y="3675888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280" name="Shape 278"/>
          <p:cNvSpPr/>
          <p:nvPr/>
        </p:nvSpPr>
        <p:spPr>
          <a:xfrm>
            <a:off x="5234026" y="3383280"/>
            <a:ext cx="133502" cy="566928"/>
          </a:xfrm>
          <a:prstGeom prst="rect">
            <a:avLst/>
          </a:prstGeom>
          <a:solidFill>
            <a:srgbClr val="B7770D">
              <a:alpha val="85000"/>
            </a:srgbClr>
          </a:solidFill>
          <a:ln w="7620">
            <a:solidFill>
              <a:srgbClr val="B7770D"/>
            </a:solidFill>
            <a:prstDash val="solid"/>
          </a:ln>
        </p:spPr>
      </p:sp>
      <p:sp>
        <p:nvSpPr>
          <p:cNvPr id="281" name="Text 279"/>
          <p:cNvSpPr/>
          <p:nvPr/>
        </p:nvSpPr>
        <p:spPr>
          <a:xfrm>
            <a:off x="5234026" y="3392424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</a:t>
            </a:r>
            <a:endParaRPr lang="en-US" sz="550" dirty="0"/>
          </a:p>
        </p:txBody>
      </p:sp>
      <p:sp>
        <p:nvSpPr>
          <p:cNvPr id="282" name="Text 280"/>
          <p:cNvSpPr/>
          <p:nvPr/>
        </p:nvSpPr>
        <p:spPr>
          <a:xfrm>
            <a:off x="5234026" y="3675888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283" name="Shape 281"/>
          <p:cNvSpPr/>
          <p:nvPr/>
        </p:nvSpPr>
        <p:spPr>
          <a:xfrm>
            <a:off x="5440680" y="3136392"/>
            <a:ext cx="768096" cy="896112"/>
          </a:xfrm>
          <a:prstGeom prst="rect">
            <a:avLst/>
          </a:prstGeom>
          <a:solidFill>
            <a:srgbClr val="FAFAFA"/>
          </a:solidFill>
          <a:ln w="12700">
            <a:solidFill>
              <a:srgbClr val="C8D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84" name="Shape 282"/>
          <p:cNvSpPr/>
          <p:nvPr/>
        </p:nvSpPr>
        <p:spPr>
          <a:xfrm>
            <a:off x="5440680" y="3136392"/>
            <a:ext cx="768096" cy="21031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5" name="Text 283"/>
          <p:cNvSpPr/>
          <p:nvPr/>
        </p:nvSpPr>
        <p:spPr>
          <a:xfrm>
            <a:off x="5440680" y="3136392"/>
            <a:ext cx="7680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🇨🇳 CN</a:t>
            </a:r>
            <a:endParaRPr lang="en-US" sz="800" dirty="0"/>
          </a:p>
        </p:txBody>
      </p:sp>
      <p:sp>
        <p:nvSpPr>
          <p:cNvPr id="286" name="Shape 284"/>
          <p:cNvSpPr/>
          <p:nvPr/>
        </p:nvSpPr>
        <p:spPr>
          <a:xfrm>
            <a:off x="5468112" y="3383280"/>
            <a:ext cx="133502" cy="566928"/>
          </a:xfrm>
          <a:prstGeom prst="rect">
            <a:avLst/>
          </a:prstGeom>
          <a:solidFill>
            <a:srgbClr val="1E7145">
              <a:alpha val="85000"/>
            </a:srgbClr>
          </a:solidFill>
          <a:ln w="7620">
            <a:solidFill>
              <a:srgbClr val="1E7145"/>
            </a:solidFill>
            <a:prstDash val="solid"/>
          </a:ln>
        </p:spPr>
      </p:sp>
      <p:sp>
        <p:nvSpPr>
          <p:cNvPr id="287" name="Text 285"/>
          <p:cNvSpPr/>
          <p:nvPr/>
        </p:nvSpPr>
        <p:spPr>
          <a:xfrm>
            <a:off x="5468112" y="3392424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BKP</a:t>
            </a:r>
            <a:endParaRPr lang="en-US" sz="550" dirty="0"/>
          </a:p>
        </p:txBody>
      </p:sp>
      <p:sp>
        <p:nvSpPr>
          <p:cNvPr id="288" name="Text 286"/>
          <p:cNvSpPr/>
          <p:nvPr/>
        </p:nvSpPr>
        <p:spPr>
          <a:xfrm>
            <a:off x="5468112" y="3675888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289" name="Shape 287"/>
          <p:cNvSpPr/>
          <p:nvPr/>
        </p:nvSpPr>
        <p:spPr>
          <a:xfrm>
            <a:off x="5610758" y="3383280"/>
            <a:ext cx="133502" cy="566928"/>
          </a:xfrm>
          <a:prstGeom prst="rect">
            <a:avLst/>
          </a:prstGeom>
          <a:solidFill>
            <a:srgbClr val="0E7490">
              <a:alpha val="85000"/>
            </a:srgbClr>
          </a:solidFill>
          <a:ln w="7620">
            <a:solidFill>
              <a:srgbClr val="0E7490"/>
            </a:solidFill>
            <a:prstDash val="solid"/>
          </a:ln>
        </p:spPr>
      </p:sp>
      <p:sp>
        <p:nvSpPr>
          <p:cNvPr id="290" name="Text 288"/>
          <p:cNvSpPr/>
          <p:nvPr/>
        </p:nvSpPr>
        <p:spPr>
          <a:xfrm>
            <a:off x="5610758" y="3392424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550" dirty="0"/>
          </a:p>
        </p:txBody>
      </p:sp>
      <p:sp>
        <p:nvSpPr>
          <p:cNvPr id="291" name="Text 289"/>
          <p:cNvSpPr/>
          <p:nvPr/>
        </p:nvSpPr>
        <p:spPr>
          <a:xfrm>
            <a:off x="5610758" y="3675888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292" name="Shape 290"/>
          <p:cNvSpPr/>
          <p:nvPr/>
        </p:nvSpPr>
        <p:spPr>
          <a:xfrm>
            <a:off x="5753405" y="3383280"/>
            <a:ext cx="133502" cy="566928"/>
          </a:xfrm>
          <a:prstGeom prst="rect">
            <a:avLst/>
          </a:prstGeom>
          <a:solidFill>
            <a:srgbClr val="1A3A8A">
              <a:alpha val="85000"/>
            </a:srgbClr>
          </a:solidFill>
          <a:ln w="7620">
            <a:solidFill>
              <a:srgbClr val="1A3A8A"/>
            </a:solidFill>
            <a:prstDash val="solid"/>
          </a:ln>
        </p:spPr>
      </p:sp>
      <p:sp>
        <p:nvSpPr>
          <p:cNvPr id="293" name="Text 291"/>
          <p:cNvSpPr/>
          <p:nvPr/>
        </p:nvSpPr>
        <p:spPr>
          <a:xfrm>
            <a:off x="5753405" y="3392424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550" dirty="0"/>
          </a:p>
        </p:txBody>
      </p:sp>
      <p:sp>
        <p:nvSpPr>
          <p:cNvPr id="294" name="Text 292"/>
          <p:cNvSpPr/>
          <p:nvPr/>
        </p:nvSpPr>
        <p:spPr>
          <a:xfrm>
            <a:off x="5753405" y="3675888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295" name="Shape 293"/>
          <p:cNvSpPr/>
          <p:nvPr/>
        </p:nvSpPr>
        <p:spPr>
          <a:xfrm>
            <a:off x="5896051" y="3383280"/>
            <a:ext cx="133502" cy="566928"/>
          </a:xfrm>
          <a:prstGeom prst="rect">
            <a:avLst/>
          </a:prstGeom>
          <a:solidFill>
            <a:srgbClr val="7C3AED">
              <a:alpha val="85000"/>
            </a:srgbClr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296" name="Text 294"/>
          <p:cNvSpPr/>
          <p:nvPr/>
        </p:nvSpPr>
        <p:spPr>
          <a:xfrm>
            <a:off x="5896051" y="3392424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</a:t>
            </a:r>
            <a:endParaRPr lang="en-US" sz="550" dirty="0"/>
          </a:p>
        </p:txBody>
      </p:sp>
      <p:sp>
        <p:nvSpPr>
          <p:cNvPr id="297" name="Text 295"/>
          <p:cNvSpPr/>
          <p:nvPr/>
        </p:nvSpPr>
        <p:spPr>
          <a:xfrm>
            <a:off x="5896051" y="3675888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298" name="Shape 296"/>
          <p:cNvSpPr/>
          <p:nvPr/>
        </p:nvSpPr>
        <p:spPr>
          <a:xfrm>
            <a:off x="6038698" y="3383280"/>
            <a:ext cx="133502" cy="566928"/>
          </a:xfrm>
          <a:prstGeom prst="rect">
            <a:avLst/>
          </a:prstGeom>
          <a:solidFill>
            <a:srgbClr val="B7770D">
              <a:alpha val="85000"/>
            </a:srgbClr>
          </a:solidFill>
          <a:ln w="7620">
            <a:solidFill>
              <a:srgbClr val="B7770D"/>
            </a:solidFill>
            <a:prstDash val="solid"/>
          </a:ln>
        </p:spPr>
      </p:sp>
      <p:sp>
        <p:nvSpPr>
          <p:cNvPr id="299" name="Text 297"/>
          <p:cNvSpPr/>
          <p:nvPr/>
        </p:nvSpPr>
        <p:spPr>
          <a:xfrm>
            <a:off x="6038698" y="3392424"/>
            <a:ext cx="13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</a:t>
            </a:r>
            <a:endParaRPr lang="en-US" sz="550" dirty="0"/>
          </a:p>
        </p:txBody>
      </p:sp>
      <p:sp>
        <p:nvSpPr>
          <p:cNvPr id="300" name="Text 298"/>
          <p:cNvSpPr/>
          <p:nvPr/>
        </p:nvSpPr>
        <p:spPr>
          <a:xfrm>
            <a:off x="6038698" y="3675888"/>
            <a:ext cx="1335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550" dirty="0"/>
          </a:p>
        </p:txBody>
      </p:sp>
      <p:sp>
        <p:nvSpPr>
          <p:cNvPr id="301" name="Shape 299"/>
          <p:cNvSpPr/>
          <p:nvPr/>
        </p:nvSpPr>
        <p:spPr>
          <a:xfrm>
            <a:off x="3044952" y="1188720"/>
            <a:ext cx="3950208" cy="0"/>
          </a:xfrm>
          <a:prstGeom prst="line">
            <a:avLst/>
          </a:prstGeom>
          <a:noFill/>
          <a:ln w="10160">
            <a:solidFill>
              <a:srgbClr val="FCA5A5"/>
            </a:solidFill>
            <a:prstDash val="dash"/>
          </a:ln>
        </p:spPr>
      </p:sp>
      <p:sp>
        <p:nvSpPr>
          <p:cNvPr id="302" name="Shape 300"/>
          <p:cNvSpPr/>
          <p:nvPr/>
        </p:nvSpPr>
        <p:spPr>
          <a:xfrm>
            <a:off x="3044952" y="2167128"/>
            <a:ext cx="3950208" cy="0"/>
          </a:xfrm>
          <a:prstGeom prst="line">
            <a:avLst/>
          </a:prstGeom>
          <a:noFill/>
          <a:ln w="10160">
            <a:solidFill>
              <a:srgbClr val="FCA5A5"/>
            </a:solidFill>
            <a:prstDash val="dash"/>
          </a:ln>
        </p:spPr>
      </p:sp>
      <p:sp>
        <p:nvSpPr>
          <p:cNvPr id="303" name="Shape 301"/>
          <p:cNvSpPr/>
          <p:nvPr/>
        </p:nvSpPr>
        <p:spPr>
          <a:xfrm>
            <a:off x="3044952" y="3127248"/>
            <a:ext cx="3950208" cy="0"/>
          </a:xfrm>
          <a:prstGeom prst="line">
            <a:avLst/>
          </a:prstGeom>
          <a:noFill/>
          <a:ln w="10160">
            <a:solidFill>
              <a:srgbClr val="FCA5A5"/>
            </a:solidFill>
            <a:prstDash val="dash"/>
          </a:ln>
        </p:spPr>
      </p:sp>
      <p:sp>
        <p:nvSpPr>
          <p:cNvPr id="304" name="Shape 302"/>
          <p:cNvSpPr/>
          <p:nvPr/>
        </p:nvSpPr>
        <p:spPr>
          <a:xfrm>
            <a:off x="2999232" y="3913632"/>
            <a:ext cx="4041648" cy="201168"/>
          </a:xfrm>
          <a:prstGeom prst="rect">
            <a:avLst/>
          </a:prstGeom>
          <a:solidFill>
            <a:srgbClr val="EEF4FF"/>
          </a:solidFill>
          <a:ln w="8890">
            <a:solidFill>
              <a:srgbClr val="C8D9F0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3072384" y="3941064"/>
            <a:ext cx="109728" cy="128016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</p:sp>
      <p:sp>
        <p:nvSpPr>
          <p:cNvPr id="306" name="Text 304"/>
          <p:cNvSpPr/>
          <p:nvPr/>
        </p:nvSpPr>
        <p:spPr>
          <a:xfrm>
            <a:off x="3200400" y="3941064"/>
            <a:ext cx="640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BKP = Backup</a:t>
            </a:r>
            <a:endParaRPr lang="en-US" sz="650" dirty="0"/>
          </a:p>
        </p:txBody>
      </p:sp>
      <p:sp>
        <p:nvSpPr>
          <p:cNvPr id="307" name="Shape 305"/>
          <p:cNvSpPr/>
          <p:nvPr/>
        </p:nvSpPr>
        <p:spPr>
          <a:xfrm>
            <a:off x="3877056" y="3941064"/>
            <a:ext cx="109728" cy="12801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08" name="Text 306"/>
          <p:cNvSpPr/>
          <p:nvPr/>
        </p:nvSpPr>
        <p:spPr>
          <a:xfrm>
            <a:off x="4005072" y="3941064"/>
            <a:ext cx="640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= Monitor</a:t>
            </a:r>
            <a:endParaRPr lang="en-US" sz="650" dirty="0"/>
          </a:p>
        </p:txBody>
      </p:sp>
      <p:sp>
        <p:nvSpPr>
          <p:cNvPr id="309" name="Shape 307"/>
          <p:cNvSpPr/>
          <p:nvPr/>
        </p:nvSpPr>
        <p:spPr>
          <a:xfrm>
            <a:off x="4681728" y="3941064"/>
            <a:ext cx="109728" cy="128016"/>
          </a:xfrm>
          <a:prstGeom prst="rect">
            <a:avLst/>
          </a:prstGeom>
          <a:solidFill>
            <a:srgbClr val="1A3A8A"/>
          </a:solidFill>
          <a:ln w="12700">
            <a:solidFill>
              <a:srgbClr val="1A3A8A"/>
            </a:solidFill>
            <a:prstDash val="solid"/>
          </a:ln>
        </p:spPr>
      </p:sp>
      <p:sp>
        <p:nvSpPr>
          <p:cNvPr id="310" name="Text 308"/>
          <p:cNvSpPr/>
          <p:nvPr/>
        </p:nvSpPr>
        <p:spPr>
          <a:xfrm>
            <a:off x="4809744" y="3941064"/>
            <a:ext cx="640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= File Svr</a:t>
            </a:r>
            <a:endParaRPr lang="en-US" sz="650" dirty="0"/>
          </a:p>
        </p:txBody>
      </p:sp>
      <p:sp>
        <p:nvSpPr>
          <p:cNvPr id="311" name="Shape 309"/>
          <p:cNvSpPr/>
          <p:nvPr/>
        </p:nvSpPr>
        <p:spPr>
          <a:xfrm>
            <a:off x="5486400" y="3941064"/>
            <a:ext cx="109728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2" name="Text 310"/>
          <p:cNvSpPr/>
          <p:nvPr/>
        </p:nvSpPr>
        <p:spPr>
          <a:xfrm>
            <a:off x="5614416" y="3941064"/>
            <a:ext cx="640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 = Print</a:t>
            </a:r>
            <a:endParaRPr lang="en-US" sz="650" dirty="0"/>
          </a:p>
        </p:txBody>
      </p:sp>
      <p:sp>
        <p:nvSpPr>
          <p:cNvPr id="313" name="Shape 311"/>
          <p:cNvSpPr/>
          <p:nvPr/>
        </p:nvSpPr>
        <p:spPr>
          <a:xfrm>
            <a:off x="6291072" y="3941064"/>
            <a:ext cx="109728" cy="128016"/>
          </a:xfrm>
          <a:prstGeom prst="rect">
            <a:avLst/>
          </a:prstGeom>
          <a:solidFill>
            <a:srgbClr val="B7770D"/>
          </a:solidFill>
          <a:ln w="12700">
            <a:solidFill>
              <a:srgbClr val="B7770D"/>
            </a:solidFill>
            <a:prstDash val="solid"/>
          </a:ln>
        </p:spPr>
      </p:sp>
      <p:sp>
        <p:nvSpPr>
          <p:cNvPr id="314" name="Text 312"/>
          <p:cNvSpPr/>
          <p:nvPr/>
        </p:nvSpPr>
        <p:spPr>
          <a:xfrm>
            <a:off x="6419088" y="3941064"/>
            <a:ext cx="640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= DHCP/DNS</a:t>
            </a:r>
            <a:endParaRPr lang="en-US" sz="650" dirty="0"/>
          </a:p>
        </p:txBody>
      </p:sp>
      <p:sp>
        <p:nvSpPr>
          <p:cNvPr id="315" name="Shape 313"/>
          <p:cNvSpPr/>
          <p:nvPr/>
        </p:nvSpPr>
        <p:spPr>
          <a:xfrm>
            <a:off x="2999232" y="4169664"/>
            <a:ext cx="4041648" cy="896112"/>
          </a:xfrm>
          <a:prstGeom prst="rect">
            <a:avLst/>
          </a:prstGeom>
          <a:solidFill>
            <a:srgbClr val="FFF7ED"/>
          </a:solidFill>
          <a:ln w="12700">
            <a:solidFill>
              <a:srgbClr val="B7770D"/>
            </a:solidFill>
            <a:prstDash val="solid"/>
          </a:ln>
        </p:spPr>
      </p:sp>
      <p:sp>
        <p:nvSpPr>
          <p:cNvPr id="316" name="Text 314"/>
          <p:cNvSpPr/>
          <p:nvPr/>
        </p:nvSpPr>
        <p:spPr>
          <a:xfrm>
            <a:off x="3072384" y="418795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750" dirty="0"/>
          </a:p>
        </p:txBody>
      </p:sp>
      <p:sp>
        <p:nvSpPr>
          <p:cNvPr id="317" name="Text 315"/>
          <p:cNvSpPr/>
          <p:nvPr/>
        </p:nvSpPr>
        <p:spPr>
          <a:xfrm>
            <a:off x="3072384" y="4379976"/>
            <a:ext cx="39319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65 independent infra instances (13 countries × 5 systems) — no shared services</a:t>
            </a:r>
            <a:endParaRPr lang="en-US" sz="680" dirty="0"/>
          </a:p>
        </p:txBody>
      </p:sp>
      <p:sp>
        <p:nvSpPr>
          <p:cNvPr id="318" name="Text 316"/>
          <p:cNvSpPr/>
          <p:nvPr/>
        </p:nvSpPr>
        <p:spPr>
          <a:xfrm>
            <a:off x="3072384" y="4521708"/>
            <a:ext cx="39319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Inconsistent backup schedules, retention policies &amp; restore SLAs per country</a:t>
            </a:r>
            <a:endParaRPr lang="en-US" sz="680" dirty="0"/>
          </a:p>
        </p:txBody>
      </p:sp>
      <p:sp>
        <p:nvSpPr>
          <p:cNvPr id="319" name="Text 317"/>
          <p:cNvSpPr/>
          <p:nvPr/>
        </p:nvSpPr>
        <p:spPr>
          <a:xfrm>
            <a:off x="3072384" y="4663440"/>
            <a:ext cx="39319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Monitoring tools differ per site — no unified alerting, dashboards or CMDB</a:t>
            </a:r>
            <a:endParaRPr lang="en-US" sz="680" dirty="0"/>
          </a:p>
        </p:txBody>
      </p:sp>
      <p:sp>
        <p:nvSpPr>
          <p:cNvPr id="320" name="Text 318"/>
          <p:cNvSpPr/>
          <p:nvPr/>
        </p:nvSpPr>
        <p:spPr>
          <a:xfrm>
            <a:off x="3072384" y="4805172"/>
            <a:ext cx="39319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File servers unmanaged: no quota, no DLP, no lifecycle — data sprawl risk</a:t>
            </a:r>
            <a:endParaRPr lang="en-US" sz="680" dirty="0"/>
          </a:p>
        </p:txBody>
      </p:sp>
      <p:sp>
        <p:nvSpPr>
          <p:cNvPr id="321" name="Text 319"/>
          <p:cNvSpPr/>
          <p:nvPr/>
        </p:nvSpPr>
        <p:spPr>
          <a:xfrm>
            <a:off x="3072384" y="4946904"/>
            <a:ext cx="39319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DHCP/DNS config errors cause outages — manual, prone to human error</a:t>
            </a:r>
            <a:endParaRPr lang="en-US" sz="680" dirty="0"/>
          </a:p>
        </p:txBody>
      </p:sp>
      <p:sp>
        <p:nvSpPr>
          <p:cNvPr id="322" name="Shape 320"/>
          <p:cNvSpPr/>
          <p:nvPr/>
        </p:nvSpPr>
        <p:spPr>
          <a:xfrm>
            <a:off x="2999232" y="5120640"/>
            <a:ext cx="4041648" cy="384048"/>
          </a:xfrm>
          <a:prstGeom prst="rect">
            <a:avLst/>
          </a:prstGeom>
          <a:solidFill>
            <a:srgbClr val="FEF2F2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3" name="Text 321"/>
          <p:cNvSpPr/>
          <p:nvPr/>
        </p:nvSpPr>
        <p:spPr>
          <a:xfrm>
            <a:off x="3044952" y="5120640"/>
            <a:ext cx="3950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Countries  ×  5 System Types  =  65 Independent Infra Instances  |  Est. $X.XM Annual Overhead</a:t>
            </a:r>
            <a:endParaRPr lang="en-US" sz="850" dirty="0"/>
          </a:p>
        </p:txBody>
      </p:sp>
      <p:sp>
        <p:nvSpPr>
          <p:cNvPr id="324" name="Shape 322"/>
          <p:cNvSpPr/>
          <p:nvPr/>
        </p:nvSpPr>
        <p:spPr>
          <a:xfrm>
            <a:off x="2999232" y="5559552"/>
            <a:ext cx="4041648" cy="320040"/>
          </a:xfrm>
          <a:prstGeom prst="rect">
            <a:avLst/>
          </a:prstGeom>
          <a:solidFill>
            <a:srgbClr val="EEF4FF"/>
          </a:solidFill>
          <a:ln w="10160">
            <a:solidFill>
              <a:srgbClr val="C8D9F0"/>
            </a:solidFill>
            <a:prstDash val="solid"/>
          </a:ln>
        </p:spPr>
      </p:sp>
      <p:sp>
        <p:nvSpPr>
          <p:cNvPr id="325" name="Text 323"/>
          <p:cNvSpPr/>
          <p:nvPr/>
        </p:nvSpPr>
        <p:spPr>
          <a:xfrm>
            <a:off x="3044952" y="5559552"/>
            <a:ext cx="3950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All on-prem, per-country  •  No automation  •  Manual patching  •  No cross-site DR  •  No AIOps visibility</a:t>
            </a:r>
            <a:endParaRPr lang="en-US" sz="700" dirty="0"/>
          </a:p>
        </p:txBody>
      </p:sp>
      <p:sp>
        <p:nvSpPr>
          <p:cNvPr id="326" name="Shape 324"/>
          <p:cNvSpPr/>
          <p:nvPr/>
        </p:nvSpPr>
        <p:spPr>
          <a:xfrm>
            <a:off x="7205472" y="3108960"/>
            <a:ext cx="530352" cy="4754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27" name="Text 325"/>
          <p:cNvSpPr/>
          <p:nvPr/>
        </p:nvSpPr>
        <p:spPr>
          <a:xfrm>
            <a:off x="7205472" y="3108960"/>
            <a:ext cx="530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28" name="Text 326"/>
          <p:cNvSpPr/>
          <p:nvPr/>
        </p:nvSpPr>
        <p:spPr>
          <a:xfrm>
            <a:off x="7168896" y="3621024"/>
            <a:ext cx="6035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</a:t>
            </a:r>
            <a:endParaRPr lang="en-US" sz="650" dirty="0"/>
          </a:p>
        </p:txBody>
      </p:sp>
      <p:sp>
        <p:nvSpPr>
          <p:cNvPr id="329" name="Shape 327"/>
          <p:cNvSpPr/>
          <p:nvPr/>
        </p:nvSpPr>
        <p:spPr>
          <a:xfrm>
            <a:off x="7818120" y="585216"/>
            <a:ext cx="4187952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0" name="Text 328"/>
          <p:cNvSpPr/>
          <p:nvPr/>
        </p:nvSpPr>
        <p:spPr>
          <a:xfrm>
            <a:off x="7818120" y="585216"/>
            <a:ext cx="4187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 —  Consolidated Common Infrastructure Platform</a:t>
            </a:r>
            <a:endParaRPr lang="en-US" sz="750" dirty="0"/>
          </a:p>
        </p:txBody>
      </p:sp>
      <p:sp>
        <p:nvSpPr>
          <p:cNvPr id="331" name="Shape 329"/>
          <p:cNvSpPr/>
          <p:nvPr/>
        </p:nvSpPr>
        <p:spPr>
          <a:xfrm>
            <a:off x="7818120" y="804672"/>
            <a:ext cx="4187952" cy="5888736"/>
          </a:xfrm>
          <a:prstGeom prst="rect">
            <a:avLst/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7000"/>
              </a:srgbClr>
            </a:outerShdw>
          </a:effectLst>
        </p:spPr>
      </p:sp>
      <p:sp>
        <p:nvSpPr>
          <p:cNvPr id="332" name="Shape 330"/>
          <p:cNvSpPr/>
          <p:nvPr/>
        </p:nvSpPr>
        <p:spPr>
          <a:xfrm>
            <a:off x="7909560" y="868680"/>
            <a:ext cx="4005072" cy="603504"/>
          </a:xfrm>
          <a:prstGeom prst="rect">
            <a:avLst/>
          </a:prstGeom>
          <a:solidFill>
            <a:srgbClr val="FAF5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333" name="Shape 331"/>
          <p:cNvSpPr/>
          <p:nvPr/>
        </p:nvSpPr>
        <p:spPr>
          <a:xfrm>
            <a:off x="7909560" y="868680"/>
            <a:ext cx="400507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4" name="Text 332"/>
          <p:cNvSpPr/>
          <p:nvPr/>
        </p:nvSpPr>
        <p:spPr>
          <a:xfrm>
            <a:off x="7909560" y="923544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CENTRALISED AIOps &amp; ITSM PLATFORM  (ServiceNow + AIOps Layer)</a:t>
            </a:r>
            <a:endParaRPr lang="en-US" sz="800" dirty="0"/>
          </a:p>
        </p:txBody>
      </p:sp>
      <p:sp>
        <p:nvSpPr>
          <p:cNvPr id="335" name="Shape 333"/>
          <p:cNvSpPr/>
          <p:nvPr/>
        </p:nvSpPr>
        <p:spPr>
          <a:xfrm>
            <a:off x="7955280" y="1133856"/>
            <a:ext cx="749808" cy="292608"/>
          </a:xfrm>
          <a:prstGeom prst="rect">
            <a:avLst/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336" name="Text 334"/>
          <p:cNvSpPr/>
          <p:nvPr/>
        </p:nvSpPr>
        <p:spPr>
          <a:xfrm>
            <a:off x="7955280" y="1133856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650" dirty="0"/>
          </a:p>
        </p:txBody>
      </p:sp>
      <p:sp>
        <p:nvSpPr>
          <p:cNvPr id="337" name="Shape 335"/>
          <p:cNvSpPr/>
          <p:nvPr/>
        </p:nvSpPr>
        <p:spPr>
          <a:xfrm>
            <a:off x="8759952" y="1133856"/>
            <a:ext cx="749808" cy="292608"/>
          </a:xfrm>
          <a:prstGeom prst="rect">
            <a:avLst/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338" name="Text 336"/>
          <p:cNvSpPr/>
          <p:nvPr/>
        </p:nvSpPr>
        <p:spPr>
          <a:xfrm>
            <a:off x="8759952" y="1133856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650" dirty="0"/>
          </a:p>
        </p:txBody>
      </p:sp>
      <p:sp>
        <p:nvSpPr>
          <p:cNvPr id="339" name="Shape 337"/>
          <p:cNvSpPr/>
          <p:nvPr/>
        </p:nvSpPr>
        <p:spPr>
          <a:xfrm>
            <a:off x="9564624" y="1133856"/>
            <a:ext cx="749808" cy="292608"/>
          </a:xfrm>
          <a:prstGeom prst="rect">
            <a:avLst/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340" name="Text 338"/>
          <p:cNvSpPr/>
          <p:nvPr/>
        </p:nvSpPr>
        <p:spPr>
          <a:xfrm>
            <a:off x="9564624" y="1133856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 AI</a:t>
            </a:r>
            <a:endParaRPr lang="en-US" sz="650" dirty="0"/>
          </a:p>
        </p:txBody>
      </p:sp>
      <p:sp>
        <p:nvSpPr>
          <p:cNvPr id="341" name="Shape 339"/>
          <p:cNvSpPr/>
          <p:nvPr/>
        </p:nvSpPr>
        <p:spPr>
          <a:xfrm>
            <a:off x="10369296" y="1133856"/>
            <a:ext cx="749808" cy="292608"/>
          </a:xfrm>
          <a:prstGeom prst="rect">
            <a:avLst/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342" name="Text 340"/>
          <p:cNvSpPr/>
          <p:nvPr/>
        </p:nvSpPr>
        <p:spPr>
          <a:xfrm>
            <a:off x="10369296" y="1133856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&amp;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AI</a:t>
            </a:r>
            <a:endParaRPr lang="en-US" sz="650" dirty="0"/>
          </a:p>
        </p:txBody>
      </p:sp>
      <p:sp>
        <p:nvSpPr>
          <p:cNvPr id="343" name="Shape 341"/>
          <p:cNvSpPr/>
          <p:nvPr/>
        </p:nvSpPr>
        <p:spPr>
          <a:xfrm>
            <a:off x="11173968" y="1133856"/>
            <a:ext cx="749808" cy="292608"/>
          </a:xfrm>
          <a:prstGeom prst="rect">
            <a:avLst/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344" name="Text 342"/>
          <p:cNvSpPr/>
          <p:nvPr/>
        </p:nvSpPr>
        <p:spPr>
          <a:xfrm>
            <a:off x="11173968" y="1133856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650" dirty="0"/>
          </a:p>
        </p:txBody>
      </p:sp>
      <p:sp>
        <p:nvSpPr>
          <p:cNvPr id="345" name="Shape 343"/>
          <p:cNvSpPr/>
          <p:nvPr/>
        </p:nvSpPr>
        <p:spPr>
          <a:xfrm>
            <a:off x="9912096" y="1472184"/>
            <a:ext cx="0" cy="18288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7909560" y="1655064"/>
            <a:ext cx="4005072" cy="146304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347" name="Shape 345"/>
          <p:cNvSpPr/>
          <p:nvPr/>
        </p:nvSpPr>
        <p:spPr>
          <a:xfrm>
            <a:off x="7909560" y="1655064"/>
            <a:ext cx="4005072" cy="2103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8" name="Text 346"/>
          <p:cNvSpPr/>
          <p:nvPr/>
        </p:nvSpPr>
        <p:spPr>
          <a:xfrm>
            <a:off x="7909560" y="1655064"/>
            <a:ext cx="40050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COMMON SHARED INFRASTRUCTURE SERVICES  (Regional Hub + Local Edge)</a:t>
            </a:r>
            <a:endParaRPr lang="en-US" sz="800" dirty="0"/>
          </a:p>
        </p:txBody>
      </p:sp>
      <p:sp>
        <p:nvSpPr>
          <p:cNvPr id="349" name="Shape 347"/>
          <p:cNvSpPr/>
          <p:nvPr/>
        </p:nvSpPr>
        <p:spPr>
          <a:xfrm>
            <a:off x="7955280" y="1901952"/>
            <a:ext cx="749808" cy="1152144"/>
          </a:xfrm>
          <a:prstGeom prst="rect">
            <a:avLst/>
          </a:prstGeom>
          <a:solidFill>
            <a:srgbClr val="FFFFFF"/>
          </a:solidFill>
          <a:ln w="15240">
            <a:solidFill>
              <a:srgbClr val="1E714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350" name="Shape 348"/>
          <p:cNvSpPr/>
          <p:nvPr/>
        </p:nvSpPr>
        <p:spPr>
          <a:xfrm>
            <a:off x="7955280" y="1901952"/>
            <a:ext cx="749808" cy="182880"/>
          </a:xfrm>
          <a:prstGeom prst="rect">
            <a:avLst/>
          </a:prstGeom>
          <a:solidFill>
            <a:srgbClr val="1E7145"/>
          </a:solidFill>
          <a:ln w="12700">
            <a:solidFill>
              <a:srgbClr val="1E7145"/>
            </a:solidFill>
            <a:prstDash val="solid"/>
          </a:ln>
        </p:spPr>
      </p:sp>
      <p:sp>
        <p:nvSpPr>
          <p:cNvPr id="351" name="Text 349"/>
          <p:cNvSpPr/>
          <p:nvPr/>
        </p:nvSpPr>
        <p:spPr>
          <a:xfrm>
            <a:off x="7955280" y="1901952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650" dirty="0"/>
          </a:p>
        </p:txBody>
      </p:sp>
      <p:sp>
        <p:nvSpPr>
          <p:cNvPr id="352" name="Text 350"/>
          <p:cNvSpPr/>
          <p:nvPr/>
        </p:nvSpPr>
        <p:spPr>
          <a:xfrm>
            <a:off x="7955280" y="2093976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💾</a:t>
            </a:r>
            <a:endParaRPr lang="en-US" sz="1300" dirty="0"/>
          </a:p>
        </p:txBody>
      </p:sp>
      <p:sp>
        <p:nvSpPr>
          <p:cNvPr id="353" name="Text 351"/>
          <p:cNvSpPr/>
          <p:nvPr/>
        </p:nvSpPr>
        <p:spPr>
          <a:xfrm>
            <a:off x="7955280" y="2331720"/>
            <a:ext cx="74980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Veeam/Cohesity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RPO&lt;4h RTO&lt;8h</a:t>
            </a:r>
            <a:endParaRPr lang="en-US" sz="650" dirty="0"/>
          </a:p>
        </p:txBody>
      </p:sp>
      <p:sp>
        <p:nvSpPr>
          <p:cNvPr id="354" name="Shape 352"/>
          <p:cNvSpPr/>
          <p:nvPr/>
        </p:nvSpPr>
        <p:spPr>
          <a:xfrm>
            <a:off x="8759952" y="1901952"/>
            <a:ext cx="749808" cy="1152144"/>
          </a:xfrm>
          <a:prstGeom prst="rect">
            <a:avLst/>
          </a:prstGeom>
          <a:solidFill>
            <a:srgbClr val="FFFFFF"/>
          </a:solidFill>
          <a:ln w="15240">
            <a:solidFill>
              <a:srgbClr val="0E74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355" name="Shape 353"/>
          <p:cNvSpPr/>
          <p:nvPr/>
        </p:nvSpPr>
        <p:spPr>
          <a:xfrm>
            <a:off x="8759952" y="1901952"/>
            <a:ext cx="749808" cy="182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56" name="Text 354"/>
          <p:cNvSpPr/>
          <p:nvPr/>
        </p:nvSpPr>
        <p:spPr>
          <a:xfrm>
            <a:off x="8759952" y="1901952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650" dirty="0"/>
          </a:p>
        </p:txBody>
      </p:sp>
      <p:sp>
        <p:nvSpPr>
          <p:cNvPr id="357" name="Text 355"/>
          <p:cNvSpPr/>
          <p:nvPr/>
        </p:nvSpPr>
        <p:spPr>
          <a:xfrm>
            <a:off x="8759952" y="2093976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📊</a:t>
            </a:r>
            <a:endParaRPr lang="en-US" sz="1300" dirty="0"/>
          </a:p>
        </p:txBody>
      </p:sp>
      <p:sp>
        <p:nvSpPr>
          <p:cNvPr id="358" name="Text 356"/>
          <p:cNvSpPr/>
          <p:nvPr/>
        </p:nvSpPr>
        <p:spPr>
          <a:xfrm>
            <a:off x="8759952" y="2331720"/>
            <a:ext cx="74980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stack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SolarWinds/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650" dirty="0"/>
          </a:p>
        </p:txBody>
      </p:sp>
      <p:sp>
        <p:nvSpPr>
          <p:cNvPr id="359" name="Shape 357"/>
          <p:cNvSpPr/>
          <p:nvPr/>
        </p:nvSpPr>
        <p:spPr>
          <a:xfrm>
            <a:off x="9564624" y="1901952"/>
            <a:ext cx="749808" cy="1152144"/>
          </a:xfrm>
          <a:prstGeom prst="rect">
            <a:avLst/>
          </a:prstGeom>
          <a:solidFill>
            <a:srgbClr val="FFFFFF"/>
          </a:solidFill>
          <a:ln w="15240">
            <a:solidFill>
              <a:srgbClr val="1A3A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360" name="Shape 358"/>
          <p:cNvSpPr/>
          <p:nvPr/>
        </p:nvSpPr>
        <p:spPr>
          <a:xfrm>
            <a:off x="9564624" y="1901952"/>
            <a:ext cx="749808" cy="182880"/>
          </a:xfrm>
          <a:prstGeom prst="rect">
            <a:avLst/>
          </a:prstGeom>
          <a:solidFill>
            <a:srgbClr val="1A3A8A"/>
          </a:solidFill>
          <a:ln w="12700">
            <a:solidFill>
              <a:srgbClr val="1A3A8A"/>
            </a:solidFill>
            <a:prstDash val="solid"/>
          </a:ln>
        </p:spPr>
      </p:sp>
      <p:sp>
        <p:nvSpPr>
          <p:cNvPr id="361" name="Text 359"/>
          <p:cNvSpPr/>
          <p:nvPr/>
        </p:nvSpPr>
        <p:spPr>
          <a:xfrm>
            <a:off x="9564624" y="1901952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SERVER</a:t>
            </a:r>
            <a:endParaRPr lang="en-US" sz="650" dirty="0"/>
          </a:p>
        </p:txBody>
      </p:sp>
      <p:sp>
        <p:nvSpPr>
          <p:cNvPr id="362" name="Text 360"/>
          <p:cNvSpPr/>
          <p:nvPr/>
        </p:nvSpPr>
        <p:spPr>
          <a:xfrm>
            <a:off x="9564624" y="2093976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📁</a:t>
            </a:r>
            <a:endParaRPr lang="en-US" sz="1300" dirty="0"/>
          </a:p>
        </p:txBody>
      </p:sp>
      <p:sp>
        <p:nvSpPr>
          <p:cNvPr id="363" name="Text 361"/>
          <p:cNvSpPr/>
          <p:nvPr/>
        </p:nvSpPr>
        <p:spPr>
          <a:xfrm>
            <a:off x="9564624" y="2331720"/>
            <a:ext cx="74980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+ Azure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Sync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A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namespace</a:t>
            </a:r>
            <a:endParaRPr lang="en-US" sz="650" dirty="0"/>
          </a:p>
        </p:txBody>
      </p:sp>
      <p:sp>
        <p:nvSpPr>
          <p:cNvPr id="364" name="Shape 362"/>
          <p:cNvSpPr/>
          <p:nvPr/>
        </p:nvSpPr>
        <p:spPr>
          <a:xfrm>
            <a:off x="10369296" y="1901952"/>
            <a:ext cx="749808" cy="1152144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365" name="Shape 363"/>
          <p:cNvSpPr/>
          <p:nvPr/>
        </p:nvSpPr>
        <p:spPr>
          <a:xfrm>
            <a:off x="10369296" y="1901952"/>
            <a:ext cx="749808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6" name="Text 364"/>
          <p:cNvSpPr/>
          <p:nvPr/>
        </p:nvSpPr>
        <p:spPr>
          <a:xfrm>
            <a:off x="10369296" y="1901952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</a:t>
            </a:r>
            <a:endParaRPr lang="en-US" sz="650" dirty="0"/>
          </a:p>
        </p:txBody>
      </p:sp>
      <p:sp>
        <p:nvSpPr>
          <p:cNvPr id="367" name="Text 365"/>
          <p:cNvSpPr/>
          <p:nvPr/>
        </p:nvSpPr>
        <p:spPr>
          <a:xfrm>
            <a:off x="10369296" y="2093976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🖨</a:t>
            </a:r>
            <a:endParaRPr lang="en-US" sz="1300" dirty="0"/>
          </a:p>
        </p:txBody>
      </p:sp>
      <p:sp>
        <p:nvSpPr>
          <p:cNvPr id="368" name="Text 366"/>
          <p:cNvSpPr/>
          <p:nvPr/>
        </p:nvSpPr>
        <p:spPr>
          <a:xfrm>
            <a:off x="10369296" y="2331720"/>
            <a:ext cx="74980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Print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queue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Follow-me print</a:t>
            </a:r>
            <a:endParaRPr lang="en-US" sz="650" dirty="0"/>
          </a:p>
        </p:txBody>
      </p:sp>
      <p:sp>
        <p:nvSpPr>
          <p:cNvPr id="369" name="Shape 367"/>
          <p:cNvSpPr/>
          <p:nvPr/>
        </p:nvSpPr>
        <p:spPr>
          <a:xfrm>
            <a:off x="11173968" y="1901952"/>
            <a:ext cx="749808" cy="1152144"/>
          </a:xfrm>
          <a:prstGeom prst="rect">
            <a:avLst/>
          </a:prstGeom>
          <a:solidFill>
            <a:srgbClr val="FFFFFF"/>
          </a:solidFill>
          <a:ln w="15240">
            <a:solidFill>
              <a:srgbClr val="B7770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370" name="Shape 368"/>
          <p:cNvSpPr/>
          <p:nvPr/>
        </p:nvSpPr>
        <p:spPr>
          <a:xfrm>
            <a:off x="11173968" y="1901952"/>
            <a:ext cx="749808" cy="182880"/>
          </a:xfrm>
          <a:prstGeom prst="rect">
            <a:avLst/>
          </a:prstGeom>
          <a:solidFill>
            <a:srgbClr val="B7770D"/>
          </a:solidFill>
          <a:ln w="12700">
            <a:solidFill>
              <a:srgbClr val="B7770D"/>
            </a:solidFill>
            <a:prstDash val="solid"/>
          </a:ln>
        </p:spPr>
      </p:sp>
      <p:sp>
        <p:nvSpPr>
          <p:cNvPr id="371" name="Text 369"/>
          <p:cNvSpPr/>
          <p:nvPr/>
        </p:nvSpPr>
        <p:spPr>
          <a:xfrm>
            <a:off x="11173968" y="1901952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DHCP/DNS</a:t>
            </a:r>
            <a:endParaRPr lang="en-US" sz="650" dirty="0"/>
          </a:p>
        </p:txBody>
      </p:sp>
      <p:sp>
        <p:nvSpPr>
          <p:cNvPr id="372" name="Text 370"/>
          <p:cNvSpPr/>
          <p:nvPr/>
        </p:nvSpPr>
        <p:spPr>
          <a:xfrm>
            <a:off x="11173968" y="2093976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🌐</a:t>
            </a:r>
            <a:endParaRPr lang="en-US" sz="1300" dirty="0"/>
          </a:p>
        </p:txBody>
      </p:sp>
      <p:sp>
        <p:nvSpPr>
          <p:cNvPr id="373" name="Text 371"/>
          <p:cNvSpPr/>
          <p:nvPr/>
        </p:nvSpPr>
        <p:spPr>
          <a:xfrm>
            <a:off x="11173968" y="2331720"/>
            <a:ext cx="74980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Infoblox DDI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Auto-failover</a:t>
            </a:r>
            <a:endParaRPr lang="en-US" sz="650" dirty="0"/>
          </a:p>
        </p:txBody>
      </p:sp>
      <p:sp>
        <p:nvSpPr>
          <p:cNvPr id="374" name="Shape 372"/>
          <p:cNvSpPr/>
          <p:nvPr/>
        </p:nvSpPr>
        <p:spPr>
          <a:xfrm>
            <a:off x="9912096" y="3118104"/>
            <a:ext cx="0" cy="18288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7909560" y="3300984"/>
            <a:ext cx="4005072" cy="768096"/>
          </a:xfrm>
          <a:prstGeom prst="rect">
            <a:avLst/>
          </a:prstGeom>
          <a:solidFill>
            <a:srgbClr val="EEF4FF"/>
          </a:solidFill>
          <a:ln w="15240">
            <a:solidFill>
              <a:srgbClr val="0E74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376" name="Text 374"/>
          <p:cNvSpPr/>
          <p:nvPr/>
        </p:nvSpPr>
        <p:spPr>
          <a:xfrm>
            <a:off x="7955280" y="3319272"/>
            <a:ext cx="3913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HUB ARCHITECTURE  (3 hubs cover 13 countries)</a:t>
            </a:r>
            <a:endParaRPr lang="en-US" sz="750" dirty="0"/>
          </a:p>
        </p:txBody>
      </p:sp>
      <p:sp>
        <p:nvSpPr>
          <p:cNvPr id="377" name="Shape 375"/>
          <p:cNvSpPr/>
          <p:nvPr/>
        </p:nvSpPr>
        <p:spPr>
          <a:xfrm>
            <a:off x="7955280" y="3529584"/>
            <a:ext cx="1298448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7955280" y="3529584"/>
            <a:ext cx="129844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9" name="Text 377"/>
          <p:cNvSpPr/>
          <p:nvPr/>
        </p:nvSpPr>
        <p:spPr>
          <a:xfrm>
            <a:off x="7955280" y="3584448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HUB-NORTH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(JP·KR·CN·TW)</a:t>
            </a:r>
            <a:endParaRPr lang="en-US" sz="700" dirty="0"/>
          </a:p>
        </p:txBody>
      </p:sp>
      <p:sp>
        <p:nvSpPr>
          <p:cNvPr id="380" name="Shape 378"/>
          <p:cNvSpPr/>
          <p:nvPr/>
        </p:nvSpPr>
        <p:spPr>
          <a:xfrm>
            <a:off x="9345168" y="3529584"/>
            <a:ext cx="1298448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9345168" y="3529584"/>
            <a:ext cx="1298448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82" name="Text 380"/>
          <p:cNvSpPr/>
          <p:nvPr/>
        </p:nvSpPr>
        <p:spPr>
          <a:xfrm>
            <a:off x="9345168" y="3584448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HUB-SOUTH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(SG·MY·TH·ID·PH·VN)</a:t>
            </a:r>
            <a:endParaRPr lang="en-US" sz="700" dirty="0"/>
          </a:p>
        </p:txBody>
      </p:sp>
      <p:sp>
        <p:nvSpPr>
          <p:cNvPr id="383" name="Shape 381"/>
          <p:cNvSpPr/>
          <p:nvPr/>
        </p:nvSpPr>
        <p:spPr>
          <a:xfrm>
            <a:off x="10735056" y="3529584"/>
            <a:ext cx="1298448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EA580C"/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10735056" y="3529584"/>
            <a:ext cx="1298448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85" name="Text 383"/>
          <p:cNvSpPr/>
          <p:nvPr/>
        </p:nvSpPr>
        <p:spPr>
          <a:xfrm>
            <a:off x="10735056" y="3584448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HUB-SOUTH2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(HK·IN·AU)</a:t>
            </a:r>
            <a:endParaRPr lang="en-US" sz="700" dirty="0"/>
          </a:p>
        </p:txBody>
      </p:sp>
      <p:sp>
        <p:nvSpPr>
          <p:cNvPr id="386" name="Shape 384"/>
          <p:cNvSpPr/>
          <p:nvPr/>
        </p:nvSpPr>
        <p:spPr>
          <a:xfrm>
            <a:off x="9912096" y="4069080"/>
            <a:ext cx="0" cy="182880"/>
          </a:xfrm>
          <a:prstGeom prst="line">
            <a:avLst/>
          </a:prstGeom>
          <a:noFill/>
          <a:ln w="19050">
            <a:solidFill>
              <a:srgbClr val="0B1F4B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7909560" y="4251960"/>
            <a:ext cx="4005072" cy="512064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388" name="Text 386"/>
          <p:cNvSpPr/>
          <p:nvPr/>
        </p:nvSpPr>
        <p:spPr>
          <a:xfrm>
            <a:off x="7955280" y="4270248"/>
            <a:ext cx="3913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CLOUD &amp; HYBRID INTEGRATION</a:t>
            </a:r>
            <a:endParaRPr lang="en-US" sz="750" dirty="0"/>
          </a:p>
        </p:txBody>
      </p:sp>
      <p:sp>
        <p:nvSpPr>
          <p:cNvPr id="389" name="Shape 387"/>
          <p:cNvSpPr/>
          <p:nvPr/>
        </p:nvSpPr>
        <p:spPr>
          <a:xfrm>
            <a:off x="7955280" y="4462272"/>
            <a:ext cx="91440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390" name="Text 388"/>
          <p:cNvSpPr/>
          <p:nvPr/>
        </p:nvSpPr>
        <p:spPr>
          <a:xfrm>
            <a:off x="7955280" y="44622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Backup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(Offsite DR)</a:t>
            </a:r>
            <a:endParaRPr lang="en-US" sz="650" dirty="0"/>
          </a:p>
        </p:txBody>
      </p:sp>
      <p:sp>
        <p:nvSpPr>
          <p:cNvPr id="391" name="Shape 389"/>
          <p:cNvSpPr/>
          <p:nvPr/>
        </p:nvSpPr>
        <p:spPr>
          <a:xfrm>
            <a:off x="8961120" y="4462272"/>
            <a:ext cx="91440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392" name="Text 390"/>
          <p:cNvSpPr/>
          <p:nvPr/>
        </p:nvSpPr>
        <p:spPr>
          <a:xfrm>
            <a:off x="8961120" y="44622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Sync</a:t>
            </a:r>
            <a:endParaRPr lang="en-US" sz="650" dirty="0"/>
          </a:p>
        </p:txBody>
      </p:sp>
      <p:sp>
        <p:nvSpPr>
          <p:cNvPr id="393" name="Shape 391"/>
          <p:cNvSpPr/>
          <p:nvPr/>
        </p:nvSpPr>
        <p:spPr>
          <a:xfrm>
            <a:off x="9966960" y="4462272"/>
            <a:ext cx="91440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394" name="Text 392"/>
          <p:cNvSpPr/>
          <p:nvPr/>
        </p:nvSpPr>
        <p:spPr>
          <a:xfrm>
            <a:off x="9966960" y="44622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650" dirty="0"/>
          </a:p>
        </p:txBody>
      </p:sp>
      <p:sp>
        <p:nvSpPr>
          <p:cNvPr id="395" name="Shape 393"/>
          <p:cNvSpPr/>
          <p:nvPr/>
        </p:nvSpPr>
        <p:spPr>
          <a:xfrm>
            <a:off x="10972800" y="4462272"/>
            <a:ext cx="91440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396" name="Text 394"/>
          <p:cNvSpPr/>
          <p:nvPr/>
        </p:nvSpPr>
        <p:spPr>
          <a:xfrm>
            <a:off x="10972800" y="44622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MS365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</a:t>
            </a:r>
            <a:endParaRPr lang="en-US" sz="650" dirty="0"/>
          </a:p>
        </p:txBody>
      </p:sp>
      <p:sp>
        <p:nvSpPr>
          <p:cNvPr id="397" name="Shape 395"/>
          <p:cNvSpPr/>
          <p:nvPr/>
        </p:nvSpPr>
        <p:spPr>
          <a:xfrm>
            <a:off x="9912096" y="4764024"/>
            <a:ext cx="0" cy="182880"/>
          </a:xfrm>
          <a:prstGeom prst="line">
            <a:avLst/>
          </a:prstGeom>
          <a:noFill/>
          <a:ln w="19050">
            <a:solidFill>
              <a:srgbClr val="0B1F4B"/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7909560" y="4946904"/>
            <a:ext cx="4005072" cy="1627632"/>
          </a:xfrm>
          <a:prstGeom prst="rect">
            <a:avLst/>
          </a:prstGeom>
          <a:solidFill>
            <a:srgbClr val="071330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399" name="Text 397"/>
          <p:cNvSpPr/>
          <p:nvPr/>
        </p:nvSpPr>
        <p:spPr>
          <a:xfrm>
            <a:off x="7982712" y="49651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 &amp; BENEFITS</a:t>
            </a:r>
            <a:endParaRPr lang="en-US" sz="800" dirty="0"/>
          </a:p>
        </p:txBody>
      </p:sp>
      <p:sp>
        <p:nvSpPr>
          <p:cNvPr id="400" name="Text 398"/>
          <p:cNvSpPr/>
          <p:nvPr/>
        </p:nvSpPr>
        <p:spPr>
          <a:xfrm>
            <a:off x="7982712" y="5184648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D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65 siloed systems → 15 shared services (5 types × 3 hubs)</a:t>
            </a:r>
            <a:endParaRPr lang="en-US" sz="700" dirty="0"/>
          </a:p>
        </p:txBody>
      </p:sp>
      <p:sp>
        <p:nvSpPr>
          <p:cNvPr id="401" name="Text 399"/>
          <p:cNvSpPr/>
          <p:nvPr/>
        </p:nvSpPr>
        <p:spPr>
          <a:xfrm>
            <a:off x="10012680" y="5184648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D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40% infra cost reduction via right-sizing &amp; shared licensing</a:t>
            </a:r>
            <a:endParaRPr lang="en-US" sz="700" dirty="0"/>
          </a:p>
        </p:txBody>
      </p:sp>
      <p:sp>
        <p:nvSpPr>
          <p:cNvPr id="402" name="Text 400"/>
          <p:cNvSpPr/>
          <p:nvPr/>
        </p:nvSpPr>
        <p:spPr>
          <a:xfrm>
            <a:off x="7982712" y="5404104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D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Single pane of glass monitoring for all 13 APAC countries</a:t>
            </a:r>
            <a:endParaRPr lang="en-US" sz="700" dirty="0"/>
          </a:p>
        </p:txBody>
      </p:sp>
      <p:sp>
        <p:nvSpPr>
          <p:cNvPr id="403" name="Text 401"/>
          <p:cNvSpPr/>
          <p:nvPr/>
        </p:nvSpPr>
        <p:spPr>
          <a:xfrm>
            <a:off x="10012680" y="5404104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D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Automated backup, DHCP failover &amp; print management</a:t>
            </a:r>
            <a:endParaRPr lang="en-US" sz="700" dirty="0"/>
          </a:p>
        </p:txBody>
      </p:sp>
      <p:sp>
        <p:nvSpPr>
          <p:cNvPr id="404" name="Text 402"/>
          <p:cNvSpPr/>
          <p:nvPr/>
        </p:nvSpPr>
        <p:spPr>
          <a:xfrm>
            <a:off x="7982712" y="5623560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D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AI-driven incident detection, auto-tickets &amp; runbook exec</a:t>
            </a:r>
            <a:endParaRPr lang="en-US" sz="700" dirty="0"/>
          </a:p>
        </p:txBody>
      </p:sp>
      <p:sp>
        <p:nvSpPr>
          <p:cNvPr id="405" name="Text 403"/>
          <p:cNvSpPr/>
          <p:nvPr/>
        </p:nvSpPr>
        <p:spPr>
          <a:xfrm>
            <a:off x="10012680" y="5623560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D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Consistent security, patching &amp; compliance across all sites</a:t>
            </a:r>
            <a:endParaRPr lang="en-US" sz="700" dirty="0"/>
          </a:p>
        </p:txBody>
      </p:sp>
      <p:sp>
        <p:nvSpPr>
          <p:cNvPr id="406" name="Text 404"/>
          <p:cNvSpPr/>
          <p:nvPr/>
        </p:nvSpPr>
        <p:spPr>
          <a:xfrm>
            <a:off x="7982712" y="5843016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D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Cloud-native DR — Azure Backup + File Sync for all regions</a:t>
            </a:r>
            <a:endParaRPr lang="en-US" sz="700" dirty="0"/>
          </a:p>
        </p:txBody>
      </p:sp>
      <p:sp>
        <p:nvSpPr>
          <p:cNvPr id="407" name="Text 405"/>
          <p:cNvSpPr/>
          <p:nvPr/>
        </p:nvSpPr>
        <p:spPr>
          <a:xfrm>
            <a:off x="10012680" y="5843016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DD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Standardised SLAs: 99.9% uptime, RPO&lt;4h, RTO&lt;8h</a:t>
            </a:r>
            <a:endParaRPr lang="en-US" sz="700" dirty="0"/>
          </a:p>
        </p:txBody>
      </p:sp>
      <p:sp>
        <p:nvSpPr>
          <p:cNvPr id="408" name="Shape 406"/>
          <p:cNvSpPr/>
          <p:nvPr/>
        </p:nvSpPr>
        <p:spPr>
          <a:xfrm>
            <a:off x="0" y="6729984"/>
            <a:ext cx="12161520" cy="12801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2026-04-18T05:48:42Z</dcterms:created>
  <dcterms:modified xsi:type="dcterms:W3CDTF">2026-04-18T05:48:42Z</dcterms:modified>
</cp:coreProperties>
</file>