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1128" y="5976938"/>
            <a:ext cx="5861745" cy="438150"/>
          </a:xfrm>
          <a:prstGeom prst="roundRect">
            <a:avLst>
              <a:gd name="adj" fmla="val 20848696"/>
            </a:avLst>
          </a:prstGeom>
          <a:solidFill>
            <a:srgbClr val="2563EB">
              <a:alpha val="8000"/>
            </a:srgbClr>
          </a:solidFill>
          <a:ln w="9525">
            <a:solidFill>
              <a:srgbClr val="2563E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6992" y="-1271587"/>
            <a:ext cx="827001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75"/>
              </a:lnSpc>
              <a:buNone/>
            </a:pPr>
            <a:r>
              <a:rPr lang="en-US" sz="8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📨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518071" y="452438"/>
            <a:ext cx="8107859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60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Replace On-Prem MTA with Azure Communication Services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18071" y="5176838"/>
            <a:ext cx="810785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Modern outbound email relay for applications, alerts and customer messaging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33796" y="6100763"/>
            <a:ext cx="7503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SMTP relay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90323" y="6100763"/>
            <a:ext cx="80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72972" y="6100763"/>
            <a:ext cx="11391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Verified domains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459" y="6100763"/>
            <a:ext cx="80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01116" y="6100763"/>
            <a:ext cx="7303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SPF / DKIM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37801" y="6100763"/>
            <a:ext cx="80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25563" y="6100763"/>
            <a:ext cx="617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50713" y="6100763"/>
            <a:ext cx="80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33947" y="6100763"/>
            <a:ext cx="10794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Cloud-managed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8010" y="617190"/>
            <a:ext cx="1714500" cy="1714500"/>
          </a:xfrm>
          <a:prstGeom prst="roundRect">
            <a:avLst>
              <a:gd name="adj" fmla="val 170667"/>
            </a:avLst>
          </a:prstGeom>
          <a:noFill/>
          <a:ln w="9525">
            <a:solidFill>
              <a:srgbClr val="2563E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8071" y="2024360"/>
            <a:ext cx="2550170" cy="2733080"/>
          </a:xfrm>
          <a:prstGeom prst="roundRect">
            <a:avLst>
              <a:gd name="adj" fmla="val 8605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96841" y="2024360"/>
            <a:ext cx="2550170" cy="2733080"/>
          </a:xfrm>
          <a:prstGeom prst="roundRect">
            <a:avLst>
              <a:gd name="adj" fmla="val 86055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75611" y="2024360"/>
            <a:ext cx="2550319" cy="2733080"/>
          </a:xfrm>
          <a:prstGeom prst="roundRect">
            <a:avLst>
              <a:gd name="adj" fmla="val 8605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8071" y="386060"/>
            <a:ext cx="8270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move off on-prem MTA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18071" y="1186160"/>
            <a:ext cx="81078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Legacy SMTP relays often exist only to serve line-of-business systems, but they create patching, certificate, reputation and relay security overhead that adds little business value.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6196" y="2262485"/>
            <a:ext cx="21153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🔧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56196" y="2719685"/>
            <a:ext cx="20739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burden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6196" y="3367385"/>
            <a:ext cx="2073920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 must maintain OS, mail software, connectors, queues, TLS posture, backups and anti-spam controls for infrastructure that mainly forwards outbound mail.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534966" y="2262485"/>
            <a:ext cx="21153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🛡️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534966" y="2719685"/>
            <a:ext cx="20739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and compliance risk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4966" y="3367385"/>
            <a:ext cx="207392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Open relay exposure, weak authentication, outdated ciphers and incomplete audit trails make legacy MTAs hard to defend and govern.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313736" y="2262485"/>
            <a:ext cx="211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📈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313736" y="2719685"/>
            <a:ext cx="211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Scaling is uneven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13736" y="3100685"/>
            <a:ext cx="207406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Burst traffic for alerts, OTPs, statements or campaign mail forces overprovisioning even though most periods run at low volume.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071" y="1333500"/>
            <a:ext cx="3939629" cy="1924050"/>
          </a:xfrm>
          <a:prstGeom prst="roundRect">
            <a:avLst>
              <a:gd name="adj" fmla="val 1140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333500"/>
            <a:ext cx="3939629" cy="1924050"/>
          </a:xfrm>
          <a:prstGeom prst="roundRect">
            <a:avLst>
              <a:gd name="adj" fmla="val 1140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8071" y="3486150"/>
            <a:ext cx="3939629" cy="1924050"/>
          </a:xfrm>
          <a:prstGeom prst="roundRect">
            <a:avLst>
              <a:gd name="adj" fmla="val 1140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486150"/>
            <a:ext cx="3939629" cy="1924050"/>
          </a:xfrm>
          <a:prstGeom prst="roundRect">
            <a:avLst>
              <a:gd name="adj" fmla="val 114059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8071" y="-266700"/>
            <a:ext cx="810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Azure Communication Services Email provides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94296" y="1609725"/>
            <a:ext cx="34549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Managed email platform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4296" y="1914525"/>
            <a:ext cx="338717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ACS Email supports high-volume B2C email, reliable delivery status, custom or Azure-managed domains and SMTP connectivity for existing applications.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2525" y="1609725"/>
            <a:ext cx="34549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controls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62525" y="1914525"/>
            <a:ext cx="338717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Microsoft documents sender authentication with SPF and DKIM, plus hygiene and fraud detection through Microsoft Defender-backed protections.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4296" y="3762375"/>
            <a:ext cx="34549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visibility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4296" y="4067175"/>
            <a:ext cx="338717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Insights, request-level logs, message IDs and recipient telemetry give a clearer audit and troubleshooting model than many basic relay servers.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2525" y="3762375"/>
            <a:ext cx="34549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Migration-friendly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62525" y="4067175"/>
            <a:ext cx="338717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SMTP support lets applications continue using a relay model while the backend moves from local mail servers to a cloud service.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071" y="1194197"/>
            <a:ext cx="1884015" cy="1314450"/>
          </a:xfrm>
          <a:prstGeom prst="roundRect">
            <a:avLst>
              <a:gd name="adj" fmla="val 166957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92586" y="1194197"/>
            <a:ext cx="1884164" cy="1314450"/>
          </a:xfrm>
          <a:prstGeom prst="roundRect">
            <a:avLst>
              <a:gd name="adj" fmla="val 166957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1194197"/>
            <a:ext cx="1884015" cy="1314450"/>
          </a:xfrm>
          <a:prstGeom prst="roundRect">
            <a:avLst>
              <a:gd name="adj" fmla="val 166957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41765" y="1194197"/>
            <a:ext cx="1884164" cy="1314450"/>
          </a:xfrm>
          <a:prstGeom prst="roundRect">
            <a:avLst>
              <a:gd name="adj" fmla="val 166957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8071" y="3019425"/>
            <a:ext cx="3901529" cy="2438400"/>
          </a:xfrm>
          <a:prstGeom prst="roundRect">
            <a:avLst>
              <a:gd name="adj" fmla="val 90000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6196" y="3867150"/>
            <a:ext cx="3425279" cy="171450"/>
          </a:xfrm>
          <a:prstGeom prst="roundRect">
            <a:avLst>
              <a:gd name="adj" fmla="val 53280000"/>
            </a:avLst>
          </a:prstGeom>
          <a:solidFill>
            <a:srgbClr val="2563EB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6196" y="4457700"/>
            <a:ext cx="3425279" cy="171450"/>
          </a:xfrm>
          <a:prstGeom prst="roundRect">
            <a:avLst>
              <a:gd name="adj" fmla="val 53280000"/>
            </a:avLst>
          </a:prstGeom>
          <a:solidFill>
            <a:srgbClr val="2563EB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6196" y="5048250"/>
            <a:ext cx="3425279" cy="171450"/>
          </a:xfrm>
          <a:prstGeom prst="roundRect">
            <a:avLst>
              <a:gd name="adj" fmla="val 53280000"/>
            </a:avLst>
          </a:prstGeom>
          <a:solidFill>
            <a:srgbClr val="2563EB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24400" y="2889647"/>
            <a:ext cx="3901529" cy="2697956"/>
          </a:xfrm>
          <a:prstGeom prst="roundRect">
            <a:avLst>
              <a:gd name="adj" fmla="val 8134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8071" y="-444103"/>
            <a:ext cx="8270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Business benefits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18071" y="355997"/>
            <a:ext cx="81078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strongest case is simplification: less infrastructure to run, better sender authentication, centralized outbound control and built-in telemetry.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2118" y="1432322"/>
            <a:ext cx="14359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☁️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56196" y="1889522"/>
            <a:ext cx="14077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MTA patching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16632" y="1432322"/>
            <a:ext cx="14360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🔐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830711" y="1889522"/>
            <a:ext cx="14079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SPF / DKIM support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1297" y="1432322"/>
            <a:ext cx="14359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📊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905375" y="1889522"/>
            <a:ext cx="14077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Delivery analytics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65811" y="1432322"/>
            <a:ext cx="14360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🚀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979890" y="1889522"/>
            <a:ext cx="14079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Burst-ready scaling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6196" y="3257550"/>
            <a:ext cx="34937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 emphasis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6196" y="3600450"/>
            <a:ext cx="1998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simplification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31134" y="3600450"/>
            <a:ext cx="357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6196" y="4191000"/>
            <a:ext cx="1084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uplift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31134" y="4191000"/>
            <a:ext cx="357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6196" y="4781550"/>
            <a:ext cx="1205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Migration effort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56682" y="4781550"/>
            <a:ext cx="7392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2525" y="3127772"/>
            <a:ext cx="34937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improves immediately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62525" y="3470672"/>
            <a:ext cx="3425279" cy="1878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Centralized outbound relay endpoint for legacy applications.</a:t>
            </a:r>
            <a:endParaRPr lang="en-US" sz="1080" dirty="0"/>
          </a:p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Cleaner sender reputation model through authenticated domains.</a:t>
            </a:r>
            <a:endParaRPr lang="en-US" sz="1080" dirty="0"/>
          </a:p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diagnostics through logs, message IDs and recipient status.</a:t>
            </a:r>
            <a:endParaRPr lang="en-US" sz="1080" dirty="0"/>
          </a:p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dependency on on-prem Exchange or standalone SMTP servers.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071" y="1959173"/>
            <a:ext cx="2575620" cy="2120503"/>
          </a:xfrm>
          <a:prstGeom prst="roundRect">
            <a:avLst>
              <a:gd name="adj" fmla="val 10349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84190" y="1959173"/>
            <a:ext cx="2575620" cy="2120503"/>
          </a:xfrm>
          <a:prstGeom prst="roundRect">
            <a:avLst>
              <a:gd name="adj" fmla="val 10349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50310" y="1959173"/>
            <a:ext cx="2575620" cy="2120503"/>
          </a:xfrm>
          <a:prstGeom prst="roundRect">
            <a:avLst>
              <a:gd name="adj" fmla="val 10349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8071" y="4384477"/>
            <a:ext cx="1530102" cy="438150"/>
          </a:xfrm>
          <a:prstGeom prst="roundRect">
            <a:avLst>
              <a:gd name="adj" fmla="val 20848696"/>
            </a:avLst>
          </a:prstGeom>
          <a:solidFill>
            <a:srgbClr val="2563EB">
              <a:alpha val="8000"/>
            </a:srgbClr>
          </a:solidFill>
          <a:ln w="9525">
            <a:solidFill>
              <a:srgbClr val="2563EB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Mail producers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62473" y="4384477"/>
            <a:ext cx="1530102" cy="438150"/>
          </a:xfrm>
          <a:prstGeom prst="roundRect">
            <a:avLst>
              <a:gd name="adj" fmla="val 20848696"/>
            </a:avLst>
          </a:prstGeom>
          <a:solidFill>
            <a:srgbClr val="2563EB">
              <a:alpha val="8000"/>
            </a:srgbClr>
          </a:solidFill>
          <a:ln w="9525">
            <a:solidFill>
              <a:srgbClr val="2563EB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SMTP auth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06875" y="4384477"/>
            <a:ext cx="1530102" cy="438150"/>
          </a:xfrm>
          <a:prstGeom prst="roundRect">
            <a:avLst>
              <a:gd name="adj" fmla="val 20848696"/>
            </a:avLst>
          </a:prstGeom>
          <a:solidFill>
            <a:srgbClr val="2563EB">
              <a:alpha val="8000"/>
            </a:srgbClr>
          </a:solidFill>
          <a:ln w="9525">
            <a:solidFill>
              <a:srgbClr val="2563EB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ACS Email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51277" y="4384477"/>
            <a:ext cx="1530102" cy="438150"/>
          </a:xfrm>
          <a:prstGeom prst="roundRect">
            <a:avLst>
              <a:gd name="adj" fmla="val 20848696"/>
            </a:avLst>
          </a:prstGeom>
          <a:solidFill>
            <a:srgbClr val="2563EB">
              <a:alpha val="8000"/>
            </a:srgbClr>
          </a:solidFill>
          <a:ln w="9525">
            <a:solidFill>
              <a:srgbClr val="2563EB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trust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95679" y="4384477"/>
            <a:ext cx="1530251" cy="438150"/>
          </a:xfrm>
          <a:prstGeom prst="roundRect">
            <a:avLst>
              <a:gd name="adj" fmla="val 20848696"/>
            </a:avLst>
          </a:prstGeom>
          <a:solidFill>
            <a:srgbClr val="2563EB">
              <a:alpha val="8000"/>
            </a:srgbClr>
          </a:solidFill>
          <a:ln w="9525">
            <a:solidFill>
              <a:srgbClr val="2563EB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Recipient delivery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8071" y="320873"/>
            <a:ext cx="8270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architecture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18071" y="1120973"/>
            <a:ext cx="81078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ACS Email as the managed outbound layer while applications, devices or relay clients continue to submit mail through authenticated SMTP.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6196" y="2197298"/>
            <a:ext cx="21413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 systems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6196" y="2463998"/>
            <a:ext cx="20993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Apps, scripts, ERP, alerts, line printers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96" y="3073598"/>
            <a:ext cx="2099370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Keep current producers while redirecting relay settings away from on-prem servers.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522315" y="2197298"/>
            <a:ext cx="21413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relay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2315" y="2463998"/>
            <a:ext cx="2141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ACS Email + SMTP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2315" y="2806898"/>
            <a:ext cx="209937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SMTP endpoint, verified domains, sender identities, analytics and policy controls move to Azure.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288435" y="2197298"/>
            <a:ext cx="21413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 plane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88435" y="2463998"/>
            <a:ext cx="20993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+ Entra ID + monitoring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8435" y="3073598"/>
            <a:ext cx="209937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SPF, DKIM, domain ownership and RBAC to secure sending and observe health.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071" y="622697"/>
            <a:ext cx="8270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Setup sequence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75271" y="1613297"/>
            <a:ext cx="3474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two Azure resources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75271" y="1918097"/>
            <a:ext cx="3406229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Provision the Communication Services resource and the separate Email Communication Service resource.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219700" y="1613297"/>
            <a:ext cx="3474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a domain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19700" y="1918097"/>
            <a:ext cx="3406229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Choose Azure-managed domain for testing or bring a custom subdomain such as notify.company.com.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75271" y="2722662"/>
            <a:ext cx="3474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Publish DNS records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5271" y="3027462"/>
            <a:ext cx="340622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Verify ownership and configure SPF, DKIM and DMARC aligned with your sending policy.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219700" y="2722662"/>
            <a:ext cx="3474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 domain and sender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9700" y="3027462"/>
            <a:ext cx="340622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Bind the verified domain to the communication service and define approved MailFrom identities.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75271" y="3640038"/>
            <a:ext cx="3474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 SMTP auth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5271" y="3944838"/>
            <a:ext cx="340622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the ACS SMTP endpoint, authenticated identity and secret for application relay.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219700" y="3640038"/>
            <a:ext cx="3474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Pilot and cut over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9700" y="3944838"/>
            <a:ext cx="3406229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Start with low-risk apps, test deliverability, then retire the on-prem relay after monitored migration.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071" y="469553"/>
            <a:ext cx="2550170" cy="2541091"/>
          </a:xfrm>
          <a:prstGeom prst="roundRect">
            <a:avLst>
              <a:gd name="adj" fmla="val 86363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96841" y="469553"/>
            <a:ext cx="2550170" cy="2541091"/>
          </a:xfrm>
          <a:prstGeom prst="roundRect">
            <a:avLst>
              <a:gd name="adj" fmla="val 86363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75611" y="469553"/>
            <a:ext cx="2550319" cy="2541091"/>
          </a:xfrm>
          <a:prstGeom prst="roundRect">
            <a:avLst>
              <a:gd name="adj" fmla="val 86363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8071" y="3239244"/>
            <a:ext cx="2550170" cy="2349103"/>
          </a:xfrm>
          <a:prstGeom prst="roundRect">
            <a:avLst>
              <a:gd name="adj" fmla="val 93421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96841" y="3239244"/>
            <a:ext cx="2550170" cy="2349103"/>
          </a:xfrm>
          <a:prstGeom prst="roundRect">
            <a:avLst>
              <a:gd name="adj" fmla="val 93421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75611" y="3239244"/>
            <a:ext cx="2550319" cy="2349103"/>
          </a:xfrm>
          <a:prstGeom prst="roundRect">
            <a:avLst>
              <a:gd name="adj" fmla="val 93421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8071" y="-444847"/>
            <a:ext cx="8270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Best use cases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56196" y="707678"/>
            <a:ext cx="21153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🔔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56196" y="1164878"/>
            <a:ext cx="20739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notifications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6196" y="1812578"/>
            <a:ext cx="207392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Alerts, incident notifications, scheduled reports and batch completion mail from infrastructure and business systems.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534966" y="707678"/>
            <a:ext cx="21153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🔑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534966" y="1164878"/>
            <a:ext cx="20739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Transactional app mail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34966" y="1812578"/>
            <a:ext cx="207392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OTP, password reset, order confirmation, workflow notifications and customer communication generated by applications.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313736" y="707678"/>
            <a:ext cx="211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📄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313736" y="1164878"/>
            <a:ext cx="207406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 distribution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13736" y="1812578"/>
            <a:ext cx="207406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Statements, invoices, HR letters and outbound system-generated documents that need traceability and delivery insight.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56196" y="3477369"/>
            <a:ext cx="21153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🖨️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56196" y="3934569"/>
            <a:ext cx="20739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Legacy SMTP clients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6196" y="4582269"/>
            <a:ext cx="207392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Applications or devices that cannot be rewritten quickly but can point to a new authenticated SMTP relay.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534966" y="3477369"/>
            <a:ext cx="21153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📬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534966" y="3934569"/>
            <a:ext cx="21153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External B2C email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4966" y="4315569"/>
            <a:ext cx="207392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High-volume outbound communications to customers where on-prem mail infrastructure is an unnecessary bottleneck.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313736" y="3477369"/>
            <a:ext cx="211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🧭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313736" y="3934569"/>
            <a:ext cx="207406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exit from Exchange relay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13736" y="4582269"/>
            <a:ext cx="2074069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Organizations retiring the last Exchange server or reducing dependency on hybrid SMTP relay patterns.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071" y="1545878"/>
            <a:ext cx="3939629" cy="2966145"/>
          </a:xfrm>
          <a:prstGeom prst="roundRect">
            <a:avLst>
              <a:gd name="adj" fmla="val 73987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545878"/>
            <a:ext cx="3939629" cy="2966145"/>
          </a:xfrm>
          <a:prstGeom prst="roundRect">
            <a:avLst>
              <a:gd name="adj" fmla="val 73987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8071" y="631478"/>
            <a:ext cx="8270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guardrails and caveats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94296" y="1822103"/>
            <a:ext cx="34549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 use ACS when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4296" y="2165003"/>
            <a:ext cx="3387179" cy="207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 need outbound application email, SMTP relay modernization and authenticated domain-based sending.</a:t>
            </a:r>
            <a:endParaRPr lang="en-US" sz="1080" dirty="0"/>
          </a:p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 want delivery status, logs and analytics without maintaining mail transport servers.</a:t>
            </a:r>
            <a:endParaRPr lang="en-US" sz="1080" dirty="0"/>
          </a:p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 can manage DNS, sender identities and application credential rotation in Azure.</a:t>
            </a:r>
            <a:endParaRPr lang="en-US" sz="1080" dirty="0"/>
          </a:p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 want a stepping stone away from on-prem Exchange relay dependence.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962525" y="1822103"/>
            <a:ext cx="34549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 not treat ACS 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62525" y="2165003"/>
            <a:ext cx="3387179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full mailbox platform for user productivity mail.</a:t>
            </a:r>
            <a:endParaRPr lang="en-US" sz="1080" dirty="0"/>
          </a:p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drop-in replacement for every inbound mail, journaling or groupware workflow.</a:t>
            </a:r>
            <a:endParaRPr lang="en-US" sz="1080" dirty="0"/>
          </a:p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reason to skip DMARC, sender governance or throttling design.</a:t>
            </a:r>
            <a:endParaRPr lang="en-US" sz="1080" dirty="0"/>
          </a:p>
          <a:p>
            <a:pPr marL="342900" indent="-342900">
              <a:lnSpc>
                <a:spcPts val="1512"/>
              </a:lnSpc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single shared relay without sender segmentation, quota planning and monitoring.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071" y="1164580"/>
            <a:ext cx="1884015" cy="2810768"/>
          </a:xfrm>
          <a:prstGeom prst="roundRect">
            <a:avLst>
              <a:gd name="adj" fmla="val 116483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92586" y="1164580"/>
            <a:ext cx="1884164" cy="2810768"/>
          </a:xfrm>
          <a:prstGeom prst="roundRect">
            <a:avLst>
              <a:gd name="adj" fmla="val 116474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1164580"/>
            <a:ext cx="1884015" cy="2810768"/>
          </a:xfrm>
          <a:prstGeom prst="roundRect">
            <a:avLst>
              <a:gd name="adj" fmla="val 116483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41765" y="1164580"/>
            <a:ext cx="1884164" cy="2810768"/>
          </a:xfrm>
          <a:prstGeom prst="roundRect">
            <a:avLst>
              <a:gd name="adj" fmla="val 116474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419100" dist="171450" dir="5400000">
              <a:srgbClr val="2563E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8071" y="4356348"/>
            <a:ext cx="8107859" cy="704850"/>
          </a:xfrm>
          <a:prstGeom prst="roundRect">
            <a:avLst>
              <a:gd name="adj" fmla="val 12960000"/>
            </a:avLst>
          </a:prstGeom>
          <a:solidFill>
            <a:srgbClr val="2563EB">
              <a:alpha val="8000"/>
            </a:srgbClr>
          </a:solidFill>
          <a:ln w="9525">
            <a:solidFill>
              <a:srgbClr val="2563EB"/>
            </a:solidFill>
          </a:ln>
        </p:spPr>
        <p:txBody>
          <a:bodyPr wrap="square" lIns="228600" tIns="228600" rIns="228600" bIns="2286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 metric: same or better deliverability with lower operational risk and no local SMTP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6992" y="82451"/>
            <a:ext cx="8270016" cy="777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120"/>
              </a:lnSpc>
              <a:buNone/>
            </a:pPr>
            <a:r>
              <a:rPr lang="en-US" sz="408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Recommended migration plan</a:t>
            </a:r>
            <a:endParaRPr lang="en-US" sz="4080" dirty="0"/>
          </a:p>
        </p:txBody>
      </p:sp>
      <p:sp>
        <p:nvSpPr>
          <p:cNvPr id="8" name="Text 6"/>
          <p:cNvSpPr/>
          <p:nvPr/>
        </p:nvSpPr>
        <p:spPr>
          <a:xfrm>
            <a:off x="756196" y="1402705"/>
            <a:ext cx="14359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56196" y="1859905"/>
            <a:ext cx="14359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6196" y="2164705"/>
            <a:ext cx="1407765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Inventory current MTAs, senders, applications, message types, domains and relay dependencies.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830711" y="1402705"/>
            <a:ext cx="14360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830711" y="1859905"/>
            <a:ext cx="1407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landing zone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0711" y="2393305"/>
            <a:ext cx="1407914" cy="134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 ACS Email, verified subdomains, RBAC, secrets management and monitoring baselines.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905375" y="1402705"/>
            <a:ext cx="14359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05375" y="1859905"/>
            <a:ext cx="14359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Pilot by wave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05375" y="2164705"/>
            <a:ext cx="1407765" cy="134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Move non-critical notifications first, then transactional apps, then high-volume and regulated use cases.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979890" y="1402705"/>
            <a:ext cx="14360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979890" y="1859905"/>
            <a:ext cx="143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Decommission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79890" y="2164705"/>
            <a:ext cx="1407914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Retire on-prem relays after success criteria, rollback windows and operational signoff are complete.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2026-05-06T13:46:00Z</dcterms:created>
  <dcterms:modified xsi:type="dcterms:W3CDTF">2026-05-06T13:46:00Z</dcterms:modified>
</cp:coreProperties>
</file>