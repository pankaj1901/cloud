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8009" y="4308128"/>
            <a:ext cx="5767834" cy="438150"/>
          </a:xfrm>
          <a:prstGeom prst="roundRect">
            <a:avLst>
              <a:gd name="adj" fmla="val 2084869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2628" y="397371"/>
            <a:ext cx="8238744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75"/>
              </a:lnSpc>
              <a:buNone/>
            </a:pPr>
            <a:r>
              <a:rPr lang="en-US" sz="8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🤖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452628" y="2121396"/>
            <a:ext cx="8238744" cy="118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60"/>
              </a:lnSpc>
              <a:buNone/>
            </a:pPr>
            <a:r>
              <a:rPr lang="en-US" sz="6240" dirty="0">
                <a:solidFill>
                  <a:srgbClr val="7C3AE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Edwin AI for Infra AIOps</a:t>
            </a:r>
            <a:endParaRPr lang="en-US" sz="6240" dirty="0"/>
          </a:p>
        </p:txBody>
      </p:sp>
      <p:sp>
        <p:nvSpPr>
          <p:cNvPr id="5" name="Text 3"/>
          <p:cNvSpPr/>
          <p:nvPr/>
        </p:nvSpPr>
        <p:spPr>
          <a:xfrm>
            <a:off x="533400" y="3462486"/>
            <a:ext cx="807720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intelligence across hybrid monitoring, logging and ITSM</a:t>
            </a:r>
            <a:endParaRPr lang="en-US" sz="1620" dirty="0"/>
          </a:p>
        </p:txBody>
      </p:sp>
      <p:sp>
        <p:nvSpPr>
          <p:cNvPr id="6" name="Text 4"/>
          <p:cNvSpPr/>
          <p:nvPr/>
        </p:nvSpPr>
        <p:spPr>
          <a:xfrm>
            <a:off x="1880589" y="4431953"/>
            <a:ext cx="7593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SolarWinds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5985" y="4431953"/>
            <a:ext cx="80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31983" y="4431953"/>
            <a:ext cx="7975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IBM Instana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35258" y="4431953"/>
            <a:ext cx="80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15314" y="4431953"/>
            <a:ext cx="14035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Prometheus/Grafana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18653" y="4431953"/>
            <a:ext cx="80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07943" y="4431953"/>
            <a:ext cx="461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Splunk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78718" y="4431953"/>
            <a:ext cx="80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64702" y="4431953"/>
            <a:ext cx="7989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ServiceNow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8010" y="617190"/>
            <a:ext cx="1714500" cy="1714500"/>
          </a:xfrm>
          <a:prstGeom prst="roundRect">
            <a:avLst>
              <a:gd name="adj" fmla="val 149333"/>
            </a:avLst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57400"/>
            <a:ext cx="2539901" cy="2667000"/>
          </a:xfrm>
          <a:prstGeom prst="roundRect">
            <a:avLst>
              <a:gd name="adj" fmla="val 8640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01901" y="2057400"/>
            <a:ext cx="2540050" cy="2667000"/>
          </a:xfrm>
          <a:prstGeom prst="roundRect">
            <a:avLst>
              <a:gd name="adj" fmla="val 8639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70550" y="2057400"/>
            <a:ext cx="2539901" cy="2667000"/>
          </a:xfrm>
          <a:prstGeom prst="roundRect">
            <a:avLst>
              <a:gd name="adj" fmla="val 8640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419100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Edwin AI now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33400" y="1219200"/>
            <a:ext cx="807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 estate already produces metrics, events, traces, logs and tickets across multiple tools, but the operational gap sits between detection and coordinated action.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1525" y="2295525"/>
            <a:ext cx="2104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🔔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71525" y="2752725"/>
            <a:ext cx="2104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 many consoles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1525" y="3133725"/>
            <a:ext cx="2063651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SolarWinds, Instana, Prometheus, Grafana and Splunk each show part of the picture, which slows triage and increases swivel-chair operations.</a:t>
            </a:r>
            <a:endParaRPr lang="en-US" sz="1056" dirty="0"/>
          </a:p>
        </p:txBody>
      </p:sp>
      <p:sp>
        <p:nvSpPr>
          <p:cNvPr id="11" name="Text 9"/>
          <p:cNvSpPr/>
          <p:nvPr/>
        </p:nvSpPr>
        <p:spPr>
          <a:xfrm>
            <a:off x="3540026" y="2295525"/>
            <a:ext cx="21050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🧩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540026" y="2752725"/>
            <a:ext cx="206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Context is fragmented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0026" y="3400425"/>
            <a:ext cx="20638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Infra, application, logging and ITSM data often meet only after ticket creation, so blast radius, ownership and probable cause remain unclear early in the incident.</a:t>
            </a:r>
            <a:endParaRPr lang="en-US" sz="1056" dirty="0"/>
          </a:p>
        </p:txBody>
      </p:sp>
      <p:sp>
        <p:nvSpPr>
          <p:cNvPr id="14" name="Text 12"/>
          <p:cNvSpPr/>
          <p:nvPr/>
        </p:nvSpPr>
        <p:spPr>
          <a:xfrm>
            <a:off x="6308675" y="2295525"/>
            <a:ext cx="2104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⏱️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308675" y="2752725"/>
            <a:ext cx="20636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triage burns MTTR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8675" y="3400425"/>
            <a:ext cx="2063651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High-value engineers spend time deduplicating alerts, collecting evidence and routing incidents instead of remediating the issue or preventing recurrence.</a:t>
            </a:r>
            <a:endParaRPr lang="en-US" sz="10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23900"/>
            <a:ext cx="3924300" cy="2190750"/>
          </a:xfrm>
          <a:prstGeom prst="roundRect">
            <a:avLst>
              <a:gd name="adj" fmla="val 10017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723900"/>
            <a:ext cx="3924300" cy="2190750"/>
          </a:xfrm>
          <a:prstGeom prst="roundRect">
            <a:avLst>
              <a:gd name="adj" fmla="val 10017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3143250"/>
            <a:ext cx="3924300" cy="2190750"/>
          </a:xfrm>
          <a:prstGeom prst="roundRect">
            <a:avLst>
              <a:gd name="adj" fmla="val 10017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143250"/>
            <a:ext cx="3924300" cy="2190750"/>
          </a:xfrm>
          <a:prstGeom prst="roundRect">
            <a:avLst>
              <a:gd name="adj" fmla="val 10017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-190500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Edwin AI adds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9625" y="1000125"/>
            <a:ext cx="34392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Agentic AIOps layer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625" y="1304925"/>
            <a:ext cx="3371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Edwin AI is designed to investigate what broke, understand impact, identify root cause, recommend or generate a fix, and execute across existing tools.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2525" y="1000125"/>
            <a:ext cx="34392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Conversation + automation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2525" y="1304925"/>
            <a:ext cx="3371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Operations teams can ask plain-language questions, review correlated evidence, and move directly into governed remediation instead of hopping between dashboards.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9625" y="3419475"/>
            <a:ext cx="34392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correlation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9625" y="3724275"/>
            <a:ext cx="33718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Events from monitoring, logs, CMDB and ITSM flow through one correlation engine for enrichment, deduplication, grouping and prioritization.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2525" y="3419475"/>
            <a:ext cx="34392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Fits hybrid estates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62525" y="3724275"/>
            <a:ext cx="3371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platform is positioned for hybrid and multi-cloud operations where legacy infrastructure, cloud services and application stacks must be analyzed together.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38250"/>
            <a:ext cx="1876425" cy="13144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1238250"/>
            <a:ext cx="1876425" cy="13144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238250"/>
            <a:ext cx="1876425" cy="1314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175" y="1238250"/>
            <a:ext cx="1876425" cy="13144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33400" y="3019425"/>
            <a:ext cx="3886200" cy="2438400"/>
          </a:xfrm>
          <a:prstGeom prst="roundRect">
            <a:avLst>
              <a:gd name="adj" fmla="val 9000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771525" y="3867150"/>
            <a:ext cx="340995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771525" y="4457700"/>
            <a:ext cx="340995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771525" y="5048250"/>
            <a:ext cx="3409950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4724400" y="2933700"/>
            <a:ext cx="3886200" cy="2609850"/>
          </a:xfrm>
          <a:prstGeom prst="roundRect">
            <a:avLst>
              <a:gd name="adj" fmla="val 8408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533400" y="-400050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Measured value points</a:t>
            </a:r>
            <a:endParaRPr lang="en-US" sz="3600" dirty="0"/>
          </a:p>
        </p:txBody>
      </p:sp>
      <p:sp>
        <p:nvSpPr>
          <p:cNvPr id="12" name="Text 6"/>
          <p:cNvSpPr/>
          <p:nvPr/>
        </p:nvSpPr>
        <p:spPr>
          <a:xfrm>
            <a:off x="533400" y="400050"/>
            <a:ext cx="807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Vendor-published outcomes show the strongest value in noise reduction, ITSM suppression and response speed.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757523" y="1476375"/>
            <a:ext cx="14281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95</a:t>
            </a:r>
            <a:endParaRPr lang="en-US" sz="2700" dirty="0"/>
          </a:p>
        </p:txBody>
      </p:sp>
      <p:sp>
        <p:nvSpPr>
          <p:cNvPr id="14" name="Text 8"/>
          <p:cNvSpPr/>
          <p:nvPr/>
        </p:nvSpPr>
        <p:spPr>
          <a:xfrm>
            <a:off x="771525" y="1933575"/>
            <a:ext cx="1400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% alert compression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2824448" y="1476375"/>
            <a:ext cx="14281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</a:t>
            </a:r>
            <a:endParaRPr lang="en-US" sz="2700" dirty="0"/>
          </a:p>
        </p:txBody>
      </p:sp>
      <p:sp>
        <p:nvSpPr>
          <p:cNvPr id="16" name="Text 10"/>
          <p:cNvSpPr/>
          <p:nvPr/>
        </p:nvSpPr>
        <p:spPr>
          <a:xfrm>
            <a:off x="2838450" y="1933575"/>
            <a:ext cx="1400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% noise reduction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891373" y="1476375"/>
            <a:ext cx="14281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76</a:t>
            </a:r>
            <a:endParaRPr lang="en-US" sz="2700" dirty="0"/>
          </a:p>
        </p:txBody>
      </p:sp>
      <p:sp>
        <p:nvSpPr>
          <p:cNvPr id="18" name="Text 12"/>
          <p:cNvSpPr/>
          <p:nvPr/>
        </p:nvSpPr>
        <p:spPr>
          <a:xfrm>
            <a:off x="4905375" y="1933575"/>
            <a:ext cx="1400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% fewer ITSM incidents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958298" y="1476375"/>
            <a:ext cx="14281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700" dirty="0"/>
          </a:p>
        </p:txBody>
      </p:sp>
      <p:sp>
        <p:nvSpPr>
          <p:cNvPr id="20" name="Text 14"/>
          <p:cNvSpPr/>
          <p:nvPr/>
        </p:nvSpPr>
        <p:spPr>
          <a:xfrm>
            <a:off x="6972300" y="1933575"/>
            <a:ext cx="1400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hour to first value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71525" y="3257550"/>
            <a:ext cx="34781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impact lens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771525" y="3600450"/>
            <a:ext cx="1571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Alert noise removed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842742" y="3600450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90%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1525" y="4191000"/>
            <a:ext cx="1833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ITSM incident reduction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842742" y="4191000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76%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71525" y="4781550"/>
            <a:ext cx="2340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Published compression ceiling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842742" y="4781550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95%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62525" y="3171825"/>
            <a:ext cx="34781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those numbers mean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962525" y="3514725"/>
            <a:ext cx="340995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Less NOC overload during storms and maintenance windows.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Fewer low-value ServiceNow tickets created from duplicate alarms.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 incident handoff because context is prepared before escalation.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More time for engineering improvement work rather than alert cleanup.</a:t>
            </a:r>
            <a:endParaRPr lang="en-US" sz="10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804988"/>
            <a:ext cx="2565350" cy="2428875"/>
          </a:xfrm>
          <a:prstGeom prst="roundRect">
            <a:avLst>
              <a:gd name="adj" fmla="val 903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9250" y="1804988"/>
            <a:ext cx="2565350" cy="2428875"/>
          </a:xfrm>
          <a:prstGeom prst="roundRect">
            <a:avLst>
              <a:gd name="adj" fmla="val 903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804988"/>
            <a:ext cx="2565499" cy="2428875"/>
          </a:xfrm>
          <a:prstGeom prst="roundRect">
            <a:avLst>
              <a:gd name="adj" fmla="val 903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4538663"/>
            <a:ext cx="1524000" cy="438150"/>
          </a:xfrm>
          <a:prstGeom prst="roundRect">
            <a:avLst>
              <a:gd name="adj" fmla="val 2084869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71700" y="4538663"/>
            <a:ext cx="1524000" cy="438150"/>
          </a:xfrm>
          <a:prstGeom prst="roundRect">
            <a:avLst>
              <a:gd name="adj" fmla="val 2084869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0" y="4538663"/>
            <a:ext cx="1524000" cy="438150"/>
          </a:xfrm>
          <a:prstGeom prst="roundRect">
            <a:avLst>
              <a:gd name="adj" fmla="val 2084869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Topology / CMDB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48300" y="4538663"/>
            <a:ext cx="1524000" cy="438150"/>
          </a:xfrm>
          <a:prstGeom prst="roundRect">
            <a:avLst>
              <a:gd name="adj" fmla="val 2084869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triage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86600" y="4538663"/>
            <a:ext cx="1524000" cy="438150"/>
          </a:xfrm>
          <a:prstGeom prst="roundRect">
            <a:avLst>
              <a:gd name="adj" fmla="val 2084869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ITSM action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166688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Target architecture in your toolchain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33400" y="966788"/>
            <a:ext cx="807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Edwin AI works best as an operational intelligence and response layer above existing observability, logging and ITSM investments rather than as a rip-and-replace product.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1525" y="2043113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1525" y="2309813"/>
            <a:ext cx="20891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SolarWinds, Instana, Prometheus, Grafana, Splunk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1525" y="3452813"/>
            <a:ext cx="20891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Ingest alerts, events and monitoring context from infra, application and log domains.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3527375" y="2043113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Correlation core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7375" y="2309813"/>
            <a:ext cx="2130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Edwin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7375" y="2652713"/>
            <a:ext cx="20891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Normalize, enrich, deduplicate, prioritize and explain incidents using topology, telemetry and service context.</a:t>
            </a:r>
            <a:endParaRPr lang="en-US" sz="1056" dirty="0"/>
          </a:p>
        </p:txBody>
      </p:sp>
      <p:sp>
        <p:nvSpPr>
          <p:cNvPr id="18" name="Text 16"/>
          <p:cNvSpPr/>
          <p:nvPr/>
        </p:nvSpPr>
        <p:spPr>
          <a:xfrm>
            <a:off x="6283226" y="2043113"/>
            <a:ext cx="2131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Execution system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83226" y="2309813"/>
            <a:ext cx="20892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ServiceNow + automations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3226" y="2919413"/>
            <a:ext cx="208924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Create, update and resolve incidents with bidirectional workflow and optional remediation automation.</a:t>
            </a:r>
            <a:endParaRPr lang="en-US" sz="10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7163"/>
            <a:ext cx="2539901" cy="2847975"/>
          </a:xfrm>
          <a:prstGeom prst="roundRect">
            <a:avLst>
              <a:gd name="adj" fmla="val 8640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157163"/>
            <a:ext cx="2540050" cy="2847975"/>
          </a:xfrm>
          <a:prstGeom prst="roundRect">
            <a:avLst>
              <a:gd name="adj" fmla="val 8639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0550" y="157163"/>
            <a:ext cx="2539901" cy="2847975"/>
          </a:xfrm>
          <a:prstGeom prst="roundRect">
            <a:avLst>
              <a:gd name="adj" fmla="val 8640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233738"/>
            <a:ext cx="2539901" cy="2667000"/>
          </a:xfrm>
          <a:prstGeom prst="roundRect">
            <a:avLst>
              <a:gd name="adj" fmla="val 8640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901" y="3233738"/>
            <a:ext cx="2540050" cy="2667000"/>
          </a:xfrm>
          <a:prstGeom prst="roundRect">
            <a:avLst>
              <a:gd name="adj" fmla="val 8639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0550" y="3233738"/>
            <a:ext cx="2539901" cy="2667000"/>
          </a:xfrm>
          <a:prstGeom prst="roundRect">
            <a:avLst>
              <a:gd name="adj" fmla="val 8640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-757237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Best-fit infrastructure use cases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1525" y="395288"/>
            <a:ext cx="2104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🏦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71525" y="852488"/>
            <a:ext cx="20636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Hybrid banking estate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1525" y="1500188"/>
            <a:ext cx="2063651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Correlate incidents spanning on-prem compute, network, storage, virtualization, private cloud and regulated application tiers where multiple towers own fragments of the event chain.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3540026" y="395288"/>
            <a:ext cx="21050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☁️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540026" y="852488"/>
            <a:ext cx="206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Multi-tool operations center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0026" y="1500188"/>
            <a:ext cx="20638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 duplicate incidents when Prometheus/Grafana, APM, infra monitoring and log analytics all fire for the same outage but no single tool owns full incident triage.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6308675" y="395288"/>
            <a:ext cx="2104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🛠️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308675" y="852488"/>
            <a:ext cx="20636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ServiceNow-led remediation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8675" y="1500188"/>
            <a:ext cx="2063651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incident quality, routing and closure by attaching CMDB, topology and probable cause before assignment, then feeding updates bidirectionally during resolution.</a:t>
            </a:r>
            <a:endParaRPr lang="en-US" sz="1056" dirty="0"/>
          </a:p>
        </p:txBody>
      </p:sp>
      <p:sp>
        <p:nvSpPr>
          <p:cNvPr id="18" name="Text 16"/>
          <p:cNvSpPr/>
          <p:nvPr/>
        </p:nvSpPr>
        <p:spPr>
          <a:xfrm>
            <a:off x="771525" y="3471863"/>
            <a:ext cx="2104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🌐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71525" y="3929063"/>
            <a:ext cx="20636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Cross-domain outage triage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1525" y="4576763"/>
            <a:ext cx="2063651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 related network, infrastructure, application and third-party alerts into a single incident so teams stop working the same outage in parallel.</a:t>
            </a:r>
            <a:endParaRPr lang="en-US" sz="1056" dirty="0"/>
          </a:p>
        </p:txBody>
      </p:sp>
      <p:sp>
        <p:nvSpPr>
          <p:cNvPr id="21" name="Text 19"/>
          <p:cNvSpPr/>
          <p:nvPr/>
        </p:nvSpPr>
        <p:spPr>
          <a:xfrm>
            <a:off x="3540026" y="3471863"/>
            <a:ext cx="21050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📉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540026" y="3929063"/>
            <a:ext cx="206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Alert storm suppression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40026" y="4576763"/>
            <a:ext cx="20638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Handle maintenance windows, cascading failures and noisy integrations where the core need is compression, prioritization and rapid operator explanation.</a:t>
            </a:r>
            <a:endParaRPr lang="en-US" sz="1056" dirty="0"/>
          </a:p>
        </p:txBody>
      </p:sp>
      <p:sp>
        <p:nvSpPr>
          <p:cNvPr id="24" name="Text 22"/>
          <p:cNvSpPr/>
          <p:nvPr/>
        </p:nvSpPr>
        <p:spPr>
          <a:xfrm>
            <a:off x="6308675" y="3471863"/>
            <a:ext cx="2104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🤝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308675" y="3929063"/>
            <a:ext cx="20636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Lean platform teams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8675" y="4576763"/>
            <a:ext cx="2063651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 operations without matching headcount growth by automating evidence collection, triage, routing and next-step recommendations.</a:t>
            </a:r>
            <a:endParaRPr lang="en-US" sz="105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33425"/>
            <a:ext cx="1493490" cy="3009900"/>
          </a:xfrm>
          <a:prstGeom prst="roundRect">
            <a:avLst>
              <a:gd name="adj" fmla="val 14694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79290" y="733425"/>
            <a:ext cx="1493490" cy="3009900"/>
          </a:xfrm>
          <a:prstGeom prst="roundRect">
            <a:avLst>
              <a:gd name="adj" fmla="val 14694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25180" y="733425"/>
            <a:ext cx="1493490" cy="3009900"/>
          </a:xfrm>
          <a:prstGeom prst="roundRect">
            <a:avLst>
              <a:gd name="adj" fmla="val 14694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71071" y="733425"/>
            <a:ext cx="1493490" cy="3009900"/>
          </a:xfrm>
          <a:prstGeom prst="roundRect">
            <a:avLst>
              <a:gd name="adj" fmla="val 14694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6961" y="733425"/>
            <a:ext cx="1493639" cy="3009900"/>
          </a:xfrm>
          <a:prstGeom prst="roundRect">
            <a:avLst>
              <a:gd name="adj" fmla="val 14692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4048125"/>
            <a:ext cx="8077200" cy="1276350"/>
          </a:xfrm>
          <a:prstGeom prst="roundRect">
            <a:avLst>
              <a:gd name="adj" fmla="val 17194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-180975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Example: major infrastructure incident flow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3425" y="933450"/>
            <a:ext cx="11153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3425" y="1200150"/>
            <a:ext cx="1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Signals arrive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3425" y="1733550"/>
            <a:ext cx="1093440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SolarWinds flags network degradation, Instana sees application latency, Splunk captures errors.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2379315" y="933450"/>
            <a:ext cx="11153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79315" y="1200150"/>
            <a:ext cx="1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Edwin correlates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9315" y="1733550"/>
            <a:ext cx="109344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Duplicate alarms collapse into one prioritized incident with impacted service and likely dependency chain.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4025205" y="933450"/>
            <a:ext cx="11153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5205" y="1200150"/>
            <a:ext cx="1115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triages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5205" y="1504950"/>
            <a:ext cx="109344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Logs, metrics, recent changes and past incidents are reviewed together to isolate probable root cause.</a:t>
            </a:r>
            <a:endParaRPr lang="en-US" sz="1056" dirty="0"/>
          </a:p>
        </p:txBody>
      </p:sp>
      <p:sp>
        <p:nvSpPr>
          <p:cNvPr id="18" name="Text 16"/>
          <p:cNvSpPr/>
          <p:nvPr/>
        </p:nvSpPr>
        <p:spPr>
          <a:xfrm>
            <a:off x="5671096" y="933450"/>
            <a:ext cx="11153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71096" y="1200150"/>
            <a:ext cx="1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ServiceNow updates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71096" y="1733550"/>
            <a:ext cx="109344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 is created or enriched with CMDB, business impact, routing and recommended next actions.</a:t>
            </a:r>
            <a:endParaRPr lang="en-US" sz="1056" dirty="0"/>
          </a:p>
        </p:txBody>
      </p:sp>
      <p:sp>
        <p:nvSpPr>
          <p:cNvPr id="21" name="Text 19"/>
          <p:cNvSpPr/>
          <p:nvPr/>
        </p:nvSpPr>
        <p:spPr>
          <a:xfrm>
            <a:off x="7316986" y="933450"/>
            <a:ext cx="11154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6986" y="1200150"/>
            <a:ext cx="1093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Automation executes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6986" y="1733550"/>
            <a:ext cx="1093589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Approved fix runs through integrated automation while the incident stays synchronized for audit and closure.</a:t>
            </a:r>
            <a:endParaRPr lang="en-US" sz="1056" dirty="0"/>
          </a:p>
        </p:txBody>
      </p:sp>
      <p:sp>
        <p:nvSpPr>
          <p:cNvPr id="24" name="Text 22"/>
          <p:cNvSpPr/>
          <p:nvPr/>
        </p:nvSpPr>
        <p:spPr>
          <a:xfrm>
            <a:off x="771525" y="4286250"/>
            <a:ext cx="77529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Outcome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1525" y="4552950"/>
            <a:ext cx="7600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biggest gain is not better alerting alone; it is shorter time from fragmented symptoms to a single, actionable operational narrative.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685925"/>
            <a:ext cx="3924300" cy="2686050"/>
          </a:xfrm>
          <a:prstGeom prst="roundRect">
            <a:avLst>
              <a:gd name="adj" fmla="val 8170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685925"/>
            <a:ext cx="3924300" cy="2686050"/>
          </a:xfrm>
          <a:prstGeom prst="roundRect">
            <a:avLst>
              <a:gd name="adj" fmla="val 8170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771525"/>
            <a:ext cx="8238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Where Edwin AI fits best vs limited fit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09625" y="1962150"/>
            <a:ext cx="34392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fit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9625" y="2305050"/>
            <a:ext cx="337185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Complex hybrid infrastructure with many event sources and shared ownership.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Teams already invested in monitoring, logging and ServiceNow workflows.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alert volumes, duplicate incidents, escalations and MTTR pain.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Need for explainable triage and governed automation rather than black-box AI.</a:t>
            </a:r>
            <a:endParaRPr lang="en-US" sz="1056" dirty="0"/>
          </a:p>
        </p:txBody>
      </p:sp>
      <p:sp>
        <p:nvSpPr>
          <p:cNvPr id="7" name="Text 5"/>
          <p:cNvSpPr/>
          <p:nvPr/>
        </p:nvSpPr>
        <p:spPr>
          <a:xfrm>
            <a:off x="4962525" y="1962150"/>
            <a:ext cx="34392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0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fit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2525" y="2305050"/>
            <a:ext cx="337185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Small environments with a single monitoring stack and low incident volume.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Organizations seeking a full replacement for every existing observability tool.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Teams without stable CMDB, ownership model or incident process discipline.</a:t>
            </a:r>
            <a:endParaRPr lang="en-US" sz="1056" dirty="0"/>
          </a:p>
          <a:p>
            <a:pPr marL="342900" indent="-342900">
              <a:lnSpc>
                <a:spcPts val="1426"/>
              </a:lnSpc>
              <a:buSzPct val="100000"/>
              <a:buChar char="•"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cases where basic alerting is sufficient and automation governance is absent.</a:t>
            </a:r>
            <a:endParaRPr lang="en-US" sz="105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498402"/>
            <a:ext cx="1876425" cy="2371725"/>
          </a:xfrm>
          <a:prstGeom prst="roundRect">
            <a:avLst>
              <a:gd name="adj" fmla="val 1169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00325" y="1498402"/>
            <a:ext cx="1876425" cy="2371725"/>
          </a:xfrm>
          <a:prstGeom prst="roundRect">
            <a:avLst>
              <a:gd name="adj" fmla="val 1169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1498402"/>
            <a:ext cx="1876425" cy="2371725"/>
          </a:xfrm>
          <a:prstGeom prst="roundRect">
            <a:avLst>
              <a:gd name="adj" fmla="val 1169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4175" y="1498402"/>
            <a:ext cx="1876425" cy="2371725"/>
          </a:xfrm>
          <a:prstGeom prst="roundRect">
            <a:avLst>
              <a:gd name="adj" fmla="val 1169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285750" dist="9525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0917" y="4251127"/>
            <a:ext cx="7802166" cy="476250"/>
          </a:xfrm>
          <a:prstGeom prst="roundRect">
            <a:avLst>
              <a:gd name="adj" fmla="val 191808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28600" tIns="228600" rIns="228600" bIns="2286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 metric: fewer incidents created, faster routing, faster restoration, better operator focus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2628" y="416272"/>
            <a:ext cx="8238744" cy="777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120"/>
              </a:lnSpc>
              <a:buNone/>
            </a:pPr>
            <a:r>
              <a:rPr lang="en-US" sz="408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Recommended adoption path</a:t>
            </a:r>
            <a:endParaRPr lang="en-US" sz="4080" dirty="0"/>
          </a:p>
        </p:txBody>
      </p:sp>
      <p:sp>
        <p:nvSpPr>
          <p:cNvPr id="8" name="Text 6"/>
          <p:cNvSpPr/>
          <p:nvPr/>
        </p:nvSpPr>
        <p:spPr>
          <a:xfrm>
            <a:off x="771525" y="1736527"/>
            <a:ext cx="1428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71525" y="2193727"/>
            <a:ext cx="1400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 with one service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1525" y="2727127"/>
            <a:ext cx="14001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Choose a noisy, business-critical infra service with clear operational pain.</a:t>
            </a:r>
            <a:endParaRPr lang="en-US" sz="1056" dirty="0"/>
          </a:p>
        </p:txBody>
      </p:sp>
      <p:sp>
        <p:nvSpPr>
          <p:cNvPr id="11" name="Text 9"/>
          <p:cNvSpPr/>
          <p:nvPr/>
        </p:nvSpPr>
        <p:spPr>
          <a:xfrm>
            <a:off x="2838450" y="1736527"/>
            <a:ext cx="1428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838450" y="2193727"/>
            <a:ext cx="1400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 the core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8450" y="2727127"/>
            <a:ext cx="14001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Feed Edwin AI from current monitoring and log sources, then synchronize with ServiceNow.</a:t>
            </a:r>
            <a:endParaRPr lang="en-US" sz="1056" dirty="0"/>
          </a:p>
        </p:txBody>
      </p:sp>
      <p:sp>
        <p:nvSpPr>
          <p:cNvPr id="14" name="Text 12"/>
          <p:cNvSpPr/>
          <p:nvPr/>
        </p:nvSpPr>
        <p:spPr>
          <a:xfrm>
            <a:off x="4905375" y="1736527"/>
            <a:ext cx="1428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05375" y="2193727"/>
            <a:ext cx="1400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Measure hard outcomes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5375" y="2727127"/>
            <a:ext cx="14001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 alert volume, duplicate tickets, MTTR, handoff time and operator effort before and after.</a:t>
            </a:r>
            <a:endParaRPr lang="en-US" sz="1056" dirty="0"/>
          </a:p>
        </p:txBody>
      </p:sp>
      <p:sp>
        <p:nvSpPr>
          <p:cNvPr id="17" name="Text 15"/>
          <p:cNvSpPr/>
          <p:nvPr/>
        </p:nvSpPr>
        <p:spPr>
          <a:xfrm>
            <a:off x="6972300" y="1736527"/>
            <a:ext cx="1428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972300" y="2193727"/>
            <a:ext cx="1400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 with governance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72300" y="2727127"/>
            <a:ext cx="14001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1056" dirty="0">
                <a:solidFill>
                  <a:srgbClr val="DBE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automation only where approvals, rollback and audit controls are already defined.</a:t>
            </a:r>
            <a:endParaRPr lang="en-US" sz="105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2026-05-06T12:49:50Z</dcterms:created>
  <dcterms:modified xsi:type="dcterms:W3CDTF">2026-05-06T12:49:50Z</dcterms:modified>
</cp:coreProperties>
</file>