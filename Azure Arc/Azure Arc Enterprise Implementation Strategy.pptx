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10414" y="2162175"/>
            <a:ext cx="9371171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F8FAFC"/>
                </a:solidFill>
                <a:latin typeface="Plus Jakarta Sans"/>
              </a:rPr>
              <a:t>Microsoft Azure Arc</a:t>
            </a:r>
            <a:r>
              <a:t>
</a:t>
            </a:r>
            <a:r>
              <a:rPr b="1" sz="4050" i="0" u="none">
                <a:solidFill>
                  <a:srgbClr val="F8FAFC"/>
                </a:solidFill>
                <a:latin typeface="Plus Jakarta Sans"/>
              </a:rPr>
              <a:t> Enterprise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3857625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8BDF8"/>
                </a:solidFill>
                <a:latin typeface="Plus Jakarta Sans"/>
              </a:rPr>
              <a:t>A Comprehensive Blueprint for Onboarding 5,000+ Hybrid Datacenter Servers with Strict Security, Governance, and Multi-Tool Coexistence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909762"/>
            <a:ext cx="5324475" cy="3648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09762"/>
            <a:ext cx="5324475" cy="3648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1. Executive Summary &amp; Business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205037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What is Azure Arc?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805112"/>
            <a:ext cx="473392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Azure Arc extends the Azure Control Plane (ARM) to hybrid and multi-cloud servers, virtual machines, Kubernetes clusters, and databases, projecting them as native Azure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319587"/>
            <a:ext cx="47339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Core Value: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Replaces fragmented local management with a centralized, cloud-native operational plane across 5,000+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205037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Key Business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6336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263366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Single Pane of Glass: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Centralized ARM, Bicep, and Policy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2623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26231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Operational Efficiency: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Automated cloud patching via Azure Update Manager.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8909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389096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Security Posture: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Integrated threat detection via Defender for Cloud.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45196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451961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Compliance Enforcement: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Continuous assessment through Guest Configuration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281237"/>
            <a:ext cx="5324475" cy="2905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81237"/>
            <a:ext cx="5324475" cy="2905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2. Azure Arc 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576512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Control Plane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576512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Security &amp;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00513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005137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Agent (`azcmagent`):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Runs locally as a lightweight system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63378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633787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Outbound Telemetry: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5-minute heartbeat via TCP Port 443 (HTTPS) long-polling channel.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426243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262437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No Inbound Open Ports: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Zero firewall holes required inbound on local server perimeters.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00513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2275" y="3005137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Managed Identity: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System-assigned identities with automatic 90-day certificate rotation.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363378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3633787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Encryption: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TLS 1.2 / TLS 1.3 encryption end-to-end in transit.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426243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4262437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Private Link Integration: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Eliminates public internet egress for sensitive workloads.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3. Relay Server &amp; Proxy Evaluation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885950"/>
          <a:ext cx="11029949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202483"/>
                <a:gridCol w="1930003"/>
                <a:gridCol w="1978521"/>
                <a:gridCol w="2008882"/>
                <a:gridCol w="1910060"/>
              </a:tblGrid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Architecture Option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Security Profile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Bandwidth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Operational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Recommendation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Scenario A: Direct Connection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Poor (Duplicate streams)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Lowest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Not Recommended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Scenario B: Local Datacenter Proxy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 (Inspected egress)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 (Caching enabled)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Low-Medium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Primary Choice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Scenario C: Azure-Hosted Proxy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Moderate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Alternative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Scenario D: Regional Multi-Datacenter Relay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 (Localized control)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Enterprise Standard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62237"/>
            <a:ext cx="3202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83508" y="2662237"/>
            <a:ext cx="19300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3511" y="2662237"/>
            <a:ext cx="19785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92032" y="2662237"/>
            <a:ext cx="20088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00914" y="2662237"/>
            <a:ext cx="1910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1025" y="3452812"/>
            <a:ext cx="3202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83508" y="3452812"/>
            <a:ext cx="19300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3511" y="3452812"/>
            <a:ext cx="19785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92032" y="3452812"/>
            <a:ext cx="20088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00914" y="3452812"/>
            <a:ext cx="1910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4243387"/>
            <a:ext cx="3202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83508" y="4243387"/>
            <a:ext cx="19300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3511" y="4243387"/>
            <a:ext cx="19785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2032" y="4243387"/>
            <a:ext cx="20088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00914" y="4243387"/>
            <a:ext cx="1910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025" y="4776787"/>
            <a:ext cx="3202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83508" y="4776787"/>
            <a:ext cx="19300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3511" y="4776787"/>
            <a:ext cx="19785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92032" y="4776787"/>
            <a:ext cx="20088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00914" y="4776787"/>
            <a:ext cx="1910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1025" y="5567362"/>
            <a:ext cx="320248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83508" y="5567362"/>
            <a:ext cx="19300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13511" y="5567362"/>
            <a:ext cx="19785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92032" y="5567362"/>
            <a:ext cx="20088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00914" y="5567362"/>
            <a:ext cx="191006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364" y="3748087"/>
            <a:ext cx="1152525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364" y="5072062"/>
            <a:ext cx="14573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095500"/>
            <a:ext cx="5324475" cy="3276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5324475" cy="3276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4. Network Scalability &amp; Latency Thresholds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390775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Bandwidth Projections (5,000 Servers)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390775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Latency Performance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8194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819400"/>
            <a:ext cx="454342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Initial Onboarding Burst: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~7.5 GB total data transfer.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19087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190875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Daily Telemetry Volume: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~2.5 GB / day average across fleet.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81952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819525"/>
            <a:ext cx="454342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Peak Bandwidth Utilization: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~12.00 Mbps sustained.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1910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191000"/>
            <a:ext cx="454342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Monthly Log Traffic: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~125 GB / month ingestion.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28194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2819400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&lt;20 ms (Excellent):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Real-time policy &amp; instant run commands.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44805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3448050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20–50 ms (Acceptable):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Standard operational cadence.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0767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4076700"/>
            <a:ext cx="454342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50–100 ms (Poor):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Noticeable troubleshooting lag.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444817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4448175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&gt;100 ms (Critical):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Heartbeat timeout risks; requires local proxies.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5. Multi-Tool Coexistence &amp; Enterprise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885950"/>
          <a:ext cx="11029949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19721"/>
                <a:gridCol w="3202037"/>
                <a:gridCol w="3609975"/>
                <a:gridCol w="2398216"/>
              </a:tblGrid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Enterprise Tool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Primary 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Azure Arc Complementary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Authoritative Boundary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SolarWinds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Network switches, SNMP, hardware 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OS performance metrics &amp; inventory sync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Infrastructure / Network Layer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Tenable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Deep credentialed vulnerability assessment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Extension deployment transport &amp; Defender feed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Vulnerability Management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Microsoft Defender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EDR, cloud workload protection, threat intel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Native OS and cloud posture remediation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Security &amp; Threat Protection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ServiceNow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ITSM, incident workflows, enterprise CMDB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Automated CMDB CI sync &amp; change events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IT Service Management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405062"/>
            <a:ext cx="1819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00746" y="2405062"/>
            <a:ext cx="32020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02783" y="2405062"/>
            <a:ext cx="3609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12758" y="2405062"/>
            <a:ext cx="23982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195637"/>
            <a:ext cx="1819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00746" y="3195637"/>
            <a:ext cx="32020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02783" y="3195637"/>
            <a:ext cx="3609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12758" y="3195637"/>
            <a:ext cx="23982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986212"/>
            <a:ext cx="1819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00746" y="3986212"/>
            <a:ext cx="32020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02783" y="3986212"/>
            <a:ext cx="3609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12758" y="3986212"/>
            <a:ext cx="23982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776787"/>
            <a:ext cx="1819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00746" y="4776787"/>
            <a:ext cx="32020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02783" y="4776787"/>
            <a:ext cx="3609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2758" y="4776787"/>
            <a:ext cx="23982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5567362"/>
            <a:ext cx="18197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00746" y="5567362"/>
            <a:ext cx="320203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02783" y="5567362"/>
            <a:ext cx="36099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12758" y="5567362"/>
            <a:ext cx="23982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966912"/>
            <a:ext cx="5324475" cy="35337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24475" cy="3533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us Jakarta Sans"/>
              </a:rPr>
              <a:t>6. Implementation Roadmap &amp; Target Operating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6300" y="2262187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Phased Rollout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262187"/>
            <a:ext cx="497062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Plus Jakarta Sans"/>
              </a:rPr>
              <a:t>Target Operating Model (TOM)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6908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69081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Phase 1 (30 Days):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Prerequisites, firewall validation, Entra ID 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3194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31946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Phase 2 (30 Days):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Pilot onboarding of 50 non-production servers.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39481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94811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Phase 3 (45 Days):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Production rollout of 500 tier-2 workloads.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5767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57676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Phase 4 (90 Days):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Enterprise bulk deployment (5,000 servers via GPO/Ansible).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26908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269081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Cloud Operations: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Owns Azure Policy, extensions, &amp; subscriptions.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3194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331946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Infrastructure Teams: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Owns agent deployment (GPO/Ansible) &amp; patching.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39481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394811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Security Architecture: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Owns Defender baselines &amp; private link scopes.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45767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4576762"/>
            <a:ext cx="4543425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94A3B8"/>
                </a:solidFill>
                <a:latin typeface="Plus Jakarta Sans"/>
              </a:rPr>
              <a:t>ITSM / Ops: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Owns ServiceNow CMDB synchronization &amp; incident 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