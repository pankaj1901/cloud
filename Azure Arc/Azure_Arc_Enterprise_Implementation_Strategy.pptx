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 (of 5)</c:v>
                </c:pt>
              </c:strCache>
            </c:strRef>
          </c:tx>
          <c:spPr>
            <a:solidFill>
              <a:srgbClr val="00A9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A: Direct</c:v>
                  </c:pt>
                  <c:pt idx="1">
                    <c:v>B: Per-DC Relay</c:v>
                  </c:pt>
                  <c:pt idx="2">
                    <c:v>C: Azure-Hosted</c:v>
                  </c:pt>
                  <c:pt idx="3">
                    <c:v>D: Regional Relays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3.55</c:v>
                </c:pt>
                <c:pt idx="1">
                  <c:v>3.65</c:v>
                </c:pt>
                <c:pt idx="2">
                  <c:v>2.85</c:v>
                </c:pt>
                <c:pt idx="3">
                  <c:v>3.55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Data (GB, log scale approx.)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 servers</c:v>
                  </c:pt>
                  <c:pt idx="1">
                    <c:v>500 servers</c:v>
                  </c:pt>
                  <c:pt idx="2">
                    <c:v>1,000 servers</c:v>
                  </c:pt>
                  <c:pt idx="3">
                    <c:v>5,000 servers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875</c:v>
                </c:pt>
                <c:pt idx="2">
                  <c:v>1750</c:v>
                </c:pt>
                <c:pt idx="3">
                  <c:v>8750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00400"/>
            <a:ext cx="2926080" cy="2926080"/>
          </a:xfrm>
          <a:prstGeom prst="ellipse">
            <a:avLst/>
          </a:prstGeom>
          <a:solidFill>
            <a:srgbClr val="00A9A5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AZURE ARC ONBOARDING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Strategy &amp; Architecture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Consulting Deliverable for CIO, Enterprise Architecture, Security, Network, and Operations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25400">
            <a:solidFill>
              <a:srgbClr val="00A9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500–5,000 servers · Multi-datacenter · Hybrid (VMware / Hyper-V / Physical)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Advisory Board / Architecture Review Board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Enterprise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99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7552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02536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02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9751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&amp; Readiness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2578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Server Evaluation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399032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399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9712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Latency Analysis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002536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002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9712" y="19751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&amp; Security Architecture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606040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9712" y="2578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Tool Integration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209544"/>
            <a:ext cx="310896" cy="310896"/>
          </a:xfrm>
          <a:prstGeom prst="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31821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Cost, Risk &amp; Recommendation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Azure Arc Is &amp; Why It Matters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ect">
            <a:avLst>
              <a:gd name="adj" fmla="val 1538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Azure Arc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hybrid and multicloud control plane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on-prem servers, VMware, Kubernetes, and SQL into Azure Resource Manager — without moving workloads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onboarded machine gets an Azure Resource ID + managed identity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addressable by Azure Policy, Monitor, Defender, RBAC, and Automation — like a native Azure VM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754880"/>
          </a:xfrm>
          <a:prstGeom prst="rect">
            <a:avLst>
              <a:gd name="adj" fmla="val 1538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Enterprises Deploy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inventory across Windows, Linux, VMware, Hyper-V, and physical estates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governance: same Policy, tagging, RBAC model as the cloud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Defender for Cloud &amp; Sentinel visibility on-premises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Update Manager, Change Tracking, Guest Configuration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workload migration required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Business, Operational, Security &amp; Compliance Outcomes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82296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53619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8952" y="193852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tooling sprawl &amp; license consolidation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 of new datacenters/acquisitions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audit outcomes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37160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0780" y="1371600"/>
            <a:ext cx="82296" cy="2286000"/>
          </a:xfrm>
          <a:prstGeom prst="rect">
            <a:avLst/>
          </a:prstGeom>
          <a:solidFill>
            <a:srgbClr val="00A9A5"/>
          </a:solidFill>
          <a:ln/>
        </p:spPr>
      </p:sp>
      <p:sp>
        <p:nvSpPr>
          <p:cNvPr id="10" name="Text 8"/>
          <p:cNvSpPr/>
          <p:nvPr/>
        </p:nvSpPr>
        <p:spPr>
          <a:xfrm>
            <a:off x="6496812" y="153619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6812" y="193852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patch cadence (Windows + Linux)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 via automated remediation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unplanned-change incidents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977640"/>
            <a:ext cx="82296" cy="2286000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14223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8952" y="454456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Secure Score extended on-prem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detection &amp; response cross-estate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removes long-lived credentials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0780" y="397764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0780" y="3977640"/>
            <a:ext cx="82296" cy="2286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6812" y="414223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6812" y="454456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CIS / NIST / PCI-DSS / ISO 27001 evaluation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In-guest evidentiary compliance state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Tracking supports CAB &amp; forensic evidence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Over Traditional Management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2788920"/>
                <a:gridCol w="4183380"/>
                <a:gridCol w="4183380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(Siloed Tools)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Azure Arc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across SolarWinds, CMDB, spreadsheets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ARM-based inventory, auto-reconciled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GPO/script-based, inconsistent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 + Guest Configuration, auditable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WSUS/Satellite/manual, per-platform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Manager across Windows &amp; Linux, centralized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scans, siloed 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posture via Defender for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Per-tool scripting, low reuse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Automation runbooks &amp; DSC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admin groups, AD delegation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RBAC + Conditional Access + PIM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 Assessment &amp; Readiness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Operating Systems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2308072"/>
                <a:gridCol w="2308072"/>
                <a:gridCol w="2308072"/>
                <a:gridCol w="4231465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 in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Agent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 R2 –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 R2 needs WMF 5.1 + TLS 1.2 registry enablement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Hat Enterprise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7.x / 8.x / 9.x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RHEL 7 nearing upstream EOL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7.x / 8.x / 9.x (RHCK &amp; UEK)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UEK kernel compatibility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18.04 – 24.04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18.04 nearing end of standard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vSphere VMs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guest OS above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Arc-enabled VMware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vCenter 7.0u3+ &amp; resource 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Hyper-V VMs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guest OS above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agent 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Treated as standard Arc-enabled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OS above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agent install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BMC/iLO out-of-band access 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Prerequisites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DNS: outbound HTTPS 443 to Arc/Azure endpoints; DNS resolution (public or Private DNS zones)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sync: NTP within 5 minutes of true time — required for TLS/Kerberos validation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Certificates: DigiCert Global Root G2 and Microsoft RSA/ECC chains present in OS trust stores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explicit proxy supported; TLS-inspecting proxies require importing the inspection root CA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subscriptions: one landing-zone subscription per business unit/environment tier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groups: segmented by datacenter/environment — avoid one monolithic RG beyond ~800 machines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custom roles (Onboarding, Policy Contributor, Log Analytics Contributor) — avoid subscription-level Owner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Microsoft Entra ID hybrid-join already established; dedicated onboarding identity, least privilege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Checklist (Pre-Pilot Gate)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656216"/>
                <a:gridCol w="7109012"/>
                <a:gridCol w="33904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inventory validated against supported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firewall rules opened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resolution validated from each subnet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 sync validated (&lt;5 min drift)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 chain present in OS trust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landing zone subscriptions provisioned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group / tagging standard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custom roles defined &amp; scoped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Relay/proxy architecture decision made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+ Cloud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/ uninstall procedure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Arc Reference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Control Plane to On-Premises Estate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80560" y="1234440"/>
            <a:ext cx="3200400" cy="502920"/>
          </a:xfrm>
          <a:prstGeom prst="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234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(CIO, Architects, Security, Ops, CAB)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80560" y="1847088"/>
            <a:ext cx="3200400" cy="457200"/>
          </a:xfrm>
          <a:prstGeom prst="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847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2414016"/>
            <a:ext cx="4572000" cy="457200"/>
          </a:xfrm>
          <a:prstGeom prst="rect">
            <a:avLst>
              <a:gd name="adj" fmla="val 12000"/>
            </a:avLst>
          </a:prstGeom>
          <a:solidFill>
            <a:srgbClr val="00A9A5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24140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Control Plane (ARM)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" y="2999232"/>
            <a:ext cx="2606040" cy="502920"/>
          </a:xfrm>
          <a:prstGeom prst="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6996" y="2999232"/>
            <a:ext cx="2606040" cy="502920"/>
          </a:xfrm>
          <a:prstGeom prst="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3396996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5916" y="2999232"/>
            <a:ext cx="2606040" cy="502920"/>
          </a:xfrm>
          <a:prstGeom prst="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185916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Cloud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4836" y="2999232"/>
            <a:ext cx="2606040" cy="502920"/>
          </a:xfrm>
          <a:prstGeom prst="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8974836" y="2999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3639312"/>
            <a:ext cx="3200400" cy="457200"/>
          </a:xfrm>
          <a:prstGeom prst="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639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37560" y="4242816"/>
            <a:ext cx="5486400" cy="420624"/>
          </a:xfrm>
          <a:prstGeom prst="rect">
            <a:avLst>
              <a:gd name="adj" fmla="val 13043"/>
            </a:avLst>
          </a:prstGeom>
          <a:solidFill>
            <a:srgbClr val="6B7290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424281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Datacenter Boundary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66160" y="4791456"/>
            <a:ext cx="5029200" cy="420624"/>
          </a:xfrm>
          <a:prstGeom prst="rect">
            <a:avLst>
              <a:gd name="adj" fmla="val 13043"/>
            </a:avLst>
          </a:prstGeom>
          <a:solidFill>
            <a:srgbClr val="C97A2B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47914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/ Arc Gateway (optional, HA pair)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" y="5358384"/>
            <a:ext cx="2606040" cy="530352"/>
          </a:xfrm>
          <a:prstGeom prst="rect">
            <a:avLst>
              <a:gd name="adj" fmla="val 10345"/>
            </a:avLst>
          </a:prstGeom>
          <a:solidFill>
            <a:srgbClr val="F2F5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" y="53583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96996" y="5358384"/>
            <a:ext cx="2606040" cy="530352"/>
          </a:xfrm>
          <a:prstGeom prst="rect">
            <a:avLst>
              <a:gd name="adj" fmla="val 10345"/>
            </a:avLst>
          </a:prstGeom>
          <a:solidFill>
            <a:srgbClr val="F2F5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6996" y="53583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85916" y="5358384"/>
            <a:ext cx="2606040" cy="530352"/>
          </a:xfrm>
          <a:prstGeom prst="rect">
            <a:avLst>
              <a:gd name="adj" fmla="val 10345"/>
            </a:avLst>
          </a:prstGeom>
          <a:solidFill>
            <a:srgbClr val="F2F5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5916" y="53583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74836" y="5358384"/>
            <a:ext cx="2606040" cy="530352"/>
          </a:xfrm>
          <a:prstGeom prst="rect">
            <a:avLst>
              <a:gd name="adj" fmla="val 10345"/>
            </a:avLst>
          </a:prstGeom>
          <a:solidFill>
            <a:srgbClr val="F2F5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74836" y="53583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80760" y="1737360"/>
            <a:ext cx="0" cy="109728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2304288"/>
            <a:ext cx="0" cy="109728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2871216"/>
            <a:ext cx="0" cy="128016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3502152"/>
            <a:ext cx="0" cy="137160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4096512"/>
            <a:ext cx="0" cy="146304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4663440"/>
            <a:ext cx="0" cy="128016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5212080"/>
            <a:ext cx="0" cy="146304"/>
          </a:xfrm>
          <a:prstGeom prst="line">
            <a:avLst/>
          </a:prstGeom>
          <a:noFill/>
          <a:ln w="15875">
            <a:solidFill>
              <a:srgbClr val="6B72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HTTPS/TLS 1.2+ · Agent-initiated only — no inbound path required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Flow, Encryption &amp; Authentication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2651760"/>
                <a:gridCol w="3200400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→ Azure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1.2/1.3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(MFA, Conditional Access)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→ Arc Control Plane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API (HTTPS)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1.2/1.3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token, Azure RBAC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 → Policy/Monitor/Defender/Automation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service 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TLS, Azure backbone encryption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identity, service-to-service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→ Log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1.2/1.3 + encryption at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 key / Entra ID (AMPLS 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Agent →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443, outbound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 min, cert-pinned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Per-machine certificate + managed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↔ Relay/Gateway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443 or Arc Gateway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1.2/1.3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agent cert; relay is transport-layer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Server / Gateway Evaluation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Connectivity Scenarios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82296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53619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Direct Connectivity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8952" y="193852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 connects directly to Azure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Simplest, no extra infrastructure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must be replicated per subnet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small, single-site estates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37160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0780" y="1371600"/>
            <a:ext cx="82296" cy="2286000"/>
          </a:xfrm>
          <a:prstGeom prst="rect">
            <a:avLst/>
          </a:prstGeom>
          <a:solidFill>
            <a:srgbClr val="00A9A5"/>
          </a:solidFill>
          <a:ln/>
        </p:spPr>
      </p:sp>
      <p:sp>
        <p:nvSpPr>
          <p:cNvPr id="10" name="Text 8"/>
          <p:cNvSpPr/>
          <p:nvPr/>
        </p:nvSpPr>
        <p:spPr>
          <a:xfrm>
            <a:off x="6496812" y="153619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One Relay per Datacenter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6812" y="193852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HA proxy pair aggregates all Arc traffic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choke point for rules, inspection, logging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active/active HA + load balancer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default for this estate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977640"/>
            <a:ext cx="82296" cy="2286000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14223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Relay Hosted in Azure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8952" y="454456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managed, Azure-native HA/scale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reduce the on-prem-to-Azure hop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cost; only fits mature hub-spoke NVA model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as primary pattern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0780" y="397764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0780" y="3977640"/>
            <a:ext cx="82296" cy="2286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6812" y="414223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Multiple Regional Relays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6812" y="454456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relay pair per region/datacenter cluster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latency &amp; blast radius per region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overhead — use IaC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global, multi-continent footprints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Recommendation Matrix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10881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across: Security control (30%), Operational simplicity (20%), Latency/performance (20%), Cost (15%), Scalability to 5,000 servers (15%). Recommendation: Scenario B (per-datacenter relay) as the enterprise default; Scenario D for high-latency/global sites.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Latency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 Estimates by Fleet Size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920240"/>
                <a:gridCol w="2651760"/>
                <a:gridCol w="1463040"/>
                <a:gridCol w="155448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Onboarding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Telemetry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Total (incl. patching)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Bandwidth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Bandwidth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GB/day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~175 GB/month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~3.75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GB/day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~875 GB/month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GB/day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~1.75 TB/month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~3.8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~37.5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GB/day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~8.75 TB/month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Data Transfer by Fleet Size (GB)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10881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Monthly total ≈ (Daily telemetry × 30) + Monthly patch traffic + amortized extension downloads. Peak bandwidth assumes worst-case overlapping patch windows; staggering by ring reduces peak 40–60%.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Thresholds &amp; Recommendations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2115732"/>
                <a:gridCol w="2308072"/>
                <a:gridCol w="6731876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constraints — suitable for all Arc scenarios incl. interactive Run 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supported for all standard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 (monitor)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for policy/monitoring; interactive ops feel slower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 a regional relay or nearer Azure 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Re-architect: closer region, Private Link/ExpressRoute, or regional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&amp; Security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Outbound Destinations (Illustrative)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3346704"/>
                <a:gridCol w="1022604"/>
                <a:gridCol w="5020056"/>
                <a:gridCol w="1766316"/>
              </a:tblGrid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management.azure.com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resource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*.his.arc.azure.com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Identity Service (onboarding, certs)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login.microsoftonline.com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*.guestconfiguration.azure.com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Configuration delivery/reporting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*.blob.core.windows.net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&amp; agent package downloads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*.ods.opinsights.azure.com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 ingestion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monitoring 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*.agentsvc.azure-automation.net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Hybrid Worker / DSC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Automation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packages.microsoft.com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agent package repository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(Linux)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Identity, Encryption &amp; Zero Trust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ect">
            <a:avLst>
              <a:gd name="adj" fmla="val 1538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&amp; Identity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minimum (1.3 where supported) on all control- and data-plane traffic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certificate issued at onboarding; validated against OS trust store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System-assigned managed identity for all machine-level operations — no stored secrets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 used only for at-scale onboarding, scoped &amp; short-lived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754880"/>
          </a:xfrm>
          <a:prstGeom prst="rect">
            <a:avLst>
              <a:gd name="adj" fmla="val 1538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 &amp; Least Privilege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authenticated/authorized regardless of network location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removes public-internet exposure for ARM/Log Analytics/Guest Config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Gateway reduces the number of FQDNs a server must reach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scoped to resource group; PIM for time-bound elevation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Arc Features &amp; Tool Integration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 (Selected)</a:t>
            </a:r>
            <a:endParaRPr lang="en-US" sz="2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3160776"/>
                <a:gridCol w="5577840"/>
                <a:gridCol w="241706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Mgmt /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projection of on-prem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 / Guest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governance &amp;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orchestration (Windows/Linux)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Tracking &amp; Inventory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File/registry/software drift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via Log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/ Log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Metrics, logs, alerting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on ingestion/retention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security posture +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Per-server plan billing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Sentinel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SIEM/SOAR cross-estate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 on ingestion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Runbooks, DSC, remediation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Job/DSC node billing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enabled by Arc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inventory, patching, ESU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included; ESU billed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Arc / Custom Locations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K8s fleet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Included; extensions may 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Coexistence with Existing Enterprise Tools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82296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53619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SolarWinds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8952" y="193852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authoritative for network/infra monitoring, SNMP, topology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adds OS/config governance layered on top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via CMDB, not direct ingestion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0780" y="137160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0780" y="1371600"/>
            <a:ext cx="82296" cy="2286000"/>
          </a:xfrm>
          <a:prstGeom prst="rect">
            <a:avLst/>
          </a:prstGeom>
          <a:solidFill>
            <a:srgbClr val="00A9A5"/>
          </a:solidFill>
          <a:ln/>
        </p:spPr>
      </p:sp>
      <p:sp>
        <p:nvSpPr>
          <p:cNvPr id="10" name="Text 8"/>
          <p:cNvSpPr/>
          <p:nvPr/>
        </p:nvSpPr>
        <p:spPr>
          <a:xfrm>
            <a:off x="6496812" y="153619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Tenable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6812" y="193852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authoritative for deep vulnerability scoring (CVE/VPR)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Arc/Defender add continuous, in-guest posture between scans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Config + Update Manager execute remediation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977640"/>
            <a:ext cx="82296" cy="2286000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14223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8952" y="454456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system of record for CMDB, incidents, change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tags map to CI attributes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triggered from approved change tickets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0780" y="3977640"/>
            <a:ext cx="5417820" cy="2286000"/>
          </a:xfrm>
          <a:prstGeom prst="rect">
            <a:avLst>
              <a:gd name="adj" fmla="val 2800"/>
            </a:avLst>
          </a:prstGeom>
          <a:solidFill>
            <a:srgbClr val="F2F5FA"/>
          </a:solidFill>
          <a:ln/>
          <a:effectLst>
            <a:outerShdw sx="100000" sy="100000" kx="0" ky="0" algn="bl" rotWithShape="0" blurRad="76200" dist="25400" dir="5400000">
              <a:srgbClr val="5B607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0780" y="3977640"/>
            <a:ext cx="82296" cy="2286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6812" y="4142232"/>
            <a:ext cx="4960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Defender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6812" y="4544568"/>
            <a:ext cx="49149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EDR/posture across cloud + Arc-enabled servers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Score becomes the common security metric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Coexists with third-party AV during phased transition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Capability Ownership (of 50 assessed)</a:t>
            </a:r>
            <a:endParaRPr lang="en-US" sz="2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3160776"/>
                <a:gridCol w="1487424"/>
                <a:gridCol w="1487424"/>
                <a:gridCol w="1394460"/>
                <a:gridCol w="1487424"/>
                <a:gridCol w="2138172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Arc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device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drift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Credentialed vulnerability scanning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security posture mgmt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benchmark auditing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/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(Sentinel)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Five-Phase Rollout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914400"/>
          </a:xfrm>
          <a:prstGeom prst="rect">
            <a:avLst>
              <a:gd name="adj" fmla="val 5000"/>
            </a:avLst>
          </a:prstGeom>
          <a:solidFill>
            <a:srgbClr val="6B72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01952" y="2203704"/>
            <a:ext cx="201168" cy="164592"/>
          </a:xfrm>
          <a:prstGeom prst="rightArrow">
            <a:avLst/>
          </a:prstGeom>
          <a:solidFill>
            <a:srgbClr val="6B7290"/>
          </a:solidFill>
          <a:ln/>
        </p:spPr>
      </p:sp>
      <p:sp>
        <p:nvSpPr>
          <p:cNvPr id="8" name="Shape 6"/>
          <p:cNvSpPr/>
          <p:nvPr/>
        </p:nvSpPr>
        <p:spPr>
          <a:xfrm>
            <a:off x="2121408" y="1828800"/>
            <a:ext cx="1188720" cy="914400"/>
          </a:xfrm>
          <a:prstGeom prst="rect">
            <a:avLst>
              <a:gd name="adj" fmla="val 5000"/>
            </a:avLst>
          </a:prstGeom>
          <a:solidFill>
            <a:srgbClr val="00A9A5"/>
          </a:solidFill>
          <a:ln/>
        </p:spPr>
      </p:sp>
      <p:sp>
        <p:nvSpPr>
          <p:cNvPr id="9" name="Text 7"/>
          <p:cNvSpPr/>
          <p:nvPr/>
        </p:nvSpPr>
        <p:spPr>
          <a:xfrm>
            <a:off x="2121408" y="18288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(50 servers)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21408" y="2468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2203704"/>
            <a:ext cx="201168" cy="164592"/>
          </a:xfrm>
          <a:prstGeom prst="rightArrow">
            <a:avLst/>
          </a:prstGeom>
          <a:solidFill>
            <a:srgbClr val="6B7290"/>
          </a:solidFill>
          <a:ln/>
        </p:spPr>
      </p:sp>
      <p:sp>
        <p:nvSpPr>
          <p:cNvPr id="12" name="Shape 10"/>
          <p:cNvSpPr/>
          <p:nvPr/>
        </p:nvSpPr>
        <p:spPr>
          <a:xfrm>
            <a:off x="3511296" y="1828800"/>
            <a:ext cx="2377440" cy="914400"/>
          </a:xfrm>
          <a:prstGeom prst="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18288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(500 servers)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11296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0448" y="2203704"/>
            <a:ext cx="201168" cy="164592"/>
          </a:xfrm>
          <a:prstGeom prst="rightArrow">
            <a:avLst/>
          </a:prstGeom>
          <a:solidFill>
            <a:srgbClr val="6B729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904" y="1828800"/>
            <a:ext cx="3840480" cy="914400"/>
          </a:xfrm>
          <a:prstGeom prst="rect">
            <a:avLst>
              <a:gd name="adj" fmla="val 5000"/>
            </a:avLst>
          </a:prstGeom>
          <a:solidFill>
            <a:srgbClr val="141B47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1828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(5,000 servers)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9904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wks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12096" y="2203704"/>
            <a:ext cx="201168" cy="164592"/>
          </a:xfrm>
          <a:prstGeom prst="rightArrow">
            <a:avLst/>
          </a:prstGeom>
          <a:solidFill>
            <a:srgbClr val="6B72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31552" y="1828800"/>
            <a:ext cx="2377440" cy="914400"/>
          </a:xfrm>
          <a:prstGeom prst="rect">
            <a:avLst>
              <a:gd name="adj" fmla="val 5000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1552" y="18288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31552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Gate / Success Criteria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CAB approval to proceed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≤2% rollback rate; bandwidth/latency within 20% of model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Compliance ≥95%; ServiceNow sync validated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≥98% onboarded; steady-state handoff complete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Cost within budget; Secure Score trending 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Detail — Objectives &amp; Risk</a:t>
            </a:r>
            <a:endParaRPr lang="en-US" sz="2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926080"/>
                <a:gridCol w="3291840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Objective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readiness &amp; finalize landing 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Inaccurate CMDB data understates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non-invasive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Pilot 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onboarding &amp; relay architecture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OS agent incompatibility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azcmagent disconnect; no workload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Production (500)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policies to enforce; integrate ServiceNow/Defender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fatigue; patch-window contention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ring, disconnect affected ring, remediate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Enterprise (5,000)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onboarding; transition to steady-state 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fatigue; regional latency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Ring-based / datacenter-level pause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cost, expand automation &amp; Sentinel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sprawl without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change mgmt per policy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(CONT.)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HA/DR, Cost, Risk &amp; Final Recommendation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by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resilience: Guest Configuration retains last-known state and enforces locally during outages; reconciles automatically on reconnect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HA: active/active proxy pairs per datacenter behind an L4 load balancer with synthetic-transaction health checks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Multi-datacenter design: each datacenter's relay tier is independent — one outage does not affect another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behavior: short blips are fully transparent; extended outages pause new policy/extension operations without impacting workloads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sites: replicate relay/proxy configuration so failed-over servers retain Arc connectivity automatically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Monthly Cost Estimates (USD, List Pricing)</a:t>
            </a:r>
            <a:endParaRPr lang="en-US" sz="2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4709160"/>
        </p:xfrm>
        <a:graphic>
          <a:graphicData uri="http://schemas.openxmlformats.org/drawingml/2006/table">
            <a:tbl>
              <a:tblPr/>
              <a:tblGrid>
                <a:gridCol w="1394460"/>
                <a:gridCol w="2091690"/>
                <a:gridCol w="1892481"/>
                <a:gridCol w="1593669"/>
                <a:gridCol w="1992086"/>
                <a:gridCol w="2191294"/>
              </a:tblGrid>
              <a:tr h="941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(no relay)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~$19,200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registration, inventory, tagging, Policy assignment, and audit-mode Guest Configuration are included at no charge. Figures exclude ExpressRoute and assume list pricing — apply EA/MCA negotiated rates for budget-grade figures.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Enterprise Risks &amp; Mitigations</a:t>
            </a:r>
            <a:endParaRPr lang="en-US" sz="2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3269768"/>
                <a:gridCol w="1346375"/>
                <a:gridCol w="1346375"/>
                <a:gridCol w="5193161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OS (2012 R2) incompatibility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via pilot; parallel OS upgrade 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rule drift across datacenters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 via relay tier; IaC-managed rule 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 cost overrun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data collection rules; monthly spend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fatigue from Defender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enablement — audit mode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single point of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(if HA followed)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Active/active HA design; tested failover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 rollout delays extend 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Ring-based approach with pre-approved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Decision &amp; Architecture by Size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ect">
            <a:avLst>
              <a:gd name="adj" fmla="val 1538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Server Decision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HA relay pair per datacenter (Scenario B)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single-site, mature egress governance: direct connectivity may suffice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latency or data-sovereignty needs: add regional relay tiers (Scenario D)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Azure-hosted relay (Scenario C) not recommended as a primary pattern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754880"/>
          </a:xfrm>
          <a:prstGeom prst="rect">
            <a:avLst>
              <a:gd name="adj" fmla="val 1538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by Enterprise Size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(&lt;250 servers, single site): direct connectivity, centralized firewall governance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(250–2,000 servers, 2–5 DCs): one HA relay pair per datacenter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(2,000–5,000+ servers, global): relay per datacenter + regional tiers for high-latency sites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RTT to Azure region: &lt;50ms optimal; re-evaluate region/relay above 100ms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Operating Model</a:t>
            </a:r>
            <a:endParaRPr lang="en-US" sz="2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55680" cy="5029200"/>
        </p:xfrm>
        <a:graphic>
          <a:graphicData uri="http://schemas.openxmlformats.org/drawingml/2006/table">
            <a:tbl>
              <a:tblPr/>
              <a:tblGrid>
                <a:gridCol w="3108960"/>
                <a:gridCol w="804672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Post-Adoption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/ Server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health, OS patch execution via Update Manager, hardware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Policy/Guest Configuration baselines, Defender posture, Tenable remediation coordination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zone, relay/gateway infrastructure, Log Analytics design, cost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ITSM (ServiceNow)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CMDB accuracy, change governance, single incident queue across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Architecture Review 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Implementation Strategy · Version 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Azure Arc Onboarding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Enterprise Architecture</dc:creator>
  <cp:lastModifiedBy>Enterprise Architecture</cp:lastModifiedBy>
  <cp:revision>1</cp:revision>
  <dcterms:created xsi:type="dcterms:W3CDTF">2026-07-26T08:25:18Z</dcterms:created>
  <dcterms:modified xsi:type="dcterms:W3CDTF">2026-07-26T08:25:18Z</dcterms:modified>
</cp:coreProperties>
</file>