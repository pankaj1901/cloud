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6345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-548640"/>
            <a:ext cx="3108960" cy="3108960"/>
          </a:xfrm>
          <a:prstGeom prst="ellipse">
            <a:avLst/>
          </a:prstGeom>
          <a:solidFill>
            <a:srgbClr val="1F4275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4846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</p:sp>
      <p:sp>
        <p:nvSpPr>
          <p:cNvPr id="6" name="Shape 4"/>
          <p:cNvSpPr/>
          <p:nvPr/>
        </p:nvSpPr>
        <p:spPr>
          <a:xfrm>
            <a:off x="9098280" y="4526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7C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0" y="4206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</p:sp>
      <p:sp>
        <p:nvSpPr>
          <p:cNvPr id="8" name="Shape 6"/>
          <p:cNvSpPr/>
          <p:nvPr/>
        </p:nvSpPr>
        <p:spPr>
          <a:xfrm>
            <a:off x="9189720" y="38862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B7C3"/>
          </a:solidFill>
          <a:ln/>
        </p:spPr>
      </p:sp>
      <p:sp>
        <p:nvSpPr>
          <p:cNvPr id="9" name="Shape 7"/>
          <p:cNvSpPr/>
          <p:nvPr/>
        </p:nvSpPr>
        <p:spPr>
          <a:xfrm>
            <a:off x="9235440" y="3566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17320"/>
            <a:ext cx="2331720" cy="310896"/>
          </a:xfrm>
          <a:prstGeom prst="roundRect">
            <a:avLst>
              <a:gd name="adj" fmla="val 29412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41732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8745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for Hybrid Infrastructure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Azure Governance, Security, Monitoring and Patch Management to 2,000+ On-Premises Windows, Linux, SQL Server and Oracle Servers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2926080" cy="0"/>
          </a:xfrm>
          <a:prstGeom prst="line">
            <a:avLst/>
          </a:prstGeom>
          <a:noFill/>
          <a:ln w="25400">
            <a:solidFill>
              <a:srgbClr val="00B7C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CIO, CTO, CISO, Infrastructure, Cloud Architecture, IT Operations, Security, Compliance, Network and Platform Engineering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Version 1.0  |  August 2026  |  Illustrative Enterprise Reference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4335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14335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Azure Arc Is, and Why It Matters at 2,000-Server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527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819656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projects on-premises Windows and Linux servers into the Azure control plane as Arc-enabled server resources, without moving the servers themselves into Azure.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43784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990088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535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here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46120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2,000 servers, inventory, patching, policy and security posture are typically fragmented across tools. Arc gives one consistent control-plane view across on-prem, multi-cloud and Azure.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27024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" y="4416552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3799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extends Azure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72584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registers as an ARM resource with identity, tags and RBAC — unlocking Azure Policy, Monitor, Update Manager, Defender for Cloud and Resource Graph for on-prem estate.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1563624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5270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&amp; IT benefit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1819656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 for inventory and compliance; fewer manual, tool-specific processes across Infrastructure, Security and Compliance teams.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2843784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45352" y="2990088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295351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improvement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246120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patch cadence, policy-driven configuration baselines, and query-based inventory in place of spreadsheet and script-based tracking.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4270248"/>
            <a:ext cx="5349240" cy="1298448"/>
          </a:xfrm>
          <a:prstGeom prst="roundRect">
            <a:avLst>
              <a:gd name="adj" fmla="val 493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4416552"/>
            <a:ext cx="82296" cy="100584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437997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672584"/>
            <a:ext cx="4800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RBAC, Microsoft Entra-backed identity, Defender for Cloud posture management and centralized audit trails across the on-prem estate.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98932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— does not replace — SolarWinds, Splunk, IBM Instana, ServiceNow, Oracle Enterprise Manager, CyberArk, Microsoft Defender and Microsoft Purview. See slide “Existing Tool Integration” for a system-of-record recommendation per function.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4335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14335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vs. After Azure Arc — Executive 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BEEEE"/>
          </a:solidFill>
          <a:ln w="12700">
            <a:solidFill>
              <a:srgbClr val="F3D3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18488"/>
            <a:ext cx="1463040" cy="329184"/>
          </a:xfrm>
          <a:prstGeom prst="roundRect">
            <a:avLst>
              <a:gd name="adj" fmla="val 27778"/>
            </a:avLst>
          </a:prstGeom>
          <a:solidFill>
            <a:srgbClr val="C431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184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inventory scattered across spreadsheets, SolarWinds, and tribal knowledge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797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tracked manually per tool; inconsistent patch cadence on-prem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649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policy or configuration baseline across Windows and Linux estate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50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assessed inconsistently; on-prem often outside Defender/Sentinel visibility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35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assembled manually from multiple disconnected systems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4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new monitoring or compliance tool requires a new agent per server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EAF6EE"/>
          </a:solidFill>
          <a:ln w="12700">
            <a:solidFill>
              <a:srgbClr val="CBEA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618488"/>
            <a:ext cx="1371600" cy="329184"/>
          </a:xfrm>
          <a:prstGeom prst="roundRect">
            <a:avLst>
              <a:gd name="adj" fmla="val 27778"/>
            </a:avLst>
          </a:prstGeom>
          <a:solidFill>
            <a:srgbClr val="107C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6184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194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Centralized, queryable inventory of all 2,000 servers via Azure Resource Graph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7797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Manager provides scheduled, policy-driven patch compliance reporting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3649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enforces and reports configuration baselines fleet-wide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9502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extends posture management and alerting to on-prem servers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5354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Logs, Resource Graph and Policy compliance provide continuous audit trail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07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Connected Machine agent extends multiple Azure capabilities incrementally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3702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73370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AZURE ARC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Current-State Challenges at 2,000-Server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1581912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607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609344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visibility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121408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queryable inventory spanning Windows, Linux, SQL Server and Oracle hosts across data center zones.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01642" y="1463040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0514" y="1581912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20514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87442" y="1609344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patching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02810" y="2121408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cadence and compliance evidence differ by team, region and OS — difficult to prove for audit.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46085" y="1463040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4957" y="1581912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64957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31885" y="1609344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governance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47253" y="2121408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standards enforced ad hoc; drift is discovered reactively rather than continuously evaluated.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93592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" y="3712464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7607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3739896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Disconnected security posture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251960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servers often sit outside Defender for Cloud / Sentinel visibility, widening the SOC blind spot.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01642" y="3593592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20514" y="3712464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20514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987442" y="3739896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sprawl without integration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02810" y="4251960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SolarWinds, Splunk, Instana, ServiceNow, OEM, CyberArk each hold a partial view with limited cross-tool correlation.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46085" y="3593592"/>
            <a:ext cx="358841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4957" y="3712464"/>
            <a:ext cx="457200" cy="457200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64957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31885" y="3739896"/>
            <a:ext cx="27197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effort is heavy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347253" y="4251960"/>
            <a:ext cx="31860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 (CIS, ISO 27001, SOC 2, PCI DSS) is assembled manually from multiple non-integrated sources.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45766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24576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Operating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84248"/>
            <a:ext cx="3545738" cy="2679192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84248"/>
            <a:ext cx="3545738" cy="384048"/>
          </a:xfrm>
          <a:prstGeom prst="roundRect">
            <a:avLst>
              <a:gd name="adj" fmla="val 19048"/>
            </a:avLst>
          </a:prstGeom>
          <a:solidFill>
            <a:srgbClr val="5B6B7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76272"/>
            <a:ext cx="3545738" cy="192024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984248"/>
            <a:ext cx="3399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78024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78024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916936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Machine Agent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355848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AMA, Defender, Automation extensions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22978" y="1984248"/>
            <a:ext cx="3545738" cy="2679192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2978" y="1984248"/>
            <a:ext cx="3545738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2978" y="2176272"/>
            <a:ext cx="3545738" cy="19202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96130" y="1984248"/>
            <a:ext cx="3399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Control Plane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14418" y="2478024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87570" y="2478024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Manager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14418" y="2916936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87570" y="2916936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Graph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14418" y="3355848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87570" y="3355848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 (identity)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88757" y="1984248"/>
            <a:ext cx="3545738" cy="2679192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8757" y="1984248"/>
            <a:ext cx="3545738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8757" y="2176272"/>
            <a:ext cx="3545738" cy="19202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61909" y="1984248"/>
            <a:ext cx="33994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Management Services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80197" y="2478024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53349" y="2478024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80197" y="2916936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53349" y="2916936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/ Log Analytics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80197" y="3355848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53349" y="3355848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80197" y="3794760"/>
            <a:ext cx="3362858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53349" y="3794760"/>
            <a:ext cx="32165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Update Manager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656020" y="1417320"/>
            <a:ext cx="30138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heartbeat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(HTTPS 443, outbound)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30370" y="183794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521798" y="1417320"/>
            <a:ext cx="30138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/ monitor / patch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896149" y="183794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5166360"/>
            <a:ext cx="550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Connected Machine Agent: lightweight agent installed on the server; establishes outbound HTTPS 443 connectivity and hosts extensions (AMA, Defender, Policy Guest Configuration, Automation).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5623560"/>
            <a:ext cx="550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Resource Manager: every Arc-enabled server becomes a first-class ARM resource with subscription, resource group, tags and RBAC — the same control-plane model as native Azure VMs.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080760"/>
            <a:ext cx="550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Resource Graph: fleet-wide, KQL-queryable inventory across on-prem, multi-cloud and native Azure resources.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233008" y="5166360"/>
            <a:ext cx="550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Entra ID: backs managed identity for the Arc agent and role-based access control for who can manage the server resource.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6233008" y="5623560"/>
            <a:ext cx="550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Lighthouse (where applicable): lets a managing organization or MSP administer Arc resources across tenants without switching context.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45766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24576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Planes — and What Azure Arc Does NOT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1358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613584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12848"/>
            <a:ext cx="2339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Register/de-register the server as an ARM resource; tags, RBAC, resource group assignment. Low volume, infrequent.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5104" y="1463040"/>
            <a:ext cx="261358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00B7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5104" y="1463040"/>
            <a:ext cx="2613584" cy="109728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2264" y="169164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plane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82264" y="2212848"/>
            <a:ext cx="2339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evaluation, Update Manager orchestration, extension install/status, Automation runbooks. Small, periodic.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463040"/>
            <a:ext cx="261358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D83B0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3008" y="1463040"/>
            <a:ext cx="2613584" cy="109728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70168" y="169164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/ telemetry plane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70168" y="2212848"/>
            <a:ext cx="2339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Agent log &amp; metric ingestion, Defender for Cloud signals, heartbeat and diagnostics. Volume varies with Data Collection Rule scope.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20911" y="1463040"/>
            <a:ext cx="2613584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9050">
            <a:solidFill>
              <a:srgbClr val="5B6B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20911" y="1463040"/>
            <a:ext cx="2613584" cy="109728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58071" y="1691640"/>
            <a:ext cx="233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/ application plane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258071" y="2212848"/>
            <a:ext cx="2339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SQL/Oracle query traffic, application-to-application data, replication. NOT carried by the Arc agent.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11277295" cy="1874520"/>
          </a:xfrm>
          <a:prstGeom prst="roundRect">
            <a:avLst>
              <a:gd name="adj" fmla="val 3902"/>
            </a:avLst>
          </a:prstGeom>
          <a:solidFill>
            <a:srgbClr val="FFF4E9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— a common misconception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57200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Enabling Azure Arc on a SQL Server or Oracle host does not route database or application traffic through Azure. Arc registers and manages the OS/agent layer only.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98348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Arc does not require ExpressRoute. The Connected Machine agent communicates outbound over the internet (or via a proxy/relay) on TCP 443; ExpressRoute is an optional private-connectivity path for a subset of endpoints.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539496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Arc does not automatically enroll a server in Defender for Cloud, Update Manager or Azure Monitor — each capability is an explicit extension or service enablement on top of the base agent.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62656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96265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TARGET-STATE ARCHITECTURE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View — 2,000-Server Estate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84248"/>
            <a:ext cx="2579294" cy="3730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8424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5B6B7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76272"/>
            <a:ext cx="2579294" cy="192024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98424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Data Center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04872"/>
            <a:ext cx="2396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~2,000 servers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26426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0815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520440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Hosts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959352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Hosts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439826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439826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/ Hyper-V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56534" y="1984248"/>
            <a:ext cx="2579294" cy="3730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6534" y="198424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00B7C3"/>
          </a:solidFill>
          <a:ln/>
        </p:spPr>
      </p:sp>
      <p:sp>
        <p:nvSpPr>
          <p:cNvPr id="22" name="Shape 20"/>
          <p:cNvSpPr/>
          <p:nvPr/>
        </p:nvSpPr>
        <p:spPr>
          <a:xfrm>
            <a:off x="3356534" y="2176272"/>
            <a:ext cx="2579294" cy="19202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429686" y="198424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Perimeter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447974" y="2404872"/>
            <a:ext cx="2396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• Relay • DNS/NTP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47974" y="26426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1126" y="26426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Firewall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47974" y="30815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1126" y="30815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Relay / Proxy (HA pair)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47974" y="3520440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21126" y="3520440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Firewall / DMZ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47974" y="3959352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1126" y="3959352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NTP, AD / Entra Connect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55868" y="1984248"/>
            <a:ext cx="2579294" cy="3730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55868" y="198424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1F4275"/>
          </a:solidFill>
          <a:ln/>
        </p:spPr>
      </p:sp>
      <p:sp>
        <p:nvSpPr>
          <p:cNvPr id="35" name="Shape 33"/>
          <p:cNvSpPr/>
          <p:nvPr/>
        </p:nvSpPr>
        <p:spPr>
          <a:xfrm>
            <a:off x="6255868" y="2176272"/>
            <a:ext cx="2579294" cy="192024"/>
          </a:xfrm>
          <a:prstGeom prst="rect">
            <a:avLst/>
          </a:prstGeom>
          <a:solidFill>
            <a:srgbClr val="1F427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29020" y="198424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347308" y="2404872"/>
            <a:ext cx="2396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+ optional ExpressRoute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47308" y="26426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20460" y="26426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Egress (TLS 443)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47308" y="30815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20460" y="30815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(app/data + select mgmt)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55201" y="1984248"/>
            <a:ext cx="2579294" cy="3730752"/>
          </a:xfrm>
          <a:prstGeom prst="roundRect">
            <a:avLst>
              <a:gd name="adj" fmla="val 283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55201" y="198424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/>
        </p:spPr>
      </p:sp>
      <p:sp>
        <p:nvSpPr>
          <p:cNvPr id="44" name="Shape 42"/>
          <p:cNvSpPr/>
          <p:nvPr/>
        </p:nvSpPr>
        <p:spPr>
          <a:xfrm>
            <a:off x="9155201" y="2176272"/>
            <a:ext cx="2579294" cy="19202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228353" y="198424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Control &amp; Mgmt Plane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246641" y="2404872"/>
            <a:ext cx="23964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primary + DR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246641" y="26426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19793" y="26426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+ Resource Manager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246641" y="30815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19793" y="30815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Log Analytics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46641" y="3520440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19793" y="3520440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• Update Manager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246641" y="3959352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19793" y="3959352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• Sentinel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9246641" y="439826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19793" y="439826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• Automation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100314" y="141732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443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063926" y="183794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999648" y="141732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963260" y="183794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7898982" y="141732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manage,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862593" y="183794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53005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55300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ARCHITECTURE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On-Premises-to-Azure Connectivity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383189" cy="4480560"/>
          </a:xfrm>
          <a:prstGeom prst="roundRect">
            <a:avLst>
              <a:gd name="adj" fmla="val 2162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856232"/>
            <a:ext cx="31637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ON-PREMISES DATA CENTER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2167128"/>
            <a:ext cx="3163733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21992"/>
            <a:ext cx="29808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Network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2459736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459736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58368" y="2770632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770632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3081528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" y="3081528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3392424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" y="3392424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Servers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3703320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703320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Servers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6928" y="4178808"/>
            <a:ext cx="3163733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233672"/>
            <a:ext cx="29808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Network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4471416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4471416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Machine Agent (all hosts)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" y="4782312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4782312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 config mgmt tools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5257800"/>
            <a:ext cx="3163733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5312664"/>
            <a:ext cx="29808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Monitoring Zone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5550408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5550408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SolarWinds, Splunk, Instana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58368" y="5861304"/>
            <a:ext cx="2980853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5861304"/>
            <a:ext cx="28894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PAM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68989" y="1783080"/>
            <a:ext cx="2932097" cy="4480560"/>
          </a:xfrm>
          <a:prstGeom prst="roundRect">
            <a:avLst>
              <a:gd name="adj" fmla="val 2495"/>
            </a:avLst>
          </a:prstGeom>
          <a:solidFill>
            <a:srgbClr val="FFF6EC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78717" y="1856232"/>
            <a:ext cx="2712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LAYER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197005" y="2185416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42725" y="2185416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Network Switching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97005" y="2587752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42725" y="2587752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Firewall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97005" y="2990088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42725" y="2990088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Servers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97005" y="3392424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242725" y="3392424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Servers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97005" y="3794760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242725" y="3794760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Connect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97005" y="4197096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42725" y="4197096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Relay / Proxy Servers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next slide)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97005" y="4599432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242725" y="4599432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97005" y="5001768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42725" y="5001768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Firewall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197005" y="5404104"/>
            <a:ext cx="2676065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42725" y="5404104"/>
            <a:ext cx="25846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Edge Router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229685" y="1783080"/>
            <a:ext cx="4504810" cy="4480560"/>
          </a:xfrm>
          <a:prstGeom prst="roundRect">
            <a:avLst>
              <a:gd name="adj" fmla="val 1633"/>
            </a:avLst>
          </a:prstGeom>
          <a:solidFill>
            <a:srgbClr val="0B2545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339413" y="1856232"/>
            <a:ext cx="4285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357701" y="2185416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403421" y="2185416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ExpressRoute Gateway / Azure VNet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357701" y="2546604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03421" y="2546604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Firewall (optional)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357701" y="2907792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403421" y="2907792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+ Resource Manager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357701" y="3268980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403421" y="3268980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357701" y="3630168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03421" y="3630168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Log Analytics Workspace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357701" y="3991356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03421" y="3991356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• Update Manager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57701" y="4352544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403421" y="4352544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Defender for Cloud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57701" y="4713732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403421" y="4713732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Resource Graph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357701" y="5074920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03421" y="5074920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(optional)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357701" y="5436108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403421" y="5436108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/ Logic Apps (optional)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7357701" y="5797296"/>
            <a:ext cx="4248778" cy="301752"/>
          </a:xfrm>
          <a:prstGeom prst="roundRect">
            <a:avLst>
              <a:gd name="adj" fmla="val 18182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03421" y="5797296"/>
            <a:ext cx="415733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Backup (optional)</a:t>
            </a:r>
            <a:endParaRPr 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3177449" y="1353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+ telemetry (outbound 443)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867821" y="1691640"/>
            <a:ext cx="17373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6338145" y="13533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ExpressRoute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028517" y="1691640"/>
            <a:ext cx="17373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065069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06506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/ PROXY ARCHITECTURE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Pattern When Direct Outbound Access Is Restricted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889699" cy="868680"/>
          </a:xfrm>
          <a:prstGeom prst="roundRect">
            <a:avLst>
              <a:gd name="adj" fmla="val 8421"/>
            </a:avLst>
          </a:prstGeom>
          <a:solidFill>
            <a:srgbClr val="5B6B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536192"/>
            <a:ext cx="17433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Servers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(2,000)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83475" y="189738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463040"/>
            <a:ext cx="1889699" cy="868680"/>
          </a:xfrm>
          <a:prstGeom prst="roundRect">
            <a:avLst>
              <a:gd name="adj" fmla="val 8421"/>
            </a:avLst>
          </a:prstGeom>
          <a:solidFill>
            <a:srgbClr val="D83B0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536192"/>
            <a:ext cx="17433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Firewall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0374" y="189738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463040"/>
            <a:ext cx="1889699" cy="868680"/>
          </a:xfrm>
          <a:prstGeom prst="roundRect">
            <a:avLst>
              <a:gd name="adj" fmla="val 8421"/>
            </a:avLst>
          </a:prstGeom>
          <a:solidFill>
            <a:srgbClr val="00B7C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536192"/>
            <a:ext cx="17433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Relay / Proxy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Servers (HA pair, DMZ)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7273" y="189738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463040"/>
            <a:ext cx="1889699" cy="868680"/>
          </a:xfrm>
          <a:prstGeom prst="roundRect">
            <a:avLst>
              <a:gd name="adj" fmla="val 8421"/>
            </a:avLst>
          </a:prstGeom>
          <a:solidFill>
            <a:srgbClr val="D83B0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536192"/>
            <a:ext cx="17433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Firewall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24172" y="189738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463040"/>
            <a:ext cx="1889699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536192"/>
            <a:ext cx="174339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/ Azure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588410" cy="3063240"/>
          </a:xfrm>
          <a:prstGeom prst="roundRect">
            <a:avLst>
              <a:gd name="adj" fmla="val 209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" y="272491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&amp; HA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306324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Minimum two proxy/relay nodes per site behind a load balancer for HA; scale horizontally, not vertically, for 2,000 agents.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" y="388620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Place in DMZ or a dedicated management network segment — never directly in the production VLAN.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" y="470916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Size guidance: a proxy tier of 2–4 nodes comfortably serves 2,000 agents given the agent's light, periodic request pattern.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01642" y="2606040"/>
            <a:ext cx="3588410" cy="3063240"/>
          </a:xfrm>
          <a:prstGeom prst="roundRect">
            <a:avLst>
              <a:gd name="adj" fmla="val 209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47946" y="272491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identification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447946" y="306324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Server → Relay: HTTP/HTTPS proxy protocol, TCP 443.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447946" y="388620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Relay → Azure: outbound HTTPS 443 to Arc, Entra ID, ARM and Monitor endpoints.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447946" y="470916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Server → Azure direct: only if a private link / ExpressRoute path is used instead of the relay.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46085" y="2606040"/>
            <a:ext cx="3588410" cy="3063240"/>
          </a:xfrm>
          <a:prstGeom prst="roundRect">
            <a:avLst>
              <a:gd name="adj" fmla="val 209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92389" y="2724912"/>
            <a:ext cx="32958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&amp; scaling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92389" y="306324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Relay node failure: load balancer routes to the surviving node; agents retry with backoff — no data loss for periodic telemetry.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92389" y="388620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Relay/proxy infrastructure is OPTIONAL — required only where direct outbound internet access from every server is not permitted (the common case in production data centers).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8292389" y="4709160"/>
            <a:ext cx="329580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 2,000 servers, Microsoft-recommended practice is proxy or Azure Arc gateway (preview) rather than per-server direct internet egress.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450592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45059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REQUIREMENTS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Firewall &amp; Port Requirements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Learn – “Azure Arc network requirements” (consolidated). All Connected Machine Agent traffic is outbound HTTPS on TCP 443 unless noted.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9961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Firewall Rule Set — Core Agent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1127729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40080"/>
                <a:gridCol w="3566160"/>
                <a:gridCol w="1188720"/>
                <a:gridCol w="15544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 / Service Tag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Private Link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Req'd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login.microsoftonline.com, *.login.microsoft.com, pas.windows.net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Microsoft Entra ID authentication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Always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management.azure.com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ARM — connect / disconnect server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Public*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Connect/disconnect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*.his.arc.azure.com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Hybrid identity &amp; metadata service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Private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Always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*.guestconfiguration.azure.com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Extension mgmt &amp; guest configuration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Private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Always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guestnotificationservice.azure.com, *.servicebus.windows.net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Notification channel (WebSocket)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Always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download.microsoft.com / packages.microsoft.com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Agent package download (Win/Linux)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Install / auto-update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58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Rule Set — Monitor, SQL Arc, ESU, Admin Center</a:t>
            </a:r>
            <a:endParaRPr lang="en-US" sz="105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14216"/>
          <a:ext cx="1127729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40080"/>
                <a:gridCol w="3566160"/>
                <a:gridCol w="1188720"/>
                <a:gridCol w="155448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 / Service Tag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Private Link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Req'd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*.&lt;region&gt;.arcdataservices.com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SQL Server enabled by Arc — telemetry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If SQL Arc used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*.ods.opinsights.azure.com, *.oms.opinsights.azure.com, *.monitoring.azure.com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Azure Monitor Agent ingestion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Private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If AMA used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*.waconazure.com, *.servicebus.windows.net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Windows Admin Center / SSH from Azure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If used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www.microsoft.com/pkiops/certs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80/443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Extended Security Updates cert chain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If ESU used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dls.microsoft.com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License validation — hotpatch / WSSB / ESU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If hotpatch/ESU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dc.services.visualstudio.com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Agent diagnostic telemetry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2530"/>
                          </a:solidFill>
                        </a:rPr>
                        <a:t>Optional (agent 1.24+)</a:t>
                      </a:r>
                      <a:endParaRPr lang="en-US" sz="76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601675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78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*Public unless a Resource Manager private link is separately configured. Wildcard FQDNs and exact endpoint sets vary by OS, Azure region, agent version and enabled services — validate against current Microsoft documentation before firewall implementation. Full matrix in Appendix A.</a:t>
            </a:r>
            <a:endParaRPr lang="en-US" sz="78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63129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63129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ExpressRoute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889699" cy="822960"/>
          </a:xfrm>
          <a:prstGeom prst="roundRect">
            <a:avLst>
              <a:gd name="adj" fmla="val 8889"/>
            </a:avLst>
          </a:prstGeom>
          <a:solidFill>
            <a:srgbClr val="5B6B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90472"/>
            <a:ext cx="17433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83475" y="18288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417320"/>
            <a:ext cx="1889699" cy="822960"/>
          </a:xfrm>
          <a:prstGeom prst="roundRect">
            <a:avLst>
              <a:gd name="adj" fmla="val 8889"/>
            </a:avLst>
          </a:prstGeom>
          <a:solidFill>
            <a:srgbClr val="D83B0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490472"/>
            <a:ext cx="17433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Router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30374" y="18288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417320"/>
            <a:ext cx="1889699" cy="822960"/>
          </a:xfrm>
          <a:prstGeom prst="roundRect">
            <a:avLst>
              <a:gd name="adj" fmla="val 8889"/>
            </a:avLst>
          </a:prstGeom>
          <a:solidFill>
            <a:srgbClr val="00B7C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490472"/>
            <a:ext cx="17433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ExpressRoute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7273" y="18288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417320"/>
            <a:ext cx="1889699" cy="822960"/>
          </a:xfrm>
          <a:prstGeom prst="roundRect">
            <a:avLst>
              <a:gd name="adj" fmla="val 8889"/>
            </a:avLst>
          </a:prstGeom>
          <a:solidFill>
            <a:srgbClr val="1F42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490472"/>
            <a:ext cx="17433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ExpressRoute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24172" y="18288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417320"/>
            <a:ext cx="1889699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490472"/>
            <a:ext cx="174339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VNet 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5501488" cy="1965960"/>
          </a:xfrm>
          <a:prstGeom prst="roundRect">
            <a:avLst>
              <a:gd name="adj" fmla="val 3256"/>
            </a:avLst>
          </a:prstGeom>
          <a:solidFill>
            <a:srgbClr val="EAF6EE"/>
          </a:solidFill>
          <a:ln w="12700">
            <a:solidFill>
              <a:srgbClr val="CBEA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633472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ExpressRoute provides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292608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Private, predictable-latency connectivity from on-prem to Azure, bypassing the public internet.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342900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bandwidth ceilings (50 Mbps–1+ Gbps circuits) suited to bulk application, backup and migration traffic.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93192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path for Private Link / Private Endpoint access to select Azure PaaS services.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33008" y="2514600"/>
            <a:ext cx="5501488" cy="1965960"/>
          </a:xfrm>
          <a:prstGeom prst="roundRect">
            <a:avLst>
              <a:gd name="adj" fmla="val 3256"/>
            </a:avLst>
          </a:prstGeom>
          <a:solidFill>
            <a:srgbClr val="FBEEEE"/>
          </a:solidFill>
          <a:ln w="12700">
            <a:solidFill>
              <a:srgbClr val="F3D3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7600" y="2633472"/>
            <a:ext cx="517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provide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97600" y="292608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Automatic carriage of all Azure Arc traffic — several Arc endpoints (e.g. package download, Entra ID, notification service) remain public-only even with a private link scope configured.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342900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substitute for firewall/proxy allowlisting — endpoints must still be permitted on the ExpressRoute path.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3931920"/>
            <a:ext cx="517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Justification by itself for 1 Gbps sizing — capacity should be driven by total enterprise Azure traffic, not Arc telemetry alone.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09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Redundancy: dual ExpressRoute circuits (diverse peering locations) with automatic BGP failover; Arc agents fail over to internet path if configured as backup.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09320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DNS / routing: on-prem DNS must resolve Azure private endpoint zones when Private Link is used; UDRs must not black-hole Arc's public endpoint set.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477256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Recommended design: ExpressRoute sized for application/data-plane traffic (dominant consumer); Arc management/telemetry traffic is a small, additive load — see Bandwidth Model.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Server Inventory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Server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83475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Machine Agent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037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Resource Manager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77273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Graph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24172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Dashboard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queryable inventory of OS, hardware, network, installed software, tags and resource metadata for every Arc-enabled server.  Example: Answer “which servers run OpenSSL 1.1 org-wide?” in seconds via a Resource Graph KQL query instead of a multi-team data pull.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Resource Manager, Azure Resource Graph, Azure Portal / CLI   On-prem: Connected Machine Agent (inventory extension, on by default)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 resource read; no data leaves the metadata layer — file contents are never collected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spreadsheet-based asset tracking across 2,000 servers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KQL-queryable source of truth; lifecycle tags drive automation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Arc-enabled servers base capability — no separate charge  Complements ServiceNow CMDB; recommend Resource Graph as the technical inventory feed into ServiceNow via API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83475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Agent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037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Rules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77273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Analytics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24172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/ Workbooks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Agent (AMA) collects performance counters, Windows Events, Linux Syslog and custom logs, routed by Data Collection Rules into a Log Analytics workspace.  Example: CPU/memory/disk alerting and cross-fleet dashboards for 2,000 servers without a SolarWinds agent redesign.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Monitor Agent, Data Collection Rules, Log Analytics Workspace, Workbooks, Alerts   On-prem: AMA extension (installed on top of the Connected Machine Agent)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encrypted in transit (TLS) and at rest in Log Analytics; workspace-level RBAC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monitoring coverage regardless of on-prem vs. Azure location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is the modern successor to the legacy MMA/OMS agent; DCR-based filtering controls ingestion volume and cost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itself is free; charged per-GB Log Analytics ingestion and retention — size DCRs deliberately  AMA relationship to Arc: AMA is deployed as an Arc VM extension — it requires the Connected Machine Agent as its host, but is a separate, optional add-on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C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Management — Azure Update Manager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Servers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0200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3976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Machine Agent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382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4448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7600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Update Manager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37447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58071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scheduled patching and compliance reporting for Windows and Linux, using maintenance-window based orchestration.  Example: Enforce a monthly patch cadence with pre-approved maintenance windows and centralized compliance evidence for audit.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Update Manager, Azure Policy (for enforcement), Maintenance Configurations   On-prem: Connected Machine Agent (no separate extension required for basic assessment)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source remains WSUS/Windows Update or distro repos — Update Manager orchestrates, does not replace, patch content sources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patch compliance across Windows, Linux and Azure VMs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windows, reboot control and per-group scheduling reduce change-management friction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Manager orchestration is included; no separate license, though automation/runbook actions may incur consumption  Coexists with existing WSUS/Satellite; recommend Update Manager as the compliance reporting layer, existing tools remain content distribution points where preferred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Policy / Governance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Policy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0200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3976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Arc-Enabled Servers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382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4448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7600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Evaluation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37447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58071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Task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evaluation of configuration, tagging and security baselines across the Arc-enabled fleet, with optional auto-remediation.  Example: Continuously verify that every server carries required tags (Owner, Environment, DataClassification) and flag drift automatically.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Policy, Guest Configuration extension, Azure Resource Graph (for compliance queries)   On-prem: Guest Configuration extension (evaluates in-guest settings, e.g. registry, file, service state)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evaluation is read-only by default; remediation tasks require an explicit managed identity with scoped write permission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provable compliance posture instead of point-in-time audits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custom initiatives (CIS, NIST) map directly to Arc-enabled server scope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is free; Guest Configuration evaluation is free for the first 5 configurations per node, then a small per-node charge applies  Complements ServiceNow governance workflows — Policy provides the technical evaluation, ServiceNow can own the exception/approval process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for Cloud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Arc-Enabled Server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0200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3976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Cloud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382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4448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7600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Alerts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37447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58071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 / SOC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cloud security posture management (CSPM) and optional workload protection (Defender for Servers plan) to on-prem hosts.  Example: Surface missing endpoint protection, unpatched vulnerabilities and misconfigurations on-prem alongside Azure-native workloads.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Microsoft Defender for Cloud, Defender for Servers Plan 1/2, Microsoft Sentinel (optional forwarding)   On-prem: Defender for Cloud / Microsoft Defender for Endpoint extension via Arc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assessment, just-in-time access recommendations, adaptive application controls (plan-dependent)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SOC visibility gap between cloud and on-prem estate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Score and recommendations use the same engine as native Azure VMs — no parallel tool needed for posture scoring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Servers is a paid, per-server-hour plan (Plan 1: Defender for Endpoint parity; Plan 2: adds vulnerability mgmt, adaptive controls, file integrity)  Findings can forward to existing SOC / Splunk via Sentinel connector or Log Analytics API rather than requiring SOC tool replacement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F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 Frameworks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Arc-Enabled Server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83475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Policy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037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Cloud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077273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24172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371600"/>
            <a:ext cx="1889699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444752"/>
            <a:ext cx="17433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/ SOC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initiatives (CIS, ISO 27001, SOC 2, PCI DSS, HIPAA where applicable) map to built-in Azure Policy initiatives evaluated against the Arc-enabled fleet.  Example: Produce a live PCI DSS control-coverage report across on-prem card-data-adjacent servers ahead of an assessment.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Policy regulatory compliance initiatives, Defender for Cloud regulatory compliance dashboard   On-prem: Guest Configuration + Defender extensions supply the evidence signals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surfaces technical control evaluation; organizational, physical and process controls remain the customer's responsibility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reduces evidence-gathering effort for recurring audits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evaluation engine across multiple frameworks avoids duplicate per-framework tooling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dashboard is included with Defender for Cloud; underlying Policy evaluation is free  Azure Arc capabilities are inputs to, not a replacement for, the organization's compliance program — frameworks must still be formally scoped and validated by Compliance/Legal</a:t>
            </a:r>
            <a:endParaRPr lang="en-US" sz="86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Change Tracking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0200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3976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Portal / 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382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4448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7600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• Activity Logs • Resource Graph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37447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58071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Record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capture administrative actions on Arc resources; Policy compliance history and Resource Graph provide point-in-time and trend views.  Example: Reconstruct who changed a server's resource group, tag or policy assignment, and when, during an incident review.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Activity Log, Azure Policy compliance history, Azure Resource Graph, optional Log Analytics export   On-prem: None additional — audit data is generated at the control-plane layer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are immutable and retained 90 days by default (longer via export to Log Analytics/Storage)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incident reconstruction and audit response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to Log Analytics/Sentinel/SIEM for long-term retention and correlation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 is free; extended retention via Log Analytics or Storage incurs standard ingestion/storage cost  Forward to existing SIEM (Splunk) for a single audit correlation point rather than a second audit console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Remediation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Alert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0200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3976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Logic App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03824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24448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97600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Action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37447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258071" y="1371600"/>
            <a:ext cx="2476424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31223" y="1444752"/>
            <a:ext cx="2330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Alert-triggered runbooks or Logic Apps execute standard remediations — restart a service, clear disk space, restart a server, apply configuration, or open a ticket.  Example: Auto-remediate a disk-space alert by clearing temp files, and only escalate to ServiceNow if the automated step fails.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Azure Automation (runbooks, Hybrid Runbook Worker), Logic Apps, Azure Monitor Alerts   On-prem: Hybrid Runbook Worker extension (executes runbooks locally on the Arc-enabled server)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execute under a scoped managed identity or Run As account — least-privilege, auditable execution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manual, repetitive operational toil for common break-fix scenarios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automation fabric spans Azure-native and on-prem Arc-enabled servers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Automation charged per job-execution minute beyond a monthly free tier; Logic Apps priced per action/connector  Remediation actions can raise ServiceNow tickets automatically — ServiceNow remains system of record for the ticket lifecycle</a:t>
            </a:r>
            <a:endParaRPr lang="en-US" sz="86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9867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98678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CAPABILITY — CAPABILITY 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Lifecycle / Operational Governance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12932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33556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06708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Onboarding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9289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09913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83065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65645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269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559421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42002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62626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35778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18358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38982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12134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094715" y="169164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515339" y="1371600"/>
            <a:ext cx="1219156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88491" y="1444752"/>
            <a:ext cx="10728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7607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gives each lifecycle stage a consistent, resource-based anchor — from initial discovery through decommission.  Example: Tag-driven lifecycle dashboards show servers approaching OS end-of-support or flagged for retirement, fleet-wide.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289450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322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SERVICES / ON-PREM COMPONENTS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08322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Azure: Resource Graph (stage visibility), Azure Policy (stage-gate enforcement), Update Manager, Defender for Cloud   On-prem: Connected Machine Agent throughout; de-registration on decommission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8121701" y="23317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40573" y="24140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CONTROLS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240573" y="27706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de-registration removes the server's Azure identity and access, closing an otherwise-lingering credential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607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7607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“ghost server” risk — forgotten, unpatched, unmonitored hosts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289450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08322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408322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 becomes a queryable tag/property rather than tribal knowledge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8121701" y="4389120"/>
            <a:ext cx="3612794" cy="1874520"/>
          </a:xfrm>
          <a:prstGeom prst="roundRect">
            <a:avLst>
              <a:gd name="adj" fmla="val 292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40573" y="4471416"/>
            <a:ext cx="33750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" kern="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/ COST &amp; TOOL INTEGRATION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40573" y="4828032"/>
            <a:ext cx="337505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incremental cost beyond the capabilities already enabled at each stage  ServiceNow remains the CMDB and change-approval system of record; Arc supplies the technical lifecycle signal that feeds it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860243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860243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COEXISTENCE ARCHITECTURE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 Integration — Azure Arc Alongside Your Estate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is designed to complement, not replace, existing enterprise tooling. Recommended system of record below reflects typical enterprise practice — validate per organization.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7729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331720"/>
                <a:gridCol w="2651760"/>
                <a:gridCol w="3520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Existing Tool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Azure Capability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Recommended System of Record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Infrastructure Monitoring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SolarWinds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Monitor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SolarWinds (near term) → evaluate consolidation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Log Management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Splunk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Log Analytics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Splunk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Application Performance (APM)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IBM Instana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Monitor App Insights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IBM Instana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IT Service Management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ServiceNow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Automation / Logic Apps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ServiceNow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Oracle Database Monitoring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Oracle Enterprise Manager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Monitor (OS-level only)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Oracle Enterprise Manager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Privileged Access Management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CyberArk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Entra ID / Defender integration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CyberArk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Security Operations / SOC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Existing SOC tooling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Defender for Cloud / Sentinel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Evaluate Sentinel as correlation layer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Patch Management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Existing patch tooling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Update Manager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Azure Update Manager (compliance reporting)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automatically retire existing tools. Use this table to identify near-term coexistence and medium-term consolidation candidates only where duplicate coverage is confirmed.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93852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Model by Workload Type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106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91440" cy="196596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508760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83794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heartbeat (≤ 64 KB / 5 min) — official max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0370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Diagnostic telemetry (≤ 64 KB / 30 min) — official max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56946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Extension status incl. Update Manager, Policy (≤ 100 KB / 15 min per extension) — official max</a:t>
            </a:r>
            <a:endParaRPr lang="en-US" sz="87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93522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Windows Event forwarding via AMA — volume set by Data Collection Rule scope (illustrative)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223864" y="1417320"/>
            <a:ext cx="55106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00B7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23864" y="1417320"/>
            <a:ext cx="91440" cy="196596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79896" y="1508760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Servers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79896" y="183794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Agent heartbeat &amp; diagnostics — same official caps as Windows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6479896" y="220370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Syslog forwarding via AMA — volume set by DCR facility/severity filter (illustrative)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6479896" y="2569464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Patch assessment via Update Manager — periodic, small payload (illustrative)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55106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D83B0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02736"/>
            <a:ext cx="91440" cy="1965960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3694176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02336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 OS/Arc telemetry as above, PLUS: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38912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 Server enabled by Arc metadata/license telemetry via *.arcdataservices.com — lightweight, metadata only (official, size unpublished)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75488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Arc does NOT transmit database content or query traffic — confirmed by Microsoft documentation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223864" y="3602736"/>
            <a:ext cx="55106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5875">
            <a:solidFill>
              <a:srgbClr val="5B6B7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3864" y="3602736"/>
            <a:ext cx="91440" cy="1965960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9896" y="3694176"/>
            <a:ext cx="505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Servers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79896" y="402336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Base OS/Arc telemetry as above (Oracle Linux / RHEL hosts)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6479896" y="438912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native Arc-to-Oracle-database integration — Oracle Enterprise Manager remains the DB monitoring path</a:t>
            </a:r>
            <a:endParaRPr lang="en-US" sz="870" dirty="0"/>
          </a:p>
        </p:txBody>
      </p:sp>
      <p:sp>
        <p:nvSpPr>
          <p:cNvPr id="29" name="Text 27"/>
          <p:cNvSpPr txBox="1"/>
          <p:nvPr/>
        </p:nvSpPr>
        <p:spPr>
          <a:xfrm>
            <a:off x="6479896" y="4754880"/>
            <a:ext cx="505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Arc does NOT carry Oracle replication, RMAN, or application traffic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FFF4E9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5669280"/>
            <a:ext cx="110029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marked “official max” are Microsoft-published per-request ceilings for the Connected Machine Agent (Azure Arc network requirements documentation) — typical usage runs below these caps. Figures marked “illustrative” are planning assumptions, not Microsoft-published numbers. See next slide for the full calculation and Appendix B for assumptions.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67482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16748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CALCULATION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2,000-Server Bandwidth Calculation — Three Scenarios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Servers × average KB/sec/server × 8 = aggregate bandwidth (bits/sec). Per-server daily volume is a CALCULATED ESTIMATE built from Microsoft's documented per-request maximums plus clearly labeled illustrative assumptions for Azure Monitor / Defender telemetry (Microsoft does not publish a fixed per-server AMA figure — it depends entirely on Data Collection Rule scope).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7729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46120"/>
                <a:gridCol w="1051560"/>
                <a:gridCol w="1051560"/>
                <a:gridCol w="1234440"/>
                <a:gridCol w="960120"/>
                <a:gridCol w="96012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KB/sec /server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MB/day /server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GB/day (2,000 srv)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GB/month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Avg Mbps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Peak Mbps*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Conservative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core only (heartbeat, diagnostics, minimal Guest Config)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0.035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~180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~0.6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~1.7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Typical Enterprise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+ Azure Monitor (filtered DCR) + Update Manager + Policy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0.17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~30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~900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~2.8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~7.5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2545"/>
                          </a:solidFill>
                        </a:rPr>
                        <a:t>High Telemetry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+ verbose Monitor DCR + Defender for Servers + frequent extension activity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0.69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~60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~120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~3,600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~11.1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*Peak assumes ~3x average during concentrated activity such as monthly Patch Tuesday rollout, mass extension upgrade, or business-hours monitoring peaks — illustrative planning multiplier, not a Microsoft-published figure.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57200" y="4617720"/>
            <a:ext cx="2654732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4754880"/>
            <a:ext cx="26547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7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~0.6 Mbps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394960"/>
            <a:ext cx="2654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avg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1388" y="4617720"/>
            <a:ext cx="2654732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31388" y="4754880"/>
            <a:ext cx="26547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~2.8 Mbps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331388" y="5394960"/>
            <a:ext cx="2654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avg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05576" y="4617720"/>
            <a:ext cx="2654732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05576" y="4754880"/>
            <a:ext cx="26547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Mbps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205576" y="5394960"/>
            <a:ext cx="2654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avg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79763" y="4617720"/>
            <a:ext cx="2654732" cy="1417320"/>
          </a:xfrm>
          <a:prstGeom prst="roundRect">
            <a:avLst>
              <a:gd name="adj" fmla="val 5161"/>
            </a:avLst>
          </a:prstGeom>
          <a:solidFill>
            <a:srgbClr val="0B254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079763" y="4754880"/>
            <a:ext cx="26547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31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 Mbps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9079763" y="5394960"/>
            <a:ext cx="2654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peak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17220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High Telemetry scenario across the full 2,000-server estate remains well below typical ExpressRoute circuit sizes — Arc telemetry is rarely the primary driver of circuit capacity.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48179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4817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SIZING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ExpressRoute Capacity Recommendation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463040"/>
                <a:gridCol w="53309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Mbps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Peak Mbps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Implication for Arc Traffic Alone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— Conservative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~0.6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~1.7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Rides within any existing circuit — negligible incremental load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— Typical Enterprise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~2.8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~7.5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Rides within any existing circuit — negligible incremental load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Arc — High Telemetry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~11.1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~33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Comfortably inside a 50–100 Mbps circuit on its own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292608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size ExpressRoute for ALL enterprise Azure traffic — not Azure Arc alone.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337560"/>
            <a:ext cx="2109155" cy="2423160"/>
          </a:xfrm>
          <a:prstGeom prst="roundRect">
            <a:avLst>
              <a:gd name="adj" fmla="val 3035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3429000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Mbps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67328"/>
            <a:ext cx="19262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pilot / DR-only circuits, or Arc-only connectivity with no other Azure workload traffic</a:t>
            </a:r>
            <a:endParaRPr lang="en-US" sz="830" dirty="0"/>
          </a:p>
        </p:txBody>
      </p:sp>
      <p:sp>
        <p:nvSpPr>
          <p:cNvPr id="10" name="Shape 7"/>
          <p:cNvSpPr/>
          <p:nvPr/>
        </p:nvSpPr>
        <p:spPr>
          <a:xfrm>
            <a:off x="2749235" y="3337560"/>
            <a:ext cx="2109155" cy="2423160"/>
          </a:xfrm>
          <a:prstGeom prst="roundRect">
            <a:avLst>
              <a:gd name="adj" fmla="val 3035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22387" y="3429000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Mbps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840675" y="3767328"/>
            <a:ext cx="19262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Azure Monitor / backup traffic alongside Arc telemetry; smaller regional data centers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5041270" y="3337560"/>
            <a:ext cx="2109155" cy="2423160"/>
          </a:xfrm>
          <a:prstGeom prst="roundRect">
            <a:avLst>
              <a:gd name="adj" fmla="val 3035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14422" y="3429000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Mbps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132710" y="3767328"/>
            <a:ext cx="19262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line-of-business workloads plus monitoring/backup traffic sharing the circuit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7333305" y="3337560"/>
            <a:ext cx="2109155" cy="2423160"/>
          </a:xfrm>
          <a:prstGeom prst="roundRect">
            <a:avLst>
              <a:gd name="adj" fmla="val 3035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457" y="3429000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Mbps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24745" y="3767328"/>
            <a:ext cx="19262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Azure IaaS/PaaS footprint, VDI, or large backup/replication jobs</a:t>
            </a:r>
            <a:endParaRPr lang="en-US" sz="830" dirty="0"/>
          </a:p>
        </p:txBody>
      </p:sp>
      <p:sp>
        <p:nvSpPr>
          <p:cNvPr id="19" name="Shape 16"/>
          <p:cNvSpPr/>
          <p:nvPr/>
        </p:nvSpPr>
        <p:spPr>
          <a:xfrm>
            <a:off x="9625340" y="3337560"/>
            <a:ext cx="2109155" cy="2423160"/>
          </a:xfrm>
          <a:prstGeom prst="roundRect">
            <a:avLst>
              <a:gd name="adj" fmla="val 3035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8492" y="3429000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716780" y="3767328"/>
            <a:ext cx="19262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migration waves, bulk data replication, or substantial Azure-hosted application traffic — justified by application/data needs, not Arc telemetry</a:t>
            </a:r>
            <a:endParaRPr lang="en-US" sz="83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594360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baseline enterprise on a 200–500 Mbps primary circuit sized to application/backup traffic, with Arc management and telemetry riding as a small additive load; do not upsize the circuit on Arc bandwidth projections alone.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655418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65541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OPTIMIZATION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Telemetry &amp; Bandwidth Consumption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889699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30352" y="1444752"/>
            <a:ext cx="17433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Server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83475" y="17145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04099" y="1371600"/>
            <a:ext cx="1889699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77251" y="1444752"/>
            <a:ext cx="17433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(DCR)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0374" y="17145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0998" y="1371600"/>
            <a:ext cx="1889699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24150" y="1444752"/>
            <a:ext cx="17433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77273" y="17145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7897" y="1371600"/>
            <a:ext cx="1889699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571049" y="1444752"/>
            <a:ext cx="17433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24172" y="1714500"/>
            <a:ext cx="384048" cy="0"/>
          </a:xfrm>
          <a:prstGeom prst="line">
            <a:avLst/>
          </a:prstGeom>
          <a:noFill/>
          <a:ln w="25400">
            <a:solidFill>
              <a:srgbClr val="5B6B7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44796" y="1371600"/>
            <a:ext cx="1889699" cy="685800"/>
          </a:xfrm>
          <a:prstGeom prst="roundRect">
            <a:avLst>
              <a:gd name="adj" fmla="val 10667"/>
            </a:avLst>
          </a:prstGeom>
          <a:solidFill>
            <a:srgbClr val="0B25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17948" y="1444752"/>
            <a:ext cx="17433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33172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Azure Monitor Data Collection Rules to scope exactly which event IDs, Syslog facilities and performance counters are collected — the single largest lever on ingestion volume.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6616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unnecessary Windows Events (e.g. exclude verbose/informational channels) and unneeded Syslog facilities at the source.</a:t>
            </a:r>
            <a:endParaRPr lang="en-US" sz="93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80060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 performance counters deliberately; avoid collecting every counter at high frequency across all 2,000 servers.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4289450" y="233172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Apply sampling and aggregation for high-frequency metrics where sub-minute granularity is not operationally required.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4289450" y="356616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Set deliberate Log Analytics retention policies per table — shorter hot retention with export/archive for compliance data.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289450" y="480060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 sending the same log/event stream to SolarWinds, Splunk AND Azure Monitor simultaneously unless a specific cross-tool need is documented.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8121701" y="233172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tiered monitoring: richer collection for production/customer-facing tiers, lighter collection for dev/test/non-production.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8121701" y="356616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Schedule Update Manager and extension-heavy maintenance activities in off-peak windows, staggered across server waves rather than all 2,000 at once.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8121701" y="4800600"/>
            <a:ext cx="36127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Scope Defender for Cloud telemetry (e.g. file integrity monitoring) to the servers that require it rather than fleet-wide by default.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553005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55300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Trust–Oriented Security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38528"/>
            <a:ext cx="257929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93852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0B254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30552"/>
            <a:ext cx="2579294" cy="19202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93852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3230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Managed Identity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8712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3101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(privileged access)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6534" y="1938528"/>
            <a:ext cx="257929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6534" y="193852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0078D4"/>
          </a:solidFill>
          <a:ln/>
        </p:spPr>
      </p:sp>
      <p:sp>
        <p:nvSpPr>
          <p:cNvPr id="17" name="Shape 15"/>
          <p:cNvSpPr/>
          <p:nvPr/>
        </p:nvSpPr>
        <p:spPr>
          <a:xfrm>
            <a:off x="3356534" y="2130552"/>
            <a:ext cx="2579294" cy="19202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429686" y="193852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47974" y="243230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1126" y="243230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RBAC (least privilege)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7974" y="28712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21126" y="28712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 guardrails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47974" y="33101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21126" y="33101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access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5868" y="1938528"/>
            <a:ext cx="257929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193852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00B7C3"/>
          </a:solidFill>
          <a:ln/>
        </p:spPr>
      </p:sp>
      <p:sp>
        <p:nvSpPr>
          <p:cNvPr id="27" name="Shape 25"/>
          <p:cNvSpPr/>
          <p:nvPr/>
        </p:nvSpPr>
        <p:spPr>
          <a:xfrm>
            <a:off x="6255868" y="2130552"/>
            <a:ext cx="2579294" cy="19202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29020" y="193852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47308" y="243230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20460" y="243230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Proxy-Relay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47308" y="28712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20460" y="28712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 / 1.3 encryption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47308" y="33101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20460" y="33101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segmentation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155201" y="1938528"/>
            <a:ext cx="2579294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5875">
            <a:solidFill>
              <a:srgbClr val="C9D6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55201" y="1938528"/>
            <a:ext cx="2579294" cy="384048"/>
          </a:xfrm>
          <a:prstGeom prst="roundRect">
            <a:avLst>
              <a:gd name="adj" fmla="val 19048"/>
            </a:avLst>
          </a:prstGeom>
          <a:solidFill>
            <a:srgbClr val="D83B01"/>
          </a:solidFill>
          <a:ln/>
        </p:spPr>
      </p:sp>
      <p:sp>
        <p:nvSpPr>
          <p:cNvPr id="37" name="Shape 35"/>
          <p:cNvSpPr/>
          <p:nvPr/>
        </p:nvSpPr>
        <p:spPr>
          <a:xfrm>
            <a:off x="9155201" y="2130552"/>
            <a:ext cx="2579294" cy="192024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228353" y="1938528"/>
            <a:ext cx="24329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Response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246641" y="2432304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19793" y="2432304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246641" y="2871216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19793" y="2871216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Sentinel / SOC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46641" y="3310128"/>
            <a:ext cx="2396414" cy="365760"/>
          </a:xfrm>
          <a:prstGeom prst="roundRect">
            <a:avLst>
              <a:gd name="adj" fmla="val 12500"/>
            </a:avLst>
          </a:prstGeom>
          <a:solidFill>
            <a:srgbClr val="EAF2FB"/>
          </a:solidFill>
          <a:ln w="9525">
            <a:solidFill>
              <a:srgbClr val="D6E7F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19793" y="3310128"/>
            <a:ext cx="22501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&amp; audit logs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100314" y="137160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63926" y="179222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4999648" y="137160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63260" y="179222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7898982" y="1371600"/>
            <a:ext cx="219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by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862593" y="1792224"/>
            <a:ext cx="265176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57200" y="4069080"/>
            <a:ext cx="3588410" cy="2194560"/>
          </a:xfrm>
          <a:prstGeom prst="roundRect">
            <a:avLst>
              <a:gd name="adj" fmla="val 291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94360" y="4178808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&amp; authorization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594360" y="461772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Arc-enabled server receives a system-assigned managed identity used for all control-plane calls — no shared secrets or embedded credentials.</a:t>
            </a:r>
            <a:endParaRPr lang="en-US" sz="86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539496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Azure RBAC governs who can read, write or manage the Arc resource; scope to resource-group or tag-based conditional access for least privilege.</a:t>
            </a:r>
            <a:endParaRPr lang="en-US" sz="860" dirty="0"/>
          </a:p>
        </p:txBody>
      </p:sp>
      <p:sp>
        <p:nvSpPr>
          <p:cNvPr id="55" name="Shape 53"/>
          <p:cNvSpPr/>
          <p:nvPr/>
        </p:nvSpPr>
        <p:spPr>
          <a:xfrm>
            <a:off x="4301642" y="4069080"/>
            <a:ext cx="3588410" cy="2194560"/>
          </a:xfrm>
          <a:prstGeom prst="roundRect">
            <a:avLst>
              <a:gd name="adj" fmla="val 291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38802" y="4178808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certificates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4438802" y="461772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 Connected Machine Agent traffic is TLS-encrypted (TLS 1.2/1.3); the agent does not use certificate pinning, so TLS-inspecting proxies are supported.</a:t>
            </a:r>
            <a:endParaRPr lang="en-US" sz="860" dirty="0"/>
          </a:p>
        </p:txBody>
      </p:sp>
      <p:sp>
        <p:nvSpPr>
          <p:cNvPr id="58" name="Text 56"/>
          <p:cNvSpPr txBox="1"/>
          <p:nvPr/>
        </p:nvSpPr>
        <p:spPr>
          <a:xfrm>
            <a:off x="4438802" y="539496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Certificates are managed and rotated automatically by the platform — no manual certificate lifecycle burden on Infrastructure teams.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146085" y="4069080"/>
            <a:ext cx="3588410" cy="2194560"/>
          </a:xfrm>
          <a:prstGeom prst="roundRect">
            <a:avLst>
              <a:gd name="adj" fmla="val 2917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83245" y="4178808"/>
            <a:ext cx="33140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access &amp; segmentation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283245" y="461772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CyberArk continues to govern interactive/privileged OS-level access; Arc governs the Azure control-plane identity — the two are complementary, not overlapping.</a:t>
            </a:r>
            <a:endParaRPr lang="en-US" sz="860" dirty="0"/>
          </a:p>
        </p:txBody>
      </p:sp>
      <p:sp>
        <p:nvSpPr>
          <p:cNvPr id="62" name="Text 60"/>
          <p:cNvSpPr txBox="1"/>
          <p:nvPr/>
        </p:nvSpPr>
        <p:spPr>
          <a:xfrm>
            <a:off x="8283245" y="5394960"/>
            <a:ext cx="331409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Management, production and security zones remain segmented; Arc agent traffic originates from the management network path only.</a:t>
            </a:r>
            <a:endParaRPr lang="en-US" sz="86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2646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&amp; Disaster Recovery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91840" cy="16002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Data Center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556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" y="17556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+ Connected Machine Agent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22128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22128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Relay/Proxy (HA pair)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26700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26700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Firewall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58200" y="1371600"/>
            <a:ext cx="3291840" cy="1600200"/>
          </a:xfrm>
          <a:prstGeom prst="roundRect">
            <a:avLst>
              <a:gd name="adj" fmla="val 4000"/>
            </a:avLst>
          </a:prstGeom>
          <a:solidFill>
            <a:srgbClr val="EAF2FB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4964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Data Center (DR)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67928" y="17556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13648" y="17556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+ Connected Machine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67928" y="22128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13648" y="22128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Relay/Proxy (HA pair)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67928" y="2670048"/>
            <a:ext cx="307238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13648" y="26700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Firewall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1645920"/>
            <a:ext cx="4160520" cy="1371600"/>
          </a:xfrm>
          <a:prstGeom prst="roundRect">
            <a:avLst>
              <a:gd name="adj" fmla="val 4667"/>
            </a:avLst>
          </a:prstGeom>
          <a:solidFill>
            <a:srgbClr val="FFF6EC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33088" y="1737360"/>
            <a:ext cx="3941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ExpressRoute Circuits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(diverse peering, BGP failover)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Internet backup path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794760" y="2331720"/>
            <a:ext cx="18288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0" y="2331720"/>
            <a:ext cx="18288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3154680"/>
            <a:ext cx="11277295" cy="384048"/>
          </a:xfrm>
          <a:prstGeom prst="roundRect">
            <a:avLst>
              <a:gd name="adj" fmla="val 16667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3154680"/>
            <a:ext cx="11277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Region(s) — Azure Arc, Monitor, Policy, Update Manager, Defender for Cloud (regional resilience per Azure SLA)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1127729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439912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Failure Scenario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Expected Behavior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Relay/proxy server fails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Load balancer routes to the surviving HA peer; agents retry automatically — no manual failover needed.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Firewall fails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Redundant firewall pair (active/passive or active/active) fails over per standard network HA design; brief agent retry, no data loss for periodic telemetry.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ExpressRoute circuit fails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BGP fails over to the secondary circuit; if both are down, agent falls back to the configured internet/proxy path where permitted.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Internet path fails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Agent queues and retries; extended outage delays telemetry/patch status but does not affect the server's running workload.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Azure service unavailable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Agent continues local operation; queued status updates and telemetry resume once connectivity is restored — Arc does not gate server function.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Server loses Azure connectivity / agent fails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B2530"/>
                          </a:solidFill>
                        </a:rPr>
                        <a:t>Server keeps running unaffected; it simply falls out of current-state visibility until the agent/connectivity is restored — Arc is a management plane, not an availability dependency.</a:t>
                      </a:r>
                      <a:endParaRPr lang="en-US" sz="82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2646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Onboarding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760" dirty="0"/>
          </a:p>
        </p:txBody>
      </p:sp>
      <p:sp>
        <p:nvSpPr>
          <p:cNvPr id="7" name="Shape 5"/>
          <p:cNvSpPr/>
          <p:nvPr/>
        </p:nvSpPr>
        <p:spPr>
          <a:xfrm>
            <a:off x="765311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5311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5174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494046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078D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21478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1802158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80215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12021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30893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558325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2839004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39004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48867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7739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078D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95171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3875851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75851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85714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04586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32018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4912697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12697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22560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641432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078D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8864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 Assignment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Tagging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949544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949544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59407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678279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705711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986390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8639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96253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15125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078D4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742557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8023237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23237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33100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51972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779404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9060083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060083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669946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788818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078D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816250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Mgmt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</a:t>
            </a:r>
            <a:endParaRPr lang="en-US" sz="760" dirty="0"/>
          </a:p>
        </p:txBody>
      </p:sp>
      <p:sp>
        <p:nvSpPr>
          <p:cNvPr id="52" name="Shape 50"/>
          <p:cNvSpPr/>
          <p:nvPr/>
        </p:nvSpPr>
        <p:spPr>
          <a:xfrm>
            <a:off x="10096929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096929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706793" y="1988820"/>
            <a:ext cx="109728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825665" y="1508760"/>
            <a:ext cx="908830" cy="960120"/>
          </a:xfrm>
          <a:prstGeom prst="roundRect">
            <a:avLst>
              <a:gd name="adj" fmla="val 6037"/>
            </a:avLst>
          </a:prstGeom>
          <a:solidFill>
            <a:srgbClr val="0B2545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853097" y="1554480"/>
            <a:ext cx="8539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11133776" y="1161288"/>
            <a:ext cx="292608" cy="29260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1133776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2880360"/>
            <a:ext cx="3588410" cy="3337560"/>
          </a:xfrm>
          <a:prstGeom prst="roundRect">
            <a:avLst>
              <a:gd name="adj" fmla="val 1918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94360" y="3017520"/>
            <a:ext cx="3314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onboarding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594360" y="3429000"/>
            <a:ext cx="3314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Group Policy, SCCM/Intune, or bulk script using the Azure CLI onboarding script and a service principal or managed identity for at-scale registration.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301642" y="2880360"/>
            <a:ext cx="3588410" cy="3337560"/>
          </a:xfrm>
          <a:prstGeom prst="roundRect">
            <a:avLst>
              <a:gd name="adj" fmla="val 1918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438802" y="3017520"/>
            <a:ext cx="3314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onboarding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4438802" y="3429000"/>
            <a:ext cx="3314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configuration management (Ansible, Chef, Puppet) or bulk shell script; supports major distros per the agent support matrix.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46085" y="2880360"/>
            <a:ext cx="3588410" cy="3337560"/>
          </a:xfrm>
          <a:prstGeom prst="roundRect">
            <a:avLst>
              <a:gd name="adj" fmla="val 1918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283245" y="3017520"/>
            <a:ext cx="33140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&amp; automated onboarding</a:t>
            </a:r>
            <a:endParaRPr lang="en-US" sz="1150" dirty="0"/>
          </a:p>
        </p:txBody>
      </p:sp>
      <p:sp>
        <p:nvSpPr>
          <p:cNvPr id="67" name="Text 65"/>
          <p:cNvSpPr txBox="1"/>
          <p:nvPr/>
        </p:nvSpPr>
        <p:spPr>
          <a:xfrm>
            <a:off x="8283245" y="3429000"/>
            <a:ext cx="3314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 (or Entra Workload ID) authenticate the bulk onboarding process — avoid embedding long-lived user credentials.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283245" y="4800600"/>
            <a:ext cx="331409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Resource Groups, naming standards, tag taxonomy and Policy initiatives before Wave 1 to avoid rework across 2,000 servers.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348179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348179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2,000-Server Phased Rollout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5B6B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5B6B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30352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 wks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Network/firewall readiness assessed; tagging &amp; RG design approved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2223973" y="3017520"/>
            <a:ext cx="128016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61133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361133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61133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34285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434285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434285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servers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434285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2434285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runbook validated end-to-end; no critical defects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4127906" y="3017520"/>
            <a:ext cx="128016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65066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00B7C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65066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65066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00B7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38218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38218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6–9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338218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servers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338218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4338218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criteria met; policy/monitoring baseline confirmed stable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6031840" y="3017520"/>
            <a:ext cx="128016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169000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1F427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169000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9000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1F427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42152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242152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242152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servers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242152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39" name="Text 37"/>
          <p:cNvSpPr txBox="1"/>
          <p:nvPr/>
        </p:nvSpPr>
        <p:spPr>
          <a:xfrm>
            <a:off x="6242152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compliance ≥ target threshold; no relay/proxy capacity issues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7935773" y="3017520"/>
            <a:ext cx="128016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72933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D83B0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72933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72933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D83B0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46085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3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146085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14–19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146085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3B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servers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8146085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8146085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stable for 2 patch cycles; operational acceptance signed off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839706" y="3017520"/>
            <a:ext cx="128016" cy="0"/>
          </a:xfrm>
          <a:prstGeom prst="line">
            <a:avLst/>
          </a:prstGeom>
          <a:noFill/>
          <a:ln w="19050">
            <a:solidFill>
              <a:srgbClr val="8A96A3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976866" y="1463040"/>
            <a:ext cx="1757629" cy="384048"/>
          </a:xfrm>
          <a:prstGeom prst="roundRect">
            <a:avLst>
              <a:gd name="adj" fmla="val 11905"/>
            </a:avLst>
          </a:prstGeom>
          <a:solidFill>
            <a:srgbClr val="0B254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976866" y="1463040"/>
            <a:ext cx="1757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976866" y="1920240"/>
            <a:ext cx="1757629" cy="233172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0B254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050018" y="201168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Rollout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050018" y="2377440"/>
            <a:ext cx="161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19–24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0050018" y="2606040"/>
            <a:ext cx="1611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servers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10050018" y="3035808"/>
            <a:ext cx="16113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criteria: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10050018" y="3227832"/>
            <a:ext cx="161132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76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estate onboarded; full fleet compliance &amp; handover to Ops</a:t>
            </a:r>
            <a:endParaRPr lang="en-US" sz="76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validates: Network &amp; firewall readiness  •  Agent deployment  •  Monitoring &amp; policy enablement  •  Security enablement  •  Patch management enablement  •  Operational acceptance sign-off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892040"/>
            <a:ext cx="11277295" cy="1280160"/>
          </a:xfrm>
          <a:prstGeom prst="roundRect">
            <a:avLst>
              <a:gd name="adj" fmla="val 5000"/>
            </a:avLst>
          </a:prstGeom>
          <a:solidFill>
            <a:srgbClr val="EAF2FB"/>
          </a:solidFill>
          <a:ln w="12700">
            <a:solidFill>
              <a:srgbClr val="D6E7F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0080" y="5010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criteria applied at every wave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32180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wave met its exit criteria for 2 full operational cycles  •  Relay/proxy capacity headroom confirmed  •  Change Advisory Board approval obtained  •  Rollback plan validated for the wave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938528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Arc Operations — RACI Matrix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6304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3976227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976227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76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4752054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2054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527881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27881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6303707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3707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079534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79534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855361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55361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8631188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31188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9407015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7015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10182842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82842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10958668" y="1463040"/>
            <a:ext cx="775827" cy="530352"/>
          </a:xfrm>
          <a:prstGeom prst="rect">
            <a:avLst/>
          </a:prstGeom>
          <a:solidFill>
            <a:srgbClr val="0B254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958668" y="146304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Arch.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457200" y="199339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1993392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onboarding &amp; lifecycle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200400" y="1993392"/>
            <a:ext cx="775827" cy="530352"/>
          </a:xfrm>
          <a:prstGeom prst="rect">
            <a:avLst/>
          </a:prstGeom>
          <a:solidFill>
            <a:srgbClr val="D83B01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00400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76227" y="199339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76227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2054" y="1993392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2054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27881" y="1993392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27881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03707" y="1993392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9534" y="199339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79534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855361" y="199339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55361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631188" y="1993392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631188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407015" y="1993392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07015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182842" y="1993392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58668" y="1993392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958668" y="199339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57200" y="2523744"/>
            <a:ext cx="274320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30352" y="2523744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firewall configuration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>
            <a:off x="3200400" y="252374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200400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976227" y="252374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976227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752054" y="2523744"/>
            <a:ext cx="775827" cy="530352"/>
          </a:xfrm>
          <a:prstGeom prst="rect">
            <a:avLst/>
          </a:prstGeom>
          <a:solidFill>
            <a:srgbClr val="C4314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752054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A/R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527881" y="252374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527881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303707" y="252374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79534" y="2523744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079534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55361" y="2523744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55361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631188" y="252374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07015" y="252374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182842" y="252374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58668" y="252374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10958668" y="252374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57200" y="305409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30352" y="305409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compliance baselines</a:t>
            </a:r>
            <a:endParaRPr lang="en-US" sz="830" dirty="0"/>
          </a:p>
        </p:txBody>
      </p:sp>
      <p:sp>
        <p:nvSpPr>
          <p:cNvPr id="73" name="Shape 71"/>
          <p:cNvSpPr/>
          <p:nvPr/>
        </p:nvSpPr>
        <p:spPr>
          <a:xfrm>
            <a:off x="3200400" y="305409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200400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976227" y="3054096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3976227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52054" y="3054096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527881" y="3054096"/>
            <a:ext cx="775827" cy="530352"/>
          </a:xfrm>
          <a:prstGeom prst="rect">
            <a:avLst/>
          </a:prstGeom>
          <a:solidFill>
            <a:srgbClr val="D83B01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527881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303707" y="3054096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6303707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079534" y="3054096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079534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855361" y="3054096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855361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631188" y="3054096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07015" y="3054096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407015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10182842" y="305409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0182842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958668" y="3054096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958668" y="305409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457200" y="3584448"/>
            <a:ext cx="274320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530352" y="3584448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management (Update Manager)</a:t>
            </a:r>
            <a:endParaRPr lang="en-US" sz="830" dirty="0"/>
          </a:p>
        </p:txBody>
      </p:sp>
      <p:sp>
        <p:nvSpPr>
          <p:cNvPr id="95" name="Shape 93"/>
          <p:cNvSpPr/>
          <p:nvPr/>
        </p:nvSpPr>
        <p:spPr>
          <a:xfrm>
            <a:off x="3200400" y="3584448"/>
            <a:ext cx="775827" cy="530352"/>
          </a:xfrm>
          <a:prstGeom prst="rect">
            <a:avLst/>
          </a:prstGeom>
          <a:solidFill>
            <a:srgbClr val="D83B01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3200400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3976227" y="3584448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976227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752054" y="3584448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527881" y="3584448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527881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303707" y="3584448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079534" y="3584448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7079534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7855361" y="3584448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7855361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8631188" y="3584448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8631188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9407015" y="3584448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9407015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10182842" y="3584448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10182842" y="3584448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10958668" y="3584448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57200" y="41148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530352" y="411480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monitoring (Defender/Sentinel)</a:t>
            </a:r>
            <a:endParaRPr lang="en-US" sz="830" dirty="0"/>
          </a:p>
        </p:txBody>
      </p:sp>
      <p:sp>
        <p:nvSpPr>
          <p:cNvPr id="116" name="Shape 114"/>
          <p:cNvSpPr/>
          <p:nvPr/>
        </p:nvSpPr>
        <p:spPr>
          <a:xfrm>
            <a:off x="3200400" y="4114800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200400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3976227" y="4114800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3976227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752054" y="4114800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527881" y="4114800"/>
            <a:ext cx="775827" cy="530352"/>
          </a:xfrm>
          <a:prstGeom prst="rect">
            <a:avLst/>
          </a:prstGeom>
          <a:solidFill>
            <a:srgbClr val="C4314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527881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303707" y="4114800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6303707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7079534" y="4114800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079534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855361" y="4114800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7855361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631188" y="4114800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407015" y="4114800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182842" y="4114800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10182842" y="4114800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0958668" y="4114800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57200" y="4645152"/>
            <a:ext cx="274320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530352" y="4645152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&amp; remediation</a:t>
            </a:r>
            <a:endParaRPr lang="en-US" sz="830" dirty="0"/>
          </a:p>
        </p:txBody>
      </p:sp>
      <p:sp>
        <p:nvSpPr>
          <p:cNvPr id="136" name="Shape 134"/>
          <p:cNvSpPr/>
          <p:nvPr/>
        </p:nvSpPr>
        <p:spPr>
          <a:xfrm>
            <a:off x="3200400" y="4645152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3200400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3976227" y="464515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3976227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4752054" y="4645152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752054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5527881" y="4645152"/>
            <a:ext cx="775827" cy="530352"/>
          </a:xfrm>
          <a:prstGeom prst="rect">
            <a:avLst/>
          </a:prstGeom>
          <a:solidFill>
            <a:srgbClr val="D83B01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5527881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6303707" y="464515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6303707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46" name="Shape 144"/>
          <p:cNvSpPr/>
          <p:nvPr/>
        </p:nvSpPr>
        <p:spPr>
          <a:xfrm>
            <a:off x="7079534" y="464515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7079534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7855361" y="464515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855361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8631188" y="4645152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8631188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9407015" y="4645152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9407015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10182842" y="4645152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10182842" y="4645152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10958668" y="4645152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57200" y="5175504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30352" y="5175504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&amp; reporting</a:t>
            </a:r>
            <a:endParaRPr lang="en-US" sz="830" dirty="0"/>
          </a:p>
        </p:txBody>
      </p:sp>
      <p:sp>
        <p:nvSpPr>
          <p:cNvPr id="159" name="Shape 157"/>
          <p:cNvSpPr/>
          <p:nvPr/>
        </p:nvSpPr>
        <p:spPr>
          <a:xfrm>
            <a:off x="3200400" y="5175504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3200400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3976227" y="517550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976227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4752054" y="517550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527881" y="5175504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5527881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6303707" y="5175504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6303707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7079534" y="517550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855361" y="517550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631188" y="517550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407015" y="5175504"/>
            <a:ext cx="775827" cy="530352"/>
          </a:xfrm>
          <a:prstGeom prst="rect">
            <a:avLst/>
          </a:prstGeom>
          <a:solidFill>
            <a:srgbClr val="0078D4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9407015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10182842" y="5175504"/>
            <a:ext cx="775827" cy="530352"/>
          </a:xfrm>
          <a:prstGeom prst="rect">
            <a:avLst/>
          </a:prstGeom>
          <a:solidFill>
            <a:srgbClr val="D83B01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10182842" y="5175504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175" name="Shape 173"/>
          <p:cNvSpPr/>
          <p:nvPr/>
        </p:nvSpPr>
        <p:spPr>
          <a:xfrm>
            <a:off x="10958668" y="5175504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57200" y="5705856"/>
            <a:ext cx="2743200" cy="530352"/>
          </a:xfrm>
          <a:prstGeom prst="rect">
            <a:avLst/>
          </a:prstGeom>
          <a:solidFill>
            <a:srgbClr val="EAF2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530352" y="5705856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standards &amp; roadmap</a:t>
            </a:r>
            <a:endParaRPr lang="en-US" sz="830" dirty="0"/>
          </a:p>
        </p:txBody>
      </p:sp>
      <p:sp>
        <p:nvSpPr>
          <p:cNvPr id="178" name="Shape 176"/>
          <p:cNvSpPr/>
          <p:nvPr/>
        </p:nvSpPr>
        <p:spPr>
          <a:xfrm>
            <a:off x="3200400" y="570585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3200400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3976227" y="570585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3976227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4752054" y="570585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83" name="Text 181"/>
          <p:cNvSpPr txBox="1"/>
          <p:nvPr/>
        </p:nvSpPr>
        <p:spPr>
          <a:xfrm>
            <a:off x="4752054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5527881" y="570585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85" name="Text 183"/>
          <p:cNvSpPr txBox="1"/>
          <p:nvPr/>
        </p:nvSpPr>
        <p:spPr>
          <a:xfrm>
            <a:off x="5527881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6303707" y="5705856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079534" y="5705856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88" name="Text 186"/>
          <p:cNvSpPr txBox="1"/>
          <p:nvPr/>
        </p:nvSpPr>
        <p:spPr>
          <a:xfrm>
            <a:off x="7079534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7855361" y="5705856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90" name="Text 188"/>
          <p:cNvSpPr txBox="1"/>
          <p:nvPr/>
        </p:nvSpPr>
        <p:spPr>
          <a:xfrm>
            <a:off x="7855361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8631188" y="5705856"/>
            <a:ext cx="775827" cy="530352"/>
          </a:xfrm>
          <a:prstGeom prst="rect">
            <a:avLst/>
          </a:prstGeom>
          <a:solidFill>
            <a:srgbClr val="8A96A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92" name="Text 190"/>
          <p:cNvSpPr txBox="1"/>
          <p:nvPr/>
        </p:nvSpPr>
        <p:spPr>
          <a:xfrm>
            <a:off x="8631188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9407015" y="5705856"/>
            <a:ext cx="775827" cy="530352"/>
          </a:xfrm>
          <a:prstGeom prst="rect">
            <a:avLst/>
          </a:prstGeom>
          <a:solidFill>
            <a:srgbClr val="F7F9F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182842" y="5705856"/>
            <a:ext cx="775827" cy="530352"/>
          </a:xfrm>
          <a:prstGeom prst="rect">
            <a:avLst/>
          </a:prstGeom>
          <a:solidFill>
            <a:srgbClr val="00B7C3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10182842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10958668" y="5705856"/>
            <a:ext cx="775827" cy="530352"/>
          </a:xfrm>
          <a:prstGeom prst="rect">
            <a:avLst/>
          </a:prstGeom>
          <a:solidFill>
            <a:srgbClr val="C4314B"/>
          </a:solidFill>
          <a:ln w="6350">
            <a:solidFill>
              <a:srgbClr val="C9D6E4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10958668" y="5705856"/>
            <a:ext cx="7758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A/R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57200" y="640080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78D4"/>
          </a:solidFill>
          <a:ln/>
        </p:spPr>
      </p:sp>
      <p:sp>
        <p:nvSpPr>
          <p:cNvPr id="199" name="Text 197"/>
          <p:cNvSpPr txBox="1"/>
          <p:nvPr/>
        </p:nvSpPr>
        <p:spPr>
          <a:xfrm>
            <a:off x="713232" y="635508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</a:t>
            </a:r>
            <a:endParaRPr lang="en-US" sz="900" dirty="0"/>
          </a:p>
        </p:txBody>
      </p:sp>
      <p:sp>
        <p:nvSpPr>
          <p:cNvPr id="200" name="Shape 198"/>
          <p:cNvSpPr/>
          <p:nvPr/>
        </p:nvSpPr>
        <p:spPr>
          <a:xfrm>
            <a:off x="2066544" y="640080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D83B01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2322576" y="635508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Accountable</a:t>
            </a:r>
            <a:endParaRPr lang="en-US" sz="900" dirty="0"/>
          </a:p>
        </p:txBody>
      </p:sp>
      <p:sp>
        <p:nvSpPr>
          <p:cNvPr id="202" name="Shape 200"/>
          <p:cNvSpPr/>
          <p:nvPr/>
        </p:nvSpPr>
        <p:spPr>
          <a:xfrm>
            <a:off x="3675888" y="640080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00B7C3"/>
          </a:solidFill>
          <a:ln/>
        </p:spPr>
      </p:sp>
      <p:sp>
        <p:nvSpPr>
          <p:cNvPr id="203" name="Text 201"/>
          <p:cNvSpPr txBox="1"/>
          <p:nvPr/>
        </p:nvSpPr>
        <p:spPr>
          <a:xfrm>
            <a:off x="3931920" y="6355080"/>
            <a:ext cx="9930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Consulted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5153558" y="6400800"/>
            <a:ext cx="201168" cy="146304"/>
          </a:xfrm>
          <a:prstGeom prst="roundRect">
            <a:avLst>
              <a:gd name="adj" fmla="val 18750"/>
            </a:avLst>
          </a:prstGeom>
          <a:solidFill>
            <a:srgbClr val="8A96A3"/>
          </a:solidFill>
          <a:ln/>
        </p:spPr>
      </p:sp>
      <p:sp>
        <p:nvSpPr>
          <p:cNvPr id="205" name="Text 203"/>
          <p:cNvSpPr txBox="1"/>
          <p:nvPr/>
        </p:nvSpPr>
        <p:spPr>
          <a:xfrm>
            <a:off x="5409590" y="6355080"/>
            <a:ext cx="927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Informed</a:t>
            </a:r>
            <a:endParaRPr lang="en-US" sz="900" dirty="0"/>
          </a:p>
        </p:txBody>
      </p:sp>
      <p:sp>
        <p:nvSpPr>
          <p:cNvPr id="206" name="Text 204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07" name="Text 205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245766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245766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Considerations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Arc-enabled servers (base registration, inventory, RBAC, tagging) is free. Most value-add capabilities are separately metered Azure services layered on top — do not assume all Azure Arc capabilities are free.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729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5330952"/>
              </a:tblGrid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 Area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Pricing Model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Azure Arc-enabled servers (base)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No charge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Registration, inventory, RBAC, tagging, Resource Graph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Azure Monitor / Log Analytics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Per-GB ingestion + retention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Cost scales directly with Data Collection Rule scope — primary lever for cost control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Microsoft Defender for Cloud (Defender for Servers)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Per-server-hour, Plan 1 or 2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Optional; CSPM foundational tier is free, workload protection plan is paid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Azure Update Manager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No charge for orchestration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Automation/runbook-triggered actions billed under Azure Automation if used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Microsoft Sentinel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Per-GB ingested + optional per-node pricing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Optional SIEM/SOAR layer; typically shares Log Analytics workspace with Monitor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Azure Automation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Per job-execution minute beyond free tier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Used for remediation runbooks and Hybrid Runbook Worker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Azure Policy / Guest Configuration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Free for first 5 configs/node, then per-node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Governance and compliance evaluation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Storage (Log Analytics archive, exports)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Per-GB stored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Long-term retention for audit/compliance evidence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ExpressRoute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Circuit + outbound data (metered SKU) or unlimited SKU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Sized for total enterprise Azure traffic — see ExpressRoute Capacity Recommendation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Network egress (internet path)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Standard Azure outbound data transfer rates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Applies if using internet path rather than ExpressRoute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Existing monitoring tools (SolarWinds, Splunk, Instana)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Existing licensing continues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B2530"/>
                          </a:solidFill>
                        </a:rPr>
                        <a:t>Arc does not eliminate existing license commitments — evaluate consolidation separately</a:t>
                      </a:r>
                      <a:endParaRPr lang="en-US" sz="87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836115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836115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— Illustrative Business Value Model for 2,000 Servers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below are an ILLUSTRATIVE planning model based on typical enterprise Arc adoption outcomes — baseline against your current-state metrics before committing to targets.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inventoried in Resource Graph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67229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67229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40381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Arc-enabled (steady state)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77258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77258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350410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 (30-day SLA)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87288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87288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60440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 compliance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097317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97317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170469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coverage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0007346" y="1691640"/>
            <a:ext cx="1727149" cy="1234440"/>
          </a:xfrm>
          <a:prstGeom prst="roundRect">
            <a:avLst>
              <a:gd name="adj" fmla="val 5185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07346" y="1783080"/>
            <a:ext cx="17271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MTTD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080498" y="2286000"/>
            <a:ext cx="15808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detect (posture/security)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772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16559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 / Value Driver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What Good Looks Like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Mean time to remediate (MTTR)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Reduced via automated remediation runbooks vs. manual ticket-driven fixes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Manual activities eliminated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Spreadsheet-based inventory refresh, ad hoc patch tracking, manual audit evidence pulls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Tools consolidated (candidate)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Overlap identified between point monitoring tools and Azure Monitor — evaluate per Tool Integration slide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Operational effort reduction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Infrastructure/Ops time reallocated from manual tracking to higher-value engineering work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Audit preparation effort reduction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530"/>
                          </a:solidFill>
                        </a:rPr>
                        <a:t>Compliance evidence generated from Resource Graph / Policy history vs. manual collation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00B7C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Target-State Architecture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5B6B79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72768"/>
            <a:ext cx="1485639" cy="256032"/>
          </a:xfrm>
          <a:prstGeom prst="rect">
            <a:avLst/>
          </a:prstGeom>
          <a:solidFill>
            <a:srgbClr val="5B6B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 Estate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352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7784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30352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Oracle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951983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089143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9143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00B7C3"/>
          </a:solidFill>
          <a:ln/>
        </p:spPr>
      </p:sp>
      <p:sp>
        <p:nvSpPr>
          <p:cNvPr id="16" name="Shape 14"/>
          <p:cNvSpPr/>
          <p:nvPr/>
        </p:nvSpPr>
        <p:spPr>
          <a:xfrm>
            <a:off x="2089143" y="1572768"/>
            <a:ext cx="1485639" cy="256032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44007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/ Relay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162295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189727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Relay/Proxy HA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2162295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89727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ExpressRoute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583925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21085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1085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0078D4"/>
          </a:solidFill>
          <a:ln/>
        </p:spPr>
      </p:sp>
      <p:sp>
        <p:nvSpPr>
          <p:cNvPr id="25" name="Shape 23"/>
          <p:cNvSpPr/>
          <p:nvPr/>
        </p:nvSpPr>
        <p:spPr>
          <a:xfrm>
            <a:off x="3721085" y="1572768"/>
            <a:ext cx="1485639" cy="25603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75949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94237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821669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/ ARM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794237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21669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794237" y="3008376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21669" y="3008376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Graph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215868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353028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53028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3A7BD5"/>
          </a:solidFill>
          <a:ln/>
        </p:spPr>
      </p:sp>
      <p:sp>
        <p:nvSpPr>
          <p:cNvPr id="36" name="Shape 34"/>
          <p:cNvSpPr/>
          <p:nvPr/>
        </p:nvSpPr>
        <p:spPr>
          <a:xfrm>
            <a:off x="5353028" y="1572768"/>
            <a:ext cx="1485639" cy="256032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07892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Plane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26180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53612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5426180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53612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847811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984971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84971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D83B01"/>
          </a:solidFill>
          <a:ln/>
        </p:spPr>
      </p:sp>
      <p:sp>
        <p:nvSpPr>
          <p:cNvPr id="45" name="Shape 43"/>
          <p:cNvSpPr/>
          <p:nvPr/>
        </p:nvSpPr>
        <p:spPr>
          <a:xfrm>
            <a:off x="6984971" y="1572768"/>
            <a:ext cx="1485639" cy="256032"/>
          </a:xfrm>
          <a:prstGeom prst="rect">
            <a:avLst/>
          </a:prstGeom>
          <a:solidFill>
            <a:srgbClr val="D83B0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039835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Plane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058123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085555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7058123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085555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8479754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616914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16914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6B4FBB"/>
          </a:solidFill>
          <a:ln/>
        </p:spPr>
      </p:sp>
      <p:sp>
        <p:nvSpPr>
          <p:cNvPr id="54" name="Shape 52"/>
          <p:cNvSpPr/>
          <p:nvPr/>
        </p:nvSpPr>
        <p:spPr>
          <a:xfrm>
            <a:off x="8616914" y="1572768"/>
            <a:ext cx="1485639" cy="256032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671778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Plane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690066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717498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Manager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8690066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717498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/ Logic Apps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10111696" y="3451860"/>
            <a:ext cx="128016" cy="0"/>
          </a:xfrm>
          <a:prstGeom prst="line">
            <a:avLst/>
          </a:prstGeom>
          <a:noFill/>
          <a:ln w="19050">
            <a:solidFill>
              <a:srgbClr val="00B7C3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10248856" y="1325880"/>
            <a:ext cx="1485639" cy="4251960"/>
          </a:xfrm>
          <a:prstGeom prst="roundRect">
            <a:avLst>
              <a:gd name="adj" fmla="val 4308"/>
            </a:avLst>
          </a:prstGeom>
          <a:solidFill>
            <a:srgbClr val="16345F"/>
          </a:solidFill>
          <a:ln w="12700">
            <a:solidFill>
              <a:srgbClr val="1F427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48856" y="1325880"/>
            <a:ext cx="1485639" cy="502920"/>
          </a:xfrm>
          <a:prstGeom prst="roundRect">
            <a:avLst>
              <a:gd name="adj" fmla="val 12727"/>
            </a:avLst>
          </a:prstGeom>
          <a:solidFill>
            <a:srgbClr val="C4314B"/>
          </a:solidFill>
          <a:ln/>
        </p:spPr>
      </p:sp>
      <p:sp>
        <p:nvSpPr>
          <p:cNvPr id="63" name="Shape 61"/>
          <p:cNvSpPr/>
          <p:nvPr/>
        </p:nvSpPr>
        <p:spPr>
          <a:xfrm>
            <a:off x="10248856" y="1572768"/>
            <a:ext cx="1485639" cy="256032"/>
          </a:xfrm>
          <a:prstGeom prst="rect">
            <a:avLst/>
          </a:prstGeom>
          <a:solidFill>
            <a:srgbClr val="C4314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303720" y="1325880"/>
            <a:ext cx="13759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ITSM / Existing Tools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322008" y="1947672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349440" y="1947672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10322008" y="2478024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10349440" y="2478024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• SolarWinds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10322008" y="3008376"/>
            <a:ext cx="1339335" cy="457200"/>
          </a:xfrm>
          <a:prstGeom prst="roundRect">
            <a:avLst>
              <a:gd name="adj" fmla="val 10000"/>
            </a:avLst>
          </a:prstGeom>
          <a:solidFill>
            <a:srgbClr val="1F4275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349440" y="3008376"/>
            <a:ext cx="12844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Instana • OEM • CyberArk</a:t>
            </a:r>
            <a:endParaRPr lang="en-US" sz="78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boundary: On-Premises  |  Network Perimeter  |  Microsoft Azure          Data flows: outbound HTTPS 443 (control, management, telemetry) — application/data-plane traffic follows its own path and is not carried by Arc.</a:t>
            </a:r>
            <a:endParaRPr lang="en-US" sz="850" dirty="0"/>
          </a:p>
        </p:txBody>
      </p:sp>
      <p:sp>
        <p:nvSpPr>
          <p:cNvPr id="72" name="Text 70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Version 1.0  —  August 2026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5B6B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2646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&amp; Endpoint Matrix — Detailed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11277295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502920"/>
                <a:gridCol w="868680"/>
                <a:gridCol w="2377440"/>
                <a:gridCol w="777240"/>
                <a:gridCol w="1051560"/>
                <a:gridCol w="2450592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Endpoint (FQDN / Service Tag)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Direction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Wildcard?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Private Link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30" b="1" dirty="0">
                          <a:solidFill>
                            <a:srgbClr val="FFFFFF"/>
                          </a:solidFill>
                        </a:rPr>
                        <a:t>Notes / Required When</a:t>
                      </a:r>
                      <a:endParaRPr lang="en-US" sz="73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download.microsoft.com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Windows agent package download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Install / auto-update only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packages.microsoft.com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Linux agent package download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Install / auto-update only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login.microsoftonline.com / *.login.microsoft.com / pas.windows.net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Microsoft Entra ID auth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Yes (login.microsoft.com)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Always required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management.azure.com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ARM — connect/disconnect server resource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Public*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Connect / disconnect events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*.his.arc.azure.com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Hybrid identity &amp; metadata service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Yes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Private-capable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Always required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*.guestconfiguration.azure.com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Extension mgmt &amp; guest configuration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Yes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Private-capable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Always required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guestnotificationservice.azure.com + *.servicebus.windows.net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 (WebSocket)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Notification channel for extensions/connectivity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Yes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Always required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*.waconazure.com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Windows Admin Center connectivity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If Windows Admin Center used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*.&lt;region&gt;.arcdataservices.com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SQL Server enabled by Arc — telemetry/licensing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If SQL Server Arc extension used; TLS 1.2/1.3 only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*.ods.opinsights.azure.com / *.oms.opinsights.azure.com / *.monitoring.azure.com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Azure Monitor Agent log/metric ingestion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Private-capable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If AMA deployed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www.microsoft.com/pkiops/certs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80 / 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Extended Security Updates certificate chain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If ESU used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dls.microsoft.com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License validation — hotpatch / WSSB / ESU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If hotpatching, WS Azure Benefits, or ESU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dc.services.visualstudio.com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Optional agent diagnostic telemetry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No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Public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Optional; unused on agent 1.24+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Service tags: AzureActiveDirectory, AzureTrafficManager, ARM, AzureArcInfrastructure, Storage, AzureFrontDoor.Frontend, WindowsAdminCenter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443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Outbound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IP-range allowlisting alternative to per-FQDN rules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n/a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n/a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dirty="0">
                          <a:solidFill>
                            <a:srgbClr val="1B2530"/>
                          </a:solidFill>
                        </a:rPr>
                        <a:t>AzureArcInfrastructure tag must be allowed in full, not per-region subset</a:t>
                      </a:r>
                      <a:endParaRPr lang="en-US" sz="66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9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26364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Microsoft Learn, “Azure Arc network requirements”, current as of deck date. *Public unless a Resource Manager private link is configured. Endpoint sets vary by OS, cloud, agent version and enabled extensions — revalidate before firewall change. Azure Arc gateway (preview) can reduce required endpoints to as few as eight but does not support Private Link or ExpressRoute peering.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5B6B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426464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spc="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8368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Bandwidth Assumptions &amp; Technical References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OF EVERY FIGURE IN THIS DECK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46304" cy="502920"/>
          </a:xfrm>
          <a:prstGeom prst="round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554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Microsoft requirement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54480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Machine Agent per-request caps (heartbeat ≤ 64 KB/5 min; diagnostics ≤ 64 KB/30 min; extension &amp; Guest Config status ≤ 100–200 KB/15 min); TCP 443 outbound; endpoint/service-tag list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" cy="502920"/>
          </a:xfrm>
          <a:prstGeom prst="roundRect">
            <a:avLst/>
          </a:prstGeom>
          <a:solidFill>
            <a:srgbClr val="00B7C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3232" y="212140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enterprise architecture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121408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relay/proxy pair; dual ExpressRoute circuits; phased rollout waves; RBAC/segmentation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146304" cy="502920"/>
          </a:xfrm>
          <a:prstGeom prst="roundRect">
            <a:avLst/>
          </a:prstGeom>
          <a:solidFill>
            <a:srgbClr val="D83B0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3232" y="26883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planning assumption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688336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Per-server AMA/Defender daily telemetry volume (Microsoft does not publish a fixed figure — driven entirely by Data Collection Rule scope); 3x peak multiplier; extension count per server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255264"/>
            <a:ext cx="146304" cy="502920"/>
          </a:xfrm>
          <a:prstGeom prst="roundRect">
            <a:avLst/>
          </a:prstGeom>
          <a:solidFill>
            <a:srgbClr val="C4314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2552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Calculated estimate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255264"/>
            <a:ext cx="8076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KB/sec, MB/day, GB/day, GB/month and Mbps figures in the Bandwidth Model — derived by applying the model Servers × avg KB/sec/server × 8 to the assumptions above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953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REFERENCES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69664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Learn — Azure Arc network requirements (consolidated): learn.microsoft.com/azure/azure-arc/network-requirements-consolidated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16552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Learn — Azure Arc-enabled servers overview &amp; agent overview: learn.microsoft.com/azure/azure-arc/servers/overview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66344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Learn — Network security for Azure Arc-enabled servers: learn.microsoft.com/azure/azure-arc/servers/security-networking</a:t>
            </a:r>
            <a:endParaRPr lang="en-US" sz="83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910328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Cloud Adoption Framework — Network connectivity for Azure Arc-enabled servers (Arc gateway guidance)</a:t>
            </a:r>
            <a:endParaRPr lang="en-US" sz="83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15721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Learn — Azure Update Manager, Azure Policy, Microsoft Defender for Cloud, Azure Monitor Agent documentation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51383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revalidate every port, endpoint and bandwidth figure against current Microsoft documentation immediately before firewall implementation — Azure Arc endpoints and capabilities evolve between documentation updates.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Arc Enterprise Architecture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5855" y="6510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Arc for Hybrid Infrastructure</dc:title>
  <dc:subject>PptxGenJS Presentation</dc:subject>
  <dc:creator>Enterprise Architecture</dc:creator>
  <cp:lastModifiedBy>Enterprise Architecture</cp:lastModifiedBy>
  <cp:revision>1</cp:revision>
  <dcterms:created xsi:type="dcterms:W3CDTF">2026-08-26T23:41:21Z</dcterms:created>
  <dcterms:modified xsi:type="dcterms:W3CDTF">2026-08-26T23:41:21Z</dcterms:modified>
</cp:coreProperties>
</file>