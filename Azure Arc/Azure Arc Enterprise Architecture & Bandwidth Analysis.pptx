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26.png"/><Relationship Id="rId5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3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Relationship Id="rId4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Relationship Id="rId4" Type="http://schemas.openxmlformats.org/officeDocument/2006/relationships/image" Target="../media/image2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30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14.png"/><Relationship Id="rId8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478434"/>
            <a:ext cx="11601450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b="1" sz="3900" i="0" u="none">
                <a:solidFill>
                  <a:srgbClr val="0F172A"/>
                </a:solidFill>
                <a:latin typeface="Plus Jakarta Sans"/>
              </a:rPr>
              <a:t>Azure Arc Enterprise Architecture</a:t>
            </a:r>
            <a:r>
              <a:t>
</a:t>
            </a:r>
            <a:r>
              <a:rPr b="1" sz="3900" i="0" u="none">
                <a:solidFill>
                  <a:srgbClr val="0F172A"/>
                </a:solidFill>
                <a:latin typeface="Plus Jakarta Sans"/>
              </a:rPr>
              <a:t> &amp; Bandwidth Analysis (2,000 Servers)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1625" y="3808065"/>
            <a:ext cx="9048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64748B"/>
                </a:solidFill>
                <a:latin typeface="Plus Jakarta Sans"/>
              </a:rPr>
              <a:t>Extending Azure Control Plane, Governance, Security, Monitoring, and Patch Management across heterogeneous on-premises Windows, Linux, SQL Server, and Oracle workloads.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62625" y="2790825"/>
            <a:ext cx="6667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60583" y="3067050"/>
            <a:ext cx="6670833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Plus Jakarta Sans"/>
              </a:rPr>
              <a:t>Executive Summary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790950"/>
            <a:ext cx="7143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Architectural blueprint for unifying operations and compliance across 2,000 hybrid servers.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24137"/>
            <a:ext cx="3555950" cy="2209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624137"/>
            <a:ext cx="3555950" cy="2209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2624137"/>
            <a:ext cx="3555950" cy="2209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575" y="2843212"/>
            <a:ext cx="561975" cy="5619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0575" y="3519487"/>
            <a:ext cx="210026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Control Plane Extension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75" y="3814762"/>
            <a:ext cx="31178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Brings Azure Resource Manager (ARM), Azure Policy, and RBAC to on-premises data centers, treating non-Azure servers as native Azure resources.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7025" y="2843212"/>
            <a:ext cx="495300" cy="561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37025" y="3519487"/>
            <a:ext cx="2390298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Unified Security &amp; Patching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7025" y="3814762"/>
            <a:ext cx="31178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Standardizes posture assessment via Microsoft Defender for Cloud and automated patching through Azure Update Manager across the entire estate.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3475" y="2843212"/>
            <a:ext cx="533400" cy="561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83475" y="3519487"/>
            <a:ext cx="198024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Operational Efficiency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3475" y="3814762"/>
            <a:ext cx="31178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Eliminates siloed tooling by centralizing telemetry into Azure Monitor Workspaces while maintaining enterprise ITSM/SIEM integrations.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75" y="3005137"/>
            <a:ext cx="333375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1325" y="3005137"/>
            <a:ext cx="2667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7775" y="3005137"/>
            <a:ext cx="304800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Executive Summary &amp; Business Value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19312"/>
            <a:ext cx="5357812" cy="3219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119312"/>
            <a:ext cx="5357812" cy="3219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9150" y="2366962"/>
            <a:ext cx="5105638" cy="219075"/>
          </a:xfrm>
          <a:prstGeom prst="rect">
            <a:avLst/>
          </a:prstGeom>
          <a:noFill/>
        </p:spPr>
        <p:txBody>
          <a:bodyPr wrap="square" lIns="257175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0F172A"/>
                </a:solidFill>
                <a:latin typeface="Plus Jakarta Sans"/>
              </a:rPr>
              <a:t>Before Azure Arc (Siloed Ops)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10337" y="2366962"/>
            <a:ext cx="5105638" cy="219075"/>
          </a:xfrm>
          <a:prstGeom prst="rect">
            <a:avLst/>
          </a:prstGeom>
          <a:noFill/>
        </p:spPr>
        <p:txBody>
          <a:bodyPr wrap="square" lIns="257175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0F172A"/>
                </a:solidFill>
                <a:latin typeface="Plus Jakarta Sans"/>
              </a:rPr>
              <a:t>After Azure Arc (Unified Control)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2395537"/>
            <a:ext cx="180975" cy="1782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5850" y="2728912"/>
            <a:ext cx="45958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Fragmented patching routines across disparate Windows/Linux scripts.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" y="3319462"/>
            <a:ext cx="45958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Disconnected monitoring agents and manual compliance reporting.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50" y="3910012"/>
            <a:ext cx="45958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Lack of centralized RBAC or automated policy drift remediation.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5850" y="4500562"/>
            <a:ext cx="45958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High operational overhead managing multi-cloud &amp; on-prem inventories.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337" y="2395537"/>
            <a:ext cx="180975" cy="1782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77037" y="2728912"/>
            <a:ext cx="45958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Centralized maintenance windows via Azure Update Manager.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77037" y="3090862"/>
            <a:ext cx="45958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Single pane of glass for telemetry via Azure Monitor &amp; Log Analytics.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77037" y="3681412"/>
            <a:ext cx="45958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Automated configuration governance enforced through Azure Policy.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7037" y="4271962"/>
            <a:ext cx="45958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Comprehensive asset intelligence queryable via Azure Resource Graph.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2757487"/>
            <a:ext cx="1143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3348037"/>
            <a:ext cx="1143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3938587"/>
            <a:ext cx="1143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4529137"/>
            <a:ext cx="1143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0337" y="2757487"/>
            <a:ext cx="1333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0337" y="3119437"/>
            <a:ext cx="13335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0337" y="3709987"/>
            <a:ext cx="13335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0337" y="4300537"/>
            <a:ext cx="133350" cy="152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Operational Transformation: Before vs. After Azure Arc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014537"/>
            <a:ext cx="5357812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428875"/>
            <a:ext cx="53578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The </a:t>
            </a:r>
            <a:r>
              <a:rPr b="1" sz="1200" i="0" u="none">
                <a:solidFill>
                  <a:srgbClr val="475569"/>
                </a:solidFill>
                <a:latin typeface="Plus Jakarta Sans"/>
              </a:rPr>
              <a:t>Azure Connected Machine Agent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runs locally on Windows and Linux servers, establishing a secure, outbound-only HTTPS connection to the Azure control plane.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257550"/>
            <a:ext cx="5091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Control Plane: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Azure Resource Manager treats machines as first-class ARM resources.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848100"/>
            <a:ext cx="5091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Identity: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Managed identities securely authenticate against Microsoft Entra 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438650"/>
            <a:ext cx="5091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Scope Separation: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Application data traffic does </a:t>
            </a:r>
            <a:r>
              <a:rPr b="0" sz="1200" i="1" u="none">
                <a:solidFill>
                  <a:srgbClr val="334155"/>
                </a:solidFill>
                <a:latin typeface="Plus Jakarta Sans"/>
              </a:rPr>
              <a:t>not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traverse Azure; only management, policy, and monitoring telemetry flow.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212" y="2024062"/>
            <a:ext cx="5338762" cy="34099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86125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76675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67225"/>
            <a:ext cx="13335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Azure Arc Operating Model &amp;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305175"/>
            <a:ext cx="5357812" cy="1085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3305175"/>
            <a:ext cx="5357812" cy="190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247900"/>
            <a:ext cx="562570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On-Premises Datacenter Zones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562225"/>
            <a:ext cx="5357812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Servers (Windows, Linux, SQL, Oracle, VMware) reside in secure zones. Communication to Azure is mediated via internal firewalls, optional proxy/relay servers in the DMZ, and corporate ExpressRoute circuits or encrypted HTTPS Internet paths.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2687" y="2247900"/>
            <a:ext cx="562570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Azure Management Plane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2687" y="2562225"/>
            <a:ext cx="5357812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Incoming management requests are processed by Azure Resource Manager, distributed to Log Analytics Workspaces, evaluated by Azure Policy, and secured via Microsoft Defender for Cloud and Entra ID.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212" y="3314700"/>
            <a:ext cx="5338762" cy="1885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Detailed Hybrid Connectivity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724150"/>
            <a:ext cx="5357812" cy="1457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724150"/>
            <a:ext cx="53578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When direct outbound Internet connectivity is restricted by security policy, enterprise-grade forward proxy or Azure Arc Private Link Scope (AMPLS) / Relay servers must be deployed in the DMZ.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552825"/>
            <a:ext cx="5091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High Availability: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N+1 load-balanced proxy pool deployed behind internal hardware load balancers.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4143375"/>
            <a:ext cx="5091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Traffic Inspection: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SSL/TLS termination and inspection rules applied at perimeter firewalls.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81400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71950"/>
            <a:ext cx="13335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Enterprise Relay &amp; Proxy Server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507456"/>
            <a:ext cx="11049000" cy="2443162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507456"/>
          <a:ext cx="11039473" cy="2443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177778"/>
                <a:gridCol w="820489"/>
                <a:gridCol w="1254918"/>
                <a:gridCol w="4054524"/>
                <a:gridCol w="1731764"/>
              </a:tblGrid>
              <a:tr h="48863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Endpoint Category / FQDN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Direction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Purpose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Proxy Support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88632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*.management.azure.com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443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Outbound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Azure Resource Manager API communications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Yes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8632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*.azure-automation.net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443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Outbound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Hybrid Runbook Worker &amp; Update Manager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Yes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8632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*.ods.opinsights.azure.com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443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Outbound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Log Analytics data ingestion (AMA / MMA)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Yes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8634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*.login.microsoftonline.com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443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Outbound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Microsoft Entra ID token acquisition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Yes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6262" y="2993231"/>
            <a:ext cx="31777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54040" y="2993231"/>
            <a:ext cx="8204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4530" y="2993231"/>
            <a:ext cx="1254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29448" y="2993231"/>
            <a:ext cx="40545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883973" y="2993231"/>
            <a:ext cx="17317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262" y="3479006"/>
            <a:ext cx="31777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54040" y="3479006"/>
            <a:ext cx="8204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4530" y="3479006"/>
            <a:ext cx="1254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29448" y="3479006"/>
            <a:ext cx="40545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83973" y="3479006"/>
            <a:ext cx="17317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262" y="3964781"/>
            <a:ext cx="31777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54040" y="3964781"/>
            <a:ext cx="8204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4530" y="3964781"/>
            <a:ext cx="1254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29448" y="3964781"/>
            <a:ext cx="40545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83973" y="3964781"/>
            <a:ext cx="17317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262" y="4450556"/>
            <a:ext cx="31777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54040" y="4450556"/>
            <a:ext cx="8204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4530" y="4450556"/>
            <a:ext cx="1254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29448" y="4450556"/>
            <a:ext cx="40545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83973" y="4450556"/>
            <a:ext cx="17317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Azure Arc Firewall &amp; Network Whitelist Matrix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724150"/>
            <a:ext cx="5357812" cy="1457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724150"/>
            <a:ext cx="53578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Enterprise ExpressRoute circuits provide high-speed, reliable private connectivity between on-premises datacenters and Azure VNets.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324225"/>
            <a:ext cx="5091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Private Peering: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Used for internal Azure VM workloads and private endpoints.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914775"/>
            <a:ext cx="50911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Microsoft Peering / Internet: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Azure Arc management endpoints (`*.management.azure.com`) operate via HTTPS over public IPs or Azure Private Link Scopes (AMPLS).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52800"/>
            <a:ext cx="1905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43350"/>
            <a:ext cx="1524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ExpressRoute Architecture &amp; Hybrid Routing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014537"/>
            <a:ext cx="5357812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657475"/>
            <a:ext cx="53578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Transforms scattered physical and virtual servers into queryable Azure resources.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257550"/>
            <a:ext cx="50911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Resource Graph: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Execute KQL queries across 2,000 servers instantly.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619500"/>
            <a:ext cx="5091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Metadata Tagging: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Enforce cost center, environment, and owner tags uniformly.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210050"/>
            <a:ext cx="5091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OS &amp; Hardware: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Real-time discovery of kernel versions, CPU specs, and IP configs.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212" y="2024062"/>
            <a:ext cx="5338762" cy="34099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86125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48075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238625"/>
            <a:ext cx="13335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Azure Arc Capability: Centralized Server Inventory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3186112"/>
            <a:ext cx="5357812" cy="1085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724150"/>
            <a:ext cx="53578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The Azure Monitor Agent (AMA), installed via Azure Arc extension framework, streams OS metrics and logs directly to centralized Log Analytics Workspaces.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552825"/>
            <a:ext cx="5091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Data Collection Rules (DCR):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Granular filtering to control exact log payloads.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4143375"/>
            <a:ext cx="5091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Performance &amp; Events: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CPU, RAM, Disk I/O, Windows Event Logs, and Linux Syslog.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81400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71950"/>
            <a:ext cx="13335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Azure Arc Capability: Unified Azure Monitor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014537"/>
            <a:ext cx="5357812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543175"/>
            <a:ext cx="53578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Automates assessment and deployment of software updates across hybrid Windows and Linux servers from a single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143250"/>
            <a:ext cx="5091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Maintenance Windows: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Scheduled recurring patching windows with pre/post scripts.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733800"/>
            <a:ext cx="5091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Dynamic Scoping: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Automatically target servers based on Azure Resource tags.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324350"/>
            <a:ext cx="5091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Compliance Reports: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Instant auditing of missing security and critical patches.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212" y="2024062"/>
            <a:ext cx="5338762" cy="34099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71825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762375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352925"/>
            <a:ext cx="13335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Azure Arc Capability: Azure Update Manager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3186112"/>
            <a:ext cx="5357812" cy="1085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838450"/>
            <a:ext cx="53578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Extends cloud governance principles directly to on-premises infrastructure.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438525"/>
            <a:ext cx="5091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Configuration Auditing: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Check if required security agents or registry settings are present.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4029075"/>
            <a:ext cx="5091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Automatic Remediation: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Deploy missing extensions or settings automatically upon drift detection.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67100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57650"/>
            <a:ext cx="13335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Azure Arc Capability: Azure Policy &amp; Governance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014537"/>
            <a:ext cx="5357812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838450"/>
            <a:ext cx="53578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Provides advanced threat protection and vulnerability assessment for non-Azure servers.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438525"/>
            <a:ext cx="5091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Vulnerability Assessment: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Integrated scanning for OS and software flaws.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4029075"/>
            <a:ext cx="5091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Threat Detection: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Behavioral analytics alerting on unauthorized process execution or brute-force attempts.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212" y="2024062"/>
            <a:ext cx="5338762" cy="34099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467100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57650"/>
            <a:ext cx="13335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Azure Arc Capability: Microsoft Defender for Cloud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24137"/>
            <a:ext cx="3555950" cy="2209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624137"/>
            <a:ext cx="3555950" cy="2209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2624137"/>
            <a:ext cx="3555950" cy="2209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575" y="2843212"/>
            <a:ext cx="533400" cy="5619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0575" y="3519487"/>
            <a:ext cx="190023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Regulatory Standards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75" y="3814762"/>
            <a:ext cx="31178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Supports compliance mapping for CIS Benchmarks, NIST SP 800-53, ISO 27001, and PCI DSS via built-in Azure Policy regulatory initiatives.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7025" y="2843212"/>
            <a:ext cx="495300" cy="561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37025" y="3519487"/>
            <a:ext cx="158019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Zero Trust 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7025" y="3814762"/>
            <a:ext cx="31178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Leverages Microsoft Entra ID and RBAC to enforce strict least-privilege administrative access across all hybrid server resources.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3475" y="2843212"/>
            <a:ext cx="466725" cy="561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83475" y="3519487"/>
            <a:ext cx="178022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Encryption in Transit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3475" y="3814762"/>
            <a:ext cx="31178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All communications between the Azure Connected Machine Agent and Azure control plane are encrypted using TLS 1.2+.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75" y="3005137"/>
            <a:ext cx="3048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1325" y="3005137"/>
            <a:ext cx="2667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7775" y="3005137"/>
            <a:ext cx="238125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Security &amp; Regulatory Compliance Alignment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526506"/>
            <a:ext cx="11049000" cy="2405062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526506"/>
          <a:ext cx="11039472" cy="2405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021234"/>
                <a:gridCol w="1290339"/>
                <a:gridCol w="2278409"/>
                <a:gridCol w="5449490"/>
              </a:tblGrid>
              <a:tr h="48101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Domain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Existing Tool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Azure Arc Capability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Recommended System of Record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81012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Infrastructure Monitoring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SolarWinds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Azure Monitor / AMA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Coexistence (SolarWinds for network/legacy; Azure Monitor for cloud-native)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1012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Log Management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Splunk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Log Analytics Workspace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Splunk (via Azure Event Hub streaming)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1012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ITSM / Ticketing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ServiceNow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Azure Automation Webhooks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ServiceNow (Master CMDB &amp; Incident Management)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1014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Database Monitoring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Oracle OEM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Azure Arc SQL/Oracle Ext.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Oracle OEM for deep DBA tuning; Azure Arc for inventory/policy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6262" y="3012281"/>
            <a:ext cx="2021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97497" y="3012281"/>
            <a:ext cx="12903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87837" y="3012281"/>
            <a:ext cx="22784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66246" y="3012281"/>
            <a:ext cx="54494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262" y="3488531"/>
            <a:ext cx="2021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97497" y="3488531"/>
            <a:ext cx="12903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87837" y="3488531"/>
            <a:ext cx="22784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6246" y="3488531"/>
            <a:ext cx="54494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262" y="3964781"/>
            <a:ext cx="2021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97497" y="3964781"/>
            <a:ext cx="12903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87837" y="3964781"/>
            <a:ext cx="22784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6246" y="3964781"/>
            <a:ext cx="54494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262" y="4441031"/>
            <a:ext cx="2021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7497" y="4441031"/>
            <a:ext cx="12903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87837" y="4441031"/>
            <a:ext cx="22784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66246" y="4441031"/>
            <a:ext cx="54494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Enterprise Tool Coexistence &amp; Integration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17168"/>
            <a:ext cx="11049000" cy="12715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69318"/>
            <a:ext cx="3555950" cy="16097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7950" y="2169318"/>
            <a:ext cx="3555950" cy="16097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400" y="2169318"/>
            <a:ext cx="3556099" cy="16097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0575" y="2388393"/>
            <a:ext cx="311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284C7"/>
                </a:solidFill>
                <a:latin typeface="JetBrains Mono"/>
              </a:rPr>
              <a:t>2,000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2629" y="2921793"/>
            <a:ext cx="327369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Plus Jakarta Sans"/>
              </a:rPr>
              <a:t>Total Servers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575" y="3188493"/>
            <a:ext cx="31178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Mixed Windows, Linux, SQL, and Oracle workloads.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7025" y="2388393"/>
            <a:ext cx="311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284C7"/>
                </a:solidFill>
                <a:latin typeface="JetBrains Mono"/>
              </a:rPr>
              <a:t>40 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9080" y="2921793"/>
            <a:ext cx="327369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Plus Jakarta Sans"/>
              </a:rPr>
              <a:t>Daily Payload /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7025" y="3188493"/>
            <a:ext cx="31178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Combined heartbeat, inventory, metrics, and policy audits.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3475" y="2388393"/>
            <a:ext cx="31179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284C7"/>
                </a:solidFill>
                <a:latin typeface="JetBrains Mono"/>
              </a:rPr>
              <a:t>80 GB / 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5527" y="2921793"/>
            <a:ext cx="3273846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Plus Jakarta Sans"/>
              </a:rPr>
              <a:t>Aggregate Volume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3475" y="3188493"/>
            <a:ext cx="311794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Total data transmitted daily across all 2,000 instances.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2,000-Server Bandwidth Calculation Model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764631"/>
            <a:ext cx="53578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When sizing enterprise circuits, network architects must separate </a:t>
            </a:r>
            <a:r>
              <a:rPr b="1" sz="1200" i="0" u="none">
                <a:solidFill>
                  <a:srgbClr val="475569"/>
                </a:solidFill>
                <a:latin typeface="Plus Jakarta Sans"/>
              </a:rPr>
              <a:t>application data traffic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from </a:t>
            </a:r>
            <a:r>
              <a:rPr b="1" sz="1200" i="0" u="none">
                <a:solidFill>
                  <a:srgbClr val="475569"/>
                </a:solidFill>
                <a:latin typeface="Plus Jakarta Sans"/>
              </a:rPr>
              <a:t>Azure Arc management &amp; telemetry traffic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3364706"/>
            <a:ext cx="5091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App/Data Traffic: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Varies heavily by database replication, file shares, and user requests (High Bandwidth).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955256"/>
            <a:ext cx="5091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Arc Telemetry: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Highly predictable, low-volume background heartbeat and log stream (~7.4 Mbps for 2,000 servers).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2687" y="2764631"/>
            <a:ext cx="5357812" cy="1928812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62687" y="2764631"/>
          <a:ext cx="5348286" cy="1928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198935"/>
                <a:gridCol w="1101923"/>
                <a:gridCol w="2047428"/>
              </a:tblGrid>
              <a:tr h="482203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Deployment Tier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Avg Mbps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Recommended Circuit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Minimal (Inventory + Policy)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~2 Mbps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50 - 100 Mbps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203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Typical (Arc + AMA + Update)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~7.4 Mbps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100 - 500 Mbps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203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High (Full Logs + Defender)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~25 Mbps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500 Mbps - 1 Gbps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267450" y="3250406"/>
            <a:ext cx="21989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66385" y="3250406"/>
            <a:ext cx="11019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568308" y="3250406"/>
            <a:ext cx="20474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393281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983831"/>
            <a:ext cx="133350" cy="1524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267450" y="3726656"/>
            <a:ext cx="21989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66385" y="3726656"/>
            <a:ext cx="11019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68308" y="3726656"/>
            <a:ext cx="20474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7450" y="4202906"/>
            <a:ext cx="21989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66385" y="4202906"/>
            <a:ext cx="11019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68308" y="4202906"/>
            <a:ext cx="20474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ExpressRoute Sizing &amp; Traffic Segregation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24150"/>
            <a:ext cx="3555950" cy="2009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724150"/>
            <a:ext cx="3555950" cy="2009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2724150"/>
            <a:ext cx="3555950" cy="2009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575" y="2943225"/>
            <a:ext cx="495300" cy="5619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0575" y="3619500"/>
            <a:ext cx="243030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Data Collection Rules (DCR)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75" y="3914775"/>
            <a:ext cx="31178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Filter out noisy Windows Event IDs or debug-level syslog entries at the source before transmission to conserve bandwidth.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7025" y="2943225"/>
            <a:ext cx="495300" cy="561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37025" y="3619500"/>
            <a:ext cx="193024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Polling Interval 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7025" y="3914775"/>
            <a:ext cx="31178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Adjust performance counter collection frequencies from 10 seconds to 60 seconds for non-critical development and test environments.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3475" y="2943225"/>
            <a:ext cx="561975" cy="561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83475" y="3619500"/>
            <a:ext cx="129016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Proxy Caching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3475" y="3914775"/>
            <a:ext cx="31178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Deploy local proxy caching servers for software update binaries to prevent repetitive downloads across WAN links.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75" y="3105150"/>
            <a:ext cx="2667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1325" y="3105150"/>
            <a:ext cx="2667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7775" y="3105150"/>
            <a:ext cx="333375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Bandwidth Optimization &amp; Telemetry Tuning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543175"/>
            <a:ext cx="5357812" cy="1085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543175"/>
            <a:ext cx="53578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Adheres to strict Zero Trust principles across identity, device posture, and network communication layers.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143250"/>
            <a:ext cx="5091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Managed Identities: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System-assigned managed identities eliminate stored credentials.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733800"/>
            <a:ext cx="5091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Least Privilege RBAC: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Granular Azure roles restrict who can execute remote commands or patch tasks.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324350"/>
            <a:ext cx="5091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TLS Encryption: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All control plane traffic secured via TLS 1.2+ end-to-end.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71825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762375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352925"/>
            <a:ext cx="13335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Security Architecture &amp; Zero Trust Alignment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838450"/>
            <a:ext cx="5357812" cy="12715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838450"/>
            <a:ext cx="53578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Enterprise workloads require robust resilience against network partitions or Azure service outages.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438525"/>
            <a:ext cx="5091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Local Caching: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The Azure Connected Machine Agent caches inventory, configuration, and status locally if connectivity is lost.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4029075"/>
            <a:ext cx="5091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Autonomous Execution: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Scheduled patching or local scripts execute independently of Azure cloud connectivity.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67100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57650"/>
            <a:ext cx="13335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High Availability &amp; Offline Agent Resilience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24150"/>
            <a:ext cx="3555950" cy="2009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724150"/>
            <a:ext cx="3555950" cy="2009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2724150"/>
            <a:ext cx="3555950" cy="2009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575" y="2943225"/>
            <a:ext cx="495300" cy="5619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0575" y="3619500"/>
            <a:ext cx="185023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Phase 0: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75" y="3914775"/>
            <a:ext cx="31178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475569"/>
                </a:solidFill>
                <a:latin typeface="Plus Jakarta Sans"/>
              </a:rPr>
              <a:t>Weeks 1–4: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Firewall rule validation, proxy setup, and automated discovery scan across 2,000 targets.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7025" y="2943225"/>
            <a:ext cx="495300" cy="561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37025" y="3619500"/>
            <a:ext cx="114014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Phase 1: 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7025" y="3914775"/>
            <a:ext cx="31178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475569"/>
                </a:solidFill>
                <a:latin typeface="Plus Jakarta Sans"/>
              </a:rPr>
              <a:t>Weeks 5–8: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Onboard 50 pilot servers (mix of non-prod Windows &amp; Linux) to validate telemetry and patch workflows.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3475" y="2943225"/>
            <a:ext cx="495300" cy="561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83475" y="3619500"/>
            <a:ext cx="157019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Phase 2-5: Waves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3475" y="3914775"/>
            <a:ext cx="31178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475569"/>
                </a:solidFill>
                <a:latin typeface="Plus Jakarta Sans"/>
              </a:rPr>
              <a:t>Weeks 9–24: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Systematic rollout in waves of 500 servers (Waves 1 to 3) until full 2,000 estate is onboarded.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75" y="3105150"/>
            <a:ext cx="2667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1325" y="3105150"/>
            <a:ext cx="2667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7775" y="3105150"/>
            <a:ext cx="266700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2,000-Server Phased Rollout Roadmap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526506"/>
            <a:ext cx="11049000" cy="2405062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526506"/>
          <a:ext cx="11039473" cy="2405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924300"/>
                <a:gridCol w="1615529"/>
                <a:gridCol w="2046237"/>
                <a:gridCol w="1857821"/>
                <a:gridCol w="1595586"/>
              </a:tblGrid>
              <a:tr h="48101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Operational Function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Cloud Ops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Security (CISO)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Platform / 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Network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81012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Arc Agent Deployment &amp; Lifecycle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Responsible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Accountable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Consulted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Informed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1012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Azure Policy &amp; Compliance Definition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Accountable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Responsible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Consulted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Informed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1012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Patch Management &amp; Update Windows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Responsible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Consulted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Accountable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Informed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1014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Firewall &amp; ExpressRoute Connectivity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Informed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Consulted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Informed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Responsible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6262" y="3012281"/>
            <a:ext cx="3924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00562" y="3012281"/>
            <a:ext cx="16155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16091" y="3012281"/>
            <a:ext cx="20462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62329" y="3012281"/>
            <a:ext cx="18578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20151" y="3012281"/>
            <a:ext cx="15955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262" y="3488531"/>
            <a:ext cx="3924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00562" y="3488531"/>
            <a:ext cx="16155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16091" y="3488531"/>
            <a:ext cx="20462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62329" y="3488531"/>
            <a:ext cx="18578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20151" y="3488531"/>
            <a:ext cx="15955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262" y="3964781"/>
            <a:ext cx="3924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00562" y="3964781"/>
            <a:ext cx="16155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16091" y="3964781"/>
            <a:ext cx="20462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62329" y="3964781"/>
            <a:ext cx="18578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20151" y="3964781"/>
            <a:ext cx="15955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262" y="4441031"/>
            <a:ext cx="3924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00562" y="4441031"/>
            <a:ext cx="16155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16091" y="4441031"/>
            <a:ext cx="20462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62329" y="4441031"/>
            <a:ext cx="18578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20151" y="4441031"/>
            <a:ext cx="15955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Operational RACI Matrix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28887"/>
            <a:ext cx="5357812" cy="2400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528887"/>
            <a:ext cx="5357812" cy="2400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9150" y="2776537"/>
            <a:ext cx="5105638" cy="219075"/>
          </a:xfrm>
          <a:prstGeom prst="rect">
            <a:avLst/>
          </a:prstGeom>
          <a:noFill/>
        </p:spPr>
        <p:txBody>
          <a:bodyPr wrap="square" lIns="257175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0F172A"/>
                </a:solidFill>
                <a:latin typeface="Plus Jakarta Sans"/>
              </a:rPr>
              <a:t>Included in Azure Arc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10337" y="2776537"/>
            <a:ext cx="5105638" cy="219075"/>
          </a:xfrm>
          <a:prstGeom prst="rect">
            <a:avLst/>
          </a:prstGeom>
          <a:noFill/>
        </p:spPr>
        <p:txBody>
          <a:bodyPr wrap="square" lIns="257175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0F172A"/>
                </a:solidFill>
                <a:latin typeface="Plus Jakarta Sans"/>
              </a:rPr>
              <a:t>Consumption Services (Add-ons)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2805112"/>
            <a:ext cx="180975" cy="1782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5850" y="3138487"/>
            <a:ext cx="45958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Azure Resource Manager (ARM) control plane integration.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" y="3500437"/>
            <a:ext cx="45958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Azure Policy guest configuration auditing.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50" y="3862387"/>
            <a:ext cx="45958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Basic inventory and tagging management.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337" y="2805112"/>
            <a:ext cx="180975" cy="1782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77037" y="3138487"/>
            <a:ext cx="45958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Log Analytics / AMA: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Ingestion and retention charges per GB.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77037" y="3500437"/>
            <a:ext cx="45958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Defender for Cloud: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Per-server security workload protection fee.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77037" y="4090987"/>
            <a:ext cx="45958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Update Manager: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Management fee per active Arc-enabled server.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3167062"/>
            <a:ext cx="1333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3529012"/>
            <a:ext cx="1333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3890962"/>
            <a:ext cx="13335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0337" y="3167062"/>
            <a:ext cx="13335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0337" y="3529012"/>
            <a:ext cx="1333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0337" y="4119562"/>
            <a:ext cx="133350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Cost Considerations &amp; Licensing Structure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24175"/>
            <a:ext cx="3555950" cy="1609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924175"/>
            <a:ext cx="3555950" cy="16097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2924175"/>
            <a:ext cx="3556099" cy="16097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575" y="3143250"/>
            <a:ext cx="311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284C7"/>
                </a:solidFill>
                <a:latin typeface="JetBrains Mono"/>
              </a:rP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2629" y="3676650"/>
            <a:ext cx="327369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Plus Jakarta Sans"/>
              </a:rPr>
              <a:t>Inventory Visibility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75" y="3943350"/>
            <a:ext cx="31178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Complete asset discovery across hybrid estate.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7025" y="3143250"/>
            <a:ext cx="311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284C7"/>
                </a:solidFill>
                <a:latin typeface="JetBrains Mono"/>
              </a:rPr>
              <a:t>&gt;95%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9080" y="3676650"/>
            <a:ext cx="327369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Plus Jakarta Sans"/>
              </a:rPr>
              <a:t>Patch Compliance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7025" y="3943350"/>
            <a:ext cx="31178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Automated monthly security update adherence.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3475" y="3143250"/>
            <a:ext cx="31179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284C7"/>
                </a:solidFill>
                <a:latin typeface="JetBrains Mono"/>
              </a:rPr>
              <a:t>65%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5527" y="3676650"/>
            <a:ext cx="3273846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Plus Jakarta Sans"/>
              </a:rPr>
              <a:t>Effort Reduction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3475" y="3943350"/>
            <a:ext cx="311794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Decrease in manual audit and report preparation hours.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KPIs &amp; Business Value Model (2,000 Servers)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10689" y="2686050"/>
            <a:ext cx="4970621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Plus Jakarta Sans"/>
              </a:rPr>
              <a:t>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19375" y="3409950"/>
            <a:ext cx="6953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Thank you for your time. Open discussion on architecture, rollout waves, and next steps.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81400" y="3952875"/>
            <a:ext cx="5029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0284C7"/>
                </a:solidFill>
                <a:latin typeface="JetBrains Mono"/>
              </a:rPr>
              <a:t>Enterprise Cloud Architecture &amp; Engineering Team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76475" y="2962275"/>
            <a:ext cx="76390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76475" y="3724275"/>
            <a:ext cx="76390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76475" y="3724275"/>
            <a:ext cx="76390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475" y="31051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71850" y="3112293"/>
            <a:ext cx="65436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https://learn.microsoft.com/en-us/azure/azure-arc/media/overview/azure-arc-control-plane.png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71850" y="3345656"/>
            <a:ext cx="65436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learn.microsoft.com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6475" y="3876675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71850" y="3883818"/>
            <a:ext cx="65436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https://blog.thevtg.com/hs-fs/hubfs/AWS%20ARC.png?width=1536&amp;height=1024&amp;name=AWS%20ARC.png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1850" y="4117181"/>
            <a:ext cx="65436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blog.thevtg.com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