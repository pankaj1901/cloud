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102F58"/>
                </a:solidFill>
                <a:latin typeface="Aptos Display"/>
              </a:defRPr>
            </a:pPr>
            <a:r>
              <a:t>Application Email Architecture</a:t>
            </a:r>
          </a:p>
          <a:p>
            <a:pPr>
              <a:defRPr sz="2100">
                <a:solidFill>
                  <a:srgbClr val="2469BE"/>
                </a:solidFill>
                <a:latin typeface="Aptos"/>
              </a:defRPr>
            </a:pPr>
            <a:r>
              <a:t>Microsoft Graph API + Proofpoint Secure Email Gateway</a:t>
            </a:r>
          </a:p>
          <a:p>
            <a:pPr>
              <a:spcBef>
                <a:spcPts val="1000"/>
              </a:spcBef>
              <a:defRPr sz="1300">
                <a:solidFill>
                  <a:srgbClr val="5C6572"/>
                </a:solidFill>
                <a:latin typeface="Aptos"/>
              </a:defRPr>
            </a:pPr>
            <a:r>
              <a:t>Proposal for high-volume application email, security and regulatory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880360"/>
            <a:ext cx="3246120" cy="1051560"/>
          </a:xfrm>
          <a:prstGeom prst="roundRect">
            <a:avLst/>
          </a:prstGeom>
          <a:solidFill>
            <a:srgbClr val="E1E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880360"/>
            <a:ext cx="54864" cy="105156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990088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1  Application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355848"/>
            <a:ext cx="295351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CRM • ERP • HR • Finance • Notifications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2880360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2880360"/>
            <a:ext cx="54864" cy="1051560"/>
          </a:xfrm>
          <a:prstGeom prst="rect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990088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2  Microsoft 365 /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355848"/>
            <a:ext cx="295351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API-based submission • Entra ID • Exchange Online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2880360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11312" y="2880360"/>
            <a:ext cx="54864" cy="105156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990088"/>
            <a:ext cx="29535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3  Proofpoint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355848"/>
            <a:ext cx="2953512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Secure gateway • DLP • threat protection • compliance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3401568"/>
            <a:ext cx="393193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26679" y="3401568"/>
            <a:ext cx="393193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709160"/>
            <a:ext cx="2377440" cy="960120"/>
          </a:xfrm>
          <a:prstGeom prst="roundRect">
            <a:avLst/>
          </a:prstGeom>
          <a:solidFill>
            <a:srgbClr val="E4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188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48E5D"/>
                </a:solidFill>
                <a:latin typeface="Aptos Display"/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395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2A34"/>
                </a:solidFill>
                <a:latin typeface="Aptos"/>
              </a:defRPr>
            </a:pPr>
            <a:r>
              <a:t>Avoid using the SEG as the application submission platform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709160"/>
            <a:ext cx="2377440" cy="96012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48188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469BE"/>
                </a:solidFill>
                <a:latin typeface="Aptos Display"/>
              </a:defRPr>
            </a:pPr>
            <a: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2395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2A34"/>
                </a:solidFill>
                <a:latin typeface="Aptos"/>
              </a:defRPr>
            </a:pPr>
            <a:r>
              <a:t>Retain centralized inspection and policy enforcement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709160"/>
            <a:ext cx="2377440" cy="960120"/>
          </a:xfrm>
          <a:prstGeom prst="roundRect">
            <a:avLst/>
          </a:prstGeom>
          <a:solidFill>
            <a:srgbClr val="FC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48188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3911F"/>
                </a:solidFill>
                <a:latin typeface="Aptos Display"/>
              </a:defRPr>
            </a:pPr>
            <a: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52395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2A34"/>
                </a:solidFill>
                <a:latin typeface="Aptos"/>
              </a:defRPr>
            </a:pPr>
            <a:r>
              <a:t>Separate API submission from gateway controls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4709160"/>
            <a:ext cx="2377440" cy="960120"/>
          </a:xfrm>
          <a:prstGeom prst="roundRect">
            <a:avLst/>
          </a:prstGeom>
          <a:solidFill>
            <a:srgbClr val="E4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48188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48E5D"/>
                </a:solidFill>
                <a:latin typeface="Aptos Display"/>
              </a:defRPr>
            </a:pPr>
            <a: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52395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2A34"/>
                </a:solidFill>
                <a:latin typeface="Aptos"/>
              </a:defRPr>
            </a:pPr>
            <a:r>
              <a:t>Maintain DLP, retention and audit controls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Architecture proposal | Prepared for Infrastructure / Security / Application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Executive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Use each platform for the capability it is best positioned to provide.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1 — EXECUTIVE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20440" cy="4389120"/>
          </a:xfrm>
          <a:prstGeom prst="roundRect">
            <a:avLst/>
          </a:prstGeom>
          <a:solidFill>
            <a:srgbClr val="E1E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4864" cy="438912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44168"/>
            <a:ext cx="3227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Recommended target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09928"/>
            <a:ext cx="3227832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Applications submit mail through Microsoft Graph API using Entra ID application identity.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Exchange Online remains the controlled mail submission / mailbox layer.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Outbound application mail is routed through Proofpoint for security, DLP, policy and compliance.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Proofpoint is retained as the security control point — not as the primary high-volume application mail submission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54864" cy="4389120"/>
          </a:xfrm>
          <a:prstGeom prst="rect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344168"/>
            <a:ext cx="3227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Why change from Proofpoint-only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227832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Reduces dependency on the secure gateway for application-generated mail submission.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Separates application scalability from security-gateway processing.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Uses Microsoft-native identity, API authorization and Exchange Online capabilities.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Creates a clearer operating model for application owners, messaging and security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52044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54864" cy="438912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344168"/>
            <a:ext cx="3227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709928"/>
            <a:ext cx="3227832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Lower total cost potential for large application volumes — subject to licensing, routing and traffic analysis.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Stronger governance through centralized application identities and least-privilege permissions.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Consistent Proofpoint inspection for outbound mail.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Better separation of duties and easier platform ownership.</a:t>
            </a:r>
          </a:p>
          <a:p>
            <a:pPr>
              <a:spcAft>
                <a:spcPts val="400"/>
              </a:spcAft>
              <a:defRPr sz="1120">
                <a:solidFill>
                  <a:srgbClr val="232A34"/>
                </a:solidFill>
                <a:latin typeface="Aptos"/>
              </a:defRPr>
            </a:pPr>
            <a:r>
              <a:t>A scalable pattern that can be adopted application-by-application.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Current state vs. proposed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The key architectural change is separation of mail submission from email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2 —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600200" cy="438912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234440"/>
            <a:ext cx="3886200" cy="438912"/>
          </a:xfrm>
          <a:prstGeom prst="rect">
            <a:avLst/>
          </a:prstGeom>
          <a:solidFill>
            <a:srgbClr val="10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Proofpoint-only application 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5440680" cy="438912"/>
          </a:xfrm>
          <a:prstGeom prst="rect">
            <a:avLst/>
          </a:prstGeom>
          <a:solidFill>
            <a:srgbClr val="10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Graph API + Proofpoint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600200" cy="603504"/>
          </a:xfrm>
          <a:prstGeom prst="rect">
            <a:avLst/>
          </a:prstGeom>
          <a:solidFill>
            <a:srgbClr val="F4F7FA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50">
                <a:solidFill>
                  <a:srgbClr val="232A34"/>
                </a:solidFill>
                <a:latin typeface="Aptos"/>
              </a:defRPr>
            </a:pPr>
            <a:r>
              <a:t>Application submission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691640"/>
            <a:ext cx="38862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Applications depend directly on SEG integration / relay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603504"/>
          </a:xfrm>
          <a:prstGeom prst="rect">
            <a:avLst/>
          </a:prstGeom>
          <a:solidFill>
            <a:srgbClr val="F4FA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Applications call Microsoft Graph using managed application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13432"/>
            <a:ext cx="1600200" cy="603504"/>
          </a:xfrm>
          <a:prstGeom prst="rect">
            <a:avLst/>
          </a:prstGeom>
          <a:solidFill>
            <a:srgbClr val="F4F7FA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50">
                <a:solidFill>
                  <a:srgbClr val="232A34"/>
                </a:solidFill>
                <a:latin typeface="Aptos"/>
              </a:defRPr>
            </a:pPr>
            <a:r>
              <a:t>Security gateway 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313432"/>
            <a:ext cx="38862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Submission + security +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313432"/>
            <a:ext cx="5440680" cy="603504"/>
          </a:xfrm>
          <a:prstGeom prst="rect">
            <a:avLst/>
          </a:prstGeom>
          <a:solidFill>
            <a:srgbClr val="F4FA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Security, DLP, policy, threat protection and compliance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35224"/>
            <a:ext cx="1600200" cy="603504"/>
          </a:xfrm>
          <a:prstGeom prst="rect">
            <a:avLst/>
          </a:prstGeom>
          <a:solidFill>
            <a:srgbClr val="F4F7FA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50">
                <a:solidFill>
                  <a:srgbClr val="232A34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935224"/>
            <a:ext cx="38862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Potentially varied SMTP credentials / service accounts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935224"/>
            <a:ext cx="5440680" cy="603504"/>
          </a:xfrm>
          <a:prstGeom prst="rect">
            <a:avLst/>
          </a:prstGeom>
          <a:solidFill>
            <a:srgbClr val="F4FA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Entra ID app registration + controlled Mail.Send permission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57016"/>
            <a:ext cx="1600200" cy="603504"/>
          </a:xfrm>
          <a:prstGeom prst="rect">
            <a:avLst/>
          </a:prstGeom>
          <a:solidFill>
            <a:srgbClr val="F4F7FA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50">
                <a:solidFill>
                  <a:srgbClr val="232A34"/>
                </a:solidFill>
                <a:latin typeface="Aptos"/>
              </a:defRPr>
            </a:pPr>
            <a:r>
              <a:t>Scale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3557016"/>
            <a:ext cx="38862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Gateway becomes part of application throughput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557016"/>
            <a:ext cx="5440680" cy="603504"/>
          </a:xfrm>
          <a:prstGeom prst="rect">
            <a:avLst/>
          </a:prstGeom>
          <a:solidFill>
            <a:srgbClr val="F4FA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API / Exchange layer handles application submission; gateway remains policy enforcement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78808"/>
            <a:ext cx="1600200" cy="603504"/>
          </a:xfrm>
          <a:prstGeom prst="rect">
            <a:avLst/>
          </a:prstGeom>
          <a:solidFill>
            <a:srgbClr val="F4F7FA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50">
                <a:solidFill>
                  <a:srgbClr val="232A34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4178808"/>
            <a:ext cx="38862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Messaging/security platform carries application-specific integration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178808"/>
            <a:ext cx="5440680" cy="603504"/>
          </a:xfrm>
          <a:prstGeom prst="rect">
            <a:avLst/>
          </a:prstGeom>
          <a:solidFill>
            <a:srgbClr val="F4FA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Application, M365 and security teams have clearer ownership boundaries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00600"/>
            <a:ext cx="1600200" cy="603504"/>
          </a:xfrm>
          <a:prstGeom prst="rect">
            <a:avLst/>
          </a:prstGeom>
          <a:solidFill>
            <a:srgbClr val="F4F7FA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50">
                <a:solidFill>
                  <a:srgbClr val="232A34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4800600"/>
            <a:ext cx="38862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Centralized controls available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800600"/>
            <a:ext cx="5440680" cy="603504"/>
          </a:xfrm>
          <a:prstGeom prst="rect">
            <a:avLst/>
          </a:prstGeom>
          <a:solidFill>
            <a:srgbClr val="F4FA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Centralized controls retained; stronger identity governance around senders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22392"/>
            <a:ext cx="1600200" cy="603504"/>
          </a:xfrm>
          <a:prstGeom prst="rect">
            <a:avLst/>
          </a:prstGeom>
          <a:solidFill>
            <a:srgbClr val="F4F7FA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50">
                <a:solidFill>
                  <a:srgbClr val="232A34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5422392"/>
            <a:ext cx="38862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Gateway capacity may be consumed by application traffic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422392"/>
            <a:ext cx="5440680" cy="603504"/>
          </a:xfrm>
          <a:prstGeom prst="rect">
            <a:avLst/>
          </a:prstGeom>
          <a:solidFill>
            <a:srgbClr val="F4FAF7"/>
          </a:solidFill>
          <a:ln w="508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/>
          <a:lstStyle/>
          <a:p>
            <a:pPr algn="l">
              <a:defRPr sz="930">
                <a:solidFill>
                  <a:srgbClr val="232A34"/>
                </a:solidFill>
                <a:latin typeface="Aptos"/>
              </a:defRPr>
            </a:pPr>
            <a:r>
              <a:t>Optimize platform usage by using Graph for submission and Proofpoint for controls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Target architecture — Graph API + Proofpoint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Generated architecture diagram included as the core target-state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3 — ARCHITECTURE</a:t>
            </a:r>
          </a:p>
        </p:txBody>
      </p:sp>
      <p:pic>
        <p:nvPicPr>
          <p:cNvPr id="6" name="Picture 5" descr="a_wide_clean_infographic_slide_architecture_dia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8428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Detailed outbound mail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Recommended logical sequence for an application-generated email.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3 —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4864" cy="150876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2130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1 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21305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CRM / ERP / HR / Finance / custom service creates email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075688"/>
            <a:ext cx="393192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32588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325880"/>
            <a:ext cx="54864" cy="150876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435607"/>
            <a:ext cx="2130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2  Entra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801368"/>
            <a:ext cx="21305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Application authenticates using OAuth 2.0 / application identity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79" y="2075688"/>
            <a:ext cx="393193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80" y="132588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325880"/>
            <a:ext cx="54864" cy="150876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435607"/>
            <a:ext cx="2130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3  Graph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1801368"/>
            <a:ext cx="21305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Application calls user/{mailbox}/sendMail with controlled permissions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2075688"/>
            <a:ext cx="393192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35440" y="132588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325880"/>
            <a:ext cx="54864" cy="150876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1435607"/>
            <a:ext cx="2130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4  Exchange 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1801368"/>
            <a:ext cx="21305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Message is accepted into the M365 mail flow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424160" y="2834639"/>
            <a:ext cx="0" cy="640081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" y="365760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657600"/>
            <a:ext cx="54864" cy="150876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767328"/>
            <a:ext cx="2130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5  Outbound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133087"/>
            <a:ext cx="21305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Connector / mail-flow policy routes application mail to Proofpoint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17520" y="4407408"/>
            <a:ext cx="393192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17520" y="4407408"/>
            <a:ext cx="393192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474720" y="365760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0" y="3657600"/>
            <a:ext cx="54864" cy="150876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9312" y="3767328"/>
            <a:ext cx="2130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6  Proofpoint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9312" y="4133087"/>
            <a:ext cx="21305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Threat, DLP, content, attachment, policy and compliance inspection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97879" y="4407408"/>
            <a:ext cx="393193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97879" y="4407408"/>
            <a:ext cx="393193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55080" y="365760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3657600"/>
            <a:ext cx="54864" cy="150876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3767328"/>
            <a:ext cx="2130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7  Internet / recipient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4133087"/>
            <a:ext cx="21305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Mail is delivered to internal or external recipient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778240" y="4407408"/>
            <a:ext cx="393192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778240" y="4407408"/>
            <a:ext cx="393192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235440" y="3657600"/>
            <a:ext cx="242316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3657600"/>
            <a:ext cx="54864" cy="150876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3767328"/>
            <a:ext cx="2130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8  Telemetry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4133087"/>
            <a:ext cx="21305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M365 / Proofpoint logs feed monitoring, reporting and incident workflows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669280"/>
            <a:ext cx="10698480" cy="502920"/>
          </a:xfrm>
          <a:prstGeom prst="roundRect">
            <a:avLst/>
          </a:prstGeom>
          <a:solidFill>
            <a:srgbClr val="E4F5EC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5669280"/>
            <a:ext cx="54864" cy="50292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5779008"/>
            <a:ext cx="10405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Control point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6144768"/>
            <a:ext cx="10405872" cy="-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Proofpoint remains in the outbound path so security and compliance controls are not bypassed.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Clear division of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Avoid overlapping platforms and define a durable operating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4 — OPERATING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743200" cy="4480560"/>
          </a:xfrm>
          <a:prstGeom prst="roundRect">
            <a:avLst/>
          </a:prstGeom>
          <a:solidFill>
            <a:srgbClr val="E1E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" cy="448056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44168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Application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09928"/>
            <a:ext cx="2450592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Build email content and templates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Integrate with Graph API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Use approved sender identities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Handle business-level retry / queueing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Monitor application delivery outcomes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74320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234440"/>
            <a:ext cx="54864" cy="4480560"/>
          </a:xfrm>
          <a:prstGeom prst="rect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344168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Microsoft 365 / Messaging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450592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Manage Entra application registrations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Control mailbox / sender scope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Manage Graph permissions and consent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Configure Exchange Online mail flow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Monitor throttling, delivery and message trace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34440"/>
            <a:ext cx="274320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234440"/>
            <a:ext cx="54864" cy="448056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344168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Proofpoint /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709928"/>
            <a:ext cx="2450592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Threat protection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Outbound DLP and policy enforcement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URL / attachment inspection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Encryption / secure delivery where required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Compliance reporting and investigation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234440"/>
            <a:ext cx="2377440" cy="4480560"/>
          </a:xfrm>
          <a:prstGeom prst="roundRect">
            <a:avLst/>
          </a:prstGeom>
          <a:solidFill>
            <a:srgbClr val="FCF3DD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234440"/>
            <a:ext cx="54864" cy="4480560"/>
          </a:xfrm>
          <a:prstGeom prst="rect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5752" y="1344168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Architecture /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1709928"/>
            <a:ext cx="2084832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Reference architecture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Standards and exceptions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Capacity / risk review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Application onboarding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Periodic control assurance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Security and compliance control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Graph handles controlled application identity; Proofpoint remains the enforcement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5 —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25780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4864" cy="987552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Entra ID app registration; certificate / secret management; managed identity where supported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4864" cy="987552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344168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Least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709928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Use only required Graph permissions; restrict application access to approved mailboxes / sender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41448"/>
            <a:ext cx="525780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441448"/>
            <a:ext cx="54864" cy="987552"/>
          </a:xfrm>
          <a:prstGeom prst="rect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551176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916936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OAuth 2.0; eliminate embedded SMTP passwords where feasible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41448"/>
            <a:ext cx="525780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41448"/>
            <a:ext cx="54864" cy="987552"/>
          </a:xfrm>
          <a:prstGeom prst="rect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551176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DLP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916936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Inspect outbound application mail for sensitive data and policy violations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48456"/>
            <a:ext cx="525780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648456"/>
            <a:ext cx="54864" cy="987552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758184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Threat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123944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Malware, phishing, URL and attachment controls at the gateway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48456"/>
            <a:ext cx="525780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48456"/>
            <a:ext cx="54864" cy="987552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758184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Data 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123944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Retention, audit, eDiscovery / investigation requirements remain aligned to enterprise policy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55464"/>
            <a:ext cx="525780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855464"/>
            <a:ext cx="54864" cy="987552"/>
          </a:xfrm>
          <a:prstGeom prst="rect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965192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330952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Correlate Graph / M365 audit, message trace and Proofpoint telemetry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855464"/>
            <a:ext cx="525780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855464"/>
            <a:ext cx="54864" cy="987552"/>
          </a:xfrm>
          <a:prstGeom prst="rect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4965192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Change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5330952"/>
            <a:ext cx="4965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Application onboarding, sender changes and permission changes require formal 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High-volume application email operating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Design for bursts, throttling and controlled retries rather than assuming unlimited API throughput.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6 —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743200" cy="4526280"/>
          </a:xfrm>
          <a:prstGeom prst="roundRect">
            <a:avLst/>
          </a:prstGeom>
          <a:solidFill>
            <a:srgbClr val="E1E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" cy="452628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44168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Application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09928"/>
            <a:ext cx="2450592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Buffer outbound messages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Apply business priority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Use idempotency / message IDs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Separate transactional vs bulk notification workloads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Expose backlog and failure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7432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234440"/>
            <a:ext cx="54864" cy="4526280"/>
          </a:xfrm>
          <a:prstGeom prst="rect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344168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Graph API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450592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OAuth token acquisition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Controlled concurrency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Respect HTTP 429 / Retry-After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Exponential backoff where required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Dead-letter failed messages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Alert on sustained throttling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34440"/>
            <a:ext cx="27432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234440"/>
            <a:ext cx="54864" cy="452628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344168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Exchange / Proofpoint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709928"/>
            <a:ext cx="2450592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Mail-flow routing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Gateway inspection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Policy enforcement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DLP decisions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Delivery / quarantine outcomes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Operational 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234440"/>
            <a:ext cx="2377440" cy="4526280"/>
          </a:xfrm>
          <a:prstGeom prst="roundRect">
            <a:avLst/>
          </a:prstGeom>
          <a:solidFill>
            <a:srgbClr val="FCF3DD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234440"/>
            <a:ext cx="54864" cy="4526280"/>
          </a:xfrm>
          <a:prstGeom prst="rect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5752" y="1344168"/>
            <a:ext cx="20848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Capacity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1709928"/>
            <a:ext cx="2084832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A34"/>
                </a:solidFill>
                <a:latin typeface="Aptos"/>
              </a:defRPr>
            </a:pPr>
            <a:r>
              <a:t>Volume baseline</a:t>
            </a:r>
          </a:p>
          <a:p>
            <a:pPr>
              <a:spcAft>
                <a:spcPts val="400"/>
              </a:spcAft>
              <a:defRPr sz="1019">
                <a:solidFill>
                  <a:srgbClr val="232A34"/>
                </a:solidFill>
                <a:latin typeface="Aptos"/>
              </a:defRPr>
            </a:pPr>
            <a:r>
              <a:t>Peak TPS / messages</a:t>
            </a:r>
          </a:p>
          <a:p>
            <a:pPr>
              <a:spcAft>
                <a:spcPts val="400"/>
              </a:spcAft>
              <a:defRPr sz="1019">
                <a:solidFill>
                  <a:srgbClr val="232A34"/>
                </a:solidFill>
                <a:latin typeface="Aptos"/>
              </a:defRPr>
            </a:pPr>
            <a:r>
              <a:t>Attachment profile</a:t>
            </a:r>
          </a:p>
          <a:p>
            <a:pPr>
              <a:spcAft>
                <a:spcPts val="400"/>
              </a:spcAft>
              <a:defRPr sz="1019">
                <a:solidFill>
                  <a:srgbClr val="232A34"/>
                </a:solidFill>
                <a:latin typeface="Aptos"/>
              </a:defRPr>
            </a:pPr>
            <a:r>
              <a:t>Recipient distribution</a:t>
            </a:r>
          </a:p>
          <a:p>
            <a:pPr>
              <a:spcAft>
                <a:spcPts val="400"/>
              </a:spcAft>
              <a:defRPr sz="1019">
                <a:solidFill>
                  <a:srgbClr val="232A34"/>
                </a:solidFill>
                <a:latin typeface="Aptos"/>
              </a:defRPr>
            </a:pPr>
            <a:r>
              <a:t>API throttling test</a:t>
            </a:r>
          </a:p>
          <a:p>
            <a:pPr>
              <a:spcAft>
                <a:spcPts val="400"/>
              </a:spcAft>
              <a:defRPr sz="1019">
                <a:solidFill>
                  <a:srgbClr val="232A34"/>
                </a:solidFill>
                <a:latin typeface="Aptos"/>
              </a:defRPr>
            </a:pPr>
            <a:r>
              <a:t>Gateway sizing</a:t>
            </a:r>
          </a:p>
          <a:p>
            <a:pPr>
              <a:spcAft>
                <a:spcPts val="400"/>
              </a:spcAft>
              <a:defRPr sz="1019">
                <a:solidFill>
                  <a:srgbClr val="232A34"/>
                </a:solidFill>
                <a:latin typeface="Aptos"/>
              </a:defRPr>
            </a:pPr>
            <a:r>
              <a:t>Failover / DR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79592"/>
            <a:ext cx="10607040" cy="384048"/>
          </a:xfrm>
          <a:prstGeom prst="roundRect">
            <a:avLst/>
          </a:prstGeom>
          <a:solidFill>
            <a:srgbClr val="FCF3DD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879592"/>
            <a:ext cx="54864" cy="384048"/>
          </a:xfrm>
          <a:prstGeom prst="rect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989320"/>
            <a:ext cx="10314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Important design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6355079"/>
            <a:ext cx="10314432" cy="-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232A34"/>
                </a:solidFill>
                <a:latin typeface="Aptos"/>
              </a:defRPr>
            </a:pPr>
            <a:r>
              <a:t>Microsoft documents Graph throttling and advises honoring Retry-After / exponential backoff; exact limits are scenario-dependent and should be validated during the POC.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Identity and access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The strongest control improvement is replacing broad SMTP-style credentials with application identity and scoped permissions.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5 —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286000" cy="1143000"/>
          </a:xfrm>
          <a:prstGeom prst="roundRect">
            <a:avLst/>
          </a:prstGeom>
          <a:solidFill>
            <a:srgbClr val="E1E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4864" cy="114300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9933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92808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Workload / service calling Graph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1993392"/>
            <a:ext cx="777240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1417320"/>
            <a:ext cx="24688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1417320"/>
            <a:ext cx="54864" cy="1143000"/>
          </a:xfrm>
          <a:prstGeom prst="rect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1527048"/>
            <a:ext cx="2176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Entra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1892808"/>
            <a:ext cx="2176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A34"/>
                </a:solidFill>
                <a:latin typeface="Aptos"/>
              </a:defRPr>
            </a:pPr>
            <a:r>
              <a:t>App registration • OAuth 2.0 • consent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0" y="1993392"/>
            <a:ext cx="777240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0" y="1417320"/>
            <a:ext cx="24688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1417320"/>
            <a:ext cx="54864" cy="114300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1527048"/>
            <a:ext cx="2176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Graph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1892808"/>
            <a:ext cx="2176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232A34"/>
                </a:solidFill>
                <a:latin typeface="Aptos"/>
              </a:defRPr>
            </a:pPr>
            <a:r>
              <a:t>Mail.Send + controlled sender scope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55480" y="1993392"/>
            <a:ext cx="777240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378440" y="1417320"/>
            <a:ext cx="1280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78440" y="1417320"/>
            <a:ext cx="54864" cy="114300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43032" y="1527048"/>
            <a:ext cx="9875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M365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3032" y="1892808"/>
            <a:ext cx="98755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232A34"/>
                </a:solidFill>
                <a:latin typeface="Aptos"/>
              </a:defRPr>
            </a:pPr>
            <a:r>
              <a:t>Exchange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063240"/>
            <a:ext cx="534924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063240"/>
            <a:ext cx="54864" cy="237744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172968"/>
            <a:ext cx="50566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Recommended 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3538728"/>
            <a:ext cx="5056631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Dedicated application identity per critical application or application group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Least-privilege Graph permissions and administrative consent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Restrict application access to designated sender mailboxes where supported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Prefer certificate / managed identity patterns over long-lived client secrets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Separate non-production and production identities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063240"/>
            <a:ext cx="534924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063240"/>
            <a:ext cx="54864" cy="237744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172968"/>
            <a:ext cx="50566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Governance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538728"/>
            <a:ext cx="5056631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1. Application owner submits use case and expected volume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2. Architecture validates pattern and sender model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3. IAM / Messaging grants scoped application access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4. Security validates Proofpoint policy and DLP treatment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5. Application passes volume / failure / DR testing</a:t>
            </a:r>
          </a:p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6. Production onboarding with periodic access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Cost and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The proposal is primarily a platform-optimization decision; exact savings require traffic and licensing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7 — BUSINESS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514600" cy="1234440"/>
          </a:xfrm>
          <a:prstGeom prst="roundRect">
            <a:avLst/>
          </a:prstGeom>
          <a:solidFill>
            <a:srgbClr val="E4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435607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48E5D"/>
                </a:solidFill>
                <a:latin typeface="Aptos Display"/>
              </a:defRPr>
            </a:pPr>
            <a:r>
              <a:t>Lower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56231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2A34"/>
                </a:solidFill>
                <a:latin typeface="Aptos"/>
              </a:defRPr>
            </a:pPr>
            <a:r>
              <a:t>SEG dependency for application submission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25880"/>
            <a:ext cx="2514600" cy="12344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35607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469BE"/>
                </a:solidFill>
                <a:latin typeface="Aptos Display"/>
              </a:defRPr>
            </a:pPr>
            <a:r>
              <a:t>Higher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56231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2A34"/>
                </a:solidFill>
                <a:latin typeface="Aptos"/>
              </a:defRPr>
            </a:pPr>
            <a:r>
              <a:t>Application integration standardization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25880"/>
            <a:ext cx="2514600" cy="1234440"/>
          </a:xfrm>
          <a:prstGeom prst="roundRect">
            <a:avLst/>
          </a:prstGeom>
          <a:solidFill>
            <a:srgbClr val="E4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435607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48E5D"/>
                </a:solidFill>
                <a:latin typeface="Aptos Display"/>
              </a:defRPr>
            </a:pPr>
            <a:r>
              <a:t>Retained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1856231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2A34"/>
                </a:solidFill>
                <a:latin typeface="Aptos"/>
              </a:defRPr>
            </a:pPr>
            <a:r>
              <a:t>Security &amp; compliance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325880"/>
            <a:ext cx="2514600" cy="1234440"/>
          </a:xfrm>
          <a:prstGeom prst="roundRect">
            <a:avLst/>
          </a:prstGeom>
          <a:solidFill>
            <a:srgbClr val="FC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435607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3911F"/>
                </a:solidFill>
                <a:latin typeface="Aptos Display"/>
              </a:defRPr>
            </a:pPr>
            <a:r>
              <a:t>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856231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232A34"/>
                </a:solidFill>
                <a:latin typeface="Aptos"/>
              </a:defRPr>
            </a:pPr>
            <a:r>
              <a:t>Separation of duties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80360"/>
            <a:ext cx="521208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880360"/>
            <a:ext cx="54864" cy="256032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299008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Where value comes 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355848"/>
            <a:ext cx="4919472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Avoid treating the SEG as the application integration platform for every high-volume workload.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Standardize new application onboarding on a Microsoft-native API pattern.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Reduce custom SMTP / relay integrations and credential management overhead.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Preserve the Proofpoint investment where it delivers highest value: security, DLP and compliance.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Potentially improve capacity planning by separating application generation from gateway enforcement.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880360"/>
            <a:ext cx="521208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2880360"/>
            <a:ext cx="54864" cy="256032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99008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Business-case inputs to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3355848"/>
            <a:ext cx="4919472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Monthly and peak application email volume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Average message size and attachment rate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Number of application senders / mailboxes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Current Proofpoint licensing / capacity model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M365 licensing and existing Exchange Online entitlement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Operational effort for current relay integrations</a:t>
            </a:r>
          </a:p>
          <a:p>
            <a:pPr>
              <a:spcAft>
                <a:spcPts val="400"/>
              </a:spcAft>
              <a:defRPr sz="1070">
                <a:solidFill>
                  <a:srgbClr val="232A34"/>
                </a:solidFill>
                <a:latin typeface="Aptos"/>
              </a:defRPr>
            </a:pPr>
            <a:r>
              <a:t>Required retention, DLP and encryption policies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15000"/>
            <a:ext cx="10515600" cy="475488"/>
          </a:xfrm>
          <a:prstGeom prst="roundRect">
            <a:avLst/>
          </a:prstGeom>
          <a:solidFill>
            <a:srgbClr val="E1E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715000"/>
            <a:ext cx="54864" cy="475488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824728"/>
            <a:ext cx="10222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6190488"/>
            <a:ext cx="10222992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Do not remove Proofpoint from the mail-security path; optimize where mail is generated and where security policy is enforced.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Key risks and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The architecture is viable when volume, routing and operational controls are validated before migration.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8 —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2578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4864" cy="1261872"/>
          </a:xfrm>
          <a:prstGeom prst="rect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Graph throttling / burst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4965192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Use queueing, controlled concurrency, Retry-After handling, backoff and capacity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4864" cy="1261872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344168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Mail-flow routing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709928"/>
            <a:ext cx="4965192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Build a dedicated application sender pattern and validate Exchange → Proofpoint routing in a non-production tenant.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24912"/>
            <a:ext cx="52578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724912"/>
            <a:ext cx="54864" cy="1261872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834640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Permission overreach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200400"/>
            <a:ext cx="4965192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Use least privilege, scoped sender mailboxes and periodic access reviews.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24912"/>
            <a:ext cx="52578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724912"/>
            <a:ext cx="54864" cy="1261872"/>
          </a:xfrm>
          <a:prstGeom prst="rect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834640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Delivery 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200400"/>
            <a:ext cx="4965192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Correlate application logs, Graph responses, M365 message trace and Proofpoint events.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15383"/>
            <a:ext cx="52578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215383"/>
            <a:ext cx="54864" cy="1261872"/>
          </a:xfrm>
          <a:prstGeom prst="rect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325112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DLP false positives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690871"/>
            <a:ext cx="4965192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Create application-specific policy exceptions only through formal governance; monitor quarantine rates.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15383"/>
            <a:ext cx="52578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215383"/>
            <a:ext cx="54864" cy="1261872"/>
          </a:xfrm>
          <a:prstGeom prst="rect">
            <a:avLst/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325112"/>
            <a:ext cx="4965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02F58"/>
                </a:solidFill>
                <a:latin typeface="Aptos"/>
              </a:defRPr>
            </a:pPr>
            <a:r>
              <a:t>DR / service dependency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690871"/>
            <a:ext cx="4965192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9">
                <a:solidFill>
                  <a:srgbClr val="232A34"/>
                </a:solidFill>
                <a:latin typeface="Aptos"/>
              </a:defRPr>
            </a:pPr>
            <a:r>
              <a:t>Define alternate sender path, queue persistence and recovery objectives for critical applications.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Pilot first, measure, then migrate application groups in controlled waves.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9 —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16152" y="1216152"/>
            <a:ext cx="640080" cy="640080"/>
          </a:xfrm>
          <a:prstGeom prst="ellipse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2F58"/>
                </a:solidFill>
              </a:defRPr>
            </a:pPr>
            <a:r>
              <a:t>0. Assess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469BE"/>
                </a:solidFill>
              </a:defRPr>
            </a:pPr>
            <a:r>
              <a:t>2–3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16352"/>
            <a:ext cx="173736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A34"/>
                </a:solidFill>
              </a:defRPr>
            </a:pPr>
            <a:r>
              <a:t>Baseline volume, peak rates, message sizes, current Proofpoint usage, sender inventory and compliance requirements.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608" y="3200400"/>
            <a:ext cx="192024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39" y="150876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47872" y="1216152"/>
            <a:ext cx="640080" cy="640080"/>
          </a:xfrm>
          <a:prstGeom prst="ellipse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1874519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2F58"/>
                </a:solidFill>
              </a:defRPr>
            </a:pPr>
            <a:r>
              <a:t>1.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235915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9AADC"/>
                </a:solidFill>
              </a:defRPr>
            </a:pPr>
            <a:r>
              <a:t>3–4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816352"/>
            <a:ext cx="173736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A34"/>
                </a:solidFill>
              </a:defRPr>
            </a:pPr>
            <a:r>
              <a:t>Select 2–3 applications; configure Graph, sender mailbox, routing and Proofpoint policy; validate delivery and controls.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10327" y="3200400"/>
            <a:ext cx="192025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150876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79592" y="1216152"/>
            <a:ext cx="640080" cy="640080"/>
          </a:xfrm>
          <a:prstGeom prst="ellipse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874519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2F58"/>
                </a:solidFill>
              </a:defRPr>
            </a:pPr>
            <a:r>
              <a:t>2.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35915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48E5D"/>
                </a:solidFill>
              </a:defRPr>
            </a:pPr>
            <a:r>
              <a:t>4–6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2816352"/>
            <a:ext cx="173736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A34"/>
                </a:solidFill>
              </a:defRPr>
            </a:pPr>
            <a:r>
              <a:t>Run production-like volumes; validate throttling, DLP, monitoring, DR and operational ownership.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42048" y="3200400"/>
            <a:ext cx="192023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79" y="150876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1311" y="1216152"/>
            <a:ext cx="640080" cy="640080"/>
          </a:xfrm>
          <a:prstGeom prst="ellipse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1874519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2F58"/>
                </a:solidFill>
              </a:defRPr>
            </a:pPr>
            <a:r>
              <a:t>3. Wave migration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35915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3911F"/>
                </a:solidFill>
              </a:defRPr>
            </a:pPr>
            <a:r>
              <a:t>8–16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2816352"/>
            <a:ext cx="173736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A34"/>
                </a:solidFill>
              </a:defRPr>
            </a:pPr>
            <a:r>
              <a:t>Migrate applications by risk / volume; retire legacy integrations after stabilization.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73767" y="3200400"/>
            <a:ext cx="192025" cy="0"/>
          </a:xfrm>
          <a:prstGeom prst="line">
            <a:avLst/>
          </a:prstGeom>
          <a:ln w="27940">
            <a:solidFill>
              <a:srgbClr val="24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29800" y="1508760"/>
            <a:ext cx="20574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43032" y="1216152"/>
            <a:ext cx="640080" cy="640080"/>
          </a:xfrm>
          <a:prstGeom prst="ellipse">
            <a:avLst/>
          </a:prstGeom>
          <a:solidFill>
            <a:srgbClr val="10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1874519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2F58"/>
                </a:solidFill>
              </a:defRPr>
            </a:pPr>
            <a:r>
              <a:t>4. Optimize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35915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02F58"/>
                </a:solidFill>
              </a:defRPr>
            </a:pPr>
            <a:r>
              <a:t>Ongoing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2816352"/>
            <a:ext cx="173736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A34"/>
                </a:solidFill>
              </a:defRPr>
            </a:pPr>
            <a:r>
              <a:t>Tune policies, capacity, onboarding standards, dashboards and cost model.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349240"/>
            <a:ext cx="10515600" cy="640080"/>
          </a:xfrm>
          <a:prstGeom prst="roundRect">
            <a:avLst/>
          </a:prstGeom>
          <a:solidFill>
            <a:srgbClr val="E4F5EC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349240"/>
            <a:ext cx="54864" cy="64008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458968"/>
            <a:ext cx="10222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Go / no-go gates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5824727"/>
            <a:ext cx="10222992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Architecture approval → Security approval → Volume / performance test → Compliance sign-off → Production onboarding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Decision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Approve the target pattern as the strategic standard for new high-volume application email workloads.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10 —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212080" cy="4389120"/>
          </a:xfrm>
          <a:prstGeom prst="roundRect">
            <a:avLst/>
          </a:prstGeom>
          <a:solidFill>
            <a:srgbClr val="E1E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54864" cy="438912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34416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Proposed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4919472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Adopt Microsoft Graph API as the preferred application email submission interface for Microsoft 365 workloads.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Retain Proofpoint as the secure email gateway and compliance enforcement layer.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Use Exchange Online mail flow / connectors to maintain controlled outbound routing through Proofpoint.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Establish a formal application onboarding pattern covering identity, permissions, volume, DLP, monitoring and DR.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Use Proofpoint-only integration only where a documented technical or regulatory exception exists.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521208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4864" cy="438912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344168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Immediate next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709928"/>
            <a:ext cx="4919472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Confirm current Proofpoint architecture and outbound routing model.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Collect application email inventory and 30-day / peak volume data.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Identify 2–3 representative pilot applications.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Validate Graph application permissions and sender mailbox model.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Build non-production Graph → Exchange → Proofpoint flow.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Execute security, DLP, volume and DR tests.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Finalize TCO and migration business case based on measured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806440"/>
            <a:ext cx="10149840" cy="411480"/>
          </a:xfrm>
          <a:prstGeom prst="roundRect">
            <a:avLst/>
          </a:prstGeom>
          <a:solidFill>
            <a:srgbClr val="E4F5EC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806440"/>
            <a:ext cx="54864" cy="411480"/>
          </a:xfrm>
          <a:prstGeom prst="rect">
            <a:avLst/>
          </a:prstGeom>
          <a:solidFill>
            <a:srgbClr val="24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916168"/>
            <a:ext cx="9857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Target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6281927"/>
            <a:ext cx="9857232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A standardized, secure and scalable application-email platform that uses Microsoft 365 for application submission and Proofpoint for security and compliance.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Proposal — Application Email Architecture |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F58"/>
                </a:solidFill>
                <a:latin typeface="Aptos Display"/>
              </a:defRPr>
            </a:pPr>
            <a:r>
              <a:t>Technical references and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572"/>
                </a:solidFill>
                <a:latin typeface="Aptos"/>
              </a:defRPr>
            </a:pPr>
            <a:r>
              <a:t>Use these references for design validation during the POC and detailed engineering.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28600"/>
            <a:ext cx="1005840" cy="320040"/>
          </a:xfrm>
          <a:prstGeom prst="roundRect">
            <a:avLst/>
          </a:prstGeom>
          <a:solidFill>
            <a:srgbClr val="E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469BE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09728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4864" cy="1325880"/>
          </a:xfrm>
          <a:prstGeom prst="rect">
            <a:avLst/>
          </a:prstGeom>
          <a:solidFill>
            <a:srgbClr val="24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10680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Microsoft Graph — sendMail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106801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Microsoft Learn: user: sendMail (Graph v1.0). Confirms JSON/MIME send capability, 202 Accepted behavior, and that delivery remains subject to Exchange Online limitations and throttling.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743200"/>
            <a:ext cx="109728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743200"/>
            <a:ext cx="54864" cy="1325880"/>
          </a:xfrm>
          <a:prstGeom prst="rect">
            <a:avLst/>
          </a:prstGeom>
          <a:solidFill>
            <a:srgbClr val="39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852928"/>
            <a:ext cx="10680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Microsoft Graph —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218688"/>
            <a:ext cx="106801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Microsoft Learn: Graph permissions reference. Mail.Send application permission requires admin consent; Microsoft recommends least-privilege permissions and supports restricting application access to specific mailboxes.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51960"/>
            <a:ext cx="109728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251960"/>
            <a:ext cx="54864" cy="1325880"/>
          </a:xfrm>
          <a:prstGeom prst="rect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361688"/>
            <a:ext cx="10680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Microsoft Graph — throttling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727448"/>
            <a:ext cx="106801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32A34"/>
                </a:solidFill>
                <a:latin typeface="Aptos"/>
              </a:defRPr>
            </a:pPr>
            <a:r>
              <a:t>Microsoft Learn: Graph throttling guidance and service-specific throttling limits. Limits vary by service/scenario; 429 responses and Retry-After should be handled, with backoff and controlled concurrency.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669280"/>
            <a:ext cx="10972800" cy="502920"/>
          </a:xfrm>
          <a:prstGeom prst="roundRect">
            <a:avLst/>
          </a:prstGeom>
          <a:solidFill>
            <a:srgbClr val="FCF3DD"/>
          </a:solidFill>
          <a:ln w="10160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5669280"/>
            <a:ext cx="54864" cy="502920"/>
          </a:xfrm>
          <a:prstGeom prst="rect">
            <a:avLst/>
          </a:prstGeom>
          <a:solidFill>
            <a:srgbClr val="D39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5779008"/>
            <a:ext cx="106801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2F58"/>
                </a:solidFill>
                <a:latin typeface="Aptos"/>
              </a:defRPr>
            </a:pPr>
            <a:r>
              <a:t>Assumption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6144768"/>
            <a:ext cx="10680192" cy="-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232A34"/>
                </a:solidFill>
                <a:latin typeface="Aptos"/>
              </a:defRPr>
            </a:pPr>
            <a:r>
              <a:t>Proofpoint remains deployed as the organization’s outbound secure email gateway and is technically capable of receiving/routing Microsoft 365 outbound application mail through the approved Exchange Online connector model. Validate exact Proofpoint topology and licensing during discovery.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56248"/>
            <a:ext cx="11201400" cy="9144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8368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572"/>
                </a:solidFill>
                <a:latin typeface="Aptos"/>
              </a:defRPr>
            </a:pPr>
            <a:r>
              <a:t>Sources: Microsoft Learn — Graph sendMail, permissions, throttling | Proofpoint capabilities to be validated against current tenant / contract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