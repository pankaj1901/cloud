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94660"/>
  </p:normalViewPr>
  <p:slideViewPr>
    <p:cSldViewPr snapToGrid="0" snapToObjects="1">
      <p:cViewPr>
        <p:scale>
          <a:sx n="107" d="100"/>
          <a:sy n="107" d="100"/>
        </p:scale>
        <p:origin x="126" y="10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49640" y="1234440"/>
            <a:ext cx="640080" cy="480059"/>
          </a:xfrm>
          <a:prstGeom prst="round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22792" y="13441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50808" y="13441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78824" y="13441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exagon 6"/>
          <p:cNvSpPr/>
          <p:nvPr/>
        </p:nvSpPr>
        <p:spPr>
          <a:xfrm>
            <a:off x="9509760" y="1234440"/>
            <a:ext cx="640080" cy="480059"/>
          </a:xfrm>
          <a:prstGeom prst="hexagon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73768" y="12984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27387" y="12984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50577" y="146486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loud 10"/>
          <p:cNvSpPr/>
          <p:nvPr/>
        </p:nvSpPr>
        <p:spPr>
          <a:xfrm>
            <a:off x="10469880" y="1234440"/>
            <a:ext cx="640080" cy="460857"/>
          </a:xfrm>
          <a:prstGeom prst="cloud">
            <a:avLst/>
          </a:prstGeom>
          <a:solidFill>
            <a:srgbClr val="3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n 11"/>
          <p:cNvSpPr/>
          <p:nvPr/>
        </p:nvSpPr>
        <p:spPr>
          <a:xfrm>
            <a:off x="8549640" y="2468880"/>
            <a:ext cx="512063" cy="640080"/>
          </a:xfrm>
          <a:prstGeom prst="can">
            <a:avLst/>
          </a:prstGeom>
          <a:solidFill>
            <a:srgbClr val="4A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un 12"/>
          <p:cNvSpPr/>
          <p:nvPr/>
        </p:nvSpPr>
        <p:spPr>
          <a:xfrm>
            <a:off x="9509760" y="2468880"/>
            <a:ext cx="640080" cy="640080"/>
          </a:xfrm>
          <a:prstGeom prst="sun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entagon 13"/>
          <p:cNvSpPr/>
          <p:nvPr/>
        </p:nvSpPr>
        <p:spPr>
          <a:xfrm>
            <a:off x="10469880" y="2468880"/>
            <a:ext cx="640080" cy="640080"/>
          </a:xfrm>
          <a:prstGeom prst="homePlate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823960" y="1874519"/>
            <a:ext cx="914400" cy="0"/>
          </a:xfrm>
          <a:prstGeom prst="line">
            <a:avLst/>
          </a:prstGeom>
          <a:ln w="25400">
            <a:solidFill>
              <a:srgbClr val="30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38360" y="1874519"/>
            <a:ext cx="960120" cy="0"/>
          </a:xfrm>
          <a:prstGeom prst="line">
            <a:avLst/>
          </a:prstGeom>
          <a:ln w="25400">
            <a:solidFill>
              <a:srgbClr val="30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81160" y="2514600"/>
            <a:ext cx="960120" cy="640080"/>
          </a:xfrm>
          <a:prstGeom prst="line">
            <a:avLst/>
          </a:prstGeom>
          <a:ln w="25400">
            <a:solidFill>
              <a:srgbClr val="30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241280" y="2514600"/>
            <a:ext cx="731520" cy="640080"/>
          </a:xfrm>
          <a:prstGeom prst="line">
            <a:avLst/>
          </a:prstGeom>
          <a:ln w="25400">
            <a:solidFill>
              <a:srgbClr val="30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9601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0AABE"/>
                </a:solidFill>
                <a:latin typeface="Aptos"/>
              </a:defRPr>
            </a:pPr>
            <a:r>
              <a:t>BUILDING A NEW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1481328"/>
            <a:ext cx="74980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SRE TEAM FOR</a:t>
            </a:r>
            <a:br/>
            <a:r>
              <a:t>INFRASTRUCTURE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12724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0DCE8"/>
                </a:solidFill>
                <a:latin typeface="Aptos"/>
              </a:defRPr>
            </a:pPr>
            <a:r>
              <a:t>Server • Network • Cloud • Middleware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30752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DDC"/>
                </a:solidFill>
                <a:latin typeface="Aptos"/>
              </a:defRPr>
            </a:pPr>
            <a:r>
              <a:t>Target operating model, tool landscape, skills, prerequisites and 12-month implementation roadmap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56048"/>
            <a:ext cx="2606040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EXECUTIVE / ARCHITECTURE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44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C3D2"/>
                </a:solidFill>
                <a:latin typeface="Aptos"/>
              </a:defRPr>
            </a:pPr>
            <a:r>
              <a:t>Enterprise Infrastructure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1447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B4C3D2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Executive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98755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1253F"/>
                </a:solidFill>
                <a:latin typeface="Aptos Display"/>
              </a:defRPr>
            </a:pPr>
            <a:r>
              <a:t>Build SRE as an engineering layer above the towers — not as another monitoring desk.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411480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76479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19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Charter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700784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4A5B6E"/>
                </a:solidFill>
                <a:latin typeface="Aptos"/>
              </a:defRPr>
            </a:pPr>
            <a:r>
              <a:t>Own reliability outcomes, SLOs, automation and operational engineering; keep tower SMEs accountable for platform standards.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411480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569463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237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505456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4A5B6E"/>
                </a:solidFill>
                <a:latin typeface="Aptos"/>
              </a:defRPr>
            </a:pPr>
            <a:r>
              <a:t>Adopt common telemetry, event taxonomy, service mapping and SLO practices across Server / Network / Cloud / Middleware.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46704"/>
            <a:ext cx="411480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37413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284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31012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4A5B6E"/>
                </a:solidFill>
                <a:latin typeface="Aptos"/>
              </a:defRPr>
            </a:pPr>
            <a:r>
              <a:t>Make ServiceNow the system of action; connect observability, CMDB/service maps, incidents, change and remediation.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51376"/>
            <a:ext cx="411480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417880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33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Automate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1148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4A5B6E"/>
                </a:solidFill>
                <a:latin typeface="Aptos"/>
              </a:defRPr>
            </a:pPr>
            <a:r>
              <a:t>Target the top sources of toil first: repetitive alerts, health checks, restarts, capacity actions, certificate and patch workflows.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56048"/>
            <a:ext cx="411480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98348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91947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4A5B6E"/>
                </a:solidFill>
                <a:latin typeface="Aptos"/>
              </a:defRPr>
            </a:pPr>
            <a:r>
              <a:t>Select the primary observability platform through a 6–8 week POC against real critical services — not feature-count scoring alone.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Why SRE for Infrastructure Operations?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8F97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430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1253F"/>
                </a:solidFill>
                <a:latin typeface="Aptos Display"/>
              </a:defRPr>
            </a:pPr>
            <a:r>
              <a:t>From reactive operations to engineered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66420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87582"/>
                </a:solidFill>
                <a:latin typeface="Aptos"/>
              </a:defRPr>
            </a:pPr>
            <a:r>
              <a:t>The objective is fewer incidents, faster recovery and less human toil — with measurable service outcomes.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640080" cy="480059"/>
          </a:xfrm>
          <a:prstGeom prst="round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58952" y="253288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6968" y="253288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14983" y="253288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182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53F"/>
                </a:solidFill>
                <a:latin typeface="Aptos"/>
              </a:defRPr>
            </a:pPr>
            <a:r>
              <a:t>Reactive firefighting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B6E"/>
                </a:solidFill>
                <a:latin typeface="Aptos"/>
              </a:defRPr>
            </a:pPr>
            <a:r>
              <a:t>Alert queues, manual diagnostics, tribal knowledge and repeated incidents.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743200"/>
            <a:ext cx="338328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un 15"/>
          <p:cNvSpPr/>
          <p:nvPr/>
        </p:nvSpPr>
        <p:spPr>
          <a:xfrm>
            <a:off x="4480560" y="2423160"/>
            <a:ext cx="640080" cy="640080"/>
          </a:xfrm>
          <a:prstGeom prst="sun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3182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53F"/>
                </a:solidFill>
                <a:latin typeface="Aptos"/>
              </a:defRPr>
            </a:pPr>
            <a:r>
              <a:t>Engineering the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58444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B6E"/>
                </a:solidFill>
                <a:latin typeface="Aptos"/>
              </a:defRPr>
            </a:pPr>
            <a:r>
              <a:t>Standardized telemetry, automation, resilience patterns and safe remediation.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8120" y="2743200"/>
            <a:ext cx="338328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entagon 19"/>
          <p:cNvSpPr/>
          <p:nvPr/>
        </p:nvSpPr>
        <p:spPr>
          <a:xfrm>
            <a:off x="8275320" y="2423160"/>
            <a:ext cx="640080" cy="640080"/>
          </a:xfrm>
          <a:prstGeom prst="homePlate">
            <a:avLst/>
          </a:prstGeom>
          <a:solidFill>
            <a:srgbClr val="2D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3182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253F"/>
                </a:solidFill>
                <a:latin typeface="Aptos"/>
              </a:defRPr>
            </a:pPr>
            <a:r>
              <a:t>Reliability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58444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B6E"/>
                </a:solidFill>
                <a:latin typeface="Aptos"/>
              </a:defRPr>
            </a:pPr>
            <a:r>
              <a:t>SLOs, error budgets, service impact, change risk and resilience become explicit.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10789920" cy="77724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983480"/>
            <a:ext cx="64008" cy="77724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5093208"/>
            <a:ext cx="10497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253F"/>
                </a:solidFill>
                <a:latin typeface="Aptos"/>
              </a:defRPr>
            </a:pPr>
            <a:r>
              <a:t>SRE design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5458968"/>
            <a:ext cx="1049731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4A5B6E"/>
                </a:solidFill>
                <a:latin typeface="Aptos"/>
              </a:defRPr>
            </a:pPr>
            <a:r>
              <a:t>Alert on symptoms and user impact; use observability to diagnose causes; automate safe, repeatable remediation. Prometheus explicitly recommends symptom-based alerting and avoiding pages where there is nothing to 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Principles: Google SRE; Prometheus alerting guidance; OpenTelemetry observability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Target SRE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5207" y="1234440"/>
            <a:ext cx="10241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5207" y="1234440"/>
            <a:ext cx="64008" cy="713232"/>
          </a:xfrm>
          <a:prstGeom prst="rect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9799" y="1344168"/>
            <a:ext cx="9948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Reliability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9799" y="1709928"/>
            <a:ext cx="9948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A5B6E"/>
                </a:solidFill>
                <a:latin typeface="Aptos"/>
              </a:defRPr>
            </a:pPr>
            <a:r>
              <a:t>SLOs • error budgets • resilience • capacity • PIRs • change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6667" y="2167128"/>
            <a:ext cx="9738359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26667" y="2167128"/>
            <a:ext cx="64008" cy="713232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1259" y="2276856"/>
            <a:ext cx="944575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SRE Platform &amp; 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1259" y="2642616"/>
            <a:ext cx="94457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A5B6E"/>
                </a:solidFill>
                <a:latin typeface="Aptos"/>
              </a:defRPr>
            </a:pPr>
            <a:r>
              <a:t>Telemetry standards • dashboards • alert engineering • service maps • synthetics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78127" y="3099816"/>
            <a:ext cx="9235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78127" y="3099816"/>
            <a:ext cx="64008" cy="713232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2719" y="3209544"/>
            <a:ext cx="8942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SRE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2719" y="3575304"/>
            <a:ext cx="89428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A5B6E"/>
                </a:solidFill>
                <a:latin typeface="Aptos"/>
              </a:defRPr>
            </a:pPr>
            <a:r>
              <a:t>Ansible • Python • PowerShell • Terraform/OpenTofu • runbook automation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29587" y="4032504"/>
            <a:ext cx="8732519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29587" y="4032504"/>
            <a:ext cx="64008" cy="713232"/>
          </a:xfrm>
          <a:prstGeom prst="rect">
            <a:avLst/>
          </a:prstGeom>
          <a:solidFill>
            <a:srgbClr val="3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94179" y="4142232"/>
            <a:ext cx="84399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Tower SRE pods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4179" y="4507992"/>
            <a:ext cx="843991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A5B6E"/>
                </a:solidFill>
                <a:latin typeface="Aptos"/>
              </a:defRPr>
            </a:pPr>
            <a:r>
              <a:t>Server • Network • Cloud • Middleware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81047" y="4965192"/>
            <a:ext cx="8229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981047" y="4965192"/>
            <a:ext cx="64008" cy="713232"/>
          </a:xfrm>
          <a:prstGeom prst="rect">
            <a:avLst/>
          </a:prstGeom>
          <a:solidFill>
            <a:srgbClr val="4A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45639" y="5074920"/>
            <a:ext cx="7936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Partner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5639" y="5440679"/>
            <a:ext cx="79369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A5B6E"/>
                </a:solidFill>
                <a:latin typeface="Aptos"/>
              </a:defRPr>
            </a:pPr>
            <a:r>
              <a:t>Tower engineering • Apps • NOC/Service Desk • Cyber/SOC • vendors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893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8F97"/>
                </a:solidFill>
                <a:latin typeface="Aptos"/>
              </a:defRPr>
            </a:pPr>
            <a:r>
              <a:t>KEY DESIGN CHOICE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93445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253F"/>
                </a:solidFill>
                <a:latin typeface="Aptos"/>
              </a:defRPr>
            </a:pPr>
            <a:r>
              <a:t>SRE owns reliability engineering and the operations platform; it does not replace specialist tower engineering.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SRE vs. traditional NOC / tower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9202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25272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7168" y="1188720"/>
            <a:ext cx="365760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23744" y="1252728"/>
            <a:ext cx="3584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Traditional NOC / Tower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188720"/>
            <a:ext cx="548640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81344" y="1252728"/>
            <a:ext cx="5413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Infrastructure SRE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609344"/>
            <a:ext cx="192024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1655064"/>
            <a:ext cx="182880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Primary objective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1609344"/>
            <a:ext cx="365760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32888" y="1655064"/>
            <a:ext cx="35661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Detect &amp; dispatch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609344"/>
            <a:ext cx="548640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90488" y="1655064"/>
            <a:ext cx="53949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Reliability engineering &amp; outcomes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173986"/>
            <a:ext cx="192024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2219706"/>
            <a:ext cx="182880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Alerting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7168" y="2173986"/>
            <a:ext cx="365760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32888" y="2219706"/>
            <a:ext cx="35661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Threshold-heavy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173986"/>
            <a:ext cx="548640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0488" y="2219706"/>
            <a:ext cx="53949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SLO / symptom / impact based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738628"/>
            <a:ext cx="192024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2784348"/>
            <a:ext cx="182880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Incident role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2738628"/>
            <a:ext cx="365760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32888" y="2784348"/>
            <a:ext cx="35661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Escalate to SME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2738628"/>
            <a:ext cx="548640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0488" y="2784348"/>
            <a:ext cx="53949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Diagnose, mitigate, automate, learn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03270"/>
            <a:ext cx="192024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3348989"/>
            <a:ext cx="182880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7168" y="3303270"/>
            <a:ext cx="365760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32888" y="3348989"/>
            <a:ext cx="35661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Scripts / ad hoc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303270"/>
            <a:ext cx="548640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0488" y="3348989"/>
            <a:ext cx="53949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Versioned, tested, governed automation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867912"/>
            <a:ext cx="192024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3913632"/>
            <a:ext cx="182880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87168" y="3867912"/>
            <a:ext cx="365760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32888" y="3913632"/>
            <a:ext cx="35661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Availability / ticket volume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3867912"/>
            <a:ext cx="548640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90488" y="3913632"/>
            <a:ext cx="53949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SLO, MTTR, toil, change failure, error budget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432554"/>
            <a:ext cx="192024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" y="4478274"/>
            <a:ext cx="182880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Knowledge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87168" y="4432554"/>
            <a:ext cx="365760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32888" y="4478274"/>
            <a:ext cx="35661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Runbooks + tribal knowledge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4432554"/>
            <a:ext cx="548640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90488" y="4478274"/>
            <a:ext cx="53949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Code + runbooks + telemetry + service map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997196"/>
            <a:ext cx="192024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2648" y="5042916"/>
            <a:ext cx="182880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Change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87168" y="4997196"/>
            <a:ext cx="365760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532888" y="5042916"/>
            <a:ext cx="35661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Execute approved changes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44768" y="4997196"/>
            <a:ext cx="5486400" cy="56464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90488" y="5042916"/>
            <a:ext cx="53949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Engineer safer changes + validate impact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561838"/>
            <a:ext cx="192024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2648" y="5607558"/>
            <a:ext cx="182880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Continuous improvement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87168" y="5561838"/>
            <a:ext cx="365760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32888" y="5607558"/>
            <a:ext cx="35661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Problem management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44768" y="5561838"/>
            <a:ext cx="5486400" cy="56464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90488" y="5607558"/>
            <a:ext cx="539496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B6E"/>
                </a:solidFill>
                <a:latin typeface="Aptos"/>
              </a:defRPr>
            </a:pPr>
            <a:r>
              <a:t>Reliability backlog + error-budget driven work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Reference architecture — systems of insight →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2057400"/>
            <a:ext cx="16642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2057400"/>
            <a:ext cx="64008" cy="196596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2167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Infrastructure</a:t>
            </a:r>
            <a:br/>
            <a:r>
              <a:t>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532888"/>
            <a:ext cx="137160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0" b="0">
                <a:solidFill>
                  <a:srgbClr val="4A5B6E"/>
                </a:solidFill>
                <a:latin typeface="Aptos"/>
              </a:defRPr>
            </a:pPr>
            <a:r>
              <a:t>Server • Network • Cloud • Middleware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4187952"/>
            <a:ext cx="475488" cy="356616"/>
          </a:xfrm>
          <a:prstGeom prst="round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4297680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8136" y="4297680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16152" y="4297680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1984248" y="3017520"/>
            <a:ext cx="274320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267712" y="2057400"/>
            <a:ext cx="16642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67712" y="2057400"/>
            <a:ext cx="64008" cy="19659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32304" y="2167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Telemetry</a:t>
            </a:r>
            <a:br/>
            <a:r>
              <a:t>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304" y="2532888"/>
            <a:ext cx="137160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0" b="0">
                <a:solidFill>
                  <a:srgbClr val="4A5B6E"/>
                </a:solidFill>
                <a:latin typeface="Aptos"/>
              </a:defRPr>
            </a:pPr>
            <a:r>
              <a:t>OpenTelemetry • exporters • agents</a:t>
            </a:r>
          </a:p>
        </p:txBody>
      </p:sp>
      <p:sp>
        <p:nvSpPr>
          <p:cNvPr id="19" name="Sun 18"/>
          <p:cNvSpPr/>
          <p:nvPr/>
        </p:nvSpPr>
        <p:spPr>
          <a:xfrm>
            <a:off x="2834640" y="4187952"/>
            <a:ext cx="475488" cy="475488"/>
          </a:xfrm>
          <a:prstGeom prst="sun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3931920" y="3017520"/>
            <a:ext cx="274320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15383" y="2057400"/>
            <a:ext cx="16642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15383" y="2057400"/>
            <a:ext cx="64008" cy="1965960"/>
          </a:xfrm>
          <a:prstGeom prst="rect">
            <a:avLst/>
          </a:prstGeom>
          <a:solidFill>
            <a:srgbClr val="3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79975" y="2167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Observability</a:t>
            </a:r>
            <a:br/>
            <a:r>
              <a:t>backends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5" y="2532888"/>
            <a:ext cx="137160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0" b="0">
                <a:solidFill>
                  <a:srgbClr val="4A5B6E"/>
                </a:solidFill>
                <a:latin typeface="Aptos"/>
              </a:defRPr>
            </a:pPr>
            <a:r>
              <a:t>Instana / Dynatrace / Datadog / SolarWinds / Grafana / Splunk</a:t>
            </a:r>
          </a:p>
        </p:txBody>
      </p:sp>
      <p:sp>
        <p:nvSpPr>
          <p:cNvPr id="25" name="Cloud 24"/>
          <p:cNvSpPr/>
          <p:nvPr/>
        </p:nvSpPr>
        <p:spPr>
          <a:xfrm>
            <a:off x="4782312" y="4187952"/>
            <a:ext cx="475488" cy="342351"/>
          </a:xfrm>
          <a:prstGeom prst="cloud">
            <a:avLst/>
          </a:prstGeom>
          <a:solidFill>
            <a:srgbClr val="3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5879592" y="3017520"/>
            <a:ext cx="274320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63055" y="2057400"/>
            <a:ext cx="16642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63055" y="2057400"/>
            <a:ext cx="64008" cy="1965960"/>
          </a:xfrm>
          <a:prstGeom prst="rect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7" y="2167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Correlation &amp;</a:t>
            </a:r>
            <a:br/>
            <a:r>
              <a:t>service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7" y="2532888"/>
            <a:ext cx="137160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0" b="0">
                <a:solidFill>
                  <a:srgbClr val="4A5B6E"/>
                </a:solidFill>
                <a:latin typeface="Aptos"/>
              </a:defRPr>
            </a:pPr>
            <a:r>
              <a:t>ServiceNow ITOM • CMDB/CSDM • topology</a:t>
            </a:r>
          </a:p>
        </p:txBody>
      </p:sp>
      <p:sp>
        <p:nvSpPr>
          <p:cNvPr id="31" name="Hexagon 30"/>
          <p:cNvSpPr/>
          <p:nvPr/>
        </p:nvSpPr>
        <p:spPr>
          <a:xfrm>
            <a:off x="6729983" y="4187952"/>
            <a:ext cx="475488" cy="356616"/>
          </a:xfrm>
          <a:prstGeom prst="hexagon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77532" y="423550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891649" y="423550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834591" y="435912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7827263" y="3017520"/>
            <a:ext cx="274320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110727" y="2057400"/>
            <a:ext cx="16642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10727" y="2057400"/>
            <a:ext cx="64008" cy="1965960"/>
          </a:xfrm>
          <a:prstGeom prst="rect">
            <a:avLst/>
          </a:prstGeom>
          <a:solidFill>
            <a:srgbClr val="2D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75319" y="2167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Action &amp;</a:t>
            </a:r>
            <a:br/>
            <a:r>
              <a:t>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2532888"/>
            <a:ext cx="137160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0" b="0">
                <a:solidFill>
                  <a:srgbClr val="4A5B6E"/>
                </a:solidFill>
                <a:latin typeface="Aptos"/>
              </a:defRPr>
            </a:pPr>
            <a:r>
              <a:t>Incident • change • Ansible • Python • PowerShell • Terraform</a:t>
            </a:r>
          </a:p>
        </p:txBody>
      </p:sp>
      <p:sp>
        <p:nvSpPr>
          <p:cNvPr id="40" name="Pentagon 39"/>
          <p:cNvSpPr/>
          <p:nvPr/>
        </p:nvSpPr>
        <p:spPr>
          <a:xfrm>
            <a:off x="8677655" y="4187952"/>
            <a:ext cx="475488" cy="475488"/>
          </a:xfrm>
          <a:prstGeom prst="homePlate">
            <a:avLst/>
          </a:prstGeom>
          <a:solidFill>
            <a:srgbClr val="2D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9774936" y="3017520"/>
            <a:ext cx="274319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058399" y="2057400"/>
            <a:ext cx="16642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058399" y="2057400"/>
            <a:ext cx="64008" cy="1965960"/>
          </a:xfrm>
          <a:prstGeom prst="rect">
            <a:avLst/>
          </a:prstGeom>
          <a:solidFill>
            <a:srgbClr val="4A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22991" y="2167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Reliability</a:t>
            </a:r>
            <a:br/>
            <a:r>
              <a:t>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22991" y="2532888"/>
            <a:ext cx="137160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0" b="0">
                <a:solidFill>
                  <a:srgbClr val="4A5B6E"/>
                </a:solidFill>
                <a:latin typeface="Aptos"/>
              </a:defRPr>
            </a:pPr>
            <a:r>
              <a:t>SLOs • MTTR • toil • resilience • capacity</a:t>
            </a:r>
          </a:p>
        </p:txBody>
      </p:sp>
      <p:sp>
        <p:nvSpPr>
          <p:cNvPr id="46" name="Can 45"/>
          <p:cNvSpPr/>
          <p:nvPr/>
        </p:nvSpPr>
        <p:spPr>
          <a:xfrm>
            <a:off x="10625327" y="4187952"/>
            <a:ext cx="380390" cy="475488"/>
          </a:xfrm>
          <a:prstGeom prst="can">
            <a:avLst/>
          </a:prstGeom>
          <a:solidFill>
            <a:srgbClr val="4A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51663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253F"/>
                </a:solidFill>
                <a:latin typeface="Aptos"/>
              </a:defRPr>
            </a:pPr>
            <a:r>
              <a:t>Telemetry is a transport / standardization concern; observability backends are systems of insight; ITOM/ITSM is the system of action.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65099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4A5B6E"/>
                </a:solidFill>
                <a:latin typeface="Aptos"/>
              </a:defRPr>
            </a:pPr>
            <a:r>
              <a:t>OpenTelemetry is vendor-neutral and supports metrics, logs and traces; its Collector can receive, process and export telemetry to multiple backends.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Source: OpenTelemetry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Observability capability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41732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1161288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1">
                <a:solidFill>
                  <a:srgbClr val="FFFFFF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097280"/>
            <a:ext cx="274320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11095" y="1161288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1">
                <a:solidFill>
                  <a:srgbClr val="FFFFFF"/>
                </a:solidFill>
                <a:latin typeface="Aptos"/>
              </a:defRPr>
            </a:pPr>
            <a:r>
              <a:t>Why SRE needs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97280"/>
            <a:ext cx="324612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4296" y="1161288"/>
            <a:ext cx="3172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1">
                <a:solidFill>
                  <a:srgbClr val="FFFFFF"/>
                </a:solidFill>
                <a:latin typeface="Aptos"/>
              </a:defRPr>
            </a:pPr>
            <a:r>
              <a:t>Preferred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097280"/>
            <a:ext cx="384048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0415" y="1161288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1">
                <a:solidFill>
                  <a:srgbClr val="FFFFFF"/>
                </a:solidFill>
                <a:latin typeface="Aptos"/>
              </a:defRPr>
            </a:pPr>
            <a:r>
              <a:t>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17904"/>
            <a:ext cx="141732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563624"/>
            <a:ext cx="132588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0">
                <a:solidFill>
                  <a:srgbClr val="4A5B6E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1517904"/>
            <a:ext cx="274320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20239" y="1563624"/>
            <a:ext cx="265176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Capacity, saturation, latency, availability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517904"/>
            <a:ext cx="324612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563624"/>
            <a:ext cx="3154679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Standard labels + SLO-friendly time series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517904"/>
            <a:ext cx="384048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1563624"/>
            <a:ext cx="374904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Prometheus • Azure Monitor • SolarWinds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099690"/>
            <a:ext cx="141732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145410"/>
            <a:ext cx="132588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0">
                <a:solidFill>
                  <a:srgbClr val="4A5B6E"/>
                </a:solidFill>
                <a:latin typeface="Aptos"/>
              </a:defRPr>
            </a:pPr>
            <a:r>
              <a:t>Logs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099690"/>
            <a:ext cx="274320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20239" y="2145410"/>
            <a:ext cx="265176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Forensics, security-adjacent diagnostics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099690"/>
            <a:ext cx="324612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2145410"/>
            <a:ext cx="3154679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Centralized, searchable, correlated to service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2099690"/>
            <a:ext cx="384048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9560" y="2145410"/>
            <a:ext cx="374904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Splunk • Elastic • Loki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81478"/>
            <a:ext cx="141732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2727198"/>
            <a:ext cx="132588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0">
                <a:solidFill>
                  <a:srgbClr val="4A5B6E"/>
                </a:solidFill>
                <a:latin typeface="Aptos"/>
              </a:defRPr>
            </a:pPr>
            <a:r>
              <a:t>Traces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2681478"/>
            <a:ext cx="274320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20239" y="2727198"/>
            <a:ext cx="265176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Cross-service latency &amp; dependency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2681478"/>
            <a:ext cx="324612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63440" y="2727198"/>
            <a:ext cx="3154679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OpenTelemetry traces + service map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2681478"/>
            <a:ext cx="384048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09560" y="2727198"/>
            <a:ext cx="374904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Instana • Dynatrace • Datadog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263264"/>
            <a:ext cx="141732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3308984"/>
            <a:ext cx="132588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0">
                <a:solidFill>
                  <a:srgbClr val="4A5B6E"/>
                </a:solidFill>
                <a:latin typeface="Aptos"/>
              </a:defRPr>
            </a:pPr>
            <a:r>
              <a:t>Topology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3263264"/>
            <a:ext cx="274320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920239" y="3308984"/>
            <a:ext cx="265176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Impact analysis and RCA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3263264"/>
            <a:ext cx="324612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63440" y="3308984"/>
            <a:ext cx="3154679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Dynamic dependency graph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3263264"/>
            <a:ext cx="384048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09560" y="3308984"/>
            <a:ext cx="374904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ServiceNow CSDM • Instana • Dynatrace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45052"/>
            <a:ext cx="141732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3890772"/>
            <a:ext cx="132588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0">
                <a:solidFill>
                  <a:srgbClr val="4A5B6E"/>
                </a:solidFill>
                <a:latin typeface="Aptos"/>
              </a:defRPr>
            </a:pPr>
            <a:r>
              <a:t>Synthetics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19" y="3845052"/>
            <a:ext cx="274320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20239" y="3890772"/>
            <a:ext cx="265176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Detect user-facing failure before tickets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3845052"/>
            <a:ext cx="324612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663440" y="3890772"/>
            <a:ext cx="3154679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Critical journeys / network paths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3845052"/>
            <a:ext cx="384048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09560" y="3890772"/>
            <a:ext cx="374904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ThousandEyes • k6 • App Insights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426839"/>
            <a:ext cx="141732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4472558"/>
            <a:ext cx="132588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0">
                <a:solidFill>
                  <a:srgbClr val="4A5B6E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74519" y="4426839"/>
            <a:ext cx="274320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920239" y="4472558"/>
            <a:ext cx="265176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Noise reduction and actionability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4426839"/>
            <a:ext cx="324612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663440" y="4472558"/>
            <a:ext cx="3154679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Dedup + correlation + enrichment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0" y="4426839"/>
            <a:ext cx="384048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909560" y="4472558"/>
            <a:ext cx="374904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ServiceNow ITOM • observability platform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008626"/>
            <a:ext cx="141732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5054346"/>
            <a:ext cx="132588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0">
                <a:solidFill>
                  <a:srgbClr val="4A5B6E"/>
                </a:solidFill>
                <a:latin typeface="Aptos"/>
              </a:defRPr>
            </a:pPr>
            <a:r>
              <a:t>SLOs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74519" y="5008626"/>
            <a:ext cx="274320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920239" y="5054346"/>
            <a:ext cx="265176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Reliability contract with business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5008626"/>
            <a:ext cx="324612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663440" y="5054346"/>
            <a:ext cx="3154679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SLI → SLO → error budget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0" y="5008626"/>
            <a:ext cx="3840480" cy="581787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09560" y="5054346"/>
            <a:ext cx="374904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ServiceNow SRM / dashboards / custom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590413"/>
            <a:ext cx="141732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2920" y="5636132"/>
            <a:ext cx="132588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0">
                <a:solidFill>
                  <a:srgbClr val="4A5B6E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74519" y="5590413"/>
            <a:ext cx="274320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920239" y="5636132"/>
            <a:ext cx="265176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Reduce toil and MTTR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17720" y="5590413"/>
            <a:ext cx="324612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63440" y="5636132"/>
            <a:ext cx="3154679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Guardrailed, auditable workflows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0" y="5590413"/>
            <a:ext cx="3840480" cy="581787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909560" y="5636132"/>
            <a:ext cx="3749040" cy="49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90" b="0">
                <a:solidFill>
                  <a:srgbClr val="4A5B6E"/>
                </a:solidFill>
                <a:latin typeface="Aptos"/>
              </a:defRPr>
            </a:pPr>
            <a:r>
              <a:t>Ansible • Python • PowerShell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Tool landscape — where each class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16636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64008" cy="1353312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252728"/>
            <a:ext cx="4873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Core observability / APM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7335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F5B99"/>
                </a:solidFill>
                <a:latin typeface="Aptos"/>
              </a:defRPr>
            </a:pPr>
            <a:r>
              <a:t>IBM Instana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645920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67335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F5B99"/>
                </a:solidFill>
                <a:latin typeface="Aptos"/>
              </a:defRPr>
            </a:pPr>
            <a:r>
              <a:t>Dynatrace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011680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03911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F5B99"/>
                </a:solidFill>
                <a:latin typeface="Aptos"/>
              </a:defRPr>
            </a:pPr>
            <a:r>
              <a:t>Datadog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011680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203911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F5B99"/>
                </a:solidFill>
                <a:latin typeface="Aptos"/>
              </a:defRPr>
            </a:pPr>
            <a:r>
              <a:t>New Relic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377440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40487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F5B99"/>
                </a:solidFill>
                <a:latin typeface="Aptos"/>
              </a:defRPr>
            </a:pPr>
            <a:r>
              <a:t>Splunk Observability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143000"/>
            <a:ext cx="516636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143000"/>
            <a:ext cx="64008" cy="1353312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1252728"/>
            <a:ext cx="4873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Traditional infra / network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645920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67335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08F97"/>
                </a:solidFill>
                <a:latin typeface="Aptos"/>
              </a:defRPr>
            </a:pPr>
            <a:r>
              <a:t>SolarWinds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645920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167335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08F97"/>
                </a:solidFill>
                <a:latin typeface="Aptos"/>
              </a:defRPr>
            </a:pPr>
            <a:r>
              <a:t>LogicMonitor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011680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03911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08F97"/>
                </a:solidFill>
                <a:latin typeface="Aptos"/>
              </a:defRPr>
            </a:pPr>
            <a:r>
              <a:t>PRTG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2011680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203911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08F97"/>
                </a:solidFill>
                <a:latin typeface="Aptos"/>
              </a:defRPr>
            </a:pPr>
            <a:r>
              <a:t>Native Cisco/Arista telemetry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2807208"/>
            <a:ext cx="5166360" cy="1353312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2807208"/>
            <a:ext cx="64008" cy="1353312"/>
          </a:xfrm>
          <a:prstGeom prst="rect">
            <a:avLst/>
          </a:prstGeom>
          <a:solidFill>
            <a:srgbClr val="3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2916936"/>
            <a:ext cx="4873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Cloud-native / OSS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310128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333756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0AABE"/>
                </a:solidFill>
                <a:latin typeface="Aptos"/>
              </a:defRPr>
            </a:pPr>
            <a:r>
              <a:t>Prometheus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46120" y="3310128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46120" y="333756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0AABE"/>
                </a:solidFill>
                <a:latin typeface="Aptos"/>
              </a:defRPr>
            </a:pPr>
            <a:r>
              <a:t>Grafana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675888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37033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0AABE"/>
                </a:solidFill>
                <a:latin typeface="Aptos"/>
              </a:defRPr>
            </a:pPr>
            <a:r>
              <a:t>Loki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3675888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46120" y="37033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0AABE"/>
                </a:solidFill>
                <a:latin typeface="Aptos"/>
              </a:defRPr>
            </a:pPr>
            <a:r>
              <a:t>Tempo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041648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406908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0AABE"/>
                </a:solidFill>
                <a:latin typeface="Aptos"/>
              </a:defRPr>
            </a:pPr>
            <a:r>
              <a:t>OpenTelemetry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2807208"/>
            <a:ext cx="5166360" cy="1353312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17920" y="2807208"/>
            <a:ext cx="64008" cy="1353312"/>
          </a:xfrm>
          <a:prstGeom prst="rect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82512" y="2916936"/>
            <a:ext cx="4873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Logs / security analytics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3310128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333756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1253F"/>
                </a:solidFill>
                <a:latin typeface="Aptos"/>
              </a:defRPr>
            </a:pPr>
            <a:r>
              <a:t>Splunk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69680" y="3310128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69680" y="333756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1253F"/>
                </a:solidFill>
                <a:latin typeface="Aptos"/>
              </a:defRPr>
            </a:pPr>
            <a:r>
              <a:t>Elastic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3675888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37033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1253F"/>
                </a:solidFill>
                <a:latin typeface="Aptos"/>
              </a:defRPr>
            </a:pPr>
            <a:r>
              <a:t>Microsoft Sentinel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" y="4471416"/>
            <a:ext cx="516636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94360" y="4471416"/>
            <a:ext cx="64008" cy="1353312"/>
          </a:xfrm>
          <a:prstGeom prst="rect">
            <a:avLst/>
          </a:prstGeom>
          <a:solidFill>
            <a:srgbClr val="2D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58952" y="4581144"/>
            <a:ext cx="4873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ITOM / AIOps / action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" y="4974336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7240" y="50017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2D8B5E"/>
                </a:solidFill>
                <a:latin typeface="Aptos"/>
              </a:defRPr>
            </a:pPr>
            <a:r>
              <a:t>ServiceNow ITOM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46120" y="4974336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46120" y="50017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2D8B5E"/>
                </a:solidFill>
                <a:latin typeface="Aptos"/>
              </a:defRPr>
            </a:pPr>
            <a:r>
              <a:t>PagerDuty / Opsgenie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4471416"/>
            <a:ext cx="516636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17920" y="4471416"/>
            <a:ext cx="64008" cy="1353312"/>
          </a:xfrm>
          <a:prstGeom prst="rect">
            <a:avLst/>
          </a:prstGeom>
          <a:solidFill>
            <a:srgbClr val="4A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82512" y="4581144"/>
            <a:ext cx="4873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253F"/>
                </a:solidFill>
                <a:latin typeface="Aptos"/>
              </a:defRPr>
            </a:pPr>
            <a:r>
              <a:t>Automation / IaC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4974336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0" y="50017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4A5B6E"/>
                </a:solidFill>
                <a:latin typeface="Aptos"/>
              </a:defRPr>
            </a:pPr>
            <a:r>
              <a:t>Ansible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69680" y="4974336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869680" y="50017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4A5B6E"/>
                </a:solidFill>
                <a:latin typeface="Aptos"/>
              </a:defRPr>
            </a:pPr>
            <a:r>
              <a:t>Terraform / OpenTofu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0" y="5340096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00800" y="5367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4A5B6E"/>
                </a:solidFill>
                <a:latin typeface="Aptos"/>
              </a:defRPr>
            </a:pPr>
            <a:r>
              <a:t>PowerShell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869680" y="5340096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869680" y="5367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4A5B6E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0" y="5705856"/>
            <a:ext cx="2240280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00800" y="573328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4A5B6E"/>
                </a:solidFill>
                <a:latin typeface="Aptos"/>
              </a:defRPr>
            </a:pPr>
            <a:r>
              <a:t>Rundeck-style runbooks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619963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1253F"/>
                </a:solidFill>
                <a:latin typeface="Aptos"/>
              </a:defRPr>
            </a:pPr>
            <a:r>
              <a:t>Recommendation: rationalize by capability, then run a POC against the actual estate. Avoid overlapping tools that each generate their own alerts and dashboards.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Detailed observability vendor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150876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5176" y="1161288"/>
            <a:ext cx="1435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1">
                <a:solidFill>
                  <a:srgbClr val="FFFFFF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097280"/>
            <a:ext cx="12344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73936" y="1161288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1">
                <a:solidFill>
                  <a:srgbClr val="FFFFFF"/>
                </a:solidFill>
                <a:latin typeface="Aptos"/>
              </a:defRPr>
            </a:pPr>
            <a:r>
              <a:t>Full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097280"/>
            <a:ext cx="12344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08376" y="1161288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1">
                <a:solidFill>
                  <a:srgbClr val="FFFFFF"/>
                </a:solidFill>
                <a:latin typeface="Aptos"/>
              </a:defRPr>
            </a:pPr>
            <a:r>
              <a:t>Infra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12344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42816" y="1161288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1">
                <a:solidFill>
                  <a:srgbClr val="FFFFFF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79" y="1097280"/>
            <a:ext cx="12344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77255" y="1161288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1">
                <a:solidFill>
                  <a:srgbClr val="FFFFFF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19" y="1097280"/>
            <a:ext cx="141732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11695" y="1161288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1">
                <a:solidFill>
                  <a:srgbClr val="FFFFFF"/>
                </a:solidFill>
                <a:latin typeface="Aptos"/>
              </a:defRPr>
            </a:pPr>
            <a:r>
              <a:t>APM / trace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097280"/>
            <a:ext cx="12344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9015" y="1161288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1">
                <a:solidFill>
                  <a:srgbClr val="FFFFFF"/>
                </a:solidFill>
                <a:latin typeface="Aptos"/>
              </a:defRPr>
            </a:pPr>
            <a:r>
              <a:t>AI / RCA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097280"/>
            <a:ext cx="12344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63455" y="1161288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1">
                <a:solidFill>
                  <a:srgbClr val="FFFFFF"/>
                </a:solidFill>
                <a:latin typeface="Aptos"/>
              </a:defRPr>
            </a:pPr>
            <a:r>
              <a:t>OTel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61319" y="1097280"/>
            <a:ext cx="12344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97895" y="1161288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1">
                <a:solidFill>
                  <a:srgbClr val="FFFFFF"/>
                </a:solidFill>
                <a:latin typeface="Aptos"/>
              </a:defRPr>
            </a:pPr>
            <a:r>
              <a:t>Hybrid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517904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1563624"/>
            <a:ext cx="14173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A5B6E"/>
                </a:solidFill>
                <a:latin typeface="Aptos"/>
              </a:defRPr>
            </a:pPr>
            <a:r>
              <a:t>IBM Instana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1517904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73936" y="156362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04872" y="1572768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04872" y="160020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1517904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08376" y="156362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39311" y="1572768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39311" y="160020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1517904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42816" y="156362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73751" y="1572768"/>
            <a:ext cx="493776" cy="283464"/>
          </a:xfrm>
          <a:prstGeom prst="roundRect">
            <a:avLst/>
          </a:prstGeom>
          <a:solidFill>
            <a:srgbClr val="CF8F2B"/>
          </a:solidFill>
          <a:ln>
            <a:solidFill>
              <a:srgbClr val="CF8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73751" y="160020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79" y="1517904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77255" y="156362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08191" y="1572768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08191" y="160020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19" y="1517904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11695" y="1563624"/>
            <a:ext cx="1344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25512" y="1572768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25512" y="160020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92440" y="1517904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29015" y="156362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59952" y="1572768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59952" y="160020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1517904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63455" y="156362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94392" y="1572768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94392" y="160020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61319" y="1517904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597895" y="156362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228832" y="1572768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228832" y="160020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2176272"/>
            <a:ext cx="150876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4320" y="2221991"/>
            <a:ext cx="14173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A5B6E"/>
                </a:solidFill>
                <a:latin typeface="Aptos"/>
              </a:defRPr>
            </a:pPr>
            <a:r>
              <a:t>Dynatrace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37360" y="2176272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773936" y="2221991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04872" y="2231136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404872" y="225856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71800" y="2176272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08376" y="2221991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39311" y="2231136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39311" y="225856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2176272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242816" y="2221991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873751" y="2231136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873751" y="225856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40679" y="2176272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77255" y="2221991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08191" y="2231136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108191" y="225856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75119" y="2176272"/>
            <a:ext cx="141732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711695" y="2221991"/>
            <a:ext cx="1344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25512" y="2231136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525512" y="225856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92440" y="2176272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129015" y="2221991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759952" y="2231136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759952" y="225856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6880" y="2176272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363455" y="2221991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994392" y="2231136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994392" y="225856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1319" y="2176272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597895" y="2221991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1228832" y="2231136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1228832" y="225856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600" y="2834639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74320" y="2880359"/>
            <a:ext cx="14173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A5B6E"/>
                </a:solidFill>
                <a:latin typeface="Aptos"/>
              </a:defRPr>
            </a:pPr>
            <a:r>
              <a:t>Datadog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37360" y="2834639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773936" y="2880359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404872" y="2889503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404872" y="2916935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71800" y="2834639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008376" y="2880359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39311" y="2889503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639311" y="2916935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06240" y="2834639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242816" y="2880359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873751" y="2889503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73751" y="2916935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40679" y="2834639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477255" y="2880359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108191" y="2889503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108191" y="2916935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675119" y="2834639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711695" y="2880359"/>
            <a:ext cx="1344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525512" y="2889503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525512" y="2916935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092440" y="2834639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129015" y="2880359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759952" y="2889503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759952" y="2916935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326880" y="2834639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363455" y="2880359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994392" y="2889503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994392" y="2916935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561319" y="2834639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0597895" y="2880359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1228832" y="2889503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1228832" y="2916935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8600" y="3493008"/>
            <a:ext cx="150876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274320" y="3538728"/>
            <a:ext cx="14173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A5B6E"/>
                </a:solidFill>
                <a:latin typeface="Aptos"/>
              </a:defRPr>
            </a:pPr>
            <a:r>
              <a:t>New Relic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737360" y="3493008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773936" y="3538728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404872" y="3547872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2404872" y="3575304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971800" y="3493008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008376" y="3538728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639311" y="3547872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639311" y="3575304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206240" y="3493008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4242816" y="3538728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873751" y="3547872"/>
            <a:ext cx="493776" cy="283464"/>
          </a:xfrm>
          <a:prstGeom prst="roundRect">
            <a:avLst/>
          </a:prstGeom>
          <a:solidFill>
            <a:srgbClr val="CF8F2B"/>
          </a:solidFill>
          <a:ln>
            <a:solidFill>
              <a:srgbClr val="CF8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4873751" y="3575304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440679" y="3493008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5477255" y="3538728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108191" y="3547872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6108191" y="3575304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675119" y="3493008"/>
            <a:ext cx="141732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711695" y="3538728"/>
            <a:ext cx="1344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525512" y="3547872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525512" y="3575304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092440" y="3493008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8129015" y="3538728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759952" y="3547872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8759952" y="3575304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326880" y="3493008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363455" y="3538728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994392" y="3547872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9994392" y="3575304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561319" y="3493008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0597895" y="3538728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1228832" y="3547872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1228832" y="3575304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28600" y="4151376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274320" y="4197096"/>
            <a:ext cx="14173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A5B6E"/>
                </a:solidFill>
                <a:latin typeface="Aptos"/>
              </a:defRPr>
            </a:pPr>
            <a:r>
              <a:t>SolarWinds HCO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737360" y="4151376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773936" y="4197096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404872" y="4206240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404872" y="423367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971800" y="4151376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008376" y="4197096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639311" y="4206240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3639311" y="423367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206240" y="4151376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4242816" y="4197096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873751" y="4206240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873751" y="423367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440679" y="4151376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5477255" y="4197096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108191" y="4206240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6108191" y="423367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675119" y="4151376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6711695" y="4197096"/>
            <a:ext cx="1344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7525512" y="4206240"/>
            <a:ext cx="493776" cy="283464"/>
          </a:xfrm>
          <a:prstGeom prst="roundRect">
            <a:avLst/>
          </a:prstGeom>
          <a:solidFill>
            <a:srgbClr val="CF8F2B"/>
          </a:solidFill>
          <a:ln>
            <a:solidFill>
              <a:srgbClr val="CF8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7525512" y="423367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092440" y="4151376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8129015" y="4197096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8759952" y="4206240"/>
            <a:ext cx="493776" cy="283464"/>
          </a:xfrm>
          <a:prstGeom prst="roundRect">
            <a:avLst/>
          </a:prstGeom>
          <a:solidFill>
            <a:srgbClr val="CF8F2B"/>
          </a:solidFill>
          <a:ln>
            <a:solidFill>
              <a:srgbClr val="CF8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8759952" y="423367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326880" y="4151376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9363455" y="4197096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9994392" y="4206240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9994392" y="423367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0561319" y="4151376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10597895" y="4197096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1228832" y="4206240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11228832" y="423367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28600" y="4809744"/>
            <a:ext cx="150876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74320" y="4855464"/>
            <a:ext cx="14173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A5B6E"/>
                </a:solidFill>
                <a:latin typeface="Aptos"/>
              </a:defRPr>
            </a:pPr>
            <a:r>
              <a:t>Splunk Observability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737360" y="4809744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1773936" y="485546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2404872" y="4864607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2404872" y="489204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971800" y="4809744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3008376" y="485546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3639311" y="4864607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3639311" y="489204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206240" y="4809744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4242816" y="485546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4873751" y="4864607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4873751" y="489204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5440679" y="4809744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5477255" y="485546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6108191" y="4864607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6108191" y="489204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675119" y="4809744"/>
            <a:ext cx="141732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6711695" y="4855464"/>
            <a:ext cx="1344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7525512" y="4864607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525512" y="489204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092440" y="4809744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8129015" y="485546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8759952" y="4864607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8759952" y="489204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326880" y="4809744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9363455" y="485546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9994392" y="4864607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9994392" y="489204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0561319" y="4809744"/>
            <a:ext cx="12344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10597895" y="4855464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11228832" y="4864607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11228832" y="489204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228600" y="5468112"/>
            <a:ext cx="1508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274320" y="5513832"/>
            <a:ext cx="14173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A5B6E"/>
                </a:solidFill>
                <a:latin typeface="Aptos"/>
              </a:defRPr>
            </a:pPr>
            <a:r>
              <a:t>Grafana + Prometheus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737360" y="5468112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1773936" y="5513832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2404872" y="5522976"/>
            <a:ext cx="493776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2404872" y="555040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2971800" y="5468112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3008376" y="5513832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3639311" y="5522976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3639311" y="555040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206240" y="5468112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4242816" y="5513832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4873751" y="5522976"/>
            <a:ext cx="493776" cy="283464"/>
          </a:xfrm>
          <a:prstGeom prst="roundRect">
            <a:avLst/>
          </a:prstGeom>
          <a:solidFill>
            <a:srgbClr val="CF8F2B"/>
          </a:solidFill>
          <a:ln>
            <a:solidFill>
              <a:srgbClr val="CF8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873751" y="555040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5440679" y="5468112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5477255" y="5513832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6108191" y="5522976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6108191" y="555040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675119" y="5468112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711695" y="5513832"/>
            <a:ext cx="1344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7525512" y="5522976"/>
            <a:ext cx="493776" cy="283464"/>
          </a:xfrm>
          <a:prstGeom prst="roundRect">
            <a:avLst/>
          </a:prstGeom>
          <a:solidFill>
            <a:srgbClr val="CF8F2B"/>
          </a:solidFill>
          <a:ln>
            <a:solidFill>
              <a:srgbClr val="CF8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7525512" y="555040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092440" y="5468112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8129015" y="5513832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8759952" y="5522976"/>
            <a:ext cx="493776" cy="283464"/>
          </a:xfrm>
          <a:prstGeom prst="roundRect">
            <a:avLst/>
          </a:prstGeom>
          <a:solidFill>
            <a:srgbClr val="CF8F2B"/>
          </a:solidFill>
          <a:ln>
            <a:solidFill>
              <a:srgbClr val="CF8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8759952" y="555040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326880" y="5468112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9363455" y="5513832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9994392" y="5522976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9994392" y="555040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10561319" y="5468112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10597895" y="5513832"/>
            <a:ext cx="1161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10" b="0">
                <a:solidFill>
                  <a:srgbClr val="4A5B6E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11228832" y="5522976"/>
            <a:ext cx="493776" cy="283464"/>
          </a:xfrm>
          <a:prstGeom prst="roundRect">
            <a:avLst/>
          </a:prstGeom>
          <a:solidFill>
            <a:srgbClr val="2D8B5E"/>
          </a:solidFill>
          <a:ln>
            <a:solidFill>
              <a:srgbClr val="2D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11228832" y="555040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502920" y="6181344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87582"/>
                </a:solidFill>
                <a:latin typeface="Aptos"/>
              </a:defRPr>
            </a:pPr>
            <a:r>
              <a:t>Directional comparison only — not a procurement score. Validate licensing model, data volume, deployment architecture, support model and actual integrations during POC.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Sources: vendor product documentation; OpenTelemetry ecosystem documentation. Ratings are architectural judgment, not vendor claims.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Server tower — SRE tool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640080" cy="480059"/>
          </a:xfrm>
          <a:prstGeom prst="round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3231" y="125272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125272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9264" y="125272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61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253F"/>
                </a:solidFill>
                <a:latin typeface="Aptos"/>
              </a:defRPr>
            </a:pPr>
            <a:r>
              <a:t>Primary SRE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133856"/>
            <a:ext cx="1417320" cy="283464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16128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253F"/>
                </a:solidFill>
                <a:latin typeface="Aptos"/>
              </a:defRPr>
            </a:pPr>
            <a:r>
              <a:t>Patch / reboot safety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133856"/>
            <a:ext cx="1417320" cy="283464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116128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253F"/>
                </a:solidFill>
                <a:latin typeface="Aptos"/>
              </a:defRPr>
            </a:pPr>
            <a:r>
              <a:t>Capacity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133856"/>
            <a:ext cx="1143000" cy="283464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16128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253F"/>
                </a:solidFill>
                <a:latin typeface="Aptos"/>
              </a:defRPr>
            </a:pPr>
            <a:r>
              <a:t>OS health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133856"/>
            <a:ext cx="1325880" cy="283464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1161288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253F"/>
                </a:solidFill>
                <a:latin typeface="Aptos"/>
              </a:defRPr>
            </a:pPr>
            <a:r>
              <a:t>Auto-remediation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133856"/>
            <a:ext cx="1280160" cy="283464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1612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253F"/>
                </a:solidFill>
                <a:latin typeface="Aptos"/>
              </a:defRPr>
            </a:pPr>
            <a:r>
              <a:t>DR / resilience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920240"/>
            <a:ext cx="196596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9496" y="1984248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Need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1920240"/>
            <a:ext cx="388620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05456" y="1984248"/>
            <a:ext cx="3813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Preferred tools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920240"/>
            <a:ext cx="53492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1984248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Role in SRE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340864"/>
            <a:ext cx="196596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386584"/>
            <a:ext cx="1874519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4A5B6E"/>
                </a:solidFill>
                <a:latin typeface="Aptos"/>
              </a:defRPr>
            </a:pPr>
            <a:r>
              <a:t>Windows / Linux monitoring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2340864"/>
            <a:ext cx="388620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4600" y="2386584"/>
            <a:ext cx="379476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SolarWinds • Instana • Dynatrace • SCOM where retained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2340864"/>
            <a:ext cx="534924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525780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Baseline health, performance, dependency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835946"/>
            <a:ext cx="1965960" cy="49508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2881666"/>
            <a:ext cx="1874519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4A5B6E"/>
                </a:solidFill>
                <a:latin typeface="Aptos"/>
              </a:defRPr>
            </a:pPr>
            <a:r>
              <a:t>Logs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2835946"/>
            <a:ext cx="3886200" cy="49508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14600" y="2881666"/>
            <a:ext cx="379476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Splunk • Elastic • Loki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2835946"/>
            <a:ext cx="5349240" cy="49508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2881666"/>
            <a:ext cx="525780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Event forensics; correlate with host/service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331028"/>
            <a:ext cx="196596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376748"/>
            <a:ext cx="1874519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4A5B6E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3331028"/>
            <a:ext cx="388620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514600" y="3376748"/>
            <a:ext cx="379476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Ansible • PowerShell • Bash • Python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331028"/>
            <a:ext cx="534924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3376748"/>
            <a:ext cx="525780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Restart, service checks, remediation, compliance checks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826110"/>
            <a:ext cx="1965960" cy="49508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871830"/>
            <a:ext cx="1874519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4A5B6E"/>
                </a:solidFill>
                <a:latin typeface="Aptos"/>
              </a:defRPr>
            </a:pPr>
            <a:r>
              <a:t>Config / IaC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3826110"/>
            <a:ext cx="3886200" cy="49508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14600" y="3871830"/>
            <a:ext cx="379476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Git • Ansible • Terraform/OpenTofu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26110"/>
            <a:ext cx="5349240" cy="49508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3871830"/>
            <a:ext cx="525780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Version-controlled desired state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321193"/>
            <a:ext cx="196596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4366913"/>
            <a:ext cx="1874519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4A5B6E"/>
                </a:solidFill>
                <a:latin typeface="Aptos"/>
              </a:defRPr>
            </a:pPr>
            <a:r>
              <a:t>Capacity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0" y="4321193"/>
            <a:ext cx="388620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514600" y="4366913"/>
            <a:ext cx="379476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Prometheus/Grafana • SolarWinds • Instana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4321193"/>
            <a:ext cx="534924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0" y="4366913"/>
            <a:ext cx="525780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Trend, saturation, forecast and right-size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816275"/>
            <a:ext cx="1965960" cy="49508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8640" y="4861995"/>
            <a:ext cx="1874519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4A5B6E"/>
                </a:solidFill>
                <a:latin typeface="Aptos"/>
              </a:defRPr>
            </a:pPr>
            <a:r>
              <a:t>Patching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8880" y="4816275"/>
            <a:ext cx="3886200" cy="49508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514600" y="4861995"/>
            <a:ext cx="379476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Existing enterprise patch platform + automation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4816275"/>
            <a:ext cx="5349240" cy="495082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0" y="4861995"/>
            <a:ext cx="525780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Orchestrate, validate, rollback/exception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5311357"/>
            <a:ext cx="196596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8640" y="5357077"/>
            <a:ext cx="1874519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4A5B6E"/>
                </a:solidFill>
                <a:latin typeface="Aptos"/>
              </a:defRPr>
            </a:pPr>
            <a:r>
              <a:t>Resilience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8880" y="5311357"/>
            <a:ext cx="388620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514600" y="5357077"/>
            <a:ext cx="379476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Veeam/backup tooling + runbooks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55080" y="5311357"/>
            <a:ext cx="5349240" cy="495082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0" y="5357077"/>
            <a:ext cx="5257800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" b="0">
                <a:solidFill>
                  <a:srgbClr val="4A5B6E"/>
                </a:solidFill>
                <a:latin typeface="Aptos"/>
              </a:defRPr>
            </a:pPr>
            <a:r>
              <a:t>Recovery validation and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Network tower — SRE tool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>
            <a:off x="640080" y="1143000"/>
            <a:ext cx="640080" cy="480059"/>
          </a:xfrm>
          <a:prstGeom prst="hexagon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7" y="120700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" y="120700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80897" y="137342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612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253F"/>
                </a:solidFill>
                <a:latin typeface="Aptos"/>
              </a:defRPr>
            </a:pPr>
            <a:r>
              <a:t>Design around service paths, not device counts.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01168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" y="1892807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Need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828800"/>
            <a:ext cx="388620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51176" y="1892807"/>
            <a:ext cx="3813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Candidate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530352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1892807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SRE 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49424"/>
            <a:ext cx="2011680" cy="5547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295144"/>
            <a:ext cx="192024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5B6E"/>
                </a:solidFill>
                <a:latin typeface="Aptos"/>
              </a:defRPr>
            </a:pPr>
            <a:r>
              <a:t>Device / interface health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2249424"/>
            <a:ext cx="3886200" cy="5547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0" y="2295144"/>
            <a:ext cx="379476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SolarWinds NPM • PRTG • LogicMonitor • native telemetry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49424"/>
            <a:ext cx="5303520" cy="5547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295144"/>
            <a:ext cx="521208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Availability, utilization, errors, environmental health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804160"/>
            <a:ext cx="2011680" cy="5547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849879"/>
            <a:ext cx="192024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5B6E"/>
                </a:solidFill>
                <a:latin typeface="Aptos"/>
              </a:defRPr>
            </a:pPr>
            <a:r>
              <a:t>Path / user experience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2804160"/>
            <a:ext cx="3886200" cy="5547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0" y="2849879"/>
            <a:ext cx="379476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ThousandEyes • synthetic probes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804160"/>
            <a:ext cx="5303520" cy="5547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2849879"/>
            <a:ext cx="521208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Internet / WAN / DNS / SaaS path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358895"/>
            <a:ext cx="2011680" cy="5547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3404615"/>
            <a:ext cx="192024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5B6E"/>
                </a:solidFill>
                <a:latin typeface="Aptos"/>
              </a:defRPr>
            </a:pPr>
            <a:r>
              <a:t>Flow / traffic analytics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3358895"/>
            <a:ext cx="3886200" cy="5547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60320" y="3404615"/>
            <a:ext cx="379476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Kentik • vendor flow telemetry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358895"/>
            <a:ext cx="5303520" cy="5547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3404615"/>
            <a:ext cx="521208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Capacity, congestion, unusual traffic patterns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913631"/>
            <a:ext cx="2011680" cy="5547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3959351"/>
            <a:ext cx="192024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5B6E"/>
                </a:solidFill>
                <a:latin typeface="Aptos"/>
              </a:defRPr>
            </a:pPr>
            <a:r>
              <a:t>Topology / dependency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3913631"/>
            <a:ext cx="3886200" cy="5547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60320" y="3959351"/>
            <a:ext cx="379476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NetBrain • SolarWinds • ServiceNow Discovery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913631"/>
            <a:ext cx="5303520" cy="5547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46520" y="3959351"/>
            <a:ext cx="521208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Impact analysis and change risk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468368"/>
            <a:ext cx="2011680" cy="5547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4514088"/>
            <a:ext cx="192024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5B6E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14600" y="4468368"/>
            <a:ext cx="3886200" cy="5547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560320" y="4514088"/>
            <a:ext cx="379476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Ansible Network Automation • Python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468368"/>
            <a:ext cx="5303520" cy="5547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46520" y="4514088"/>
            <a:ext cx="521208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Config validation, safe changes, evidence capture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023103"/>
            <a:ext cx="2011680" cy="5547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5068823"/>
            <a:ext cx="192024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5B6E"/>
                </a:solidFill>
                <a:latin typeface="Aptos"/>
              </a:defRPr>
            </a:pPr>
            <a:r>
              <a:t>Event 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14600" y="5023103"/>
            <a:ext cx="3886200" cy="5547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560320" y="5068823"/>
            <a:ext cx="379476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ServiceNow ITOM + network alerts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023103"/>
            <a:ext cx="5303520" cy="5547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46520" y="5068823"/>
            <a:ext cx="5212080" cy="4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A5B6E"/>
                </a:solidFill>
                <a:latin typeface="Aptos"/>
              </a:defRPr>
            </a:pPr>
            <a:r>
              <a:t>Dedup, correlation, service impact and routing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5806440"/>
            <a:ext cx="1060704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31520" y="5806440"/>
            <a:ext cx="64008" cy="566928"/>
          </a:xfrm>
          <a:prstGeom prst="rect">
            <a:avLst/>
          </a:prstGeom>
          <a:solidFill>
            <a:srgbClr val="B8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6112" y="5916168"/>
            <a:ext cx="10314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1253F"/>
                </a:solidFill>
                <a:latin typeface="Aptos"/>
              </a:defRPr>
            </a:pPr>
            <a:r>
              <a:t>SRE guardrail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" y="6281927"/>
            <a:ext cx="103144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5B6E"/>
                </a:solidFill>
                <a:latin typeface="Aptos"/>
              </a:defRPr>
            </a:pPr>
            <a:r>
              <a:t>Network auto-remediation should start with read-only diagnostics and low-risk reversible actions; high-risk changes require policy/approval.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Cloud tower — SRE tool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loud 5"/>
          <p:cNvSpPr/>
          <p:nvPr/>
        </p:nvSpPr>
        <p:spPr>
          <a:xfrm>
            <a:off x="640080" y="1143000"/>
            <a:ext cx="640080" cy="460857"/>
          </a:xfrm>
          <a:prstGeom prst="cloud">
            <a:avLst/>
          </a:prstGeom>
          <a:solidFill>
            <a:srgbClr val="3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371600"/>
            <a:ext cx="1874519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3" y="1435608"/>
            <a:ext cx="1801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8568" y="1371600"/>
            <a:ext cx="19202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95144" y="143560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Azure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8808" y="1371600"/>
            <a:ext cx="19202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15384" y="143560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48" y="1371600"/>
            <a:ext cx="19202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35624" y="143560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9288" y="1371600"/>
            <a:ext cx="379476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55863" y="1435608"/>
            <a:ext cx="3721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Cross-cloud SRE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792224"/>
            <a:ext cx="1874519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1837943"/>
            <a:ext cx="1783079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B6E"/>
                </a:solidFill>
                <a:latin typeface="Aptos"/>
              </a:defRPr>
            </a:pPr>
            <a:r>
              <a:t>Native telemetry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58568" y="1792224"/>
            <a:ext cx="192024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04287" y="1837943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Azure Monitor / App Insights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8808" y="1792224"/>
            <a:ext cx="192024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24528" y="1837943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CloudWatch / X-Ray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8" y="1792224"/>
            <a:ext cx="192024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44768" y="1837943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Cloud Monitoring / Trace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1792224"/>
            <a:ext cx="379476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65008" y="1837943"/>
            <a:ext cx="370332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OpenTelemetry + common dashboards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2461260"/>
            <a:ext cx="1874519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2506979"/>
            <a:ext cx="1783079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B6E"/>
                </a:solidFill>
                <a:latin typeface="Aptos"/>
              </a:defRPr>
            </a:pPr>
            <a:r>
              <a:t>Logs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58568" y="2461260"/>
            <a:ext cx="192024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04287" y="2506979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Log Analytics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8808" y="2461260"/>
            <a:ext cx="192024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24528" y="2506979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CloudWatch Logs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48" y="2461260"/>
            <a:ext cx="192024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44768" y="2506979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Cloud Logging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19288" y="2461260"/>
            <a:ext cx="379476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65008" y="2506979"/>
            <a:ext cx="370332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Splunk / Elastic where standard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3130295"/>
            <a:ext cx="1874519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" y="3176015"/>
            <a:ext cx="1783079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B6E"/>
                </a:solidFill>
                <a:latin typeface="Aptos"/>
              </a:defRPr>
            </a:pPr>
            <a:r>
              <a:t>SLO / service health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58568" y="3130295"/>
            <a:ext cx="192024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04287" y="3176015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Azure Monitor + SLO tooling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78808" y="3130295"/>
            <a:ext cx="192024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24528" y="3176015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CloudWatch SLOs / service health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9048" y="3130295"/>
            <a:ext cx="192024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44768" y="3176015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Cloud Monitoring SLOs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19288" y="3130295"/>
            <a:ext cx="379476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65008" y="3176015"/>
            <a:ext cx="370332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Common SLO taxonomy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3799331"/>
            <a:ext cx="1874519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9768" y="3845051"/>
            <a:ext cx="1783079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B6E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58568" y="3799331"/>
            <a:ext cx="192024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04287" y="3845051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Azure Automation / Functions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78808" y="3799331"/>
            <a:ext cx="192024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24528" y="3845051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Lambda / Systems Manager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9048" y="3799331"/>
            <a:ext cx="192024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44768" y="3845051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Cloud Functions / Runbooks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9288" y="3799331"/>
            <a:ext cx="379476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65008" y="3845051"/>
            <a:ext cx="370332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Ansible + Python + ServiceNow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" y="4468368"/>
            <a:ext cx="1874519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9768" y="4514088"/>
            <a:ext cx="1783079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B6E"/>
                </a:solidFill>
                <a:latin typeface="Aptos"/>
              </a:defRPr>
            </a:pPr>
            <a:r>
              <a:t>IaC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58568" y="4468368"/>
            <a:ext cx="192024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304287" y="4514088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Terraform / Bicep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78808" y="4468368"/>
            <a:ext cx="192024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4528" y="4514088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Terraform / CloudFormation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9048" y="4468368"/>
            <a:ext cx="192024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44768" y="4514088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Terraform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19288" y="4468368"/>
            <a:ext cx="3794760" cy="669035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065008" y="4514088"/>
            <a:ext cx="370332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Terraform/OpenTofu + Git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" y="5137403"/>
            <a:ext cx="1874519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9768" y="5183123"/>
            <a:ext cx="1783079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B6E"/>
                </a:solidFill>
                <a:latin typeface="Aptos"/>
              </a:defRPr>
            </a:pPr>
            <a:r>
              <a:t>Security / IAM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58568" y="5137403"/>
            <a:ext cx="192024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304287" y="5183123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Entra ID / RBAC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78808" y="5137403"/>
            <a:ext cx="192024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224528" y="5183123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IAM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9048" y="5137403"/>
            <a:ext cx="192024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144768" y="5183123"/>
            <a:ext cx="182880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IAM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19288" y="5137403"/>
            <a:ext cx="3794760" cy="669035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065008" y="5183123"/>
            <a:ext cx="3703320" cy="57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B6E"/>
                </a:solidFill>
                <a:latin typeface="Aptos"/>
              </a:defRPr>
            </a:pPr>
            <a:r>
              <a:t>Central policy, secrets and privileged access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60533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11253F"/>
                </a:solidFill>
                <a:latin typeface="Aptos"/>
              </a:defRPr>
            </a:pPr>
            <a:r>
              <a:t>Principle: keep cloud-native telemetry where it adds value, but normalize identity, tagging, service ownership, SLOs, incident routing and automation across clouds.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Middleware tower — SRE tool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n 5"/>
          <p:cNvSpPr/>
          <p:nvPr/>
        </p:nvSpPr>
        <p:spPr>
          <a:xfrm>
            <a:off x="640080" y="1143000"/>
            <a:ext cx="512063" cy="640080"/>
          </a:xfrm>
          <a:prstGeom prst="can">
            <a:avLst/>
          </a:prstGeom>
          <a:solidFill>
            <a:srgbClr val="4A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116128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Cover the transaction path: ingress → middleware → queue/topic → database → downstream service.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9202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" y="184708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Aptos"/>
              </a:defRPr>
            </a:pPr>
            <a:r>
              <a:t>Middleware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783080"/>
            <a:ext cx="457200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14016" y="1847088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Aptos"/>
              </a:defRPr>
            </a:pPr>
            <a:r>
              <a:t>Primary SRE telemetry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783080"/>
            <a:ext cx="475488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86016" y="1847088"/>
            <a:ext cx="4681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Aptos"/>
              </a:defRPr>
            </a:pPr>
            <a:r>
              <a:t>Typical automation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03704"/>
            <a:ext cx="1920240" cy="608076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249424"/>
            <a:ext cx="182880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4A5B6E"/>
                </a:solidFill>
                <a:latin typeface="Aptos"/>
              </a:defRPr>
            </a:pPr>
            <a:r>
              <a:t>IBM MQ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203704"/>
            <a:ext cx="4572000" cy="608076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23160" y="2249424"/>
            <a:ext cx="448056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Queue depth, channel status, rates, DLQ, connection health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203704"/>
            <a:ext cx="4754880" cy="608076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59" y="2249424"/>
            <a:ext cx="466344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Channel restart, queue threshold workflow, evidence capture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11780"/>
            <a:ext cx="1920240" cy="608076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857500"/>
            <a:ext cx="182880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4A5B6E"/>
                </a:solidFill>
                <a:latin typeface="Aptos"/>
              </a:defRPr>
            </a:pPr>
            <a:r>
              <a:t>Kafka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811780"/>
            <a:ext cx="4572000" cy="608076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23160" y="2857500"/>
            <a:ext cx="448056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Broker health, consumer lag, partition imbalance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2811780"/>
            <a:ext cx="4754880" cy="608076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95159" y="2857500"/>
            <a:ext cx="466344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Consumer recovery, partition checks, lag-based escalation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19856"/>
            <a:ext cx="1920240" cy="608076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465576"/>
            <a:ext cx="182880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4A5B6E"/>
                </a:solidFill>
                <a:latin typeface="Aptos"/>
              </a:defRPr>
            </a:pPr>
            <a:r>
              <a:t>WebSphere / JBoss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419856"/>
            <a:ext cx="4572000" cy="608076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23160" y="3465576"/>
            <a:ext cx="448056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JVM, thread pools, heap, response time, GC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419856"/>
            <a:ext cx="4754880" cy="608076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95159" y="3465576"/>
            <a:ext cx="466344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Health checks, controlled restart, thread/heap diagnostics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27932"/>
            <a:ext cx="1920240" cy="608076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073652"/>
            <a:ext cx="182880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4A5B6E"/>
                </a:solidFill>
                <a:latin typeface="Aptos"/>
              </a:defRPr>
            </a:pPr>
            <a:r>
              <a:t>Tomcat / IIS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027932"/>
            <a:ext cx="4572000" cy="608076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23160" y="4073652"/>
            <a:ext cx="448056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Requests, latency, errors, worker threads, JVM/app logs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4027932"/>
            <a:ext cx="4754880" cy="608076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5159" y="4073652"/>
            <a:ext cx="466344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Service recycle, config validation, synthetic checks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636008"/>
            <a:ext cx="1920240" cy="608076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4681728"/>
            <a:ext cx="182880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4A5B6E"/>
                </a:solidFill>
                <a:latin typeface="Aptos"/>
              </a:defRPr>
            </a:pPr>
            <a:r>
              <a:t>API gateways / LB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4636008"/>
            <a:ext cx="4572000" cy="608076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4681728"/>
            <a:ext cx="448056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Latency, errors, throughput, backend health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4636008"/>
            <a:ext cx="4754880" cy="608076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95159" y="4681728"/>
            <a:ext cx="466344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Pool drain/recover, certificate 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244084"/>
            <a:ext cx="1920240" cy="608076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5289804"/>
            <a:ext cx="182880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4A5B6E"/>
                </a:solidFill>
                <a:latin typeface="Aptos"/>
              </a:defRPr>
            </a:pPr>
            <a:r>
              <a:t>Database adjacency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5244084"/>
            <a:ext cx="4572000" cy="608076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423160" y="5289804"/>
            <a:ext cx="448056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Connections, latency, locks, capacity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5244084"/>
            <a:ext cx="4754880" cy="608076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95159" y="5289804"/>
            <a:ext cx="4663440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30" b="0">
                <a:solidFill>
                  <a:srgbClr val="4A5B6E"/>
                </a:solidFill>
                <a:latin typeface="Aptos"/>
              </a:defRPr>
            </a:pPr>
            <a:r>
              <a:t>Safe diagnostics; DBA-controlled remediation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989320"/>
            <a:ext cx="10789920" cy="438912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85800" y="5989320"/>
            <a:ext cx="64008" cy="438912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0392" y="6099048"/>
            <a:ext cx="10497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1253F"/>
                </a:solidFill>
                <a:latin typeface="Aptos"/>
              </a:defRPr>
            </a:pPr>
            <a:r>
              <a:t>Recommended observability fit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" y="6464808"/>
            <a:ext cx="104973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5B6E"/>
                </a:solidFill>
                <a:latin typeface="Aptos"/>
              </a:defRPr>
            </a:pPr>
            <a:r>
              <a:t>Instana / Dynatrace / Datadog are strongest candidates where deep application + middleware context is required; retain specialist vendor monitoring where operationally superior.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Automation &amp; IaC toolchain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82880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" y="1298448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34440"/>
            <a:ext cx="274320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76856" y="1298448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Best 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234440"/>
            <a:ext cx="274320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0056" y="1298448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234440"/>
            <a:ext cx="23774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63255" y="1298448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Watch-out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19" y="1234440"/>
            <a:ext cx="169164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40695" y="1298448"/>
            <a:ext cx="1618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SRE adoption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55064"/>
            <a:ext cx="18288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700784"/>
            <a:ext cx="17373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4A5B6E"/>
                </a:solidFill>
                <a:latin typeface="Aptos"/>
              </a:defRPr>
            </a:pPr>
            <a:r>
              <a:t>Ansible Automation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55064"/>
            <a:ext cx="27432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0" y="1700784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Cross-platform ops + network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1655064"/>
            <a:ext cx="27432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1700784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Agentless, broad ecosystem, governance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655064"/>
            <a:ext cx="237744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0" y="1700784"/>
            <a:ext cx="22860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Requires disciplined inventories/roles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19" y="1655064"/>
            <a:ext cx="169164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0" y="1700784"/>
            <a:ext cx="16002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280774"/>
            <a:ext cx="182880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2326494"/>
            <a:ext cx="17373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4A5B6E"/>
                </a:solidFill>
                <a:latin typeface="Aptos"/>
              </a:defRPr>
            </a:pPr>
            <a:r>
              <a:t>Terraform / OpenTofu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280774"/>
            <a:ext cx="274320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86000" y="2326494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Provisioning / desired state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2280774"/>
            <a:ext cx="274320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0" y="2326494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Multi-cloud, declarative, Git-driven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2280774"/>
            <a:ext cx="237744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0" y="2326494"/>
            <a:ext cx="22860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State / secrets / drift governance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19" y="2280774"/>
            <a:ext cx="169164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49840" y="2326494"/>
            <a:ext cx="16002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906485"/>
            <a:ext cx="18288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2952205"/>
            <a:ext cx="17373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4A5B6E"/>
                </a:solidFill>
                <a:latin typeface="Aptos"/>
              </a:defRPr>
            </a:pPr>
            <a:r>
              <a:t>PowerShell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906485"/>
            <a:ext cx="27432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86000" y="2952205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Windows estate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2906485"/>
            <a:ext cx="27432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0" y="2952205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Deep Windows automation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26679" y="2906485"/>
            <a:ext cx="237744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0" y="2952205"/>
            <a:ext cx="22860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Windows-centric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04119" y="2906485"/>
            <a:ext cx="169164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49840" y="2952205"/>
            <a:ext cx="16002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3532196"/>
            <a:ext cx="182880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3577916"/>
            <a:ext cx="17373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4A5B6E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3532196"/>
            <a:ext cx="274320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86000" y="3577916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Glue, APIs, advanced remediation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80" y="3532196"/>
            <a:ext cx="274320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0" y="3577916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Flexible; huge ecosystem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79" y="3532196"/>
            <a:ext cx="237744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0" y="3577916"/>
            <a:ext cx="22860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Needs engineering standards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04119" y="3532196"/>
            <a:ext cx="169164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3577916"/>
            <a:ext cx="16002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157907"/>
            <a:ext cx="18288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4203627"/>
            <a:ext cx="17373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4A5B6E"/>
                </a:solidFill>
                <a:latin typeface="Aptos"/>
              </a:defRPr>
            </a:pPr>
            <a:r>
              <a:t>Rundeck / similar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4157907"/>
            <a:ext cx="27432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86000" y="4203627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Runbook execution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3480" y="4157907"/>
            <a:ext cx="27432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0" y="4203627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Operational UI + controlled jobs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26679" y="4157907"/>
            <a:ext cx="237744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772400" y="4203627"/>
            <a:ext cx="22860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Can become script catalogue without governance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04119" y="4157907"/>
            <a:ext cx="169164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49840" y="4203627"/>
            <a:ext cx="16002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Selective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783618"/>
            <a:ext cx="182880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4829338"/>
            <a:ext cx="17373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4A5B6E"/>
                </a:solidFill>
                <a:latin typeface="Aptos"/>
              </a:defRPr>
            </a:pPr>
            <a:r>
              <a:t>Azure Automation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4783618"/>
            <a:ext cx="274320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86000" y="4829338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Azure operational jobs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83480" y="4783618"/>
            <a:ext cx="274320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29200" y="4829338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Native Azure integration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26679" y="4783618"/>
            <a:ext cx="237744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772400" y="4829338"/>
            <a:ext cx="22860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Cloud-specific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104119" y="4783618"/>
            <a:ext cx="1691640" cy="625710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149840" y="4829338"/>
            <a:ext cx="16002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Selective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5409329"/>
            <a:ext cx="18288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7200" y="5455049"/>
            <a:ext cx="17373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4A5B6E"/>
                </a:solidFill>
                <a:latin typeface="Aptos"/>
              </a:defRPr>
            </a:pPr>
            <a:r>
              <a:t>Git + CI/CD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40280" y="5409329"/>
            <a:ext cx="27432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86000" y="5455049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Automation lifecycle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83480" y="5409329"/>
            <a:ext cx="274320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29200" y="5455049"/>
            <a:ext cx="265176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Review, test, version, rollback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26679" y="5409329"/>
            <a:ext cx="237744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772400" y="5455049"/>
            <a:ext cx="22860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Pipeline maturity required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104119" y="5409329"/>
            <a:ext cx="1691640" cy="62571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149840" y="5455049"/>
            <a:ext cx="1600200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0">
                <a:solidFill>
                  <a:srgbClr val="4A5B6E"/>
                </a:solidFill>
                <a:latin typeface="Aptos"/>
              </a:defRPr>
            </a:pPr>
            <a:r>
              <a:t>Mandatory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ITOM / AIOps / on-call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90195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64008" cy="18288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84248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50008"/>
            <a:ext cx="160934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Monitoring / OTel / logs</a:t>
            </a:r>
          </a:p>
        </p:txBody>
      </p:sp>
      <p:sp>
        <p:nvSpPr>
          <p:cNvPr id="10" name="Hexagon 9"/>
          <p:cNvSpPr/>
          <p:nvPr/>
        </p:nvSpPr>
        <p:spPr>
          <a:xfrm>
            <a:off x="1307592" y="3977639"/>
            <a:ext cx="457200" cy="342900"/>
          </a:xfrm>
          <a:prstGeom prst="hexagon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53312" y="402335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463040" y="402335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08176" y="414223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2496312" y="2743200"/>
            <a:ext cx="338328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62072" y="1874519"/>
            <a:ext cx="190195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62072" y="1874519"/>
            <a:ext cx="64008" cy="182880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26664" y="1984248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2350008"/>
            <a:ext cx="160934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Dedup + topology + service impact</a:t>
            </a:r>
          </a:p>
        </p:txBody>
      </p:sp>
      <p:sp>
        <p:nvSpPr>
          <p:cNvPr id="19" name="Sun 18"/>
          <p:cNvSpPr/>
          <p:nvPr/>
        </p:nvSpPr>
        <p:spPr>
          <a:xfrm>
            <a:off x="3575304" y="3977639"/>
            <a:ext cx="457200" cy="457200"/>
          </a:xfrm>
          <a:prstGeom prst="sun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4764024" y="2743200"/>
            <a:ext cx="338328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29784" y="1874519"/>
            <a:ext cx="190195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29784" y="1874519"/>
            <a:ext cx="64008" cy="1828800"/>
          </a:xfrm>
          <a:prstGeom prst="rect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94376" y="1984248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2350008"/>
            <a:ext cx="160934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SLO + policy + severity</a:t>
            </a:r>
          </a:p>
        </p:txBody>
      </p:sp>
      <p:sp>
        <p:nvSpPr>
          <p:cNvPr id="25" name="Pentagon 24"/>
          <p:cNvSpPr/>
          <p:nvPr/>
        </p:nvSpPr>
        <p:spPr>
          <a:xfrm>
            <a:off x="5843016" y="3977639"/>
            <a:ext cx="457200" cy="457200"/>
          </a:xfrm>
          <a:prstGeom prst="homePlate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7031736" y="2743200"/>
            <a:ext cx="338328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97496" y="1874519"/>
            <a:ext cx="190195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97496" y="1874519"/>
            <a:ext cx="64008" cy="1828800"/>
          </a:xfrm>
          <a:prstGeom prst="rect">
            <a:avLst/>
          </a:prstGeom>
          <a:solidFill>
            <a:srgbClr val="2D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62088" y="1984248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2350008"/>
            <a:ext cx="160934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Incident / change / automation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0727" y="3977639"/>
            <a:ext cx="457200" cy="342900"/>
          </a:xfrm>
          <a:prstGeom prst="roundRect">
            <a:avLst/>
          </a:prstGeom>
          <a:solidFill>
            <a:srgbClr val="2D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183879" y="40873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11896" y="40873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439911" y="40873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9299448" y="2743200"/>
            <a:ext cx="338328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665208" y="1874519"/>
            <a:ext cx="190195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665208" y="1874519"/>
            <a:ext cx="64008" cy="1828800"/>
          </a:xfrm>
          <a:prstGeom prst="rect">
            <a:avLst/>
          </a:prstGeom>
          <a:solidFill>
            <a:srgbClr val="4A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29800" y="1984248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350008"/>
            <a:ext cx="160934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B6E"/>
                </a:solidFill>
                <a:latin typeface="Aptos"/>
              </a:defRPr>
            </a:pPr>
            <a:r>
              <a:t>PIR + problem + reliability backlog</a:t>
            </a:r>
          </a:p>
        </p:txBody>
      </p:sp>
      <p:sp>
        <p:nvSpPr>
          <p:cNvPr id="40" name="Can 39"/>
          <p:cNvSpPr/>
          <p:nvPr/>
        </p:nvSpPr>
        <p:spPr>
          <a:xfrm>
            <a:off x="10378440" y="3977639"/>
            <a:ext cx="365760" cy="457200"/>
          </a:xfrm>
          <a:prstGeom prst="can">
            <a:avLst/>
          </a:prstGeom>
          <a:solidFill>
            <a:srgbClr val="4A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4663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253F"/>
                </a:solidFill>
                <a:latin typeface="Aptos"/>
              </a:defRPr>
            </a:pPr>
            <a:r>
              <a:t>ServiceNow ITOM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96519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87582"/>
                </a:solidFill>
                <a:latin typeface="Aptos"/>
              </a:defRPr>
            </a:pPr>
            <a:r>
              <a:t>system of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62072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253F"/>
                </a:solidFill>
                <a:latin typeface="Aptos"/>
              </a:defRPr>
            </a:pPr>
            <a:r>
              <a:t>Observability platforms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62072" y="49651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87582"/>
                </a:solidFill>
                <a:latin typeface="Aptos"/>
              </a:defRPr>
            </a:pPr>
            <a:r>
              <a:t>systems of insight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784" y="4663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253F"/>
                </a:solidFill>
                <a:latin typeface="Aptos"/>
              </a:defRPr>
            </a:pPr>
            <a:r>
              <a:t>Ansible / Python / PowerShell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784" y="49651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87582"/>
                </a:solidFill>
                <a:latin typeface="Aptos"/>
              </a:defRPr>
            </a:pPr>
            <a:r>
              <a:t>controlled remediation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4663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253F"/>
                </a:solidFill>
                <a:latin typeface="Aptos"/>
              </a:defRPr>
            </a:pPr>
            <a:r>
              <a:t>Optional PagerDuty / Opsgenie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49651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87582"/>
                </a:solidFill>
                <a:latin typeface="Aptos"/>
              </a:defRPr>
            </a:pPr>
            <a:r>
              <a:t>if on-call needs exceed ITSM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20" b="1">
                <a:solidFill>
                  <a:srgbClr val="11253F"/>
                </a:solidFill>
                <a:latin typeface="Aptos"/>
              </a:defRPr>
            </a:pPr>
            <a:r>
              <a:t>Design rule: one authoritative incident record; multiple telemetry sources; no duplicate alert ownership.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ServiceNow ITOM positioning: event correlation, service mapping, remediation workflows and ITSM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SRE candidate — skills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051560"/>
            <a:ext cx="160020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115568"/>
            <a:ext cx="1527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Aptos"/>
              </a:defRPr>
            </a:pPr>
            <a:r>
              <a:t>Skill 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947672" y="1051560"/>
            <a:ext cx="484632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84248" y="1115568"/>
            <a:ext cx="4773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Aptos"/>
              </a:defRPr>
            </a:pPr>
            <a:r>
              <a:t>Must-have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93992" y="1051560"/>
            <a:ext cx="5074920" cy="420624"/>
          </a:xfrm>
          <a:prstGeom prst="rect">
            <a:avLst/>
          </a:prstGeom>
          <a:solidFill>
            <a:srgbClr val="11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30568" y="1115568"/>
            <a:ext cx="5001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Aptos"/>
              </a:defRPr>
            </a:pPr>
            <a:r>
              <a:t>Strong differentiator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472184"/>
            <a:ext cx="160020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" y="1517904"/>
            <a:ext cx="15087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Infrastructure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7672" y="1472184"/>
            <a:ext cx="484632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93391" y="1517904"/>
            <a:ext cx="4754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Linux + Windows; virtualization; storage; OS lifecycle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93992" y="1472184"/>
            <a:ext cx="507492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39712" y="1517904"/>
            <a:ext cx="49834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Kubernetes / OpenShift; HCI; performance 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1999487"/>
            <a:ext cx="160020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" y="2045207"/>
            <a:ext cx="15087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47672" y="1999487"/>
            <a:ext cx="484632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93391" y="2045207"/>
            <a:ext cx="4754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TCP/IP, DNS, routing/switching, LB, TLS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3992" y="1999487"/>
            <a:ext cx="507492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9712" y="2045207"/>
            <a:ext cx="49834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BGP/OSPF, SD-WAN, network automation, packet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2526792"/>
            <a:ext cx="160020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" y="2572511"/>
            <a:ext cx="15087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47672" y="2526792"/>
            <a:ext cx="484632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93391" y="2572511"/>
            <a:ext cx="4754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Azure/AWS/GCP fundamentals, IAM, networking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93992" y="2526792"/>
            <a:ext cx="507492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39712" y="2572511"/>
            <a:ext cx="49834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Landing zones, policy-as-code, FinOps, multi-cloud 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3054096"/>
            <a:ext cx="160020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3192" y="3099815"/>
            <a:ext cx="15087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Middleware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3054096"/>
            <a:ext cx="484632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93391" y="3099815"/>
            <a:ext cx="4754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MQ/Kafka + JVM/IIS/Tomcat/WebSphere concepts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93992" y="3054096"/>
            <a:ext cx="507492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39712" y="3099815"/>
            <a:ext cx="49834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Deep transaction tracing and performance tuning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3581400"/>
            <a:ext cx="160020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3192" y="3627119"/>
            <a:ext cx="15087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3581400"/>
            <a:ext cx="484632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93391" y="3627119"/>
            <a:ext cx="4754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Metrics/logs/traces; alert design; dashboards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93992" y="3581400"/>
            <a:ext cx="507492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39712" y="3627119"/>
            <a:ext cx="49834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OpenTelemetry, PromQL/KQL, causal/RCA workflows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4108704"/>
            <a:ext cx="160020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3192" y="4154423"/>
            <a:ext cx="15087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SRE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47672" y="4108704"/>
            <a:ext cx="484632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93391" y="4154423"/>
            <a:ext cx="4754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SLI/SLO, error budgets, incident command, PIRs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93992" y="4108704"/>
            <a:ext cx="507492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39712" y="4154423"/>
            <a:ext cx="49834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Reliability math, capacity models, resilience engineering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" y="4636008"/>
            <a:ext cx="160020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3192" y="4681728"/>
            <a:ext cx="15087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4636008"/>
            <a:ext cx="484632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93391" y="4681728"/>
            <a:ext cx="4754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Python / PowerShell / Bash + Git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93992" y="4636008"/>
            <a:ext cx="507492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39712" y="4681728"/>
            <a:ext cx="49834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Ansible + Terraform/OpenTofu + CI/CD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5163312"/>
            <a:ext cx="160020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3192" y="5209032"/>
            <a:ext cx="15087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5163312"/>
            <a:ext cx="484632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993391" y="5209032"/>
            <a:ext cx="4754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Secrets, privileged access, certificates, patching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3992" y="5163312"/>
            <a:ext cx="5074920" cy="527304"/>
          </a:xfrm>
          <a:prstGeom prst="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39712" y="5209032"/>
            <a:ext cx="49834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Zero Trust, policy-as-code, security telemetry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472" y="5690615"/>
            <a:ext cx="160020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93192" y="5736335"/>
            <a:ext cx="150876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Behaviour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5690615"/>
            <a:ext cx="484632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993391" y="5736335"/>
            <a:ext cx="47548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Systems thinking, debugging, written communication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93992" y="5690615"/>
            <a:ext cx="5074920" cy="527304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839712" y="5736335"/>
            <a:ext cx="4983480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4A5B6E"/>
                </a:solidFill>
                <a:latin typeface="Aptos"/>
              </a:defRPr>
            </a:pPr>
            <a:r>
              <a:t>Coaching, challenge culture, product mindset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Recommended initial team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64008" cy="914400"/>
          </a:xfrm>
          <a:prstGeom prst="rect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07007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SRE Manager /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572768"/>
            <a:ext cx="4782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4A5B6E"/>
                </a:solidFill>
                <a:latin typeface="Aptos"/>
              </a:defRPr>
            </a:pPr>
            <a:r>
              <a:t>1 FTE  •  Charter, SLO governance, stakeholder alignment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9728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097280"/>
            <a:ext cx="64008" cy="9144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207007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Platform &amp; 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572768"/>
            <a:ext cx="4782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4A5B6E"/>
                </a:solidFill>
                <a:latin typeface="Aptos"/>
              </a:defRPr>
            </a:pPr>
            <a:r>
              <a:t>2 FTE  •  OTel, dashboards, alert engineering, service maps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240280"/>
            <a:ext cx="64008" cy="91440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2350008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Automation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2715768"/>
            <a:ext cx="4782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4A5B6E"/>
                </a:solidFill>
                <a:latin typeface="Aptos"/>
              </a:defRPr>
            </a:pPr>
            <a:r>
              <a:t>2 FTE  •  Ansible, Python, PowerShell, IaC, runbook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24028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240280"/>
            <a:ext cx="64008" cy="914400"/>
          </a:xfrm>
          <a:prstGeom prst="rect">
            <a:avLst/>
          </a:prstGeom>
          <a:solidFill>
            <a:srgbClr val="3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2350008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Server SRE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715768"/>
            <a:ext cx="4782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4A5B6E"/>
                </a:solidFill>
                <a:latin typeface="Aptos"/>
              </a:defRPr>
            </a:pPr>
            <a:r>
              <a:t>2 FTE  •  Windows/Linux, virtualization, resilience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8328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383280"/>
            <a:ext cx="64008" cy="914400"/>
          </a:xfrm>
          <a:prstGeom prst="rect">
            <a:avLst/>
          </a:prstGeom>
          <a:solidFill>
            <a:srgbClr val="4A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3493008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Network SRE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3858768"/>
            <a:ext cx="4782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4A5B6E"/>
                </a:solidFill>
                <a:latin typeface="Aptos"/>
              </a:defRPr>
            </a:pPr>
            <a:r>
              <a:t>2 FTE  •  Network telemetry, path visibility, automation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38328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3383280"/>
            <a:ext cx="64008" cy="914400"/>
          </a:xfrm>
          <a:prstGeom prst="rect">
            <a:avLst/>
          </a:prstGeom>
          <a:solidFill>
            <a:srgbClr val="2D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3493008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Cloud SRE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858768"/>
            <a:ext cx="4782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4A5B6E"/>
                </a:solidFill>
                <a:latin typeface="Aptos"/>
              </a:defRPr>
            </a:pPr>
            <a:r>
              <a:t>2 FTE  •  Azure/AWS/GCP, cloud-native reliability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52628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526280"/>
            <a:ext cx="64008" cy="914400"/>
          </a:xfrm>
          <a:prstGeom prst="rect">
            <a:avLst/>
          </a:prstGeom>
          <a:solidFill>
            <a:srgbClr val="CF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1" y="4636008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Middleware SRE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" y="5001768"/>
            <a:ext cx="4782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4A5B6E"/>
                </a:solidFill>
                <a:latin typeface="Aptos"/>
              </a:defRPr>
            </a:pPr>
            <a:r>
              <a:t>2 FTE  •  MQ/Kafka/JVM/IIS/Tomcat + transaction paths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52628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2200" y="4526280"/>
            <a:ext cx="64008" cy="9144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36792" y="4636008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Reliability / Tooling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5001768"/>
            <a:ext cx="4782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4A5B6E"/>
                </a:solidFill>
                <a:latin typeface="Aptos"/>
              </a:defRPr>
            </a:pPr>
            <a:r>
              <a:t>1 FTE  •  SLO analytics, integrations, data quality, tooling TCO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1253F"/>
                </a:solidFill>
                <a:latin typeface="Aptos"/>
              </a:defRPr>
            </a:pPr>
            <a:r>
              <a:t>Indicative starting point: 14 FTE. Size to critical-service count, estate scale, 24x7 coverage model and existing tower capability.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Prerequisites before building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051560"/>
            <a:ext cx="5257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051560"/>
            <a:ext cx="64008" cy="786384"/>
          </a:xfrm>
          <a:prstGeom prst="rect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61288"/>
            <a:ext cx="4965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1253F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4965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4A5B6E"/>
                </a:solidFill>
                <a:latin typeface="Aptos"/>
              </a:defRPr>
            </a:pPr>
            <a:r>
              <a:t>Executive sponsor • charter • RACI • funding • decision rights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051560"/>
            <a:ext cx="5257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44768" y="1051560"/>
            <a:ext cx="64008" cy="786384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1161288"/>
            <a:ext cx="4965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1253F"/>
                </a:solidFill>
                <a:latin typeface="Aptos"/>
              </a:defRPr>
            </a:pPr>
            <a:r>
              <a:t>Service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527048"/>
            <a:ext cx="4965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4A5B6E"/>
                </a:solidFill>
                <a:latin typeface="Aptos"/>
              </a:defRPr>
            </a:pPr>
            <a:r>
              <a:t>Critical services • owners • dependencies • business criticality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020824"/>
            <a:ext cx="5257800" cy="786384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020824"/>
            <a:ext cx="64008" cy="786384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130552"/>
            <a:ext cx="4965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1253F"/>
                </a:solidFill>
                <a:latin typeface="Aptos"/>
              </a:defRPr>
            </a:pPr>
            <a:r>
              <a:t>Data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496312"/>
            <a:ext cx="4965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4A5B6E"/>
                </a:solidFill>
                <a:latin typeface="Aptos"/>
              </a:defRPr>
            </a:pPr>
            <a:r>
              <a:t>CMDB/inventory • raw asset mapping • ownership • lifecycle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2020824"/>
            <a:ext cx="5257800" cy="786384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44768" y="2020824"/>
            <a:ext cx="64008" cy="786384"/>
          </a:xfrm>
          <a:prstGeom prst="rect">
            <a:avLst/>
          </a:prstGeom>
          <a:solidFill>
            <a:srgbClr val="3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59" y="2130552"/>
            <a:ext cx="4965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1253F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496312"/>
            <a:ext cx="4965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4A5B6E"/>
                </a:solidFill>
                <a:latin typeface="Aptos"/>
              </a:defRPr>
            </a:pPr>
            <a:r>
              <a:t>Incidents • alerts • MTTR • availability • changes • capacity • toil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90088"/>
            <a:ext cx="5257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2990088"/>
            <a:ext cx="64008" cy="786384"/>
          </a:xfrm>
          <a:prstGeom prst="rect">
            <a:avLst/>
          </a:prstGeom>
          <a:solidFill>
            <a:srgbClr val="4A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099816"/>
            <a:ext cx="4965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1253F"/>
                </a:solidFill>
                <a:latin typeface="Aptos"/>
              </a:defRPr>
            </a:pPr>
            <a:r>
              <a:t>Tooling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465576"/>
            <a:ext cx="4965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4A5B6E"/>
                </a:solidFill>
                <a:latin typeface="Aptos"/>
              </a:defRPr>
            </a:pPr>
            <a:r>
              <a:t>Monitoring inventory • contracts • integrations • gaps • duplicate capabilities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990088"/>
            <a:ext cx="5257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44768" y="2990088"/>
            <a:ext cx="64008" cy="786384"/>
          </a:xfrm>
          <a:prstGeom prst="rect">
            <a:avLst/>
          </a:prstGeom>
          <a:solidFill>
            <a:srgbClr val="2D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59" y="3099816"/>
            <a:ext cx="4965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1253F"/>
                </a:solidFill>
                <a:latin typeface="Aptos"/>
              </a:defRPr>
            </a:pPr>
            <a:r>
              <a:t>Access &amp;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465576"/>
            <a:ext cx="4965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4A5B6E"/>
                </a:solidFill>
                <a:latin typeface="Aptos"/>
              </a:defRPr>
            </a:pPr>
            <a:r>
              <a:t>PAM • service accounts • secrets • certificates • firewall/proxy/DNS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959352"/>
            <a:ext cx="5257800" cy="786384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3959352"/>
            <a:ext cx="64008" cy="786384"/>
          </a:xfrm>
          <a:prstGeom prst="rect">
            <a:avLst/>
          </a:prstGeom>
          <a:solidFill>
            <a:srgbClr val="CF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069080"/>
            <a:ext cx="4965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1253F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434840"/>
            <a:ext cx="4965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4A5B6E"/>
                </a:solidFill>
                <a:latin typeface="Aptos"/>
              </a:defRPr>
            </a:pPr>
            <a:r>
              <a:t>SLO tiers • SLIs • error budgets • escalation • 24x7/on-call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3959352"/>
            <a:ext cx="5257800" cy="786384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44768" y="3959352"/>
            <a:ext cx="64008" cy="786384"/>
          </a:xfrm>
          <a:prstGeom prst="rect">
            <a:avLst/>
          </a:prstGeom>
          <a:solidFill>
            <a:srgbClr val="B8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59" y="4069080"/>
            <a:ext cx="4965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1253F"/>
                </a:solidFill>
                <a:latin typeface="Aptos"/>
              </a:defRPr>
            </a:pPr>
            <a:r>
              <a:t>Automation 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4434840"/>
            <a:ext cx="4965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4A5B6E"/>
                </a:solidFill>
                <a:latin typeface="Aptos"/>
              </a:defRPr>
            </a:pPr>
            <a:r>
              <a:t>Approvals • guardrails • rollback • break-glass • audit 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928616"/>
            <a:ext cx="5257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4928616"/>
            <a:ext cx="64008" cy="786384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038344"/>
            <a:ext cx="4965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1253F"/>
                </a:solidFill>
                <a:latin typeface="Aptos"/>
              </a:defRPr>
            </a:pPr>
            <a:r>
              <a:t>People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404104"/>
            <a:ext cx="4965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4A5B6E"/>
                </a:solidFill>
                <a:latin typeface="Aptos"/>
              </a:defRPr>
            </a:pPr>
            <a:r>
              <a:t>Role profiles • hiring plan • training • transition from NOC/tower teams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4768" y="4928616"/>
            <a:ext cx="5257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44768" y="4928616"/>
            <a:ext cx="64008" cy="786384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59" y="5038344"/>
            <a:ext cx="4965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1253F"/>
                </a:solidFill>
                <a:latin typeface="Aptos"/>
              </a:defRPr>
            </a:pPr>
            <a:r>
              <a:t>POC environment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59" y="5404104"/>
            <a:ext cx="4965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4A5B6E"/>
                </a:solidFill>
                <a:latin typeface="Aptos"/>
              </a:defRPr>
            </a:pPr>
            <a:r>
              <a:t>Non-prod estate • 2–3 critical services • success criteria • 6–8 weeks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1253F"/>
                </a:solidFill>
                <a:latin typeface="Aptos Display"/>
              </a:defRPr>
            </a:pPr>
            <a:r>
              <a:t>12-month implementation roadmap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8F9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55680" cy="2286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64008" cy="1234440"/>
          </a:xfrm>
          <a:prstGeom prst="rect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44168"/>
            <a:ext cx="2221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0–30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09928"/>
            <a:ext cx="22219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0" b="0">
                <a:solidFill>
                  <a:srgbClr val="4A5B6E"/>
                </a:solidFill>
                <a:latin typeface="Aptos"/>
              </a:defRPr>
            </a:pPr>
            <a:r>
              <a:t>Charter • inventory • service map • baseline • hire lead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1847088"/>
            <a:ext cx="274320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01568" y="12344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1568" y="1234440"/>
            <a:ext cx="64008" cy="123444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344168"/>
            <a:ext cx="2221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31–90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09928"/>
            <a:ext cx="22219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0" b="0">
                <a:solidFill>
                  <a:srgbClr val="4A5B6E"/>
                </a:solidFill>
                <a:latin typeface="Aptos"/>
              </a:defRPr>
            </a:pPr>
            <a:r>
              <a:t>Core hires • SLO framework • telemetry standard • ServiceNow integration • 2–3 pilots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16168" y="1847088"/>
            <a:ext cx="274320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54496" y="12344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54496" y="1234440"/>
            <a:ext cx="64008" cy="123444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1344168"/>
            <a:ext cx="2221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91–180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709928"/>
            <a:ext cx="22219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0" b="0">
                <a:solidFill>
                  <a:srgbClr val="4A5B6E"/>
                </a:solidFill>
                <a:latin typeface="Aptos"/>
              </a:defRPr>
            </a:pPr>
            <a:r>
              <a:t>Automate top toil • expand tower coverage • synthetics • event correlation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69096" y="1847088"/>
            <a:ext cx="274320" cy="0"/>
          </a:xfrm>
          <a:prstGeom prst="line">
            <a:avLst/>
          </a:prstGeom>
          <a:ln w="25400">
            <a:solidFill>
              <a:srgbClr val="008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07424" y="12344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07424" y="1234440"/>
            <a:ext cx="64008" cy="1234440"/>
          </a:xfrm>
          <a:prstGeom prst="rect">
            <a:avLst/>
          </a:prstGeom>
          <a:solidFill>
            <a:srgbClr val="2D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72015" y="1344168"/>
            <a:ext cx="2221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1253F"/>
                </a:solidFill>
                <a:latin typeface="Aptos"/>
              </a:defRPr>
            </a:pPr>
            <a:r>
              <a:t>181–365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5" y="1709928"/>
            <a:ext cx="22219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0" b="0">
                <a:solidFill>
                  <a:srgbClr val="4A5B6E"/>
                </a:solidFill>
                <a:latin typeface="Aptos"/>
              </a:defRPr>
            </a:pPr>
            <a:r>
              <a:t>Scale critical estate • predictive capacity • guarded auto-remediation • reliability reviews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880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253F"/>
                </a:solidFill>
                <a:latin typeface="Aptos"/>
              </a:defRPr>
            </a:pPr>
            <a:r>
              <a:t>Outcome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337560"/>
            <a:ext cx="2542032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337560"/>
            <a:ext cx="64008" cy="86868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447288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253F"/>
                </a:solidFill>
                <a:latin typeface="Aptos"/>
              </a:defRPr>
            </a:pPr>
            <a:r>
              <a:t>SLO attainment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813048"/>
            <a:ext cx="224942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% critical services within target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0712" y="3337560"/>
            <a:ext cx="2542032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10712" y="3337560"/>
            <a:ext cx="64008" cy="86868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75304" y="3447288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253F"/>
                </a:solidFill>
                <a:latin typeface="Aptos"/>
              </a:defRPr>
            </a:pPr>
            <a:r>
              <a:t>MTTR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3813048"/>
            <a:ext cx="224942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Median time to restore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7064" y="3337560"/>
            <a:ext cx="2542032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27064" y="3337560"/>
            <a:ext cx="64008" cy="868680"/>
          </a:xfrm>
          <a:prstGeom prst="rect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91656" y="3447288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253F"/>
                </a:solidFill>
                <a:latin typeface="Aptos"/>
              </a:defRPr>
            </a:pPr>
            <a:r>
              <a:t>Alert noise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6" y="3813048"/>
            <a:ext cx="224942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% reduction in non-actionable alerts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43416" y="3337560"/>
            <a:ext cx="2542032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43416" y="3337560"/>
            <a:ext cx="64008" cy="868680"/>
          </a:xfrm>
          <a:prstGeom prst="rect">
            <a:avLst/>
          </a:prstGeom>
          <a:solidFill>
            <a:srgbClr val="2D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08008" y="3447288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253F"/>
                </a:solidFill>
                <a:latin typeface="Aptos"/>
              </a:defRPr>
            </a:pPr>
            <a:r>
              <a:t>Toil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8008" y="3813048"/>
            <a:ext cx="224942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Hours removed / month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434840"/>
            <a:ext cx="2542032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4360" y="4434840"/>
            <a:ext cx="64008" cy="86868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8952" y="4544568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253F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4910327"/>
            <a:ext cx="224942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% eligible incidents auto-remediated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10712" y="4434840"/>
            <a:ext cx="2542032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410712" y="4434840"/>
            <a:ext cx="64008" cy="868680"/>
          </a:xfrm>
          <a:prstGeom prst="rect">
            <a:avLst/>
          </a:prstGeom>
          <a:solidFill>
            <a:srgbClr val="008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75304" y="4544568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253F"/>
                </a:solidFill>
                <a:latin typeface="Aptos"/>
              </a:defRPr>
            </a:pPr>
            <a:r>
              <a:t>Change quality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75304" y="4910327"/>
            <a:ext cx="224942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Change failure rate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27064" y="4434840"/>
            <a:ext cx="2542032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27064" y="4434840"/>
            <a:ext cx="64008" cy="868680"/>
          </a:xfrm>
          <a:prstGeom prst="rect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91656" y="4544568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253F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1656" y="4910327"/>
            <a:ext cx="224942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% estate with standard telemetry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43416" y="4434840"/>
            <a:ext cx="2542032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043416" y="4434840"/>
            <a:ext cx="64008" cy="868680"/>
          </a:xfrm>
          <a:prstGeom prst="rect">
            <a:avLst/>
          </a:prstGeom>
          <a:solidFill>
            <a:srgbClr val="2D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08008" y="4544568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253F"/>
                </a:solidFill>
                <a:latin typeface="Aptos"/>
              </a:defRPr>
            </a:pPr>
            <a:r>
              <a:t>Reliability debt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8008" y="4910327"/>
            <a:ext cx="224942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4A5B6E"/>
                </a:solidFill>
                <a:latin typeface="Aptos"/>
              </a:defRPr>
            </a:pPr>
            <a:r>
              <a:t>Repeat incidents / error-budget breaches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87582"/>
                </a:solidFill>
                <a:latin typeface="Aptos"/>
              </a:defRPr>
            </a:pPr>
            <a:r>
              <a:t>Infrastructure SRE • Draft operating model •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AABE"/>
                </a:solidFill>
                <a:latin typeface="Aptos"/>
              </a:defRPr>
            </a:pPr>
            <a:r>
              <a:t>DECISION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Launch the SRE capability around reliability outcomes — then prove the tooling.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23160"/>
            <a:ext cx="420624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450591"/>
            <a:ext cx="420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414016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Aptos"/>
              </a:defRPr>
            </a:pPr>
            <a:r>
              <a:t>Approve charter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95728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DDAE8"/>
                </a:solidFill>
                <a:latin typeface="Aptos"/>
              </a:defRPr>
            </a:pPr>
            <a:r>
              <a:t>SRE as an engineering capability across Server, Network, Cloud and Middleware.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81528"/>
            <a:ext cx="420624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3108960"/>
            <a:ext cx="420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07238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Aptos"/>
              </a:defRPr>
            </a:pPr>
            <a:r>
              <a:t>Nominate POC estate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054096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DDAE8"/>
                </a:solidFill>
                <a:latin typeface="Aptos"/>
              </a:defRPr>
            </a:pPr>
            <a:r>
              <a:t>Select 2–3 critical services with measurable business impact.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39896"/>
            <a:ext cx="420624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3767328"/>
            <a:ext cx="420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73075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Aptos"/>
              </a:defRPr>
            </a:pPr>
            <a:r>
              <a:t>Lock principles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12463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DDAE8"/>
                </a:solidFill>
                <a:latin typeface="Aptos"/>
              </a:defRPr>
            </a:pPr>
            <a:r>
              <a:t>OpenTelemetry where practical; ServiceNow as system of action; automation-by-default.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98264"/>
            <a:ext cx="420624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425696"/>
            <a:ext cx="420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38912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Aptos"/>
              </a:defRPr>
            </a:pPr>
            <a:r>
              <a:t>Run 6–8 week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370832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DDAE8"/>
                </a:solidFill>
                <a:latin typeface="Aptos"/>
              </a:defRPr>
            </a:pPr>
            <a:r>
              <a:t>Compare 2–3 observability platforms using real telemetry, incidents and service paths.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056631"/>
            <a:ext cx="420624" cy="283464"/>
          </a:xfrm>
          <a:prstGeom prst="round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5084064"/>
            <a:ext cx="420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5047488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Aptos"/>
              </a:defRPr>
            </a:pPr>
            <a:r>
              <a:t>Fund the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029199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DDAE8"/>
                </a:solidFill>
                <a:latin typeface="Aptos"/>
              </a:defRPr>
            </a:pPr>
            <a:r>
              <a:t>Start with ~14 FTE indicative model; refine after POC and 24x7 coverage analysis.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0AABE"/>
                </a:solidFill>
                <a:latin typeface="Aptos"/>
              </a:defRPr>
            </a:pPr>
            <a:r>
              <a:t>Principle: engineer the operating system for reliability, not another dashboard.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1908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5B8CA"/>
                </a:solidFill>
                <a:latin typeface="Aptos"/>
              </a:defRPr>
            </a:pPr>
            <a:r>
              <a:t>Selected evidence base: OpenTelemetry • Prometheus • IBM Instana • ServiceNow ITOM • vendor product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2686</Words>
  <Application>Microsoft Office PowerPoint</Application>
  <PresentationFormat>Widescreen</PresentationFormat>
  <Paragraphs>621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Pankaj Gupta</dc:creator>
  <cp:keywords/>
  <dc:description>generated using python-pptx</dc:description>
  <cp:lastModifiedBy>Pankaj Gupta</cp:lastModifiedBy>
  <cp:revision>2</cp:revision>
  <dcterms:created xsi:type="dcterms:W3CDTF">2013-01-27T09:14:16Z</dcterms:created>
  <dcterms:modified xsi:type="dcterms:W3CDTF">2026-10-05T13:40:54Z</dcterms:modified>
  <cp:category/>
</cp:coreProperties>
</file>