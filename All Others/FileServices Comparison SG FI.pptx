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4389120"/>
            <a:ext cx="11704320" cy="73152"/>
          </a:xfrm>
          <a:prstGeom prst="rect">
            <a:avLst/>
          </a:prstGeom>
          <a:solidFill>
            <a:srgbClr val="14A0A5"/>
          </a:solidFill>
          <a:ln w="12700">
            <a:solidFill>
              <a:srgbClr val="14A0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09728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File Services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4A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Comparison: On-Prem  ·  Azure Files  ·  SharePoint Online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2697480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Singapore / APAC Financial Institution  |  MAS TRM  ·  Cloud Advisory  ·  PDPA  ·  PCI DSS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475488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Cloud Team</a:t>
            </a:r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For: CIO · CISO · Head of Risk &amp; Compliance · Senior Infrastructure Engineers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3657600"/>
            <a:ext cx="1280160" cy="256032"/>
          </a:xfrm>
          <a:prstGeom prst="roundRect">
            <a:avLst>
              <a:gd name="adj" fmla="val 14286"/>
            </a:avLst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65760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 VM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331720" y="3657600"/>
            <a:ext cx="1280160" cy="256032"/>
          </a:xfrm>
          <a:prstGeom prst="roundRect">
            <a:avLst>
              <a:gd name="adj" fmla="val 14286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31720" y="365760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Files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749040" y="3657600"/>
            <a:ext cx="1280160" cy="256032"/>
          </a:xfrm>
          <a:prstGeom prst="roundRect">
            <a:avLst>
              <a:gd name="adj" fmla="val 14286"/>
            </a:avLst>
          </a:prstGeom>
          <a:solidFill>
            <a:srgbClr val="038387"/>
          </a:solidFill>
          <a:ln w="12700">
            <a:solidFill>
              <a:srgbClr val="03838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49040" y="365760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 Online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91440"/>
            <a:ext cx="11338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601968"/>
            <a:ext cx="11430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Enterprise File Services Review  |  Singapore/APAC Financial Institution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40080" y="914400"/>
            <a:ext cx="502920" cy="5029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914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93268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Overview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80160" y="118872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option descriptions for SteerCo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1755648"/>
            <a:ext cx="502920" cy="5029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7556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177393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Comparison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80160" y="2029968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security, compliance, cost, operations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2596896"/>
            <a:ext cx="502920" cy="5029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59689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80160" y="261518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Effort &amp; Complexity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80160" y="2871216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Approach, timeline, and identity implications per target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438144"/>
            <a:ext cx="502920" cy="5029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4381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80160" y="345643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Suitability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80160" y="3712464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platform per workload type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4279392"/>
            <a:ext cx="502920" cy="5029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2793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280160" y="42976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Lens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280160" y="4553712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TRM · Cloud Advisory · PCI DSS · PDPA deep-dive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0080" y="5120640"/>
            <a:ext cx="502920" cy="5029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5120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280160" y="513892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280160" y="5394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target state, phased roadmap, decision matrix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228600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Overview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347472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4A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option descriptions for SteerCo / Board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91440"/>
            <a:ext cx="11338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Overview — What Are We Comparing?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601968"/>
            <a:ext cx="11430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Enterprise File Services Review  |  Singapore/APAC Financial Institution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40080" y="777240"/>
            <a:ext cx="3566160" cy="5440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777240"/>
            <a:ext cx="3566160" cy="50292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7772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 Windows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Server (VM)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1353312"/>
            <a:ext cx="3383280" cy="256032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35331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IaaS (Self-managed)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77240" y="1691640"/>
            <a:ext cx="73152" cy="7315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1645920"/>
            <a:ext cx="315468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SMB/CIFS file shares hosted on Windows Server VMs in the bank's own data centres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77240" y="2532888"/>
            <a:ext cx="73152" cy="7315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2487168"/>
            <a:ext cx="315468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control over hardware, OS, network, and ACLs — existing pattern for most legacy FIs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77240" y="3374136"/>
            <a:ext cx="73152" cy="7315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2688" y="3328416"/>
            <a:ext cx="315468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Joined to existing AD forests/child domains; Kerberos auth, NTFS permissions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77240" y="4215384"/>
            <a:ext cx="73152" cy="7315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" y="4169664"/>
            <a:ext cx="315468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data residency certainty (Singapore DC); no cloud dependencies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77240" y="5056632"/>
            <a:ext cx="73152" cy="7315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2688" y="5010912"/>
            <a:ext cx="315468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infra ops burden: patching, DR, capacity, backups all self-managed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434840" y="777240"/>
            <a:ext cx="3566160" cy="5440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34840" y="777240"/>
            <a:ext cx="3566160" cy="50292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34840" y="7772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Files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26280" y="1353312"/>
            <a:ext cx="3383280" cy="256032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26280" y="135331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PaaS (Microsoft-managed storage)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0" y="1691640"/>
            <a:ext cx="73152" cy="7315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27448" y="1645920"/>
            <a:ext cx="315468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SMB/NFS file shares in Azure — accessed via standard SMB 3.x protocol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0" y="2532888"/>
            <a:ext cx="73152" cy="7315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27448" y="2487168"/>
            <a:ext cx="315468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AD DS / Entra ID Kerberos auth; preserves NTFS ACLs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0" y="3374136"/>
            <a:ext cx="73152" cy="7315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27448" y="3328416"/>
            <a:ext cx="315468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deployed in Azure Southeast Asia (Singapore) region for data residency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0" y="4215384"/>
            <a:ext cx="73152" cy="7315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27448" y="4169664"/>
            <a:ext cx="315468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File Sync enables hybrid: cloud tier + on-prem cache for branch access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0" y="5056632"/>
            <a:ext cx="73152" cy="7315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27448" y="5010912"/>
            <a:ext cx="315468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infra ops (no OS patching, no capacity forecasting); CapEx → OpEx shift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229600" y="777240"/>
            <a:ext cx="3566160" cy="5440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229600" y="777240"/>
            <a:ext cx="3566160" cy="502920"/>
          </a:xfrm>
          <a:prstGeom prst="rect">
            <a:avLst/>
          </a:prstGeom>
          <a:solidFill>
            <a:srgbClr val="038387"/>
          </a:solidFill>
          <a:ln w="12700">
            <a:solidFill>
              <a:srgbClr val="03838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229600" y="7772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 Online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8321040" y="1353312"/>
            <a:ext cx="3383280" cy="256032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321040" y="135331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8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(Microsoft 365)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8366760" y="1691640"/>
            <a:ext cx="73152" cy="73152"/>
          </a:xfrm>
          <a:prstGeom prst="rect">
            <a:avLst/>
          </a:prstGeom>
          <a:solidFill>
            <a:srgbClr val="038387"/>
          </a:solidFill>
          <a:ln w="12700">
            <a:solidFill>
              <a:srgbClr val="03838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522208" y="1645920"/>
            <a:ext cx="315468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libraries within Microsoft 365 tenant — browser, Teams, or sync client access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8366760" y="2532888"/>
            <a:ext cx="73152" cy="73152"/>
          </a:xfrm>
          <a:prstGeom prst="rect">
            <a:avLst/>
          </a:prstGeom>
          <a:solidFill>
            <a:srgbClr val="038387"/>
          </a:solidFill>
          <a:ln w="12700">
            <a:solidFill>
              <a:srgbClr val="03838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522208" y="2487168"/>
            <a:ext cx="315468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collaboration: co-authoring, versioning, workflows, metadata, eDiscovery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8366760" y="3374136"/>
            <a:ext cx="73152" cy="73152"/>
          </a:xfrm>
          <a:prstGeom prst="rect">
            <a:avLst/>
          </a:prstGeom>
          <a:solidFill>
            <a:srgbClr val="038387"/>
          </a:solidFill>
          <a:ln w="12700">
            <a:solidFill>
              <a:srgbClr val="03838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522208" y="3328416"/>
            <a:ext cx="315468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residency via M365 geo-selection + Advanced Data Residency (ADR) add-on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8366760" y="4215384"/>
            <a:ext cx="73152" cy="73152"/>
          </a:xfrm>
          <a:prstGeom prst="rect">
            <a:avLst/>
          </a:prstGeom>
          <a:solidFill>
            <a:srgbClr val="038387"/>
          </a:solidFill>
          <a:ln w="12700">
            <a:solidFill>
              <a:srgbClr val="03838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522208" y="4169664"/>
            <a:ext cx="315468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traditional file server — no SMB share path; not suitable for app-level file access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8366760" y="5056632"/>
            <a:ext cx="73152" cy="73152"/>
          </a:xfrm>
          <a:prstGeom prst="rect">
            <a:avLst/>
          </a:prstGeom>
          <a:solidFill>
            <a:srgbClr val="038387"/>
          </a:solidFill>
          <a:ln w="12700">
            <a:solidFill>
              <a:srgbClr val="03838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522208" y="5010912"/>
            <a:ext cx="315468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M365 E5 compliance toolset: DLP, sensitivity labels, retention policies, audit logs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228600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Comparison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347472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4A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· Identity · Security · Compliance · Cost · Operations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91440"/>
            <a:ext cx="11338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Comparison — Architecture, Identity &amp; Data Residency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601968"/>
            <a:ext cx="11430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Enterprise File Services Review  |  Singapore/APAC Financial Institution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40080" y="777240"/>
            <a:ext cx="3429000" cy="384048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777240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 Windows VM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0" y="777240"/>
            <a:ext cx="3429000" cy="38404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777240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Files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0" y="777240"/>
            <a:ext cx="3429000" cy="384048"/>
          </a:xfrm>
          <a:prstGeom prst="rect">
            <a:avLst/>
          </a:prstGeom>
          <a:solidFill>
            <a:srgbClr val="038387"/>
          </a:solidFill>
          <a:ln w="12700">
            <a:solidFill>
              <a:srgbClr val="03838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0" y="777240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 Online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1298448"/>
            <a:ext cx="640080" cy="1508760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1298448"/>
            <a:ext cx="6400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40080" y="1298448"/>
            <a:ext cx="34290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1389888"/>
            <a:ext cx="322783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IaaS – Windows Server VM in bank DC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OS/app stack responsibility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SMB 3.x, NTFS, DFS-N namespace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0" y="1298448"/>
            <a:ext cx="34290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67328" y="1389888"/>
            <a:ext cx="322783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PaaS – Azure managed storage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SMB 3.x or NFS 4.1 endpoints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File Sync for hybrid caching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15200" y="1298448"/>
            <a:ext cx="34290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24928" y="1389888"/>
            <a:ext cx="322783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– M365 document libraries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HTTPS/WebDAV; OneDrive sync client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SMB path; browser + Teams access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0" y="2898648"/>
            <a:ext cx="640080" cy="1508760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0" y="2898648"/>
            <a:ext cx="6400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40080" y="2898648"/>
            <a:ext cx="3429000" cy="1508760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" y="2990088"/>
            <a:ext cx="322783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DS native: Kerberos, NTFS ACLs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Policy, child domain/forest trust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Entra ID required; full ACL control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0" y="2898648"/>
            <a:ext cx="3429000" cy="1508760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67328" y="2990088"/>
            <a:ext cx="322783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DS Kerberos auth (domain-joined)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Entra ID Kerberos (cloud-only)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on storage account; NTFS ACLs preserved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315200" y="2898648"/>
            <a:ext cx="3429000" cy="1508760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24928" y="2990088"/>
            <a:ext cx="322783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ID only (no AD DS ACL mapping)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 RBAC + M365 Groups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Access, MFA enforced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4498848"/>
            <a:ext cx="640080" cy="1508760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0" y="4498848"/>
            <a:ext cx="6400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Residency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Location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40080" y="4498848"/>
            <a:ext cx="34290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9808" y="4590288"/>
            <a:ext cx="322783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on-prem; bank-controlled Singapore DC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cloud dependency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sovereignty over data location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57600" y="4498848"/>
            <a:ext cx="34290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767328" y="4590288"/>
            <a:ext cx="322783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in Azure Southeast Asia (SG)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Customer-managed keys (Azure Key Vault)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 within region configurable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315200" y="4498848"/>
            <a:ext cx="34290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24928" y="4590288"/>
            <a:ext cx="322783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M365 tenant geo selection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Data Residency (ADR) add-on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metadata may be multi-region; audit required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91440"/>
            <a:ext cx="11338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Comparison — Security, Compliance &amp; Operations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601968"/>
            <a:ext cx="11430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Enterprise File Services Review  |  Singapore/APAC Financial Institution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40080" y="777240"/>
            <a:ext cx="3429000" cy="384048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777240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 Windows VM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0" y="777240"/>
            <a:ext cx="3429000" cy="38404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777240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Files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0" y="777240"/>
            <a:ext cx="3429000" cy="384048"/>
          </a:xfrm>
          <a:prstGeom prst="rect">
            <a:avLst/>
          </a:prstGeom>
          <a:solidFill>
            <a:srgbClr val="038387"/>
          </a:solidFill>
          <a:ln w="12700">
            <a:solidFill>
              <a:srgbClr val="03838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0" y="777240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 Online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1298448"/>
            <a:ext cx="640080" cy="1508760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1298448"/>
            <a:ext cx="6400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40080" y="1298448"/>
            <a:ext cx="34290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1389888"/>
            <a:ext cx="322783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in transit: SMB 3.x (AES-128/256)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rest: BitLocker or SAN-level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mgmt: bank-owned HSM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Defender for Endpoint, SIEM via agent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0" y="1298448"/>
            <a:ext cx="34290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67328" y="1389888"/>
            <a:ext cx="322783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in transit: SMB 3.x enforced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rest: AES-256; CMK via Key Vault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Defender for Storage, Sentinel integration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audit logs → Log Analytics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15200" y="1298448"/>
            <a:ext cx="34290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24928" y="1389888"/>
            <a:ext cx="322783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in transit: TLS 1.2+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rest: Microsoft-managed (or CMK with E5)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Purview DLP, sensitivity labels, MFA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audit log; eDiscovery; Defender for O365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0" y="2898648"/>
            <a:ext cx="640080" cy="1508760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0" y="2898648"/>
            <a:ext cx="6400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TRM &amp;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40080" y="2898648"/>
            <a:ext cx="3429000" cy="1508760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" y="2990088"/>
            <a:ext cx="322783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control; meets TRM easily on-prem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owns audit trail, DR, BCM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cloud risk assessment needed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PCI: possible if properly segmented/encrypted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0" y="2898648"/>
            <a:ext cx="3429000" cy="1508760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67328" y="2990088"/>
            <a:ext cx="322783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Qualifies under MAS Cloud Advisory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must conduct cloud due diligence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Requires: encryption, key mgmt, logging, DR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PCI: possible with premium tier + CMK + network controls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315200" y="2898648"/>
            <a:ext cx="3429000" cy="1508760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24928" y="2990088"/>
            <a:ext cx="322783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Qualifies under MAS Cloud Advisory (SaaS)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M365 has ISO 27001, SOC2, MTCS L3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 required for strict residency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PCI: NOT recommended for CHD storage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4498848"/>
            <a:ext cx="640080" cy="1508760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0" y="4498848"/>
            <a:ext cx="6400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40080" y="4498848"/>
            <a:ext cx="34290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9808" y="4590288"/>
            <a:ext cx="322783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HIGH: OS patching, AV, DR, backups, capacity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change management overhead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Greatest skills burden on infra team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aging hardware/EOL OS risk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57600" y="4498848"/>
            <a:ext cx="34290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767328" y="4590288"/>
            <a:ext cx="322783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MEDIUM: No OS patching; storage auto-scales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Manage: AD integration, sync agents, network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Backup built-in; geo-redundancy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via Azure Monitor / Sentinel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315200" y="4498848"/>
            <a:ext cx="34290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24928" y="4590288"/>
            <a:ext cx="322783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LOW: Microsoft manages infra fully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Manage: governance, permissions, site design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M365 admin portal; PowerShell automation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adoption/OCM is main effort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91440"/>
            <a:ext cx="11338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Comparison — Cost, Scalability, Collaboration &amp; Lock-in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601968"/>
            <a:ext cx="11430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Enterprise File Services Review  |  Singapore/APAC Financial Institution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40080" y="777240"/>
            <a:ext cx="3429000" cy="384048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777240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 Windows VM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0" y="777240"/>
            <a:ext cx="3429000" cy="38404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777240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Files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0" y="777240"/>
            <a:ext cx="3429000" cy="384048"/>
          </a:xfrm>
          <a:prstGeom prst="rect">
            <a:avLst/>
          </a:prstGeom>
          <a:solidFill>
            <a:srgbClr val="038387"/>
          </a:solidFill>
          <a:ln w="12700">
            <a:solidFill>
              <a:srgbClr val="03838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0" y="777240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 Online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1298448"/>
            <a:ext cx="640080" cy="1161288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1298448"/>
            <a:ext cx="640080" cy="1161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40080" y="1298448"/>
            <a:ext cx="3429000" cy="11612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1371600"/>
            <a:ext cx="326440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 heavy: server HW, SAN, DC space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+Windows Server + CAL licences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Sunk cost already paid in most FIs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OpEx: staff time is dominant variable cost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0" y="1298448"/>
            <a:ext cx="3429000" cy="11612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49040" y="1371600"/>
            <a:ext cx="326440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OpEx: pay per GB + transactions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(~$0.26/GB/mo) for IOPS-sensitive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(~$0.06/GB/mo) for archive/backup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Hybrid Benefit if existing licences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315200" y="1298448"/>
            <a:ext cx="3429000" cy="11612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06640" y="1371600"/>
            <a:ext cx="326440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 in M365 E3/E5 licences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TB/user + pooled tenant storage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 add-on: ~$2.50/user/month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per-GB storage cost for typical workloads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0" y="2551176"/>
            <a:ext cx="640080" cy="1161288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0" y="2551176"/>
            <a:ext cx="640080" cy="1161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Performance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40080" y="2551176"/>
            <a:ext cx="3429000" cy="1161288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2624328"/>
            <a:ext cx="326440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by hardware; capacity planning required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IOPS with SAN/NVMe; low latency on LAN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= procurement cycle (weeks/months)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Branch: DFS-R replication or VPN latency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0" y="2551176"/>
            <a:ext cx="3429000" cy="1161288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49040" y="2624328"/>
            <a:ext cx="326440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Premium: up to 100K IOPS, 10 GiB/s throughput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Standard: up to 10K IOPS; HDD-backed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scaling; no capacity planning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Branch: Azure File Sync cloud tier + local cache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315200" y="2551176"/>
            <a:ext cx="3429000" cy="1161288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06640" y="2624328"/>
            <a:ext cx="326440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designed for high IOPS workloads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Optimised for document size files (&lt;1 GB)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TB site collection limit; 250 GB file limit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via CDN; not suitable for eng/media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0" y="3803904"/>
            <a:ext cx="640080" cy="1161288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0" y="3803904"/>
            <a:ext cx="640080" cy="1161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Offline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40080" y="3803904"/>
            <a:ext cx="3429000" cy="11612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" y="3877056"/>
            <a:ext cx="326440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SMB share mapped drive; no co-authoring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versioning natively (require VSS/backup)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Offline: full LAN; branch via VPN/DFS-R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apps: full SMB path compatibility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657600" y="3803904"/>
            <a:ext cx="3429000" cy="11612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749040" y="3877056"/>
            <a:ext cx="326440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SMB path compatibility; no built-in collab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File Sync: offline/cached access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apps: works with SMB UNC paths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designed for co-authoring use cases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315200" y="3803904"/>
            <a:ext cx="3429000" cy="11612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06640" y="3877056"/>
            <a:ext cx="326440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co-authoring (Word, Excel, PowerPoint)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version history; Teams integration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sync via OneDrive client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SMB path; legacy apps cannot use SPO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0" y="5056632"/>
            <a:ext cx="640080" cy="1161288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0" y="5056632"/>
            <a:ext cx="640080" cy="1161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Lock-in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Exit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40080" y="5056632"/>
            <a:ext cx="3429000" cy="1161288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1520" y="5129784"/>
            <a:ext cx="326440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lock-in; standard NTFS + SMB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Exit: Robocopy to any destination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data portability at any time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 of unilateral vendor change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657600" y="5056632"/>
            <a:ext cx="3429000" cy="1161288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749040" y="5129784"/>
            <a:ext cx="326440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Moderate: Azure AD/Entra ID dependency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portable via AzCopy or Storage Explorer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SMB protocol standard; no proprietary format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Exit: manageable with migration tooling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7315200" y="5056632"/>
            <a:ext cx="3429000" cy="1161288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06640" y="5129784"/>
            <a:ext cx="326440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High: M365 tenant, SharePoint metadata model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export: SharePoint Migration Tool / scripts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Metadata, permissions, workflows may not port cleanly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complexity increases with adoption depth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228600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Effort &amp; Complexity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347472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4A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Approach, timeline, identity implications per target platform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91440"/>
            <a:ext cx="11338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Landscape — Current State &amp; Key Challenges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601968"/>
            <a:ext cx="11430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Enterprise File Services Review  |  Singapore/APAC Financial Institution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40080" y="804672"/>
            <a:ext cx="347472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804672"/>
            <a:ext cx="3474720" cy="43891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804672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" y="1335024"/>
            <a:ext cx="73152" cy="7315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298448"/>
            <a:ext cx="3017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file servers on on-prem VMs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77240" y="1828800"/>
            <a:ext cx="73152" cy="7315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1792224"/>
            <a:ext cx="3017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separate child domains AND separate AD forests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77240" y="2322576"/>
            <a:ext cx="73152" cy="7315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286000"/>
            <a:ext cx="3017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NTFS ACLs; DFS namespaces where deployed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77240" y="2816352"/>
            <a:ext cx="73152" cy="7315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2779776"/>
            <a:ext cx="3017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trust relationships between domains/forests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77240" y="3310128"/>
            <a:ext cx="73152" cy="7315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273552"/>
            <a:ext cx="3017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Entra ID (AAD) Connect in all environments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77240" y="3803904"/>
            <a:ext cx="73152" cy="7315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3767328"/>
            <a:ext cx="3017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ops burden; inconsistent patching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77240" y="4297680"/>
            <a:ext cx="73152" cy="7315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4261104"/>
            <a:ext cx="3017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DR/BCM capability may be limited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77240" y="4791456"/>
            <a:ext cx="73152" cy="7315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4754880"/>
            <a:ext cx="3017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management manual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297680" y="2514600"/>
            <a:ext cx="365760" cy="109728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63440" y="804672"/>
            <a:ext cx="22402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63440" y="804672"/>
            <a:ext cx="2240280" cy="384048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804672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Refreshed On-Prem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754880" y="1261872"/>
            <a:ext cx="2057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Effort: Low–Med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Typical: 3–6 mo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297680" y="3154680"/>
            <a:ext cx="365760" cy="10972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63440" y="2770632"/>
            <a:ext cx="22402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63440" y="2770632"/>
            <a:ext cx="2240280" cy="38404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63440" y="2770632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Files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754880" y="3227832"/>
            <a:ext cx="2057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Effort: Medium–High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Typical: 6–12 mo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297680" y="3794760"/>
            <a:ext cx="365760" cy="109728"/>
          </a:xfrm>
          <a:prstGeom prst="rect">
            <a:avLst/>
          </a:prstGeom>
          <a:solidFill>
            <a:srgbClr val="038387"/>
          </a:solidFill>
          <a:ln w="12700">
            <a:solidFill>
              <a:srgbClr val="03838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63440" y="4736592"/>
            <a:ext cx="22402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3838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63440" y="4736592"/>
            <a:ext cx="2240280" cy="384048"/>
          </a:xfrm>
          <a:prstGeom prst="rect">
            <a:avLst/>
          </a:prstGeom>
          <a:solidFill>
            <a:srgbClr val="038387"/>
          </a:solidFill>
          <a:ln w="12700">
            <a:solidFill>
              <a:srgbClr val="03838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63440" y="4736592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 Online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754880" y="5193792"/>
            <a:ext cx="2057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Effort: High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Typical: 9–18 mo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7315200" y="804672"/>
            <a:ext cx="4663440" cy="5394960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406640" y="868680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Migration Challenges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7406640" y="1353312"/>
            <a:ext cx="201168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680960" y="1325880"/>
            <a:ext cx="4160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Complexity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7680960" y="1554480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forests/child domains require trust design or identity consolidation before cloud migration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406640" y="2039112"/>
            <a:ext cx="201168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680960" y="2011680"/>
            <a:ext cx="4160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ACL Preservation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7680960" y="2240280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NTFS permissions with SID history must be carefully migrated; cross-forest ACLs are especially complex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7406640" y="2724912"/>
            <a:ext cx="201168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680960" y="2697480"/>
            <a:ext cx="4160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Classification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7680960" y="2926080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must be classified before migration — sensitivity level determines target platform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406640" y="3410712"/>
            <a:ext cx="201168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680960" y="3383280"/>
            <a:ext cx="4160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Dependencies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7680960" y="3611880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apps using hardcoded UNC paths may break if shares move platform or are renamed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406640" y="4096512"/>
            <a:ext cx="201168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680960" y="4069080"/>
            <a:ext cx="4160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Validation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7680960" y="4297680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TRM requires documented risk assessment and due diligence for any cloud migration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7406640" y="4782312"/>
            <a:ext cx="201168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680960" y="4754880"/>
            <a:ext cx="4160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Downtime Windows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7680960" y="4983480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 environments typically demand minimal downtime; parallel-run periods increase complexity and cost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91440"/>
            <a:ext cx="11338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Option A — Refreshed On-Prem Windows File Servers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601968"/>
            <a:ext cx="11430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Enterprise File Services Review  |  Singapore/APAC Financial Institution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9601200" y="804672"/>
            <a:ext cx="2331720" cy="34747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0" y="804672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Effort: LOW–MEDIUM  |  Timeline: 3–6 months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40080" y="1280160"/>
            <a:ext cx="3566160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1280160"/>
            <a:ext cx="3566160" cy="34747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28016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1719072"/>
            <a:ext cx="331012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Swing migration: new VMs provisioned alongside existing; data replicated then cutover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" y="2468880"/>
            <a:ext cx="331012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Robocopy /COPYALL /SEC to preserve NTFS ACLs and SID history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77240" y="3218688"/>
            <a:ext cx="331012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DFS Namespace redesign: consolidate namespaces; standardise share naming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" y="3968496"/>
            <a:ext cx="331012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SMB 3.x hardening: disable SMB1, enforce signing, require AES encryption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77240" y="4718304"/>
            <a:ext cx="331012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Coexistence period: DFS-R or scheduled Robocopy deltas to keep both in sync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77240" y="5468112"/>
            <a:ext cx="331012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Rollback: original VMs remain until validation complete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434840" y="1280160"/>
            <a:ext cx="3566160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34840" y="1280160"/>
            <a:ext cx="3566160" cy="34747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34840" y="128016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ACL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0" y="1719072"/>
            <a:ext cx="331012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identity changes required in most cases — existing AD trusts preserved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0" y="2468880"/>
            <a:ext cx="331012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Cross-forest ACL migration: use ADMT (AD Migration Tool) with SID history migration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0" y="3218688"/>
            <a:ext cx="331012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consolidating forests: careful SIDHistory migration prevents access breaks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0" y="3968496"/>
            <a:ext cx="331012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cleanup recommended: audit and rationalise AD groups before migration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0" y="4718304"/>
            <a:ext cx="331012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accounts: document and re-register all FSx/share service accounts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229600" y="1280160"/>
            <a:ext cx="3566160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29600" y="1280160"/>
            <a:ext cx="3566160" cy="34747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0" y="128016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 &amp; Cons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366760" y="1719072"/>
            <a:ext cx="331012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Lowest regulatory risk — no cloud due diligence required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366760" y="2468880"/>
            <a:ext cx="331012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Full data sovereignty; all data stays in Singapore DC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366760" y="3218688"/>
            <a:ext cx="331012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Fastest path for teams with strong on-prem skills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366760" y="3968496"/>
            <a:ext cx="331012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Legacy apps continue working with no path changes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366760" y="4718304"/>
            <a:ext cx="331012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Does not reduce ops burden long-term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366760" y="5468112"/>
            <a:ext cx="331012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CapEx refresh required; DR investment still needed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366760" y="6217920"/>
            <a:ext cx="331012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Does not address collaboration gaps or modern workflows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91440"/>
            <a:ext cx="11338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Option B — On-Prem File Servers to Azure Files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601968"/>
            <a:ext cx="11430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Enterprise File Services Review  |  Singapore/APAC Financial Institution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9601200" y="804672"/>
            <a:ext cx="2331720" cy="34747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0" y="804672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Effort: MEDIUM–HIGH  |  Timeline: 6–12 months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40080" y="1280160"/>
            <a:ext cx="3566160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1280160"/>
            <a:ext cx="3566160" cy="34747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28016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Pre-requisites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1719072"/>
            <a:ext cx="331012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Network: ExpressRoute or S2S VPN to Azure Southeast Asia region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" y="2468880"/>
            <a:ext cx="331012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DNS: conditional forwarders to Azure Private DNS zones (privatelink.file.core.windows.net)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77240" y="3218688"/>
            <a:ext cx="331012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Identity: AD DS Kerberos auth requires on-prem AD connector; OR Entra ID Kerberos for cloud-joined endpoints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" y="3968496"/>
            <a:ext cx="331012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Multi-forest: each forest needs its own Kerberos configuration for Azure Files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77240" y="4718304"/>
            <a:ext cx="331012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tier: required for IOPS-sensitive workloads (databases, legacy apps)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77240" y="5468112"/>
            <a:ext cx="331012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Endpoints: disable public access; use Azure Private Link for all connectivity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434840" y="1280160"/>
            <a:ext cx="3566160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34840" y="1280160"/>
            <a:ext cx="3566160" cy="34747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34840" y="128016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Steps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0" y="1719072"/>
            <a:ext cx="331012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Assess &amp; classify shares: sensitivity, size, access patterns, app dependencies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0" y="2468880"/>
            <a:ext cx="331012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Pilot: migrate 1–2 low-risk departmental shares; validate ACLs and performance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0" y="3218688"/>
            <a:ext cx="331012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Azure File Sync: deploy sync agent on existing file servers; cloud tier initially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0" y="3968496"/>
            <a:ext cx="331012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Cutover: update DFS namespace targets to Azure Files endpoints; decommission on-prem shares progressively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0" y="4718304"/>
            <a:ext cx="331012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Validate: NTFS ACLs intact; audit logs flowing; Defender for Storage enabled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0" y="5468112"/>
            <a:ext cx="331012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MAS TRM docs: update TPML, cloud risk assessment, encryption key management docs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229600" y="1280160"/>
            <a:ext cx="3566160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29600" y="1280160"/>
            <a:ext cx="3566160" cy="34747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0" y="128016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 &amp; Controls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366760" y="1719072"/>
            <a:ext cx="331012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Complex AD topology: separate forests need individual Kerberos trust configs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366760" y="2468880"/>
            <a:ext cx="331012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MAS Cloud Advisory: mandatory vendor due diligence; CSP audit rights confirmation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366760" y="3218688"/>
            <a:ext cx="331012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Encryption key management: use CMK (Customer-Managed Keys) in Azure Key Vault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366760" y="3968496"/>
            <a:ext cx="331012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Defender for Storage: malware scanning, anomaly detection, DLP integration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366760" y="4718304"/>
            <a:ext cx="331012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Azure Backup: native backup with retention policies; geo-redundant optional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366760" y="5468112"/>
            <a:ext cx="331012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Private Endpoint: all traffic stays off public internet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366760" y="6217920"/>
            <a:ext cx="331012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PCI workloads: feasible if Premium + CMK + network segmentation + Defender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91440"/>
            <a:ext cx="11338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Option C — On-Prem File Servers to SharePoint Online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601968"/>
            <a:ext cx="11430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Enterprise File Services Review  |  Singapore/APAC Financial Institution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9418320" y="804672"/>
            <a:ext cx="2514600" cy="347472"/>
          </a:xfrm>
          <a:prstGeom prst="rect">
            <a:avLst/>
          </a:prstGeom>
          <a:solidFill>
            <a:srgbClr val="038387"/>
          </a:solidFill>
          <a:ln w="12700">
            <a:solidFill>
              <a:srgbClr val="03838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0" y="804672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Effort: HIGH  |  Timeline: 9–18 months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40080" y="1280160"/>
            <a:ext cx="3566160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1280160"/>
            <a:ext cx="3566160" cy="347472"/>
          </a:xfrm>
          <a:prstGeom prst="rect">
            <a:avLst/>
          </a:prstGeom>
          <a:solidFill>
            <a:srgbClr val="038387"/>
          </a:solidFill>
          <a:ln w="12700">
            <a:solidFill>
              <a:srgbClr val="03838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28016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IA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1719072"/>
            <a:ext cx="331012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Information Architecture (IA): department/team sites, document libraries, metadata taxonomy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" y="2468880"/>
            <a:ext cx="331012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AD groups → M365 Groups / Entra ID Security Groups; permissions model redesign required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77240" y="3218688"/>
            <a:ext cx="331012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NTFS ACLs do NOT map 1:1 to SharePoint — manual permissions review essential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" y="3968496"/>
            <a:ext cx="331012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labels: apply Purview labels for classification; replaces file-level ACL controls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77240" y="4718304"/>
            <a:ext cx="331012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ID Connect (or cloud-only): all users must have M365/Entra ID accounts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434840" y="1280160"/>
            <a:ext cx="3566160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34840" y="1280160"/>
            <a:ext cx="3566160" cy="347472"/>
          </a:xfrm>
          <a:prstGeom prst="rect">
            <a:avLst/>
          </a:prstGeom>
          <a:solidFill>
            <a:srgbClr val="038387"/>
          </a:solidFill>
          <a:ln w="12700">
            <a:solidFill>
              <a:srgbClr val="03838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34840" y="128016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Approach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0" y="1719072"/>
            <a:ext cx="331012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SharePoint Migration Tool (SPMT) or Mover/3rd-party for large volumes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0" y="2468880"/>
            <a:ext cx="331012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Pilot with low-sensitivity collaboration content (no PCI/HC data)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0" y="3218688"/>
            <a:ext cx="331012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Department by department; comms + training per wave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0" y="3968496"/>
            <a:ext cx="331012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Regulatory records → SharePoint with retention labels &amp; hold policies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0" y="4718304"/>
            <a:ext cx="331012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apps: NOT migratable to SPO if SMB path dependency — retain on-prem or Azure Files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0" y="5468112"/>
            <a:ext cx="331012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files &gt;250 GB: not supported; videos → SharePoint/Stream; large engineering → Azure Files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229600" y="1280160"/>
            <a:ext cx="3566160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29600" y="1280160"/>
            <a:ext cx="3566160" cy="347472"/>
          </a:xfrm>
          <a:prstGeom prst="rect">
            <a:avLst/>
          </a:prstGeom>
          <a:solidFill>
            <a:srgbClr val="038387"/>
          </a:solidFill>
          <a:ln w="12700">
            <a:solidFill>
              <a:srgbClr val="03838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0" y="128016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OCM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366760" y="1719072"/>
            <a:ext cx="331012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PCI in-scope files: DO NOT migrate CHD/PCI files to SharePoint Online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366760" y="2468880"/>
            <a:ext cx="331012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ADR add-on required for strict Singapore data residency; base M365 may use multi-region metadata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366760" y="3218688"/>
            <a:ext cx="331012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User adoption: largest OCM effort of any option; training investment critical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366760" y="3968496"/>
            <a:ext cx="331012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External sharing controls: default settings too permissive for FI; lock down on day 1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366760" y="4718304"/>
            <a:ext cx="331012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M365 E5: DLP, sensitivity labels, retention, eDiscovery — powerful compliance suite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366760" y="5468112"/>
            <a:ext cx="331012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MAS TRM: Microsoft publishes CSP audit evidence; ISO, SOC2, MTCS L3 certifications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366760" y="6217920"/>
            <a:ext cx="331012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PDPA: Purview data classification and subject access request tooling available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228600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Suitability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347472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4A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platform is right for which workload?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91440"/>
            <a:ext cx="11338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Workload-to-Platform Mapping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601968"/>
            <a:ext cx="11430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Enterprise File Services Review  |  Singapore/APAC Financial Institution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40080" y="804672"/>
            <a:ext cx="3063240" cy="347472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804672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886200" y="804672"/>
            <a:ext cx="2148840" cy="34747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86200" y="804672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 VM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804672"/>
            <a:ext cx="2148840" cy="34747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0" y="804672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Files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366760" y="804672"/>
            <a:ext cx="3611880" cy="347472"/>
          </a:xfrm>
          <a:prstGeom prst="rect">
            <a:avLst/>
          </a:prstGeom>
          <a:solidFill>
            <a:srgbClr val="038387"/>
          </a:solidFill>
          <a:ln w="12700">
            <a:solidFill>
              <a:srgbClr val="03838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66760" y="804672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 Online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1225296"/>
            <a:ext cx="3063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1271016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Departmental shared drives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(general corporate files)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886200" y="1225296"/>
            <a:ext cx="2148840" cy="640080"/>
          </a:xfrm>
          <a:prstGeom prst="rect">
            <a:avLst/>
          </a:prstGeom>
          <a:solidFill>
            <a:srgbClr val="CA8A04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86200" y="1225296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POSSIBLE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(with controls)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126480" y="1225296"/>
            <a:ext cx="2148840" cy="640080"/>
          </a:xfrm>
          <a:prstGeom prst="rect">
            <a:avLst/>
          </a:prstGeom>
          <a:solidFill>
            <a:srgbClr val="16A34A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0" y="1225296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RECOMMENDED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366760" y="1225296"/>
            <a:ext cx="3611880" cy="640080"/>
          </a:xfrm>
          <a:prstGeom prst="rect">
            <a:avLst/>
          </a:prstGeom>
          <a:solidFill>
            <a:srgbClr val="CA8A04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66760" y="1225296"/>
            <a:ext cx="3611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POSSIBLE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(with controls)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366760" y="1225296"/>
            <a:ext cx="36118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39912" y="1271016"/>
            <a:ext cx="34930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Files preferred for new deployments; SPO for document-centric teams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40080" y="1897380"/>
            <a:ext cx="3063240" cy="640080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194310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 in-scope file drops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(cardholder / payment data)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886200" y="1897380"/>
            <a:ext cx="2148840" cy="640080"/>
          </a:xfrm>
          <a:prstGeom prst="rect">
            <a:avLst/>
          </a:prstGeom>
          <a:solidFill>
            <a:srgbClr val="16A34A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86200" y="189738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RECOMMENDED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126480" y="1897380"/>
            <a:ext cx="2148840" cy="640080"/>
          </a:xfrm>
          <a:prstGeom prst="rect">
            <a:avLst/>
          </a:prstGeom>
          <a:solidFill>
            <a:srgbClr val="CA8A04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26480" y="189738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POSSIBLE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(with controls)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366760" y="1897380"/>
            <a:ext cx="3611880" cy="640080"/>
          </a:xfrm>
          <a:prstGeom prst="rect">
            <a:avLst/>
          </a:prstGeom>
          <a:solidFill>
            <a:srgbClr val="DC2626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66760" y="1897380"/>
            <a:ext cx="3611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NOT RECOMMENDED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8366760" y="1897380"/>
            <a:ext cx="3611880" cy="640080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439912" y="1943100"/>
            <a:ext cx="34930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on-prem or Azure Files Premium + CMK + segmentation; never SPO for CHD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40080" y="2569464"/>
            <a:ext cx="3063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" y="2615184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records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(MAS submissions, audit evidence)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886200" y="2569464"/>
            <a:ext cx="2148840" cy="640080"/>
          </a:xfrm>
          <a:prstGeom prst="rect">
            <a:avLst/>
          </a:prstGeom>
          <a:solidFill>
            <a:srgbClr val="16A34A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886200" y="2569464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RECOMMENDED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126480" y="2569464"/>
            <a:ext cx="2148840" cy="640080"/>
          </a:xfrm>
          <a:prstGeom prst="rect">
            <a:avLst/>
          </a:prstGeom>
          <a:solidFill>
            <a:srgbClr val="CA8A04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26480" y="2569464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POSSIBLE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(with controls)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8366760" y="2569464"/>
            <a:ext cx="3611880" cy="640080"/>
          </a:xfrm>
          <a:prstGeom prst="rect">
            <a:avLst/>
          </a:prstGeom>
          <a:solidFill>
            <a:srgbClr val="CA8A04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366760" y="2569464"/>
            <a:ext cx="3611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POSSIBLE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(with controls)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8366760" y="2569464"/>
            <a:ext cx="36118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439912" y="2615184"/>
            <a:ext cx="34930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 for control; SPO with retention labels acceptable if ADR enabled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40080" y="3241548"/>
            <a:ext cx="3063240" cy="640080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31520" y="3287268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collaboration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(document co-authoring, reviews)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886200" y="3241548"/>
            <a:ext cx="2148840" cy="640080"/>
          </a:xfrm>
          <a:prstGeom prst="rect">
            <a:avLst/>
          </a:prstGeom>
          <a:solidFill>
            <a:srgbClr val="DC2626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886200" y="3241548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NOT RECOMMENDED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126480" y="3241548"/>
            <a:ext cx="2148840" cy="640080"/>
          </a:xfrm>
          <a:prstGeom prst="rect">
            <a:avLst/>
          </a:prstGeom>
          <a:solidFill>
            <a:srgbClr val="DC2626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126480" y="3241548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NOT RECOMMENDED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8366760" y="3241548"/>
            <a:ext cx="3611880" cy="640080"/>
          </a:xfrm>
          <a:prstGeom prst="rect">
            <a:avLst/>
          </a:prstGeom>
          <a:solidFill>
            <a:srgbClr val="16A34A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366760" y="3241548"/>
            <a:ext cx="3611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RECOMMENDED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8366760" y="3241548"/>
            <a:ext cx="3611880" cy="640080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439912" y="3287268"/>
            <a:ext cx="34930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 + Teams is the natural home for collaborative workloads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40080" y="3913632"/>
            <a:ext cx="3063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31520" y="3959352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engineering / media files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(&gt;1 GB, high IOPS)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3886200" y="3913632"/>
            <a:ext cx="2148840" cy="640080"/>
          </a:xfrm>
          <a:prstGeom prst="rect">
            <a:avLst/>
          </a:prstGeom>
          <a:solidFill>
            <a:srgbClr val="16A34A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886200" y="3913632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RECOMMENDED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126480" y="3913632"/>
            <a:ext cx="2148840" cy="640080"/>
          </a:xfrm>
          <a:prstGeom prst="rect">
            <a:avLst/>
          </a:prstGeom>
          <a:solidFill>
            <a:srgbClr val="16A34A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126480" y="3913632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RECOMMENDED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8366760" y="3913632"/>
            <a:ext cx="3611880" cy="640080"/>
          </a:xfrm>
          <a:prstGeom prst="rect">
            <a:avLst/>
          </a:prstGeom>
          <a:solidFill>
            <a:srgbClr val="DC2626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366760" y="3913632"/>
            <a:ext cx="3611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NOT RECOMMENDED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8366760" y="3913632"/>
            <a:ext cx="36118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439912" y="3959352"/>
            <a:ext cx="34930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 250 GB file limit; on-prem or Azure Files Premium for large/IOPS workloads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640080" y="4585716"/>
            <a:ext cx="3063240" cy="640080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31520" y="4631436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office file access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(remote users, WAN latency)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3886200" y="4585716"/>
            <a:ext cx="2148840" cy="640080"/>
          </a:xfrm>
          <a:prstGeom prst="rect">
            <a:avLst/>
          </a:prstGeom>
          <a:solidFill>
            <a:srgbClr val="CA8A04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886200" y="4585716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POSSIBLE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(with controls)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6126480" y="4585716"/>
            <a:ext cx="2148840" cy="640080"/>
          </a:xfrm>
          <a:prstGeom prst="rect">
            <a:avLst/>
          </a:prstGeom>
          <a:solidFill>
            <a:srgbClr val="16A34A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126480" y="4585716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RECOMMENDED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8366760" y="4585716"/>
            <a:ext cx="3611880" cy="640080"/>
          </a:xfrm>
          <a:prstGeom prst="rect">
            <a:avLst/>
          </a:prstGeom>
          <a:solidFill>
            <a:srgbClr val="CA8A04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366760" y="4585716"/>
            <a:ext cx="3611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POSSIBLE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(with controls)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8366760" y="4585716"/>
            <a:ext cx="3611880" cy="640080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8439912" y="4631436"/>
            <a:ext cx="34930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File Sync with local cache is optimal for branch; on-prem requires DFS-R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640080" y="5257800"/>
            <a:ext cx="3063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31520" y="530352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app file dependencies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(SMB UNC path hard-coded)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3886200" y="5257800"/>
            <a:ext cx="2148840" cy="640080"/>
          </a:xfrm>
          <a:prstGeom prst="rect">
            <a:avLst/>
          </a:prstGeom>
          <a:solidFill>
            <a:srgbClr val="16A34A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886200" y="525780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RECOMMENDED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6126480" y="5257800"/>
            <a:ext cx="2148840" cy="640080"/>
          </a:xfrm>
          <a:prstGeom prst="rect">
            <a:avLst/>
          </a:prstGeom>
          <a:solidFill>
            <a:srgbClr val="16A34A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126480" y="525780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RECOMMENDED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8366760" y="5257800"/>
            <a:ext cx="3611880" cy="640080"/>
          </a:xfrm>
          <a:prstGeom prst="rect">
            <a:avLst/>
          </a:prstGeom>
          <a:solidFill>
            <a:srgbClr val="DC2626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8366760" y="5257800"/>
            <a:ext cx="3611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NOT RECOMMENDED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8366760" y="5257800"/>
            <a:ext cx="36118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8439912" y="5303520"/>
            <a:ext cx="34930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requiring SMB path cannot use SPO; Azure Files preserves SMB compatibility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640080" y="5929884"/>
            <a:ext cx="3063240" cy="640080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31520" y="5975604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confidential / board materials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(Internal-only, maximum control)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3886200" y="5929884"/>
            <a:ext cx="2148840" cy="640080"/>
          </a:xfrm>
          <a:prstGeom prst="rect">
            <a:avLst/>
          </a:prstGeom>
          <a:solidFill>
            <a:srgbClr val="16A34A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3886200" y="5929884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RECOMMENDED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6126480" y="5929884"/>
            <a:ext cx="2148840" cy="640080"/>
          </a:xfrm>
          <a:prstGeom prst="rect">
            <a:avLst/>
          </a:prstGeom>
          <a:solidFill>
            <a:srgbClr val="CA8A04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126480" y="5929884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POSSIBLE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(with controls)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8366760" y="5929884"/>
            <a:ext cx="3611880" cy="640080"/>
          </a:xfrm>
          <a:prstGeom prst="rect">
            <a:avLst/>
          </a:prstGeom>
          <a:solidFill>
            <a:srgbClr val="CA8A04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8366760" y="5929884"/>
            <a:ext cx="3611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POSSIBLE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(with controls)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8366760" y="5929884"/>
            <a:ext cx="3611880" cy="640080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8439912" y="5975604"/>
            <a:ext cx="34930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 highest control; if SPO, enforce sensitivity labels + limited sharing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228600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Lens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347472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4A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TRM · MAS Cloud Advisory · PCI DSS · PDPA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91440"/>
            <a:ext cx="11338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Alignment — MAS TRM, Cloud Advisory, PCI DSS &amp; PDPA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601968"/>
            <a:ext cx="11430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Enterprise File Services Review  |  Singapore/APAC Financial Institution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0" y="804672"/>
            <a:ext cx="2880360" cy="384048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0" y="804672"/>
            <a:ext cx="2880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 Windows VM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26480" y="804672"/>
            <a:ext cx="2880360" cy="38404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0" y="804672"/>
            <a:ext cx="2880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Files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144000" y="804672"/>
            <a:ext cx="2880360" cy="384048"/>
          </a:xfrm>
          <a:prstGeom prst="rect">
            <a:avLst/>
          </a:prstGeom>
          <a:solidFill>
            <a:srgbClr val="038387"/>
          </a:solidFill>
          <a:ln w="12700">
            <a:solidFill>
              <a:srgbClr val="03838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0" y="804672"/>
            <a:ext cx="2880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 Online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1261872"/>
            <a:ext cx="2487168" cy="1280160"/>
          </a:xfrm>
          <a:prstGeom prst="rect">
            <a:avLst/>
          </a:prstGeom>
          <a:solidFill>
            <a:srgbClr val="0A5275"/>
          </a:solidFill>
          <a:ln w="12700">
            <a:solidFill>
              <a:srgbClr val="0A527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1261872"/>
            <a:ext cx="248716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TRM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(Technology Risk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0" y="1261872"/>
            <a:ext cx="28346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0" y="1316736"/>
            <a:ext cx="267919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control; bank is accountable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maintain: audit logs, least privilege, encryption, DR/BCM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external risk assessment needed; internal audit applies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126480" y="1261872"/>
            <a:ext cx="28346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1316736"/>
            <a:ext cx="267919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retains accountability; cloud use must be TRM-documented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Required: vendor due diligence, CSP risk assessment, encryption policy, key mgmt, SLA review, exit strategy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provides SOC1/SOC2, ISO 27001 evidence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9144000" y="1261872"/>
            <a:ext cx="28346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35440" y="1316736"/>
            <a:ext cx="267919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above + Microsoft 365-specific controls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MTCS Level 3 (Singapore) covers TRM expectations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rights: Microsoft publishes compliance documentation; may not allow on-site audit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40080" y="2587752"/>
            <a:ext cx="2487168" cy="1280160"/>
          </a:xfrm>
          <a:prstGeom prst="rect">
            <a:avLst/>
          </a:prstGeom>
          <a:solidFill>
            <a:srgbClr val="145A32"/>
          </a:solidFill>
          <a:ln w="12700">
            <a:solidFill>
              <a:srgbClr val="145A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2587752"/>
            <a:ext cx="248716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Cloud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0" y="2587752"/>
            <a:ext cx="2834640" cy="1280160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91840" y="2642616"/>
            <a:ext cx="267919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 — on-prem not in scope for Cloud Advisory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controls all aspects internally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document any cloud-connected scenarios (e.g., Azure Arc)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126480" y="2587752"/>
            <a:ext cx="2834640" cy="1280160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2642616"/>
            <a:ext cx="267919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Advisory applies: document cloud usage in TPML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classification required (critical vs non-critical workload)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ensure CSP contractual provisions: encryption, audit, portability, incident notification, sub-processors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9144000" y="2587752"/>
            <a:ext cx="2834640" cy="1280160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235440" y="2642616"/>
            <a:ext cx="267919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Advisory applies: M365 is a SaaS; register in TPML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residency: verify ADR is activated for Singapore residency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Data Processing Agreement (DPA) must align with MAS expectations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40080" y="3913632"/>
            <a:ext cx="2487168" cy="1280160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3913632"/>
            <a:ext cx="248716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 DSS v4.0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(Cardholder Data)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00400" y="3913632"/>
            <a:ext cx="28346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91840" y="3968496"/>
            <a:ext cx="267919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Feasible: full control over segmentation, encryption, key mgmt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implement: encryption at rest (BitLocker/SAN), TLS in transit, HSM key management, access logging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clear-text CHD in any file (req 3.4 / 3.5)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storage of full PAN requires strong encryption + tokenisation strongly preferred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26480" y="3913632"/>
            <a:ext cx="28346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17920" y="3968496"/>
            <a:ext cx="267919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Feasible with Premium tier + CMK in Key Vault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 3.4: CHD files must be encrypted; CMK ensures bank controls keys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 10: audit logs must be immutable; integrate with SIEM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 1: network segmentation via Private Endpoint + NSG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Azure PCI DSS Attestation of Compliance available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9144000" y="3913632"/>
            <a:ext cx="28346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235440" y="3968496"/>
            <a:ext cx="267919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RECOMMENDED for CHD storage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 not scoped for PCI DSS cardholder data environments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data sprawl, sharing features, multi-region metadata replication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used: must isolate PCI sites, apply sensitivity labels, DLP policies — complexity very high; easier to use Azure Files or on-prem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40080" y="5239512"/>
            <a:ext cx="2487168" cy="1280160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5239512"/>
            <a:ext cx="248716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PDPA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(Singapore)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200400" y="5239512"/>
            <a:ext cx="2834640" cy="1280160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91840" y="5294376"/>
            <a:ext cx="267919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owns all personal data; PDPA obligations fully with bank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implement: consent management, data retention/deletion, DSAR process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cross-border transfer issues for Singapore-based DC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126480" y="5239512"/>
            <a:ext cx="2834640" cy="1280160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17920" y="5294376"/>
            <a:ext cx="267919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data in Azure Southeast Asia (SG): meets PDPA adequacy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data agreement with Microsoft covers PDPA obligations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Subject Access Requests: bank manages; use storage metadata to locate personal data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9144000" y="5239512"/>
            <a:ext cx="2834640" cy="1280160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235440" y="5294376"/>
            <a:ext cx="267919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data in SPO: ADR required for strict Singapore residency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Purview: subject access, data retention, and deletion workflows built-in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DPA covers PDPA-aligned provisions; review data processor obligations carefully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91440"/>
            <a:ext cx="11338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 DSS v4.0 — File Storage Requirements for Cardholder Data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601968"/>
            <a:ext cx="11430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Enterprise File Services Review  |  Singapore/APAC Financial Institution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40080" y="914400"/>
            <a:ext cx="1097280" cy="1051560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914400"/>
            <a:ext cx="1097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 3.4 / 3.5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PAN Unreadable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783080" y="914400"/>
            <a:ext cx="27432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74520" y="987552"/>
            <a:ext cx="2578608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PANs stored in files MUST be encrypted with strong cryptography. Tokenisation or truncation strongly preferred over encrypted file storage. Clear-text PAN in any file = automatic PCI failure.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53712" y="914400"/>
            <a:ext cx="24688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45152" y="987552"/>
            <a:ext cx="2322576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BitLocker/SAN + AES-256 + HSM key management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050024" y="914400"/>
            <a:ext cx="24688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41464" y="987552"/>
            <a:ext cx="2322576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CMK in Azure Key Vault + AES-256 at rest (Premium tier)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9546336" y="914400"/>
            <a:ext cx="23774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37776" y="987552"/>
            <a:ext cx="2231136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Not recommended — data sprawl risk; CMK not per-file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40080" y="2029968"/>
            <a:ext cx="1097280" cy="1051560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029968"/>
            <a:ext cx="1097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 7 / 8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 &amp; IAM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783080" y="2029968"/>
            <a:ext cx="2743200" cy="1051560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74520" y="2103120"/>
            <a:ext cx="2578608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privilege access; MFA for all non-console admin access; access reviews at least every 6 months.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53712" y="2029968"/>
            <a:ext cx="2468880" cy="1051560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45152" y="2103120"/>
            <a:ext cx="2322576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NTFS ACLs + AD RBAC; MFA via RSA/RADIUS on VPN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050024" y="2029968"/>
            <a:ext cx="2468880" cy="1051560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41464" y="2103120"/>
            <a:ext cx="2322576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RBAC + AD Kerberos; Entra ID Conditional Access + MFA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9546336" y="2029968"/>
            <a:ext cx="2377440" cy="1051560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37776" y="2103120"/>
            <a:ext cx="2231136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Entra ID + MFA; SharePoint permissions can be complex; risk of over-sharing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40080" y="3145536"/>
            <a:ext cx="1097280" cy="1051560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3145536"/>
            <a:ext cx="1097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 10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Logs &amp; Monitoring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783080" y="3145536"/>
            <a:ext cx="27432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874520" y="3218688"/>
            <a:ext cx="2578608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access to CHD must be logged; logs must be immutable, retained ≥12 months, available for analysis.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53712" y="3145536"/>
            <a:ext cx="24688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45152" y="3218688"/>
            <a:ext cx="2322576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Windows Security Event Log + SIEM agent; immutable log store required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050024" y="3145536"/>
            <a:ext cx="24688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41464" y="3218688"/>
            <a:ext cx="2322576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Azure Storage audit logs → Log Analytics → Sentinel; immutable storage blobs available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9546336" y="3145536"/>
            <a:ext cx="23774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637776" y="3218688"/>
            <a:ext cx="2231136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Unified Audit Log in M365; requires E5 or Audit Premium; log export to SIEM needed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40080" y="4261104"/>
            <a:ext cx="1097280" cy="1051560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4261104"/>
            <a:ext cx="1097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 1 / 4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Segmentation &amp; Encryption in Transit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783080" y="4261104"/>
            <a:ext cx="2743200" cy="1051560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874520" y="4334256"/>
            <a:ext cx="2578608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CDE must be isolated; all CHD transmission encrypted; no unencrypted protocols.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553712" y="4261104"/>
            <a:ext cx="2468880" cy="1051560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45152" y="4334256"/>
            <a:ext cx="2322576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Bank-controlled VLAN/firewall segmentation; SMB 3.x with AES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050024" y="4261104"/>
            <a:ext cx="2468880" cy="1051560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141464" y="4334256"/>
            <a:ext cx="2322576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Private Endpoint; NSG; SMB 3.x enforced; ExpressRoute for transit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9546336" y="4261104"/>
            <a:ext cx="2377440" cy="1051560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637776" y="4334256"/>
            <a:ext cx="2231136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TLS enforced; but logical (not network) isolation only; not suitable for CDE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40080" y="5376672"/>
            <a:ext cx="1097280" cy="1051560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0080" y="5376672"/>
            <a:ext cx="1097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 12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&amp; Risk Management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1783080" y="5376672"/>
            <a:ext cx="27432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874520" y="5449824"/>
            <a:ext cx="2578608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all CHD storage locations; maintain data flow diagrams; conduct annual risk assessments.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553712" y="5376672"/>
            <a:ext cx="24688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645152" y="5449824"/>
            <a:ext cx="2322576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within bank's ISMS; internal audit evidence straightforward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050024" y="5376672"/>
            <a:ext cx="24688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141464" y="5449824"/>
            <a:ext cx="2322576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risk assessment in TPML; Microsoft PCI DSS AoC supplements bank's own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9546336" y="5376672"/>
            <a:ext cx="23774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637776" y="5449824"/>
            <a:ext cx="2231136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Cloud Advisory + Microsoft CSA evidence; PCI DSS AoC does not cover file-level CHD in SPO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40080" y="822960"/>
            <a:ext cx="1097280" cy="292608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40080" y="82296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1783080" y="822960"/>
            <a:ext cx="2743200" cy="292608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783080" y="82296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Requires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4553712" y="822960"/>
            <a:ext cx="2468880" cy="292608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553712" y="82296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 VM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7050024" y="822960"/>
            <a:ext cx="2468880" cy="29260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050024" y="82296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Files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9546336" y="822960"/>
            <a:ext cx="2377440" cy="292608"/>
          </a:xfrm>
          <a:prstGeom prst="rect">
            <a:avLst/>
          </a:prstGeom>
          <a:solidFill>
            <a:srgbClr val="038387"/>
          </a:solidFill>
          <a:ln w="12700">
            <a:solidFill>
              <a:srgbClr val="038387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546336" y="82296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 Online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228600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347472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4A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Pragmatic target state for a Singapore/APAC financial institution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91440"/>
            <a:ext cx="11338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Target State — Hybrid Architecture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601968"/>
            <a:ext cx="11430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Enterprise File Services Review  |  Singapore/APAC Financial Institution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40080" y="804672"/>
            <a:ext cx="10881360" cy="47548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804672"/>
            <a:ext cx="10881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Recommended: Differentiated Hybrid Model — No Single Platform Fits All Workloads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1371600"/>
            <a:ext cx="338328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1371600"/>
            <a:ext cx="3383280" cy="41148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37160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 Windows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Servers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49808" y="1847088"/>
            <a:ext cx="31821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/ USE FOR: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77240" y="2176272"/>
            <a:ext cx="73152" cy="7315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130552"/>
            <a:ext cx="29992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 in-scope file storage (CHD/cardholder data)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77240" y="2798064"/>
            <a:ext cx="73152" cy="7315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752344"/>
            <a:ext cx="29992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with hardcoded SMB UNC paths that cannot be re-architected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77240" y="3419856"/>
            <a:ext cx="73152" cy="7315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374136"/>
            <a:ext cx="29992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Workloads in highest-classification environments (e.g., Trading floor, Treasury)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77240" y="4041648"/>
            <a:ext cx="73152" cy="7315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3995928"/>
            <a:ext cx="29992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Environments where Entra ID Connect cannot yet be established (isolated forests)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" y="4800600"/>
            <a:ext cx="3383280" cy="749808"/>
          </a:xfrm>
          <a:prstGeom prst="rect">
            <a:avLst/>
          </a:prstGeom>
          <a:solidFill>
            <a:srgbClr val="000000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4846320"/>
            <a:ext cx="321868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Rationalise and harden. Do not expand. Decommission as workloads are validated for cloud.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206240" y="1371600"/>
            <a:ext cx="338328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206240" y="1371600"/>
            <a:ext cx="3383280" cy="41148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06240" y="137160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Files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(Southeast Asia Region)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315968" y="1847088"/>
            <a:ext cx="31821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/ USE FOR: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343400" y="2176272"/>
            <a:ext cx="73152" cy="7315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80560" y="2130552"/>
            <a:ext cx="29992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departmental shared drives (lift-and-shift from on-prem VMs)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343400" y="2798064"/>
            <a:ext cx="73152" cy="7315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80560" y="2752344"/>
            <a:ext cx="29992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scenarios: branch offices using Azure File Sync + cloud tier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343400" y="3419856"/>
            <a:ext cx="73152" cy="7315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80560" y="3374136"/>
            <a:ext cx="29992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DR/BCM secondary copy for on-prem file servers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343400" y="4041648"/>
            <a:ext cx="73152" cy="7315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80560" y="3995928"/>
            <a:ext cx="29992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workloads requiring SMB access without infrastructure management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206240" y="4800600"/>
            <a:ext cx="3383280" cy="749808"/>
          </a:xfrm>
          <a:prstGeom prst="rect">
            <a:avLst/>
          </a:prstGeom>
          <a:solidFill>
            <a:srgbClr val="000000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297680" y="4846320"/>
            <a:ext cx="321868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platform for file-server modernisation. Deploy Premium tier for IOPS; CMK mandatory.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772400" y="1371600"/>
            <a:ext cx="338328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772400" y="1371600"/>
            <a:ext cx="3383280" cy="411480"/>
          </a:xfrm>
          <a:prstGeom prst="rect">
            <a:avLst/>
          </a:prstGeom>
          <a:solidFill>
            <a:srgbClr val="038387"/>
          </a:solidFill>
          <a:ln w="12700">
            <a:solidFill>
              <a:srgbClr val="03838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72400" y="137160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 Online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(M365 / ADR)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882128" y="1847088"/>
            <a:ext cx="31821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38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/ USE FOR: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909560" y="2176272"/>
            <a:ext cx="73152" cy="73152"/>
          </a:xfrm>
          <a:prstGeom prst="rect">
            <a:avLst/>
          </a:prstGeom>
          <a:solidFill>
            <a:srgbClr val="038387"/>
          </a:solidFill>
          <a:ln w="12700">
            <a:solidFill>
              <a:srgbClr val="03838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046720" y="2130552"/>
            <a:ext cx="29992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Collaboration-centric document management (projects, committees, policies)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909560" y="2798064"/>
            <a:ext cx="73152" cy="73152"/>
          </a:xfrm>
          <a:prstGeom prst="rect">
            <a:avLst/>
          </a:prstGeom>
          <a:solidFill>
            <a:srgbClr val="038387"/>
          </a:solidFill>
          <a:ln w="12700">
            <a:solidFill>
              <a:srgbClr val="03838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046720" y="2752344"/>
            <a:ext cx="29992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Teams-integrated document libraries replacing email attachments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909560" y="3419856"/>
            <a:ext cx="73152" cy="73152"/>
          </a:xfrm>
          <a:prstGeom prst="rect">
            <a:avLst/>
          </a:prstGeom>
          <a:solidFill>
            <a:srgbClr val="038387"/>
          </a:solidFill>
          <a:ln w="12700">
            <a:solidFill>
              <a:srgbClr val="03838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046720" y="3374136"/>
            <a:ext cx="29992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records with retention + sensitivity labels (non-PCI)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7909560" y="4041648"/>
            <a:ext cx="73152" cy="73152"/>
          </a:xfrm>
          <a:prstGeom prst="rect">
            <a:avLst/>
          </a:prstGeom>
          <a:solidFill>
            <a:srgbClr val="038387"/>
          </a:solidFill>
          <a:ln w="12700">
            <a:solidFill>
              <a:srgbClr val="03838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046720" y="3995928"/>
            <a:ext cx="29992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base, intranet, and workflow-based content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7772400" y="4800600"/>
            <a:ext cx="3383280" cy="749808"/>
          </a:xfrm>
          <a:prstGeom prst="rect">
            <a:avLst/>
          </a:prstGeom>
          <a:solidFill>
            <a:srgbClr val="000000"/>
          </a:solidFill>
          <a:ln w="12700">
            <a:solidFill>
              <a:srgbClr val="03838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863840" y="4846320"/>
            <a:ext cx="321868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ADR for Singapore residency. Block external sharing by default. License E5 for DLP.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91440"/>
            <a:ext cx="11338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Migration Roadmap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601968"/>
            <a:ext cx="11430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Enterprise File Services Review  |  Singapore/APAC Financial Institution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40080" y="804672"/>
            <a:ext cx="3657600" cy="5440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804672"/>
            <a:ext cx="3657600" cy="5029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80467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|  Months 1–6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1060704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&amp; Quick Wins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77240" y="1389888"/>
            <a:ext cx="73152" cy="731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1353312"/>
            <a:ext cx="327355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audit: map all AD forests, child domains, trusts, and service accounts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77240" y="2048256"/>
            <a:ext cx="73152" cy="731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011680"/>
            <a:ext cx="327355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classification: classify all file shares by sensitivity (PCI, HC, General, Archive)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77240" y="2706624"/>
            <a:ext cx="73152" cy="731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670048"/>
            <a:ext cx="327355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ID Connect: deploy hybrid identity sync for forests that will migrate to cloud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77240" y="3364992"/>
            <a:ext cx="73152" cy="731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328416"/>
            <a:ext cx="327355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 Pilot: migrate 2–3 collaboration-heavy teams to SPO + Teams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77240" y="4023360"/>
            <a:ext cx="73152" cy="731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3986784"/>
            <a:ext cx="327355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Files Pilot: migrate 1–2 low-sensitivity departmental shares to Azure Files (SG region)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77240" y="4681728"/>
            <a:ext cx="73152" cy="731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645152"/>
            <a:ext cx="327355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Tooling: deploy Microsoft Purview for classification; enable Defender for Storage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77240" y="5340096"/>
            <a:ext cx="73152" cy="731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5303520"/>
            <a:ext cx="327355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TRM: update TPML, initiate cloud risk assessment for Azure and M365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480560" y="804672"/>
            <a:ext cx="3657600" cy="5440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80560" y="804672"/>
            <a:ext cx="3657600" cy="50292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80560" y="80467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|  Months 7–15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480560" y="1060704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Migration Wave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17720" y="1389888"/>
            <a:ext cx="73152" cy="7315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1353312"/>
            <a:ext cx="327355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Files rollout: migrate general departmental shares using Azure File Sync + cutover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17720" y="2048256"/>
            <a:ext cx="73152" cy="7315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2011680"/>
            <a:ext cx="327355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DFS Namespace: retarget DFS to Azure Files endpoints progressively; maintain coexistence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17720" y="2706624"/>
            <a:ext cx="73152" cy="7315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2670048"/>
            <a:ext cx="327355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 expansion: wave-based rollout of document management to remaining departments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17720" y="3364992"/>
            <a:ext cx="73152" cy="7315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3328416"/>
            <a:ext cx="327355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labels: apply Purview labels across M365 and Azure environments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617720" y="4023360"/>
            <a:ext cx="73152" cy="7315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0" y="3986784"/>
            <a:ext cx="327355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 environment: harden and consolidate remaining on-prem PCI-scoped file servers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617720" y="4681728"/>
            <a:ext cx="73152" cy="7315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54880" y="4645152"/>
            <a:ext cx="327355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File Sync agents: deploy to branch offices; validate performance with cloud tier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617720" y="5340096"/>
            <a:ext cx="73152" cy="7315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54880" y="5303520"/>
            <a:ext cx="327355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validation: internal audit check on encryption, access controls, logging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8321040" y="804672"/>
            <a:ext cx="3657600" cy="5440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321040" y="804672"/>
            <a:ext cx="3657600" cy="502920"/>
          </a:xfrm>
          <a:prstGeom prst="rect">
            <a:avLst/>
          </a:prstGeom>
          <a:solidFill>
            <a:srgbClr val="038387"/>
          </a:solidFill>
          <a:ln w="12700">
            <a:solidFill>
              <a:srgbClr val="03838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321040" y="80467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 |  Months 16–24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8321040" y="1060704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 &amp; Rationalise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8458200" y="1389888"/>
            <a:ext cx="73152" cy="73152"/>
          </a:xfrm>
          <a:prstGeom prst="rect">
            <a:avLst/>
          </a:prstGeom>
          <a:solidFill>
            <a:srgbClr val="038387"/>
          </a:solidFill>
          <a:ln w="12700">
            <a:solidFill>
              <a:srgbClr val="03838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595360" y="1353312"/>
            <a:ext cx="327355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 rationalisation: decommission non-PCI file servers replaced by Azure Files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8458200" y="2048256"/>
            <a:ext cx="73152" cy="73152"/>
          </a:xfrm>
          <a:prstGeom prst="rect">
            <a:avLst/>
          </a:prstGeom>
          <a:solidFill>
            <a:srgbClr val="038387"/>
          </a:solidFill>
          <a:ln w="12700">
            <a:solidFill>
              <a:srgbClr val="03838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595360" y="2011680"/>
            <a:ext cx="327355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 review: validate whether any PCI shares can be re-architected to remove CHD file storage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8458200" y="2706624"/>
            <a:ext cx="73152" cy="73152"/>
          </a:xfrm>
          <a:prstGeom prst="rect">
            <a:avLst/>
          </a:prstGeom>
          <a:solidFill>
            <a:srgbClr val="038387"/>
          </a:solidFill>
          <a:ln w="12700">
            <a:solidFill>
              <a:srgbClr val="03838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595360" y="2670048"/>
            <a:ext cx="327355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compliance: activate M365 ADR for SharePoint data residency confirmation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8458200" y="3364992"/>
            <a:ext cx="73152" cy="73152"/>
          </a:xfrm>
          <a:prstGeom prst="rect">
            <a:avLst/>
          </a:prstGeom>
          <a:solidFill>
            <a:srgbClr val="038387"/>
          </a:solidFill>
          <a:ln w="12700">
            <a:solidFill>
              <a:srgbClr val="03838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595360" y="3328416"/>
            <a:ext cx="327355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SIEM integration: Azure Sentinel connecting on-prem, Azure Files, and M365 logs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8458200" y="4023360"/>
            <a:ext cx="73152" cy="73152"/>
          </a:xfrm>
          <a:prstGeom prst="rect">
            <a:avLst/>
          </a:prstGeom>
          <a:solidFill>
            <a:srgbClr val="038387"/>
          </a:solidFill>
          <a:ln w="12700">
            <a:solidFill>
              <a:srgbClr val="03838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595360" y="3986784"/>
            <a:ext cx="327355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DR/BCM testing: simulate file server failover for all three platform tiers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8458200" y="4681728"/>
            <a:ext cx="73152" cy="73152"/>
          </a:xfrm>
          <a:prstGeom prst="rect">
            <a:avLst/>
          </a:prstGeom>
          <a:solidFill>
            <a:srgbClr val="038387"/>
          </a:solidFill>
          <a:ln w="12700">
            <a:solidFill>
              <a:srgbClr val="03838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595360" y="4645152"/>
            <a:ext cx="327355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review: validate CapEx savings vs OpEx model; adjust Premium/Standard tiers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8458200" y="5340096"/>
            <a:ext cx="73152" cy="73152"/>
          </a:xfrm>
          <a:prstGeom prst="rect">
            <a:avLst/>
          </a:prstGeom>
          <a:solidFill>
            <a:srgbClr val="038387"/>
          </a:solidFill>
          <a:ln w="12700">
            <a:solidFill>
              <a:srgbClr val="03838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595360" y="5303520"/>
            <a:ext cx="327355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TRM annual review: update risk assessment and cloud usage register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91440"/>
            <a:ext cx="11338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Matrix — Choosing the Right Platform per Workload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601968"/>
            <a:ext cx="11430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Enterprise File Services Review  |  Singapore/APAC Financial Institution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40080" y="804672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these criteria to determine the target platform for each file share or workload during migration planning.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1207008"/>
            <a:ext cx="2148840" cy="621792"/>
          </a:xfrm>
          <a:prstGeom prst="rect">
            <a:avLst/>
          </a:prstGeom>
          <a:solidFill>
            <a:srgbClr val="0A1F44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1252728"/>
            <a:ext cx="20299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926080" y="1207008"/>
            <a:ext cx="2468880" cy="621792"/>
          </a:xfrm>
          <a:prstGeom prst="rect">
            <a:avLst/>
          </a:prstGeom>
          <a:solidFill>
            <a:srgbClr val="0A1F44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99232" y="1252728"/>
            <a:ext cx="23500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This Question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0" y="1207008"/>
            <a:ext cx="2377440" cy="621792"/>
          </a:xfrm>
          <a:prstGeom prst="rect">
            <a:avLst/>
          </a:prstGeom>
          <a:solidFill>
            <a:srgbClr val="374151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59552" y="1252728"/>
            <a:ext cx="22585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On-Prem VM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955280" y="1207008"/>
            <a:ext cx="1965960" cy="621792"/>
          </a:xfrm>
          <a:prstGeom prst="rect">
            <a:avLst/>
          </a:prstGeom>
          <a:solidFill>
            <a:srgbClr val="0078D4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28432" y="1252728"/>
            <a:ext cx="18470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Azure Files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0012680" y="1207008"/>
            <a:ext cx="1920240" cy="621792"/>
          </a:xfrm>
          <a:prstGeom prst="rect">
            <a:avLst/>
          </a:prstGeom>
          <a:solidFill>
            <a:srgbClr val="038387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85832" y="1252728"/>
            <a:ext cx="18013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SharePoint Online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1865376"/>
            <a:ext cx="2148840" cy="621792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" y="1911096"/>
            <a:ext cx="20299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Sensitivity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926080" y="1865376"/>
            <a:ext cx="2468880" cy="621792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99232" y="1911096"/>
            <a:ext cx="23500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PCI-scoped or highest classification?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486400" y="1865376"/>
            <a:ext cx="2377440" cy="621792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59552" y="1911096"/>
            <a:ext cx="22585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PCI / HC data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955280" y="1865376"/>
            <a:ext cx="1965960" cy="621792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28432" y="1911096"/>
            <a:ext cx="18470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Internal / Confidential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0012680" y="1865376"/>
            <a:ext cx="1920240" cy="621792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85832" y="1911096"/>
            <a:ext cx="18013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General / Public only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40080" y="2523744"/>
            <a:ext cx="21488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3232" y="2569464"/>
            <a:ext cx="20299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SMB Dependency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926080" y="2523744"/>
            <a:ext cx="24688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99232" y="2569464"/>
            <a:ext cx="23500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any app require SMB UNC path?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486400" y="2523744"/>
            <a:ext cx="23774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59552" y="2569464"/>
            <a:ext cx="22585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Yes — legacy app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955280" y="2523744"/>
            <a:ext cx="19659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28432" y="2569464"/>
            <a:ext cx="18470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Yes — modernising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10012680" y="2523744"/>
            <a:ext cx="1920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085832" y="2569464"/>
            <a:ext cx="18013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Cannot provide SMB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40080" y="3182112"/>
            <a:ext cx="2148840" cy="621792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13232" y="3227832"/>
            <a:ext cx="20299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 Need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926080" y="3182112"/>
            <a:ext cx="2468880" cy="621792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999232" y="3227832"/>
            <a:ext cx="23500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users need co-authoring or Teams integration?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486400" y="3182112"/>
            <a:ext cx="2377440" cy="621792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59552" y="3227832"/>
            <a:ext cx="22585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Not supported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7955280" y="3182112"/>
            <a:ext cx="1965960" cy="621792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028432" y="3227832"/>
            <a:ext cx="18470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Not designed for this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10012680" y="3182112"/>
            <a:ext cx="1920240" cy="621792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085832" y="3227832"/>
            <a:ext cx="18013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Primary use case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40080" y="3840480"/>
            <a:ext cx="21488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13232" y="3886200"/>
            <a:ext cx="20299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Residency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2926080" y="3840480"/>
            <a:ext cx="24688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999232" y="3886200"/>
            <a:ext cx="23500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data require Singapore DC / strict residency?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5486400" y="3840480"/>
            <a:ext cx="23774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559552" y="3886200"/>
            <a:ext cx="22585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100% on-prem SG DC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7955280" y="3840480"/>
            <a:ext cx="19659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028432" y="3886200"/>
            <a:ext cx="18470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Azure SG region + CMK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10012680" y="3840480"/>
            <a:ext cx="1920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0085832" y="3886200"/>
            <a:ext cx="18013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ADR add-on required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640080" y="4498848"/>
            <a:ext cx="2148840" cy="621792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13232" y="4544568"/>
            <a:ext cx="20299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Ops Reduction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2926080" y="4498848"/>
            <a:ext cx="2468880" cy="621792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999232" y="4544568"/>
            <a:ext cx="23500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reducing patching/management a goal?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5486400" y="4498848"/>
            <a:ext cx="2377440" cy="621792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559552" y="4544568"/>
            <a:ext cx="22585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 change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7955280" y="4498848"/>
            <a:ext cx="1965960" cy="621792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028432" y="4544568"/>
            <a:ext cx="18470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PaaS — ops reduced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10012680" y="4498848"/>
            <a:ext cx="1920240" cy="621792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0085832" y="4544568"/>
            <a:ext cx="18013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✅✅ SaaS — fully managed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640080" y="5157216"/>
            <a:ext cx="21488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13232" y="5202936"/>
            <a:ext cx="20299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/ IOPS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2926080" y="5157216"/>
            <a:ext cx="24688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999232" y="5202936"/>
            <a:ext cx="23500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workload require high IOPS or large files?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5486400" y="5157216"/>
            <a:ext cx="23774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559552" y="5202936"/>
            <a:ext cx="22585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SAN / NVMe on-prem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7955280" y="5157216"/>
            <a:ext cx="19659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028432" y="5202936"/>
            <a:ext cx="18470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Premium tier (100K IOPS)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10012680" y="5157216"/>
            <a:ext cx="1920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0085832" y="5202936"/>
            <a:ext cx="18013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Not suitable for IOPS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640080" y="5815584"/>
            <a:ext cx="2148840" cy="621792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713232" y="5861304"/>
            <a:ext cx="20299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Scope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2926080" y="5815584"/>
            <a:ext cx="2468880" cy="621792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999232" y="5861304"/>
            <a:ext cx="23500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workload in scope for MAS TRM cloud review?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5486400" y="5815584"/>
            <a:ext cx="2377440" cy="621792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559552" y="5861304"/>
            <a:ext cx="22585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Not in scope (on-prem)</a:t>
            </a:r>
            <a:endParaRPr lang="en-US" sz="950" dirty="0"/>
          </a:p>
        </p:txBody>
      </p:sp>
      <p:sp>
        <p:nvSpPr>
          <p:cNvPr id="84" name="Shape 82"/>
          <p:cNvSpPr/>
          <p:nvPr/>
        </p:nvSpPr>
        <p:spPr>
          <a:xfrm>
            <a:off x="7955280" y="5815584"/>
            <a:ext cx="1965960" cy="621792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8028432" y="5861304"/>
            <a:ext cx="18470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Cloud risk assessment reqd</a:t>
            </a:r>
            <a:endParaRPr lang="en-US" sz="950" dirty="0"/>
          </a:p>
        </p:txBody>
      </p:sp>
      <p:sp>
        <p:nvSpPr>
          <p:cNvPr id="86" name="Shape 84"/>
          <p:cNvSpPr/>
          <p:nvPr/>
        </p:nvSpPr>
        <p:spPr>
          <a:xfrm>
            <a:off x="10012680" y="5815584"/>
            <a:ext cx="1920240" cy="621792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10085832" y="5861304"/>
            <a:ext cx="18013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Cloud risk assessment reqd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91440"/>
            <a:ext cx="11338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Residual Risks &amp; Typical Audit Questions — Per Platform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601968"/>
            <a:ext cx="11430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Enterprise File Services Review  |  Singapore/APAC Financial Institution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40080" y="804672"/>
            <a:ext cx="3657600" cy="5440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804672"/>
            <a:ext cx="3657600" cy="34747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80467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 Windows VM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1207008"/>
            <a:ext cx="34930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Key Residual Risks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49808" y="1481328"/>
            <a:ext cx="34564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Unpatched OS / EOL Windows Server: attack surface, non-compliance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49808" y="1984248"/>
            <a:ext cx="34564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Backup/DR gaps: no tested recovery; RPO/RTO not validated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49808" y="2487168"/>
            <a:ext cx="34564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Encryption inconsistency: not all volumes encrypted at rest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49808" y="2990088"/>
            <a:ext cx="34564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Orphaned accounts: users/service accounts with excessive access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49808" y="3493008"/>
            <a:ext cx="34564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Audit log gaps: security events not forwarded to SIEM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31520" y="4096512"/>
            <a:ext cx="3493008" cy="73152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206240"/>
            <a:ext cx="34930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Typical Audit Questions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49808" y="4498848"/>
            <a:ext cx="3456432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Who has access to file shares and when was it last reviewed?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49808" y="4974336"/>
            <a:ext cx="3456432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How is encryption at rest enforced and who holds the keys?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49808" y="5449824"/>
            <a:ext cx="3456432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What is the RTO/RPO for file services and when was DR last tested?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49808" y="5925312"/>
            <a:ext cx="3456432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How are privileged admin accounts for file servers managed and monitored?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480560" y="804672"/>
            <a:ext cx="3657600" cy="5440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80560" y="804672"/>
            <a:ext cx="3657600" cy="34747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80560" y="80467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Files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0" y="1207008"/>
            <a:ext cx="34930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Key Residual Risks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90288" y="1481328"/>
            <a:ext cx="34564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CMK rotation not automated: key expiry could lock out data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590288" y="1984248"/>
            <a:ext cx="34564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Private Endpoint misconfiguration: public access enabled inadvertently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590288" y="2487168"/>
            <a:ext cx="34564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 Kerberos misconfiguration: cross-forest auth failures; users bypass to NTLM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590288" y="2990088"/>
            <a:ext cx="34564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TPML not updated: cloud use not formally documented for MAS TRM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590288" y="3493008"/>
            <a:ext cx="34564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Egress cost surprise: large data transfers not anticipated in cost model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72000" y="4096512"/>
            <a:ext cx="3493008" cy="73152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0" y="4206240"/>
            <a:ext cx="34930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Typical Audit Questions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90288" y="4498848"/>
            <a:ext cx="3456432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Is encryption using Customer-Managed Keys, and is key rotation documented?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90288" y="4974336"/>
            <a:ext cx="3456432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How is the bank assured that data does not leave the Singapore Azure region?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90288" y="5449824"/>
            <a:ext cx="3456432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What evidence is provided for MAS Cloud Advisory due diligence of Microsoft?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90288" y="5925312"/>
            <a:ext cx="3456432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How are audit logs from Azure Files forwarded, retained, and protected from tampering?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8321040" y="804672"/>
            <a:ext cx="3657600" cy="5440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321040" y="804672"/>
            <a:ext cx="3657600" cy="347472"/>
          </a:xfrm>
          <a:prstGeom prst="rect">
            <a:avLst/>
          </a:prstGeom>
          <a:solidFill>
            <a:srgbClr val="038387"/>
          </a:solidFill>
          <a:ln w="12700">
            <a:solidFill>
              <a:srgbClr val="03838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321040" y="80467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 Online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412480" y="1207008"/>
            <a:ext cx="34930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Key Residual Risks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430768" y="1481328"/>
            <a:ext cx="34564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ADR not activated: data may be stored in non-Singapore M365 regions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8430768" y="1984248"/>
            <a:ext cx="34564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External sharing enabled: risk of inadvertent data disclosure to non-FI parties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8430768" y="2487168"/>
            <a:ext cx="34564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Over-permissioned sites: default SharePoint permissions are broad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8430768" y="2990088"/>
            <a:ext cx="34564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PCI data in SPO: users save CHD into Teams/SPO channels — difficult to detect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8430768" y="3493008"/>
            <a:ext cx="34564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Vendor lock-in: deep integration makes exit planning complex and expensive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8412480" y="4096512"/>
            <a:ext cx="3493008" cy="73152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412480" y="4206240"/>
            <a:ext cx="34930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8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Typical Audit Questions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430768" y="4498848"/>
            <a:ext cx="3456432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Is Advanced Data Residency (ADR) activated and verified for the Singapore region?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8430768" y="4974336"/>
            <a:ext cx="3456432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How does the bank ensure PCI/sensitive data is not stored in SharePoint Online?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8430768" y="5449824"/>
            <a:ext cx="3456432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What DLP policies and sensitivity labels are in place and how are violations handled?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8430768" y="5925312"/>
            <a:ext cx="3456432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How does the bank exercise audit rights over Microsoft as a cloud service provider?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Next Steps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234440"/>
            <a:ext cx="475488" cy="47548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23444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17320" y="1252728"/>
            <a:ext cx="10241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Target Architecture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17320" y="1508760"/>
            <a:ext cx="10241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SteerCo decision: confirm hybrid model (On-Prem + Azure Files + SPO) as strategic direction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2130552"/>
            <a:ext cx="475488" cy="47548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3055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17320" y="2148840"/>
            <a:ext cx="10241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Data Classification Exercise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417320" y="2404872"/>
            <a:ext cx="10241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 Purview/classification tooling; classify all file shares before migration begins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" y="3026664"/>
            <a:ext cx="475488" cy="47548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02666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17320" y="3044952"/>
            <a:ext cx="10241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Cloud Risk Assessments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17320" y="3300984"/>
            <a:ext cx="10241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MAS TRM / Cloud Advisory due diligence for Azure and M365 (TPML entry, vendor risk)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2960" y="3922776"/>
            <a:ext cx="475488" cy="47548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92277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17320" y="3941064"/>
            <a:ext cx="10241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Identity Foundation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17320" y="4197096"/>
            <a:ext cx="10241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Entra ID Connect for forests in scope; audit cross-forest trust topology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2960" y="4818888"/>
            <a:ext cx="475488" cy="47548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81888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17320" y="4837176"/>
            <a:ext cx="10241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Phase 1 Pilots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417320" y="5093208"/>
            <a:ext cx="10241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Files pilot (2 shares, SG region); SPO pilot (1–2 collaboration teams)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22960" y="5715000"/>
            <a:ext cx="475488" cy="47548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571500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417320" y="5733288"/>
            <a:ext cx="10241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Policies &amp; Standards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417320" y="5989320"/>
            <a:ext cx="10241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encryption, key management, data residency, and cloud usage policy documents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22960" y="653796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For Internal Distribution Only  |  Singapore / APAC Financial Institution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Enterprise File Services – Singapore/APAC FI Comparison</dc:title>
  <dc:subject>PptxGenJS Presentation</dc:subject>
  <dc:creator>Infrastructure &amp; Cloud Architecture</dc:creator>
  <cp:lastModifiedBy>Infrastructure &amp; Cloud Architecture</cp:lastModifiedBy>
  <cp:revision>1</cp:revision>
  <dcterms:created xsi:type="dcterms:W3CDTF">2026-03-17T15:32:50Z</dcterms:created>
  <dcterms:modified xsi:type="dcterms:W3CDTF">2026-03-17T15:32:50Z</dcterms:modified>
</cp:coreProperties>
</file>