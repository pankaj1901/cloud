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00400"/>
            <a:ext cx="2926080" cy="2926080"/>
          </a:xfrm>
          <a:prstGeom prst="ellipse">
            <a:avLst/>
          </a:prstGeom>
          <a:solidFill>
            <a:srgbClr val="00A9A5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DEVELOPMENT ENVIRONMENT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vs. Cloud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Requirements, Reference Architecture, Cost Comparison &amp; Migration Plan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25400">
            <a:solidFill>
              <a:srgbClr val="00A9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Engineering Leadership &amp; Infrastructure Architecture  ·  Version 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87552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Requirements — On-Premises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30552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30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Requirements — Cloud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0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On-Premises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10712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Cloud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490472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90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39712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Cost Comparison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130552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30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39712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2770632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770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9712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Dev Environment Strategy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Requirements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virtualized hosts (VMware vSphere or Hyper-V) sized for dev/test, plus build agent capacity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orchestration: self-managed Kubernetes (Rancher, OpenShift, RKE2/k3s) or Docker Swarm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self-hosted Jenkins, GitLab CE/EE, or Azure DevOps Server with build agents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Registry: Harbor, JFrog Artifactory, or Nexus for images and packages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Networking: internal DNS, load balancers, VLAN segmentation, VPN for remote dev access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Secrets/config: HashiCorp Vault or Kubernetes Secrets with sealed-secrets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Prometheus/Grafana, ELK/EFK, Jaeger/Zipkin for tracing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Data/messaging: containerized or dedicated PostgreSQL/MySQL, Kafka/RabbitMQ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SAN/NAS or Ceph/MinIO for persistent volumes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tooling: Docker Desktop/Podman, kind/minikube for local clusters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Dev Environment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Requirements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managed Kubernetes (AKS/EKS/GKE) or serverless containers (ACI/Fargate/Cloud Run)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cloud-native pipelines (GitHub Actions, Azure DevOps, AWS CodePipeline)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Registry: ACR/ECR/GCR — managed, integrated with cloud IAM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Networking: VNet/VPC with private endpoints; VPN/ExpressRoute/Direct Connect if hybrid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management: Key Vault / Secrets Manager / Secret Manager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Azure Monitor + Application Insights, or CloudWatch/Cloud Operations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Code: Terraform, Bicep, or CloudFormation for repeatable provisioning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Data/messaging: managed services (Azure SQL/Cosmos DB, Service Bus) — no patching burden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tooling: same baseline plus cloud CLI tools and optional dev containers/Codespaces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governance: budgets, alerts, tagging, separate dev/test subscriptions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Dev Environment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Dev Environment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09160" y="1234440"/>
            <a:ext cx="2743200" cy="4572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70916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Workstations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691640"/>
            <a:ext cx="0" cy="320040"/>
          </a:xfrm>
          <a:prstGeom prst="line">
            <a:avLst/>
          </a:prstGeom>
          <a:noFill/>
          <a:ln w="15875">
            <a:solidFill>
              <a:srgbClr val="6B72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private network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10515600" cy="3749040"/>
          </a:xfrm>
          <a:prstGeom prst="rect">
            <a:avLst>
              <a:gd name="adj" fmla="val 1463"/>
            </a:avLst>
          </a:prstGeom>
          <a:solidFill>
            <a:srgbClr val="F2F5FA"/>
          </a:solidFill>
          <a:ln w="9525">
            <a:solidFill>
              <a:srgbClr val="6B72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95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Datacenter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2880360"/>
            <a:ext cx="4846320" cy="1417320"/>
          </a:xfrm>
          <a:prstGeom prst="rect">
            <a:avLst>
              <a:gd name="adj" fmla="val 3871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&amp; Virtualization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3474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VMware, Hyper-V, bare metal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880360"/>
            <a:ext cx="4846320" cy="1417320"/>
          </a:xfrm>
          <a:prstGeom prst="rect">
            <a:avLst>
              <a:gd name="adj" fmla="val 3871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Platform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20840" y="3474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Kubernetes cluster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4572000"/>
            <a:ext cx="4846320" cy="1417320"/>
          </a:xfrm>
          <a:prstGeom prst="rect">
            <a:avLst>
              <a:gd name="adj" fmla="val 3871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4754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&amp; Artifacts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5166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Jenkins/GitLab, image registry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4572000"/>
            <a:ext cx="4846320" cy="1417320"/>
          </a:xfrm>
          <a:prstGeom prst="rect">
            <a:avLst>
              <a:gd name="adj" fmla="val 3871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754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Platform Services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20840" y="5166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logging, secrets, DNS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Dev Environment Strategy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Dev Environment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09160" y="1234440"/>
            <a:ext cx="2743200" cy="4572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70916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Workstations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691640"/>
            <a:ext cx="0" cy="320040"/>
          </a:xfrm>
          <a:prstGeom prst="line">
            <a:avLst/>
          </a:prstGeom>
          <a:noFill/>
          <a:ln w="15875">
            <a:solidFill>
              <a:srgbClr val="6B72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VPN / ExpressRoute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10515600" cy="3749040"/>
          </a:xfrm>
          <a:prstGeom prst="rect">
            <a:avLst>
              <a:gd name="adj" fmla="val 1463"/>
            </a:avLst>
          </a:prstGeom>
          <a:solidFill>
            <a:srgbClr val="F2F5FA"/>
          </a:solidFill>
          <a:ln w="9525">
            <a:solidFill>
              <a:srgbClr val="6B72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95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Subscription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2880360"/>
            <a:ext cx="4846320" cy="1417320"/>
          </a:xfrm>
          <a:prstGeom prst="rect">
            <a:avLst>
              <a:gd name="adj" fmla="val 3871"/>
            </a:avLst>
          </a:prstGeom>
          <a:solidFill>
            <a:srgbClr val="D6F0EE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Kubernetes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3474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/ EKS / GKE cluster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880360"/>
            <a:ext cx="4846320" cy="1417320"/>
          </a:xfrm>
          <a:prstGeom prst="rect">
            <a:avLst>
              <a:gd name="adj" fmla="val 3871"/>
            </a:avLst>
          </a:prstGeom>
          <a:solidFill>
            <a:srgbClr val="D6F0EE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20840" y="3474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build &amp; release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4572000"/>
            <a:ext cx="4846320" cy="1417320"/>
          </a:xfrm>
          <a:prstGeom prst="rect">
            <a:avLst>
              <a:gd name="adj" fmla="val 3871"/>
            </a:avLst>
          </a:prstGeom>
          <a:solidFill>
            <a:srgbClr val="D6F0EE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4754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&amp; Artifacts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5166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ACR/ECR, Helm charts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4572000"/>
            <a:ext cx="4846320" cy="1417320"/>
          </a:xfrm>
          <a:prstGeom prst="rect">
            <a:avLst>
              <a:gd name="adj" fmla="val 3871"/>
            </a:avLst>
          </a:prstGeom>
          <a:solidFill>
            <a:srgbClr val="D6F0EE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754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Security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20840" y="5166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Key Vault, Defender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Dev Environment Strategy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Cost: On-Premises vs. Cloud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4709160"/>
        </p:xfrm>
        <a:graphic>
          <a:graphicData uri="http://schemas.openxmlformats.org/drawingml/2006/table">
            <a:tbl>
              <a:tblPr/>
              <a:tblGrid>
                <a:gridCol w="2417064"/>
                <a:gridCol w="4369308"/>
                <a:gridCol w="4369308"/>
              </a:tblGrid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CapEx-heavy — upfront hardware, licenses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— pay-as-you-go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(servers, storage, network, DC space)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no hardware purchase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— procurement lead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— elastic autoscaling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infra/virtualization/storage admins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ops footprint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DR/HA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build and maintain redundant 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multi-zone/region options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dev environments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costs full hardware/power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scale to zero / schedule off-hours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 (small dev env.)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marginal cost if HW already owned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~$2,000–$8,000/month (typical range)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on-premises tends to win on long-run marginal cost when hardware/staff already exist; cloud wins on speed, elasticity, and reduced operational burden.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Dev Environment Strategy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to Cloud — Eight Steps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51760" cy="1417320"/>
          </a:xfrm>
          <a:prstGeom prst="rect">
            <a:avLst>
              <a:gd name="adj" fmla="val 3871"/>
            </a:avLst>
          </a:prstGeom>
          <a:solidFill>
            <a:srgbClr val="F2F5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Assess &amp; inventory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services, dependencies, data stores &amp; CI/CD tooling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00984" y="1417320"/>
            <a:ext cx="2651760" cy="1417320"/>
          </a:xfrm>
          <a:prstGeom prst="rect">
            <a:avLst>
              <a:gd name="adj" fmla="val 3871"/>
            </a:avLst>
          </a:prstGeom>
          <a:solidFill>
            <a:srgbClr val="F2F5FA"/>
          </a:solidFill>
          <a:ln/>
        </p:spPr>
      </p:sp>
      <p:sp>
        <p:nvSpPr>
          <p:cNvPr id="10" name="Shape 8"/>
          <p:cNvSpPr/>
          <p:nvPr/>
        </p:nvSpPr>
        <p:spPr>
          <a:xfrm>
            <a:off x="3438144" y="15544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38144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38144" y="1947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Containerize &amp; standardize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38144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services in Docker images with a common base pattern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99048" y="1417320"/>
            <a:ext cx="2651760" cy="1417320"/>
          </a:xfrm>
          <a:prstGeom prst="rect">
            <a:avLst>
              <a:gd name="adj" fmla="val 3871"/>
            </a:avLst>
          </a:prstGeom>
          <a:solidFill>
            <a:srgbClr val="F2F5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6208" y="15544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1947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Stand up landing zone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subscription, networking, IAM &amp; managed K8s via IaC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897112" y="1417320"/>
            <a:ext cx="2651760" cy="1417320"/>
          </a:xfrm>
          <a:prstGeom prst="rect">
            <a:avLst>
              <a:gd name="adj" fmla="val 3871"/>
            </a:avLst>
          </a:prstGeom>
          <a:solidFill>
            <a:srgbClr val="F2F5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034272" y="15544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034272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34272" y="1947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Rebuild CI/CD pipelines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34272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pipelines at cloud registry/cluster; run in parallel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017520"/>
            <a:ext cx="2651760" cy="1417320"/>
          </a:xfrm>
          <a:prstGeom prst="rect">
            <a:avLst>
              <a:gd name="adj" fmla="val 3871"/>
            </a:avLst>
          </a:prstGeom>
          <a:solidFill>
            <a:srgbClr val="F2F5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1546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54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547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Migrate data &amp; shared services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DBs/queues to managed equivalents; sync/dual-write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00984" y="3017520"/>
            <a:ext cx="2651760" cy="1417320"/>
          </a:xfrm>
          <a:prstGeom prst="rect">
            <a:avLst>
              <a:gd name="adj" fmla="val 3871"/>
            </a:avLst>
          </a:prstGeom>
          <a:solidFill>
            <a:srgbClr val="F2F5F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38144" y="31546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438144" y="3154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38144" y="3547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Pilot with a subset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38144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low-risk services first; validate networking &amp; observability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99048" y="3017520"/>
            <a:ext cx="2651760" cy="1417320"/>
          </a:xfrm>
          <a:prstGeom prst="rect">
            <a:avLst>
              <a:gd name="adj" fmla="val 3871"/>
            </a:avLst>
          </a:prstGeom>
          <a:solidFill>
            <a:srgbClr val="F2F5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236208" y="31546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236208" y="3154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6208" y="3547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Migrate remaining in waves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36208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by dependency order; decommission on-prem per wave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897112" y="3017520"/>
            <a:ext cx="2651760" cy="1417320"/>
          </a:xfrm>
          <a:prstGeom prst="rect">
            <a:avLst>
              <a:gd name="adj" fmla="val 3871"/>
            </a:avLst>
          </a:prstGeom>
          <a:solidFill>
            <a:srgbClr val="F2F5FA"/>
          </a:solidFill>
          <a:ln/>
        </p:spPr>
      </p:sp>
      <p:sp>
        <p:nvSpPr>
          <p:cNvPr id="40" name="Shape 38"/>
          <p:cNvSpPr/>
          <p:nvPr/>
        </p:nvSpPr>
        <p:spPr>
          <a:xfrm>
            <a:off x="9034272" y="31546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9034272" y="3154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034272" y="3547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Optimize cost &amp; governance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34272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Right-size, autoscale, schedule dev/test, set budget alerts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Dev Environment Strategy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approach smooths the transition: run Kubernetes on-premises with Azure Arc projecting it into the same governance plane as the cloud cluster. This gives consistent policy, monitoring, and CI/CD across both environments during the migration window — instead of operating two disconnected stacks.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2026-07-29T10:55:00Z</dcterms:created>
  <dcterms:modified xsi:type="dcterms:W3CDTF">2026-07-29T10:55:00Z</dcterms:modified>
</cp:coreProperties>
</file>