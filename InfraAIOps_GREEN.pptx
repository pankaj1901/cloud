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45C2B"/>
          </a:solidFill>
          <a:ln w="12700">
            <a:solidFill>
              <a:srgbClr val="145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AI OPS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Modernising Monitoring &amp; Operations with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" y="658368"/>
            <a:ext cx="23317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" y="658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23744" y="658368"/>
            <a:ext cx="23317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23744" y="658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74336" y="658368"/>
            <a:ext cx="23317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658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24928" y="658368"/>
            <a:ext cx="233172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658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802368" y="658368"/>
            <a:ext cx="2331720" cy="34747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02368" y="6583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" y="1024128"/>
            <a:ext cx="2331720" cy="5532120"/>
          </a:xfrm>
          <a:prstGeom prst="rect">
            <a:avLst/>
          </a:prstGeom>
          <a:solidFill>
            <a:srgbClr val="F0F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1024128"/>
            <a:ext cx="2331720" cy="5532120"/>
          </a:xfrm>
          <a:prstGeom prst="rect">
            <a:avLst/>
          </a:prstGeom>
          <a:solidFill>
            <a:srgbClr val="F0F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1024128"/>
            <a:ext cx="2331720" cy="5532120"/>
          </a:xfrm>
          <a:prstGeom prst="rect">
            <a:avLst/>
          </a:prstGeom>
          <a:solidFill>
            <a:srgbClr val="F0F4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24928" y="1024128"/>
            <a:ext cx="2331720" cy="553212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02368" y="1024128"/>
            <a:ext cx="2331720" cy="5532120"/>
          </a:xfrm>
          <a:prstGeom prst="rect">
            <a:avLst/>
          </a:prstGeom>
          <a:solidFill>
            <a:srgbClr val="F0FF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88720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▶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2336" y="1170432"/>
            <a:ext cx="194767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monitoring tools with no unified intelligence layer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" y="1993392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▶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02336" y="1975104"/>
            <a:ext cx="194767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incident triage leading to slow MTTR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4592" y="2798064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▶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2336" y="2779776"/>
            <a:ext cx="194767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operations — issues detected after user impact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4592" y="3602736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▶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02336" y="3584448"/>
            <a:ext cx="194767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from high-volume, low-fidelity noise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4592" y="4407408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▶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02336" y="4389120"/>
            <a:ext cx="194767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predictive capacity planning capability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" y="5212080"/>
            <a:ext cx="201168" cy="2011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5212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Wingdings 3" pitchFamily="34" charset="0"/>
                <a:ea typeface="Wingdings 3" pitchFamily="34" charset="-122"/>
                <a:cs typeface="Wingdings 3" pitchFamily="34" charset="-120"/>
              </a:rPr>
              <a:t>▶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02336" y="5193792"/>
            <a:ext cx="194767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hybrid/multi-cloud complexity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15184" y="1161288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15184" y="1161288"/>
            <a:ext cx="54864" cy="7132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06624" y="1197864"/>
            <a:ext cx="203911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06624" y="1435608"/>
            <a:ext cx="20391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across all infra tools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15184" y="1984248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615184" y="1984248"/>
            <a:ext cx="54864" cy="7132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06624" y="2020824"/>
            <a:ext cx="203911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Automation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06624" y="2258568"/>
            <a:ext cx="20391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Auto-remediate common incidents without human touch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15184" y="2807208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615184" y="2807208"/>
            <a:ext cx="54864" cy="7132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06624" y="2843784"/>
            <a:ext cx="203911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06624" y="3081528"/>
            <a:ext cx="20391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capacity and failures before they occur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615184" y="3630168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615184" y="3630168"/>
            <a:ext cx="54864" cy="7132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06624" y="3666744"/>
            <a:ext cx="203911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06624" y="3904488"/>
            <a:ext cx="20391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&amp; suppress duplicate alerts via ML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615184" y="4453128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615184" y="4453128"/>
            <a:ext cx="54864" cy="7132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06624" y="4489704"/>
            <a:ext cx="203911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06624" y="4727448"/>
            <a:ext cx="20391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mean-time-to-resolve by ≥50%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615184" y="5276088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615184" y="5276088"/>
            <a:ext cx="54864" cy="71323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06624" y="5312664"/>
            <a:ext cx="203911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706624" y="5550408"/>
            <a:ext cx="203911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infra using AI recommendations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65776" y="1161288"/>
            <a:ext cx="2148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65776" y="1161288"/>
            <a:ext cx="214884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2352" y="1234440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02352" y="1435608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102352" y="1664208"/>
            <a:ext cx="20574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~4 hrs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065776" y="1984248"/>
            <a:ext cx="2148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65776" y="1984248"/>
            <a:ext cx="2148840" cy="54864"/>
          </a:xfrm>
          <a:prstGeom prst="rect">
            <a:avLst/>
          </a:prstGeom>
          <a:solidFill>
            <a:srgbClr val="145C2B"/>
          </a:solidFill>
          <a:ln w="12700">
            <a:solidFill>
              <a:srgbClr val="145C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2352" y="2057400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02352" y="2258568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70%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102352" y="2487168"/>
            <a:ext cx="20574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vs current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065776" y="2807208"/>
            <a:ext cx="2148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65776" y="2807208"/>
            <a:ext cx="214884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2352" y="2880360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02352" y="3081528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5102352" y="3310128"/>
            <a:ext cx="20574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auto-resolved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065776" y="3630168"/>
            <a:ext cx="2148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65776" y="3630168"/>
            <a:ext cx="2148840" cy="54864"/>
          </a:xfrm>
          <a:prstGeom prst="rect">
            <a:avLst/>
          </a:prstGeom>
          <a:solidFill>
            <a:srgbClr val="145C2B"/>
          </a:solidFill>
          <a:ln w="12700">
            <a:solidFill>
              <a:srgbClr val="145C2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02352" y="3703320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02352" y="3904488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5102352" y="4133088"/>
            <a:ext cx="20574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 target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065776" y="4453128"/>
            <a:ext cx="2148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65776" y="4453128"/>
            <a:ext cx="214884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02352" y="4526280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102352" y="4727448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5102352" y="4956048"/>
            <a:ext cx="20574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065776" y="5276088"/>
            <a:ext cx="21488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065776" y="5276088"/>
            <a:ext cx="2148840" cy="54864"/>
          </a:xfrm>
          <a:prstGeom prst="rect">
            <a:avLst/>
          </a:prstGeom>
          <a:solidFill>
            <a:srgbClr val="145C2B"/>
          </a:solidFill>
          <a:ln w="12700">
            <a:solidFill>
              <a:srgbClr val="145C2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02352" y="5349240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Improvement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102352" y="5550408"/>
            <a:ext cx="2057400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5102352" y="5779008"/>
            <a:ext cx="2057400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7498080" y="1115568"/>
            <a:ext cx="2185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Fragmented Tools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566660" y="1408176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1A7A3A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66660" y="1408176"/>
            <a:ext cx="658368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8261604" y="1408176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145C2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61604" y="1408176"/>
            <a:ext cx="658368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956548" y="1408176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2ECC7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56548" y="1408176"/>
            <a:ext cx="658368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8261604" y="1975104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1604" y="1975104"/>
            <a:ext cx="658368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956548" y="1975104"/>
            <a:ext cx="658368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56548" y="1975104"/>
            <a:ext cx="658368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590788" y="256032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517636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607808" y="2990088"/>
            <a:ext cx="1965960" cy="274320"/>
          </a:xfrm>
          <a:prstGeom prst="rect">
            <a:avLst/>
          </a:prstGeom>
          <a:solidFill>
            <a:srgbClr val="DDDDD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07808" y="2990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/ Ticket ITSM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8517636" y="3310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516368" y="3538728"/>
            <a:ext cx="713232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516368" y="3538728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 Fatigue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8275320" y="3538728"/>
            <a:ext cx="713232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275320" y="3538728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Slow MTTR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9034272" y="3538728"/>
            <a:ext cx="713232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034272" y="3538728"/>
            <a:ext cx="713232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Siloed Data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7498080" y="3931920"/>
            <a:ext cx="2185416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534656" y="3968496"/>
            <a:ext cx="2112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7552944" y="4242816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AI/ML driven correlation engine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552944" y="4645152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storm: &gt;10K alerts/day unfiltered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552944" y="5047488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MTTR: 3–5 hours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552944" y="5449824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runbook execution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7552944" y="5852160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predictive analytics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9875520" y="1115568"/>
            <a:ext cx="2185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AI-Driven AIOps Layer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9875520" y="1408176"/>
            <a:ext cx="2185416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875520" y="140817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 (Unified Agent)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10895076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9875520" y="2011680"/>
            <a:ext cx="2185416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45C2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875520" y="2029968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AIOps Intelligence Engine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9893808" y="22860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Correlation  |  Anomaly Detection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9893808" y="24871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|  Auto-Heal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10895076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9875520" y="3017520"/>
            <a:ext cx="2185416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875520" y="3017520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Auto-Remediation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10895076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893808" y="3566160"/>
            <a:ext cx="676656" cy="384048"/>
          </a:xfrm>
          <a:prstGeom prst="roundRect">
            <a:avLst>
              <a:gd name="adj" fmla="val 11905"/>
            </a:avLst>
          </a:prstGeom>
          <a:solidFill>
            <a:srgbClr val="145C2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893808" y="3566160"/>
            <a:ext cx="676656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0625328" y="3566160"/>
            <a:ext cx="676656" cy="384048"/>
          </a:xfrm>
          <a:prstGeom prst="roundRect">
            <a:avLst>
              <a:gd name="adj" fmla="val 11905"/>
            </a:avLst>
          </a:prstGeom>
          <a:solidFill>
            <a:srgbClr val="145C2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625328" y="3566160"/>
            <a:ext cx="676656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11356848" y="3566160"/>
            <a:ext cx="676656" cy="384048"/>
          </a:xfrm>
          <a:prstGeom prst="roundRect">
            <a:avLst>
              <a:gd name="adj" fmla="val 11905"/>
            </a:avLst>
          </a:prstGeom>
          <a:solidFill>
            <a:srgbClr val="145C2B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1356848" y="3566160"/>
            <a:ext cx="676656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Auto-Ticket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9875520" y="4041648"/>
            <a:ext cx="2185416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1A7A3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912096" y="4078224"/>
            <a:ext cx="2112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9930384" y="4352544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correlation across all 5 monitoring tools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9930384" y="4754880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 40%+ incidents via runbooks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9930384" y="5157216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CMDB &amp; topology awareness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930384" y="5559552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failures 2–4 hrs in advance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9930384" y="5961888"/>
            <a:ext cx="2093976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via right-sizing intelligence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9774936" y="3767328"/>
            <a:ext cx="9144" cy="0"/>
          </a:xfrm>
          <a:prstGeom prst="line">
            <a:avLst/>
          </a:prstGeom>
          <a:noFill/>
          <a:ln w="25400">
            <a:solidFill>
              <a:srgbClr val="1A7A3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45C2B"/>
          </a:solidFill>
          <a:ln w="12700">
            <a:solidFill>
              <a:srgbClr val="145C2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Infrastructure AI Ops Initiative | FY2025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2026-04-18T06:20:06Z</dcterms:created>
  <dcterms:modified xsi:type="dcterms:W3CDTF">2026-04-18T06:20:06Z</dcterms:modified>
</cp:coreProperties>
</file>