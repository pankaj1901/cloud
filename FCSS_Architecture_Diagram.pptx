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4765000" cy="13144500"/>
  <p:notesSz cx="13144500" cy="24765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00" cy="1314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765000" cy="1314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-1238250" y="152400"/>
            <a:ext cx="272415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spc="38" kern="0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FCSS Architecture Diagram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-1238250" y="723900"/>
            <a:ext cx="27241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Network &amp; Infrastructure Overview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1000" y="4429125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448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0564" y="4814888"/>
            <a:ext cx="14563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FCSS Head Office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900113" y="5043488"/>
            <a:ext cx="10572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Network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38500" y="1428750"/>
            <a:ext cx="2476500" cy="71437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1448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7550" y="1447800"/>
            <a:ext cx="2476500" cy="476250"/>
          </a:xfrm>
          <a:custGeom>
            <a:avLst/>
            <a:gdLst/>
            <a:ahLst/>
            <a:cxnLst/>
            <a:rect l="l" t="t" r="r" b="b"/>
            <a:pathLst>
              <a:path w="2476500" h="476250">
                <a:moveTo>
                  <a:pt x="57150" y="0"/>
                </a:moveTo>
                <a:lnTo>
                  <a:pt x="2419350" y="0"/>
                </a:lnTo>
                <a:arcTo hR="57150" wR="57150" stAng="16200000" swAng="5400000"/>
                <a:lnTo>
                  <a:pt x="2476500" y="476250"/>
                </a:lnTo>
                <a:lnTo>
                  <a:pt x="0" y="4762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14487A"/>
          </a:solidFill>
          <a:ln/>
        </p:spPr>
      </p:sp>
      <p:sp>
        <p:nvSpPr>
          <p:cNvPr id="11" name="Text 9"/>
          <p:cNvSpPr/>
          <p:nvPr/>
        </p:nvSpPr>
        <p:spPr>
          <a:xfrm>
            <a:off x="3219450" y="1447800"/>
            <a:ext cx="2552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 Server Room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00425" y="2066925"/>
            <a:ext cx="2209800" cy="1495425"/>
          </a:xfrm>
          <a:prstGeom prst="roundRect">
            <a:avLst>
              <a:gd name="adj" fmla="val 3822"/>
            </a:avLst>
          </a:prstGeom>
          <a:solidFill>
            <a:srgbClr val="F3F7FB"/>
          </a:solidFill>
          <a:ln w="9525">
            <a:solidFill>
              <a:srgbClr val="2F6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1850" y="2076450"/>
            <a:ext cx="2266950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Router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3400425" y="3686175"/>
            <a:ext cx="2209800" cy="1495425"/>
          </a:xfrm>
          <a:prstGeom prst="roundRect">
            <a:avLst>
              <a:gd name="adj" fmla="val 3822"/>
            </a:avLst>
          </a:prstGeom>
          <a:solidFill>
            <a:srgbClr val="F3F7FB"/>
          </a:solidFill>
          <a:ln w="9525">
            <a:solidFill>
              <a:srgbClr val="2F6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1850" y="3695700"/>
            <a:ext cx="2266950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Switch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3400425" y="5305425"/>
            <a:ext cx="2209800" cy="1495425"/>
          </a:xfrm>
          <a:prstGeom prst="roundRect">
            <a:avLst>
              <a:gd name="adj" fmla="val 3822"/>
            </a:avLst>
          </a:prstGeom>
          <a:solidFill>
            <a:srgbClr val="F3F7FB"/>
          </a:solidFill>
          <a:ln w="9525">
            <a:solidFill>
              <a:srgbClr val="2F6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1850" y="5314950"/>
            <a:ext cx="2266950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3400425" y="6924675"/>
            <a:ext cx="2209800" cy="1495425"/>
          </a:xfrm>
          <a:prstGeom prst="roundRect">
            <a:avLst>
              <a:gd name="adj" fmla="val 3822"/>
            </a:avLst>
          </a:prstGeom>
          <a:solidFill>
            <a:srgbClr val="F3F7FB"/>
          </a:solidFill>
          <a:ln w="9525">
            <a:solidFill>
              <a:srgbClr val="2F6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1850" y="6934200"/>
            <a:ext cx="2266950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Core Switch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477000" y="6953250"/>
            <a:ext cx="1943100" cy="1466850"/>
          </a:xfrm>
          <a:custGeom>
            <a:avLst/>
            <a:gdLst/>
            <a:ahLst/>
            <a:cxnLst/>
            <a:rect l="l" t="t" r="r" b="b"/>
            <a:pathLst>
              <a:path w="1943100" h="1466850">
                <a:moveTo>
                  <a:pt x="733425" y="0"/>
                </a:moveTo>
                <a:lnTo>
                  <a:pt x="1209675" y="0"/>
                </a:lnTo>
                <a:arcTo hR="733425" wR="733425" stAng="16200000" swAng="5400000"/>
                <a:lnTo>
                  <a:pt x="1943100" y="733425"/>
                </a:lnTo>
                <a:arcTo hR="733425" wR="733425" stAng="0" swAng="5400000"/>
                <a:lnTo>
                  <a:pt x="660082" y="1466850"/>
                </a:lnTo>
                <a:arcTo hR="660082" wR="660082" stAng="5400000" swAng="5400000"/>
                <a:lnTo>
                  <a:pt x="0" y="733425"/>
                </a:lnTo>
                <a:arcTo hR="733425" wR="733425" stAng="10800000" swAng="5400000"/>
                <a:close/>
              </a:path>
            </a:pathLst>
          </a:custGeom>
          <a:solidFill>
            <a:srgbClr val="EAF2FA"/>
          </a:solidFill>
          <a:ln w="19050">
            <a:solidFill>
              <a:srgbClr val="1448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0888" y="7491413"/>
            <a:ext cx="6953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7081837" y="7748588"/>
            <a:ext cx="7334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5B7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WAN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8953500" y="1428750"/>
            <a:ext cx="7239000" cy="809625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9050">
            <a:solidFill>
              <a:srgbClr val="1448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72550" y="1447800"/>
            <a:ext cx="7239000" cy="857250"/>
          </a:xfrm>
          <a:custGeom>
            <a:avLst/>
            <a:gdLst/>
            <a:ahLst/>
            <a:cxnLst/>
            <a:rect l="l" t="t" r="r" b="b"/>
            <a:pathLst>
              <a:path w="7239000" h="857250">
                <a:moveTo>
                  <a:pt x="57150" y="0"/>
                </a:moveTo>
                <a:lnTo>
                  <a:pt x="7181850" y="0"/>
                </a:lnTo>
                <a:arcTo hR="57150" wR="57150" stAng="16200000" swAng="5400000"/>
                <a:lnTo>
                  <a:pt x="7239000" y="857250"/>
                </a:lnTo>
                <a:lnTo>
                  <a:pt x="0" y="8572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14487A"/>
          </a:solidFill>
          <a:ln/>
        </p:spPr>
      </p:sp>
      <p:sp>
        <p:nvSpPr>
          <p:cNvPr id="25" name="Text 23"/>
          <p:cNvSpPr/>
          <p:nvPr/>
        </p:nvSpPr>
        <p:spPr>
          <a:xfrm>
            <a:off x="11601450" y="1643063"/>
            <a:ext cx="21793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SGDC Production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801475" y="1957388"/>
            <a:ext cx="17392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Colo - Nutanix Cluster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9163050" y="2400300"/>
            <a:ext cx="6877050" cy="400050"/>
          </a:xfrm>
          <a:prstGeom prst="roundRect">
            <a:avLst>
              <a:gd name="adj" fmla="val 14286"/>
            </a:avLst>
          </a:prstGeom>
          <a:solidFill>
            <a:srgbClr val="EAF2FA"/>
          </a:solidFill>
          <a:ln w="9525">
            <a:solidFill>
              <a:srgbClr val="2F6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69419" y="2409825"/>
            <a:ext cx="70643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Network Zone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9163050" y="2876550"/>
            <a:ext cx="6858000" cy="4762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2F6FA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372600" y="2762250"/>
            <a:ext cx="2200275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448800" y="2762250"/>
            <a:ext cx="22679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44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Nutanix Cluster - Virtual Machines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9372600" y="3181350"/>
            <a:ext cx="1590675" cy="9715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44025" y="3190875"/>
            <a:ext cx="16478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 1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11134725" y="3181350"/>
            <a:ext cx="1590675" cy="9715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6150" y="3190875"/>
            <a:ext cx="16478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 2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12896850" y="3181350"/>
            <a:ext cx="1590675" cy="9715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68275" y="3190875"/>
            <a:ext cx="16478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DB Server 1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14658975" y="3181350"/>
            <a:ext cx="1590675" cy="9715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0400" y="3190875"/>
            <a:ext cx="16478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DB Server 2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9372600" y="4324350"/>
            <a:ext cx="1590675" cy="9715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44025" y="4333875"/>
            <a:ext cx="16478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Convertor Server 1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11134725" y="4324350"/>
            <a:ext cx="1590675" cy="9715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06150" y="4333875"/>
            <a:ext cx="16478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Convertor Server 2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12896850" y="4324350"/>
            <a:ext cx="1590675" cy="9715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868275" y="4333875"/>
            <a:ext cx="16478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MQ Server 1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14658975" y="4324350"/>
            <a:ext cx="1590675" cy="9715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630400" y="4333875"/>
            <a:ext cx="16478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MQ Server 2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9163050" y="7734300"/>
            <a:ext cx="21526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1448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01175" y="8324850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SolarWinds Monitoring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1506200" y="7734300"/>
            <a:ext cx="21526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1448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058650" y="8324850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Backup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3849350" y="7734300"/>
            <a:ext cx="21526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1448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101763" y="8248650"/>
            <a:ext cx="16478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Authentication / Active Directory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6954500" y="1428750"/>
            <a:ext cx="7429500" cy="838200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9050">
            <a:solidFill>
              <a:srgbClr val="14487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973550" y="1447800"/>
            <a:ext cx="7429500" cy="857250"/>
          </a:xfrm>
          <a:custGeom>
            <a:avLst/>
            <a:gdLst/>
            <a:ahLst/>
            <a:cxnLst/>
            <a:rect l="l" t="t" r="r" b="b"/>
            <a:pathLst>
              <a:path w="7429500" h="857250">
                <a:moveTo>
                  <a:pt x="57150" y="0"/>
                </a:moveTo>
                <a:lnTo>
                  <a:pt x="7372350" y="0"/>
                </a:lnTo>
                <a:arcTo hR="57150" wR="57150" stAng="16200000" swAng="5400000"/>
                <a:lnTo>
                  <a:pt x="7429500" y="857250"/>
                </a:lnTo>
                <a:lnTo>
                  <a:pt x="0" y="8572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14487A"/>
          </a:solidFill>
          <a:ln/>
        </p:spPr>
      </p:sp>
      <p:sp>
        <p:nvSpPr>
          <p:cNvPr id="56" name="Text 54"/>
          <p:cNvSpPr/>
          <p:nvPr/>
        </p:nvSpPr>
        <p:spPr>
          <a:xfrm>
            <a:off x="19997738" y="1643063"/>
            <a:ext cx="15192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SGDR (OCC)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9897725" y="1957388"/>
            <a:ext cx="17392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Colo - Nutanix Cluster</a:t>
            </a:r>
            <a:endParaRPr lang="en-US" sz="975" dirty="0"/>
          </a:p>
        </p:txBody>
      </p:sp>
      <p:sp>
        <p:nvSpPr>
          <p:cNvPr id="58" name="Shape 56"/>
          <p:cNvSpPr/>
          <p:nvPr/>
        </p:nvSpPr>
        <p:spPr>
          <a:xfrm>
            <a:off x="17164050" y="2400300"/>
            <a:ext cx="7048500" cy="552450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9050">
            <a:solidFill>
              <a:srgbClr val="2F6FA8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17373600" y="2286000"/>
            <a:ext cx="339090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17449800" y="2286000"/>
            <a:ext cx="35775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44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Nutanix Cluster - Virtual Machines (Shared: DR + UAT)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17373600" y="2705100"/>
            <a:ext cx="6667500" cy="2381250"/>
          </a:xfrm>
          <a:prstGeom prst="roundRect">
            <a:avLst>
              <a:gd name="adj" fmla="val 2400"/>
            </a:avLst>
          </a:prstGeom>
          <a:solidFill>
            <a:srgbClr val="EAF2FA"/>
          </a:solidFill>
          <a:ln w="9525">
            <a:solidFill>
              <a:srgbClr val="2F6FA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7283113" y="2714625"/>
            <a:ext cx="68675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(Production) Network Zone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17478375" y="309562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449800" y="310515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DB Server 1</a:t>
            </a:r>
            <a:endParaRPr lang="en-US" sz="938" dirty="0"/>
          </a:p>
        </p:txBody>
      </p:sp>
      <p:sp>
        <p:nvSpPr>
          <p:cNvPr id="65" name="Shape 63"/>
          <p:cNvSpPr/>
          <p:nvPr/>
        </p:nvSpPr>
        <p:spPr>
          <a:xfrm>
            <a:off x="19192875" y="309562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164300" y="310515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DB Server 2</a:t>
            </a:r>
            <a:endParaRPr lang="en-US" sz="938" dirty="0"/>
          </a:p>
        </p:txBody>
      </p:sp>
      <p:sp>
        <p:nvSpPr>
          <p:cNvPr id="67" name="Shape 65"/>
          <p:cNvSpPr/>
          <p:nvPr/>
        </p:nvSpPr>
        <p:spPr>
          <a:xfrm>
            <a:off x="20907375" y="309562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878800" y="310515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 1</a:t>
            </a:r>
            <a:endParaRPr lang="en-US" sz="938" dirty="0"/>
          </a:p>
        </p:txBody>
      </p:sp>
      <p:sp>
        <p:nvSpPr>
          <p:cNvPr id="69" name="Shape 67"/>
          <p:cNvSpPr/>
          <p:nvPr/>
        </p:nvSpPr>
        <p:spPr>
          <a:xfrm>
            <a:off x="22621875" y="309562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593300" y="310515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 2</a:t>
            </a:r>
            <a:endParaRPr lang="en-US" sz="938" dirty="0"/>
          </a:p>
        </p:txBody>
      </p:sp>
      <p:sp>
        <p:nvSpPr>
          <p:cNvPr id="71" name="Shape 69"/>
          <p:cNvSpPr/>
          <p:nvPr/>
        </p:nvSpPr>
        <p:spPr>
          <a:xfrm>
            <a:off x="17478375" y="404812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7449800" y="405765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MQ Server 1</a:t>
            </a:r>
            <a:endParaRPr lang="en-US" sz="938" dirty="0"/>
          </a:p>
        </p:txBody>
      </p:sp>
      <p:sp>
        <p:nvSpPr>
          <p:cNvPr id="73" name="Shape 71"/>
          <p:cNvSpPr/>
          <p:nvPr/>
        </p:nvSpPr>
        <p:spPr>
          <a:xfrm>
            <a:off x="19192875" y="404812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164300" y="405765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MQ Server 2</a:t>
            </a:r>
            <a:endParaRPr lang="en-US" sz="938" dirty="0"/>
          </a:p>
        </p:txBody>
      </p:sp>
      <p:sp>
        <p:nvSpPr>
          <p:cNvPr id="75" name="Shape 73"/>
          <p:cNvSpPr/>
          <p:nvPr/>
        </p:nvSpPr>
        <p:spPr>
          <a:xfrm>
            <a:off x="20907375" y="404812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878800" y="405765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Convertor Server 1</a:t>
            </a:r>
            <a:endParaRPr lang="en-US" sz="938" dirty="0"/>
          </a:p>
        </p:txBody>
      </p:sp>
      <p:sp>
        <p:nvSpPr>
          <p:cNvPr id="77" name="Shape 75"/>
          <p:cNvSpPr/>
          <p:nvPr/>
        </p:nvSpPr>
        <p:spPr>
          <a:xfrm>
            <a:off x="22621875" y="404812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593300" y="405765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Convertor Server 2</a:t>
            </a:r>
            <a:endParaRPr lang="en-US" sz="938" dirty="0"/>
          </a:p>
        </p:txBody>
      </p:sp>
      <p:sp>
        <p:nvSpPr>
          <p:cNvPr id="79" name="Shape 77"/>
          <p:cNvSpPr/>
          <p:nvPr/>
        </p:nvSpPr>
        <p:spPr>
          <a:xfrm>
            <a:off x="17373600" y="5276850"/>
            <a:ext cx="6667500" cy="2381250"/>
          </a:xfrm>
          <a:prstGeom prst="roundRect">
            <a:avLst>
              <a:gd name="adj" fmla="val 2400"/>
            </a:avLst>
          </a:prstGeom>
          <a:solidFill>
            <a:srgbClr val="F3F7FB"/>
          </a:solidFill>
          <a:ln w="9525">
            <a:solidFill>
              <a:srgbClr val="2F6FA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283113" y="5286375"/>
            <a:ext cx="68675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Network Zone</a:t>
            </a:r>
            <a:endParaRPr lang="en-US" sz="975" dirty="0"/>
          </a:p>
        </p:txBody>
      </p:sp>
      <p:sp>
        <p:nvSpPr>
          <p:cNvPr id="81" name="Shape 79"/>
          <p:cNvSpPr/>
          <p:nvPr/>
        </p:nvSpPr>
        <p:spPr>
          <a:xfrm>
            <a:off x="17478375" y="566737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449800" y="567690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 1</a:t>
            </a:r>
            <a:endParaRPr lang="en-US" sz="938" dirty="0"/>
          </a:p>
        </p:txBody>
      </p:sp>
      <p:sp>
        <p:nvSpPr>
          <p:cNvPr id="83" name="Shape 81"/>
          <p:cNvSpPr/>
          <p:nvPr/>
        </p:nvSpPr>
        <p:spPr>
          <a:xfrm>
            <a:off x="19192875" y="566737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9164300" y="567690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 2</a:t>
            </a:r>
            <a:endParaRPr lang="en-US" sz="938" dirty="0"/>
          </a:p>
        </p:txBody>
      </p:sp>
      <p:sp>
        <p:nvSpPr>
          <p:cNvPr id="85" name="Shape 83"/>
          <p:cNvSpPr/>
          <p:nvPr/>
        </p:nvSpPr>
        <p:spPr>
          <a:xfrm>
            <a:off x="20907375" y="566737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0878800" y="567690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DB Server 1</a:t>
            </a:r>
            <a:endParaRPr lang="en-US" sz="938" dirty="0"/>
          </a:p>
        </p:txBody>
      </p:sp>
      <p:sp>
        <p:nvSpPr>
          <p:cNvPr id="87" name="Shape 85"/>
          <p:cNvSpPr/>
          <p:nvPr/>
        </p:nvSpPr>
        <p:spPr>
          <a:xfrm>
            <a:off x="22621875" y="566737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2593300" y="567690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DB Server 2</a:t>
            </a:r>
            <a:endParaRPr lang="en-US" sz="938" dirty="0"/>
          </a:p>
        </p:txBody>
      </p:sp>
      <p:sp>
        <p:nvSpPr>
          <p:cNvPr id="89" name="Shape 87"/>
          <p:cNvSpPr/>
          <p:nvPr/>
        </p:nvSpPr>
        <p:spPr>
          <a:xfrm>
            <a:off x="17478375" y="661987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7449800" y="662940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MQ Server 1</a:t>
            </a:r>
            <a:endParaRPr lang="en-US" sz="938" dirty="0"/>
          </a:p>
        </p:txBody>
      </p:sp>
      <p:sp>
        <p:nvSpPr>
          <p:cNvPr id="91" name="Shape 89"/>
          <p:cNvSpPr/>
          <p:nvPr/>
        </p:nvSpPr>
        <p:spPr>
          <a:xfrm>
            <a:off x="19192875" y="661987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164300" y="662940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MQ Server 2</a:t>
            </a:r>
            <a:endParaRPr lang="en-US" sz="938" dirty="0"/>
          </a:p>
        </p:txBody>
      </p:sp>
      <p:sp>
        <p:nvSpPr>
          <p:cNvPr id="93" name="Shape 91"/>
          <p:cNvSpPr/>
          <p:nvPr/>
        </p:nvSpPr>
        <p:spPr>
          <a:xfrm>
            <a:off x="20907375" y="661987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0878800" y="662940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Convertor Server 1</a:t>
            </a:r>
            <a:endParaRPr lang="en-US" sz="938" dirty="0"/>
          </a:p>
        </p:txBody>
      </p:sp>
      <p:sp>
        <p:nvSpPr>
          <p:cNvPr id="95" name="Shape 93"/>
          <p:cNvSpPr/>
          <p:nvPr/>
        </p:nvSpPr>
        <p:spPr>
          <a:xfrm>
            <a:off x="22621875" y="6619875"/>
            <a:ext cx="1590675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4A7FA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593300" y="6629400"/>
            <a:ext cx="1647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Convertor Server 2</a:t>
            </a:r>
            <a:endParaRPr lang="en-US" sz="938" dirty="0"/>
          </a:p>
        </p:txBody>
      </p:sp>
      <p:sp>
        <p:nvSpPr>
          <p:cNvPr id="97" name="Shape 95"/>
          <p:cNvSpPr/>
          <p:nvPr/>
        </p:nvSpPr>
        <p:spPr>
          <a:xfrm>
            <a:off x="17164050" y="8115300"/>
            <a:ext cx="221932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14487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7435513" y="8705850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SolarWinds Monitoring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19573875" y="8115300"/>
            <a:ext cx="221932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14487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0159663" y="8705850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Backup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21983700" y="8115300"/>
            <a:ext cx="221932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14487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2269450" y="8629650"/>
            <a:ext cx="16478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3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Authentication / Active Directory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2495550" y="4791075"/>
            <a:ext cx="838200" cy="16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2491740" y="4800600"/>
            <a:ext cx="8458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C87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MPLS Link</a:t>
            </a:r>
            <a:endParaRPr lang="en-US" sz="863" dirty="0"/>
          </a:p>
        </p:txBody>
      </p:sp>
      <p:sp>
        <p:nvSpPr>
          <p:cNvPr id="105" name="Shape 103"/>
          <p:cNvSpPr/>
          <p:nvPr/>
        </p:nvSpPr>
        <p:spPr>
          <a:xfrm>
            <a:off x="5762625" y="7458075"/>
            <a:ext cx="83820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5758815" y="7467600"/>
            <a:ext cx="8458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144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</a:t>
            </a:r>
            <a:endParaRPr lang="en-US" sz="825" dirty="0"/>
          </a:p>
        </p:txBody>
      </p:sp>
      <p:sp>
        <p:nvSpPr>
          <p:cNvPr id="107" name="Shape 105"/>
          <p:cNvSpPr/>
          <p:nvPr/>
        </p:nvSpPr>
        <p:spPr>
          <a:xfrm>
            <a:off x="8572500" y="4762500"/>
            <a:ext cx="74295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/>
          <p:nvPr/>
        </p:nvSpPr>
        <p:spPr>
          <a:xfrm>
            <a:off x="8573453" y="4772025"/>
            <a:ext cx="741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144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 Link</a:t>
            </a:r>
            <a:endParaRPr lang="en-US" sz="825" dirty="0"/>
          </a:p>
        </p:txBody>
      </p:sp>
      <p:sp>
        <p:nvSpPr>
          <p:cNvPr id="109" name="Shape 107"/>
          <p:cNvSpPr/>
          <p:nvPr/>
        </p:nvSpPr>
        <p:spPr>
          <a:xfrm>
            <a:off x="8572500" y="9572625"/>
            <a:ext cx="74295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8573453" y="9582150"/>
            <a:ext cx="741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144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 Link</a:t>
            </a:r>
            <a:endParaRPr lang="en-US" sz="825" dirty="0"/>
          </a:p>
        </p:txBody>
      </p:sp>
      <p:sp>
        <p:nvSpPr>
          <p:cNvPr id="111" name="Shape 109"/>
          <p:cNvSpPr/>
          <p:nvPr/>
        </p:nvSpPr>
        <p:spPr>
          <a:xfrm>
            <a:off x="16049625" y="3238500"/>
            <a:ext cx="1219200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Text 110"/>
          <p:cNvSpPr/>
          <p:nvPr/>
        </p:nvSpPr>
        <p:spPr>
          <a:xfrm>
            <a:off x="16049625" y="3248025"/>
            <a:ext cx="1219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1E6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Replication</a:t>
            </a:r>
            <a:endParaRPr lang="en-US" sz="788" dirty="0"/>
          </a:p>
        </p:txBody>
      </p:sp>
      <p:sp>
        <p:nvSpPr>
          <p:cNvPr id="113" name="Shape 111"/>
          <p:cNvSpPr/>
          <p:nvPr/>
        </p:nvSpPr>
        <p:spPr>
          <a:xfrm>
            <a:off x="16049625" y="4838700"/>
            <a:ext cx="1219200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/>
          <p:nvPr/>
        </p:nvSpPr>
        <p:spPr>
          <a:xfrm>
            <a:off x="16026765" y="4848225"/>
            <a:ext cx="12649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MQ Replication</a:t>
            </a:r>
            <a:endParaRPr lang="en-US" sz="788" dirty="0"/>
          </a:p>
        </p:txBody>
      </p:sp>
      <p:sp>
        <p:nvSpPr>
          <p:cNvPr id="115" name="Shape 113"/>
          <p:cNvSpPr/>
          <p:nvPr/>
        </p:nvSpPr>
        <p:spPr>
          <a:xfrm>
            <a:off x="381000" y="10096500"/>
            <a:ext cx="116205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14487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00050" y="10115550"/>
            <a:ext cx="11620500" cy="419100"/>
          </a:xfrm>
          <a:custGeom>
            <a:avLst/>
            <a:gdLst/>
            <a:ahLst/>
            <a:cxnLst/>
            <a:rect l="l" t="t" r="r" b="b"/>
            <a:pathLst>
              <a:path w="11620500" h="419100">
                <a:moveTo>
                  <a:pt x="57150" y="0"/>
                </a:moveTo>
                <a:lnTo>
                  <a:pt x="11563350" y="0"/>
                </a:lnTo>
                <a:arcTo hR="57150" wR="57150" stAng="16200000" swAng="5400000"/>
                <a:lnTo>
                  <a:pt x="11620500" y="419100"/>
                </a:lnTo>
                <a:lnTo>
                  <a:pt x="0" y="41910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14487A"/>
          </a:solidFill>
          <a:ln/>
        </p:spPr>
      </p:sp>
      <p:sp>
        <p:nvSpPr>
          <p:cNvPr id="117" name="Text 115"/>
          <p:cNvSpPr/>
          <p:nvPr/>
        </p:nvSpPr>
        <p:spPr>
          <a:xfrm>
            <a:off x="225742" y="10115550"/>
            <a:ext cx="119691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1275" dirty="0"/>
          </a:p>
        </p:txBody>
      </p:sp>
      <p:pic>
        <p:nvPicPr>
          <p:cNvPr id="1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" y="10818019"/>
            <a:ext cx="438150" cy="133350"/>
          </a:xfrm>
          <a:prstGeom prst="rect">
            <a:avLst/>
          </a:prstGeom>
        </p:spPr>
      </p:pic>
      <p:sp>
        <p:nvSpPr>
          <p:cNvPr id="119" name="Text 116"/>
          <p:cNvSpPr/>
          <p:nvPr/>
        </p:nvSpPr>
        <p:spPr>
          <a:xfrm>
            <a:off x="1181100" y="10808494"/>
            <a:ext cx="1219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MPLS Link (solid)</a:t>
            </a:r>
            <a:endParaRPr lang="en-US" sz="1013" dirty="0"/>
          </a:p>
        </p:txBody>
      </p:sp>
      <p:pic>
        <p:nvPicPr>
          <p:cNvPr id="1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600" y="10818019"/>
            <a:ext cx="438150" cy="133350"/>
          </a:xfrm>
          <a:prstGeom prst="rect">
            <a:avLst/>
          </a:prstGeom>
        </p:spPr>
      </p:pic>
      <p:sp>
        <p:nvSpPr>
          <p:cNvPr id="121" name="Text 117"/>
          <p:cNvSpPr/>
          <p:nvPr/>
        </p:nvSpPr>
        <p:spPr>
          <a:xfrm>
            <a:off x="6877050" y="10808494"/>
            <a:ext cx="14668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 Link (dashed)</a:t>
            </a:r>
            <a:endParaRPr lang="en-US" sz="1013" dirty="0"/>
          </a:p>
        </p:txBody>
      </p:sp>
      <p:pic>
        <p:nvPicPr>
          <p:cNvPr id="1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" y="11270456"/>
            <a:ext cx="438150" cy="133350"/>
          </a:xfrm>
          <a:prstGeom prst="rect">
            <a:avLst/>
          </a:prstGeom>
        </p:spPr>
      </p:pic>
      <p:sp>
        <p:nvSpPr>
          <p:cNvPr id="123" name="Text 118"/>
          <p:cNvSpPr/>
          <p:nvPr/>
        </p:nvSpPr>
        <p:spPr>
          <a:xfrm>
            <a:off x="1181100" y="11260931"/>
            <a:ext cx="23679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Replication (dotted)</a:t>
            </a:r>
            <a:endParaRPr lang="en-US" sz="1013" dirty="0"/>
          </a:p>
        </p:txBody>
      </p:sp>
      <p:pic>
        <p:nvPicPr>
          <p:cNvPr id="1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4600" y="11270456"/>
            <a:ext cx="438150" cy="133350"/>
          </a:xfrm>
          <a:prstGeom prst="rect">
            <a:avLst/>
          </a:prstGeom>
        </p:spPr>
      </p:pic>
      <p:sp>
        <p:nvSpPr>
          <p:cNvPr id="125" name="Text 119"/>
          <p:cNvSpPr/>
          <p:nvPr/>
        </p:nvSpPr>
        <p:spPr>
          <a:xfrm>
            <a:off x="6877050" y="11260931"/>
            <a:ext cx="20745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MQ Replication (dotted)</a:t>
            </a:r>
            <a:endParaRPr lang="en-US" sz="1013" dirty="0"/>
          </a:p>
        </p:txBody>
      </p:sp>
      <p:sp>
        <p:nvSpPr>
          <p:cNvPr id="126" name="Shape 120"/>
          <p:cNvSpPr/>
          <p:nvPr/>
        </p:nvSpPr>
        <p:spPr>
          <a:xfrm>
            <a:off x="628650" y="11665744"/>
            <a:ext cx="361950" cy="247650"/>
          </a:xfrm>
          <a:prstGeom prst="roundRect">
            <a:avLst>
              <a:gd name="adj" fmla="val 15385"/>
            </a:avLst>
          </a:prstGeom>
          <a:ln w="19050">
            <a:solidFill>
              <a:srgbClr val="2F6FA8"/>
            </a:solidFill>
            <a:prstDash val="dash"/>
          </a:ln>
        </p:spPr>
      </p:sp>
      <p:sp>
        <p:nvSpPr>
          <p:cNvPr id="127" name="Text 121"/>
          <p:cNvSpPr/>
          <p:nvPr/>
        </p:nvSpPr>
        <p:spPr>
          <a:xfrm>
            <a:off x="1104900" y="11713369"/>
            <a:ext cx="25041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Nutanix Cluster (Virtual Machines)</a:t>
            </a:r>
            <a:endParaRPr lang="en-US" sz="1013" dirty="0"/>
          </a:p>
        </p:txBody>
      </p:sp>
      <p:sp>
        <p:nvSpPr>
          <p:cNvPr id="128" name="Shape 122"/>
          <p:cNvSpPr/>
          <p:nvPr/>
        </p:nvSpPr>
        <p:spPr>
          <a:xfrm>
            <a:off x="6324600" y="11675269"/>
            <a:ext cx="3429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4487A"/>
            </a:solidFill>
            <a:prstDash val="solid"/>
          </a:ln>
        </p:spPr>
      </p:sp>
      <p:sp>
        <p:nvSpPr>
          <p:cNvPr id="129" name="Text 123"/>
          <p:cNvSpPr/>
          <p:nvPr/>
        </p:nvSpPr>
        <p:spPr>
          <a:xfrm>
            <a:off x="6781800" y="11713369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SolarWinds Monitoring</a:t>
            </a:r>
            <a:endParaRPr lang="en-US" sz="1013" dirty="0"/>
          </a:p>
        </p:txBody>
      </p:sp>
      <p:sp>
        <p:nvSpPr>
          <p:cNvPr id="130" name="Shape 124"/>
          <p:cNvSpPr/>
          <p:nvPr/>
        </p:nvSpPr>
        <p:spPr>
          <a:xfrm>
            <a:off x="628650" y="12127706"/>
            <a:ext cx="3429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4487A"/>
            </a:solidFill>
            <a:prstDash val="solid"/>
          </a:ln>
        </p:spPr>
      </p:sp>
      <p:sp>
        <p:nvSpPr>
          <p:cNvPr id="131" name="Text 125"/>
          <p:cNvSpPr/>
          <p:nvPr/>
        </p:nvSpPr>
        <p:spPr>
          <a:xfrm>
            <a:off x="1085850" y="12165806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Backup</a:t>
            </a:r>
            <a:endParaRPr lang="en-US" sz="1013" dirty="0"/>
          </a:p>
        </p:txBody>
      </p:sp>
      <p:sp>
        <p:nvSpPr>
          <p:cNvPr id="132" name="Shape 126"/>
          <p:cNvSpPr/>
          <p:nvPr/>
        </p:nvSpPr>
        <p:spPr>
          <a:xfrm>
            <a:off x="6324600" y="12127706"/>
            <a:ext cx="3429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4487A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6781800" y="12165806"/>
            <a:ext cx="2933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Authentication / Active Directory</a:t>
            </a:r>
            <a:endParaRPr lang="en-US" sz="1013" dirty="0"/>
          </a:p>
        </p:txBody>
      </p:sp>
      <p:sp>
        <p:nvSpPr>
          <p:cNvPr id="134" name="Shape 128"/>
          <p:cNvSpPr/>
          <p:nvPr/>
        </p:nvSpPr>
        <p:spPr>
          <a:xfrm>
            <a:off x="12382500" y="10096500"/>
            <a:ext cx="120015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14487A"/>
            </a:solidFill>
            <a:prstDash val="solid"/>
          </a:ln>
        </p:spPr>
      </p:sp>
      <p:sp>
        <p:nvSpPr>
          <p:cNvPr id="135" name="Shape 129"/>
          <p:cNvSpPr/>
          <p:nvPr/>
        </p:nvSpPr>
        <p:spPr>
          <a:xfrm>
            <a:off x="12401550" y="10115550"/>
            <a:ext cx="12001500" cy="419100"/>
          </a:xfrm>
          <a:custGeom>
            <a:avLst/>
            <a:gdLst/>
            <a:ahLst/>
            <a:cxnLst/>
            <a:rect l="l" t="t" r="r" b="b"/>
            <a:pathLst>
              <a:path w="12001500" h="419100">
                <a:moveTo>
                  <a:pt x="57150" y="0"/>
                </a:moveTo>
                <a:lnTo>
                  <a:pt x="11944350" y="0"/>
                </a:lnTo>
                <a:arcTo hR="57150" wR="57150" stAng="16200000" swAng="5400000"/>
                <a:lnTo>
                  <a:pt x="12001500" y="419100"/>
                </a:lnTo>
                <a:lnTo>
                  <a:pt x="0" y="41910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14487A"/>
          </a:solidFill>
          <a:ln/>
        </p:spPr>
      </p:sp>
      <p:sp>
        <p:nvSpPr>
          <p:cNvPr id="136" name="Text 130"/>
          <p:cNvSpPr/>
          <p:nvPr/>
        </p:nvSpPr>
        <p:spPr>
          <a:xfrm>
            <a:off x="12221528" y="10115550"/>
            <a:ext cx="123615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75" dirty="0"/>
          </a:p>
        </p:txBody>
      </p:sp>
      <p:sp>
        <p:nvSpPr>
          <p:cNvPr id="137" name="Text 131"/>
          <p:cNvSpPr/>
          <p:nvPr/>
        </p:nvSpPr>
        <p:spPr>
          <a:xfrm>
            <a:off x="12757150" y="10687050"/>
            <a:ext cx="11607800" cy="1259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313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SGDR (OCC) hosts both the DR Production and UAT environments on a single shared Nutanix cluster.</a:t>
            </a:r>
            <a:endParaRPr lang="en-US" sz="1013" dirty="0"/>
          </a:p>
          <a:p>
            <a:pPr algn="l" marL="101600" indent="-101600">
              <a:lnSpc>
                <a:spcPct val="160313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application tiers (Web, DB, MQ, Convertor) are deployed as virtual machines on Nutanix hyper-converged infrastructure.</a:t>
            </a:r>
            <a:endParaRPr lang="en-US" sz="1013" dirty="0"/>
          </a:p>
          <a:p>
            <a:pPr algn="l" marL="101600" indent="-101600">
              <a:lnSpc>
                <a:spcPct val="160313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 provides the primary WAN transport between GIFT Server Room and both colocation sites (SGDC Production and SGDR OCC).</a:t>
            </a:r>
            <a:endParaRPr lang="en-US" sz="1013" dirty="0"/>
          </a:p>
          <a:p>
            <a:pPr algn="l" marL="101600" indent="-101600">
              <a:lnSpc>
                <a:spcPct val="160313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and IBM MQ replication links operate independently of the RWAN network path, directly between the two sites' DB and MQ tiers.</a:t>
            </a:r>
            <a:endParaRPr lang="en-US" sz="1013" dirty="0"/>
          </a:p>
          <a:p>
            <a:pPr algn="l" marL="101600" indent="-101600">
              <a:lnSpc>
                <a:spcPct val="160313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013" dirty="0">
                <a:solidFill>
                  <a:srgbClr val="173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(SolarWinds), Backup (Rubrik) and Directory (Active Directory) services are deployed locally and independently at each site.</a:t>
            </a:r>
            <a:endParaRPr lang="en-US" sz="1013" dirty="0"/>
          </a:p>
        </p:txBody>
      </p:sp>
      <p:pic>
        <p:nvPicPr>
          <p:cNvPr id="13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0"/>
            <a:ext cx="24765000" cy="1314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2026-07-31T04:08:13Z</dcterms:created>
  <dcterms:modified xsi:type="dcterms:W3CDTF">2026-07-31T04:08:13Z</dcterms:modified>
</cp:coreProperties>
</file>