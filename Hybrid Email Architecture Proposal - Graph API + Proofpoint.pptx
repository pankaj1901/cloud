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347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32347"/>
                </a:solidFill>
                <a:latin typeface="Cambria"/>
              </a:rPr>
              <a:t>Estimated Monthly Platform Cost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Proofpoint-only (current)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5M msgs/mo</c:v>
                  </c:pt>
                  <c:pt idx="1">
                    <c:v>15M msgs/mo</c:v>
                  </c:pt>
                  <c:pt idx="2">
                    <c:v>30M msgs/mo</c:v>
                  </c:pt>
                  <c:pt idx="3">
                    <c:v>50M msgs/mo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</c:v>
                </c:pt>
                <c:pt idx="1">
                  <c:v>52000</c:v>
                </c:pt>
                <c:pt idx="2">
                  <c:v>101000</c:v>
                </c:pt>
                <c:pt idx="3">
                  <c:v>165000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Hybrid: Graph API + Proofpoint</c:v>
                </c:pt>
              </c:strCache>
            </c:strRef>
          </c:tx>
          <c:spPr>
            <a:solidFill>
              <a:srgbClr val="02736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5M msgs/mo</c:v>
                  </c:pt>
                  <c:pt idx="1">
                    <c:v>15M msgs/mo</c:v>
                  </c:pt>
                  <c:pt idx="2">
                    <c:v>30M msgs/mo</c:v>
                  </c:pt>
                  <c:pt idx="3">
                    <c:v>50M msgs/mo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11000</c:v>
                </c:pt>
                <c:pt idx="1">
                  <c:v>27000</c:v>
                </c:pt>
                <c:pt idx="2">
                  <c:v>49000</c:v>
                </c:pt>
                <c:pt idx="3">
                  <c:v>78000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B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1E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4206240" cy="4206240"/>
          </a:xfrm>
          <a:prstGeom prst="ellipse">
            <a:avLst/>
          </a:prstGeom>
          <a:solidFill>
            <a:srgbClr val="3E6D9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Email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 </a:t>
            </a:r>
            <a:pPr indent="0" marL="0">
              <a:buNone/>
            </a:pPr>
            <a:r>
              <a:rPr lang="en-US" sz="18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application email  +  </a:t>
            </a:r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pPr indent="0" marL="0">
              <a:buNone/>
            </a:pPr>
            <a:r>
              <a:rPr lang="en-US" sz="18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secure gateway &amp; compliance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cost efficiency, security posture, and regulatory compliance for high-volume application messaging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IT Security &amp; Infrastructure Leadership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Adopt a Hybrid Send/Secure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high-volume application email (transactional, notification, billing, alerting) through Microsoft Graph API for scalable, low-cost delivery, while keeping Proofpoint as the mandatory secure email gateway and compliance layer for filtering, DLP, and archiving on every message.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492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alone, used as the sending platform, was not built for application-scale relay volumes — it drives up per-message licensing cost.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 is already licensed under Microsoft 365 and scales natively with Exchange Online throughput.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remains in-line on every path to preserve anti-phishing, DLP, encryption, and audit/compliance controls.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lower cost per million messages, unchanged (or improved) security posture, full compliance retained.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554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reduction in per-message cost at high 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31089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3246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8096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outbound &amp; inbound mail still inspected by Proofpoint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4800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4937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5577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vendors — uses licensing already in place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Proofpoint Is Carrying Application Email Alone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all application-generated email — transactional receipts, alerts, batch notifications, billing statements — is relayed directly through Proofpoint, the same platform used as the enterprise secure email gateway.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34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Pressure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776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traffic now represents the majority of total message volume routed through the gateway.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3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776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pricing is optimized for corporate mailbox protection, not high-throughput programmatic relay.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34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429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Point of Load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776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sizing and support case load scale with total volume — including non-human, machine-generated traffic.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BEFEC"/>
          </a:solidFill>
          <a:ln w="12700">
            <a:solidFill>
              <a:srgbClr val="EFD3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56048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application volume grows, cost, gateway load, and operational risk grow with it — even though this traffic doesn't need the same corporate-mailbox controls as human-to-human mail.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Proofpoint-Only Doesn't Scale for App Email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856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scales per message, not per mailbox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17556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is built around protecting people's inboxes; billing/notification volumes can be 10–100x mailbox count, inflating spend disproportionately.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88136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50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8564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0487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designed as a high-throughput relay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sending needs API-based auth, retry/queue handling, and delivery telemetry — capabilities a security gateway doesn't specialize 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088136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8564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392424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capacity with security-critical traffic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51560" y="3730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 sending competes for the same processing capacity as phishing/malware inspection on business-critical mail.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1088136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25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856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25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379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native developer tooling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51560" y="471830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first-class SDKs, OAuth2 app-only auth, or delivery/read telemetry comparable to a modern messaging API.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294376"/>
            <a:ext cx="1088136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132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8564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13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36752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lock for a commodity function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51560" y="570585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mechanics are a commodity; paying premium security-gateway rates for plain relay is inefficient spend.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Responsibilities to the Right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each platform for what it does best — programmatic sending vs. security &amp; compliance inspection.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3234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Engine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High-throughput, OAuth2 app-only authenticated sending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scaling with Exchange Online — no added sending vendor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included in existing Microsoft 365 licensing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status, throttling, and retry handled via API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transactional, batch, and notification workloads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4871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Gateway &amp; Compliance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310896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inspection of every inbound and outbound message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Anti-phishing, anti-malware, and targeted attack protection (TAP)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 (DLP) and encryption enforcement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retention, e-discovery, and tamper-evident archiving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single compliance system of record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13832" y="3707892"/>
            <a:ext cx="585216" cy="585216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37078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Send &amp; Secure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17099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2736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709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691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47088" y="17830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Systems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47088" y="22677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CRM · Billing · Alerts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32347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70248" y="17830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Graph API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70248" y="22677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Online · OAuth2 app auth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027368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93408" y="17830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Proofpoint SEG (Outbound)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93408" y="22677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· Encryption · TLS enforce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06840" y="1691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16568" y="17830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/ Recipients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16568" y="22677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mailboxes &amp; partners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13632" y="2171700"/>
            <a:ext cx="219456" cy="0"/>
          </a:xfrm>
          <a:prstGeom prst="line">
            <a:avLst/>
          </a:prstGeom>
          <a:noFill/>
          <a:ln w="28575">
            <a:solidFill>
              <a:srgbClr val="3E6D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36792" y="2171700"/>
            <a:ext cx="219456" cy="0"/>
          </a:xfrm>
          <a:prstGeom prst="line">
            <a:avLst/>
          </a:prstGeom>
          <a:noFill/>
          <a:ln w="28575">
            <a:solidFill>
              <a:srgbClr val="3E6D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59952" y="2171700"/>
            <a:ext cx="219456" cy="0"/>
          </a:xfrm>
          <a:prstGeom prst="line">
            <a:avLst/>
          </a:prstGeom>
          <a:noFill/>
          <a:ln w="28575">
            <a:solidFill>
              <a:srgbClr val="3E6D9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" y="30815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E6D9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" y="30815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16568" y="31546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/ Senders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16568" y="36393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Partners · Replies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30632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027368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93408" y="31546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Proofpoint SEG (Inbound)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93408" y="36393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Anti-phish · Anti-malware · TAP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30632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32347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70248" y="31546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 Online / Graph API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70248" y="36393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to app mailbox/queue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37360" y="30632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847088" y="315468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Mailboxes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847088" y="3639312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· Bounce/reply handling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79408" y="3543300"/>
            <a:ext cx="-219456" cy="0"/>
          </a:xfrm>
          <a:prstGeom prst="line">
            <a:avLst/>
          </a:prstGeom>
          <a:noFill/>
          <a:ln w="28575">
            <a:solidFill>
              <a:srgbClr val="3E6D9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56248" y="3543300"/>
            <a:ext cx="-219456" cy="0"/>
          </a:xfrm>
          <a:prstGeom prst="line">
            <a:avLst/>
          </a:prstGeom>
          <a:noFill/>
          <a:ln w="28575">
            <a:solidFill>
              <a:srgbClr val="3E6D9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33088" y="3543300"/>
            <a:ext cx="-219456" cy="0"/>
          </a:xfrm>
          <a:prstGeom prst="line">
            <a:avLst/>
          </a:prstGeom>
          <a:noFill/>
          <a:ln w="28575">
            <a:solidFill>
              <a:srgbClr val="3E6D9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234940" y="4023360"/>
            <a:ext cx="0" cy="685800"/>
          </a:xfrm>
          <a:prstGeom prst="line">
            <a:avLst/>
          </a:prstGeom>
          <a:noFill/>
          <a:ln w="12700">
            <a:solidFill>
              <a:srgbClr val="5B6B79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658100" y="4023360"/>
            <a:ext cx="0" cy="685800"/>
          </a:xfrm>
          <a:prstGeom prst="line">
            <a:avLst/>
          </a:prstGeom>
          <a:noFill/>
          <a:ln w="12700">
            <a:solidFill>
              <a:srgbClr val="5B6B7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73736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FF3F9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20240" y="48006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Archiving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920240" y="51114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Compliance / Archive  ·  Microsoft Purview retention  ·  Immutable, e-discovery ready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081260" y="4023360"/>
            <a:ext cx="0" cy="685800"/>
          </a:xfrm>
          <a:prstGeom prst="line">
            <a:avLst/>
          </a:prstGeom>
          <a:noFill/>
          <a:ln w="12700">
            <a:solidFill>
              <a:srgbClr val="5B6B7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006840" y="470916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FF3F9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48006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/ Monitoring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144000" y="511149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telemetry, threat logs &amp; audit trail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897880"/>
            <a:ext cx="201168" cy="201168"/>
          </a:xfrm>
          <a:prstGeom prst="roundRect">
            <a:avLst/>
          </a:prstGeom>
          <a:solidFill>
            <a:srgbClr val="132347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5852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/ Graph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17520" y="5897880"/>
            <a:ext cx="201168" cy="201168"/>
          </a:xfrm>
          <a:prstGeom prst="roundRect">
            <a:avLst/>
          </a:prstGeom>
          <a:solidFill>
            <a:srgbClr val="027368"/>
          </a:solidFill>
          <a:ln/>
        </p:spPr>
      </p:sp>
      <p:sp>
        <p:nvSpPr>
          <p:cNvPr id="50" name="Text 48"/>
          <p:cNvSpPr/>
          <p:nvPr/>
        </p:nvSpPr>
        <p:spPr>
          <a:xfrm>
            <a:off x="329184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589788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External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Flow,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— Application to Recipient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1323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91109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calls Microsoft Graph API (sendMail) using an OAuth2 app-only, least-privilege credential.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" y="2423160"/>
            <a:ext cx="0" cy="50292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13234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Online queues and transmits the message at scale, applying native throttling and retry.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" y="3456432"/>
            <a:ext cx="0" cy="50292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4032504"/>
            <a:ext cx="384048" cy="384048"/>
          </a:xfrm>
          <a:prstGeom prst="ellipse">
            <a:avLst/>
          </a:prstGeom>
          <a:solidFill>
            <a:srgbClr val="13234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977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connector routes the message through Proofpoint for DLP scan, policy check, and encryption if required.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" y="4489704"/>
            <a:ext cx="0" cy="50292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13234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50109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releases compliant mail to the internet; blocked or flagged mail is quarantined and logged.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0" cy="475488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— Internet to Application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1965960"/>
            <a:ext cx="384048" cy="384048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76872" y="191109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mail from the internet lands at Proofpoint first — always, with no bypass path.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38544" y="2423160"/>
            <a:ext cx="0" cy="50292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46520" y="2999232"/>
            <a:ext cx="384048" cy="384048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76872" y="29443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applies anti-spam, anti-phishing, anti-malware, and TAP sandboxing before release.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38544" y="3456432"/>
            <a:ext cx="0" cy="50292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46520" y="4032504"/>
            <a:ext cx="384048" cy="384048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76872" y="3977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mail is delivered to Exchange Online / Graph API and routed to the owning application mailbox or queue.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38544" y="4489704"/>
            <a:ext cx="0" cy="50292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46520" y="5065776"/>
            <a:ext cx="384048" cy="384048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76872" y="50109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— in or out — is captured by Proofpoint Compliance Archive for retention and e-discovery.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Cost at High-Volume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modeled cost per million application messages/month, at growing volume tiers.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87452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132347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20116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92440" y="26060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projected cost reduction at 30M+ messages/month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18120" y="3429000"/>
            <a:ext cx="37947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3611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savings come from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3977640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per-message licensing for sending — covered by existing M365 entitlement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sized for security inspection, not raw relay throughput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gateway infrastructure &amp; support tier requirements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63093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illustrative; validate against current contracted rates during procurement review.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Dropped From the Control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709160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(Proofpoint-only)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92440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(Hybrid)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789920" cy="530352"/>
          </a:xfrm>
          <a:prstGeom prst="rect">
            <a:avLst/>
          </a:prstGeom>
          <a:solidFill>
            <a:srgbClr val="13234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(Proofpoint-only)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92440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(Hybrid)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03911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Anti-phishing / anti-malware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0391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2440" y="20391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— unchanged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69464"/>
            <a:ext cx="10789920" cy="53035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94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Protection (TAP)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56946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92440" y="256946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— unchanged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09981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 (DLP)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09981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309981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— unchanged, inline on outbound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30168"/>
            <a:ext cx="10789920" cy="53035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301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/ TLS enforcement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6301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36301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— unchanged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archiving / e-discovery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41605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41605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— unchanged, all mail captured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90872"/>
            <a:ext cx="10789920" cy="53035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6908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authentication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469087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gateway credential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92440" y="469087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app-only, least-privilege, auditable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2212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telemetry / throughput scaling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52212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52212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via Graph API + Exchange Online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Reasons This Is the Balanced Choice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7830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Efficiency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sending shifts to already-licensed Graph API capacity, cutting per-message spend at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132347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7830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 Security Posture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55080" y="24688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 stays in-line on 100% of inbound and outbound mail — no coverage gap introduced.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3E6D9C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2062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Archiving, retention, and e-discovery continue uninterrupted through Proofpoint's compliance layer.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9319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42062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Reliability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4892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Online / Graph API natively absorbs volume growth without re-sizing a security gateway.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solidFill>
            <a:srgbClr val="13234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23560" y="1508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connector could route mail around Proofpoint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965960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mail flow rules that reject any path bypassing the Proofpoint connector; alert on policy drift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0789920" cy="841248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07208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credentials could be over-privileged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2807208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app-only, least-privilege scopes (Mail.Send only) with conditional access and credential rotation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648456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 increase operational complexity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3648456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documented runbook; unified monitoring dashboard covering both Graph API and Proofpoint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10789920" cy="841248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489704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limits on Exchange Online sending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4489704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tenant sending limits against volume tiers during pilot; request limit increase if required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330952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during cutover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5330952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migration by application, with Proofpoint audit logs confirming 100% inspection throughout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10835640" cy="0"/>
          </a:xfrm>
          <a:prstGeom prst="line">
            <a:avLst/>
          </a:prstGeom>
          <a:noFill/>
          <a:ln w="381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688336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44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Weeks 1–3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1600200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&amp;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920240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application senders, map volumes, design Graph API app registration &amp; connector policy through Proofpoint.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0" cy="18288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51376" y="2688336"/>
            <a:ext cx="292608" cy="292608"/>
          </a:xfrm>
          <a:prstGeom prst="ellipse">
            <a:avLst/>
          </a:prstGeom>
          <a:solidFill>
            <a:srgbClr val="1323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1820" y="32461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6412" y="335584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Weeks 4–6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6412" y="3611880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6412" y="3931920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1–2 low-risk applications; validate delivery, DLP inspection, and archiving end-to-end.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0" cy="41148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763256" y="2688336"/>
            <a:ext cx="292608" cy="292608"/>
          </a:xfrm>
          <a:prstGeom prst="ellipse">
            <a:avLst/>
          </a:prstGeom>
          <a:solidFill>
            <a:srgbClr val="1323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3700" y="12344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8292" y="134416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Weeks 7–12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08292" y="1600200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Migration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8292" y="1920240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remaining application senders in waves by risk tier, monitoring cost and gateway load at each step.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09560" y="2651760"/>
            <a:ext cx="0" cy="18288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375136" y="2688336"/>
            <a:ext cx="292608" cy="292608"/>
          </a:xfrm>
          <a:prstGeom prst="ellipse">
            <a:avLst/>
          </a:prstGeom>
          <a:solidFill>
            <a:srgbClr val="1323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32461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73184" y="335584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Ongoing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73184" y="3611880"/>
            <a:ext cx="2002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&amp; Operate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73184" y="3931920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throughput, finalize runbook and monitoring dashboard, and review cost savings against baseline.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521440" y="2834640"/>
            <a:ext cx="0" cy="411480"/>
          </a:xfrm>
          <a:prstGeom prst="line">
            <a:avLst/>
          </a:prstGeom>
          <a:noFill/>
          <a:ln w="19050">
            <a:solidFill>
              <a:srgbClr val="D9E1E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323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hybrid model: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 for application email sending, with Proofpoint retained as the mandatory secure gateway and compliance layer for all mail.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Next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current Proofpoint contract terms and application sender inventory with procurement &amp; app owners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593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Graph API app registration with least-privilege Mail.Send scope in a non-production tenant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26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8114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test the mandatory outbound connector routing all Graph-sent mail through Proofpoint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365760" cy="365760"/>
          </a:xfrm>
          <a:prstGeom prst="ellipse">
            <a:avLst/>
          </a:prstGeom>
          <a:solidFill>
            <a:srgbClr val="02736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20293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Phase 2 pilot and present validated cost/security results before full migration approval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 Architecture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B2E5C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3E6D9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23774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IT Security &amp; Infrastructure Leadership  ·  August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2026-08-14T05:31:17Z</dcterms:created>
  <dcterms:modified xsi:type="dcterms:W3CDTF">2026-08-14T05:31:17Z</dcterms:modified>
</cp:coreProperties>
</file>