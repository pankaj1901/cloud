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74320"/>
            <a:ext cx="1371600" cy="1371600"/>
          </a:xfrm>
          <a:prstGeom prst="ellipse">
            <a:avLst/>
          </a:prstGeom>
          <a:solidFill>
            <a:srgbClr val="00ACC1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3474720"/>
            <a:ext cx="1828800" cy="1828800"/>
          </a:xfrm>
          <a:prstGeom prst="ellipse">
            <a:avLst/>
          </a:prstGeom>
          <a:solidFill>
            <a:srgbClr val="1E88E5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IT Operations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Microsoft Copilot Studio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468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LogicMonitor Edwin AI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32461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IT Monitoring, Alerting &amp; Incident Response across On-Premises Infrastructure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828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IT STRATEGY &amp; INNOVATION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IT operations environment currently relies on multiple on-premises tools for monitoring and observability. This deck evaluates two AI-powered solutions — Microsoft Copilot Studio and LogicMonitor Edwin AI — to enhance how we detect, respond to, and resolve infrastructure issues.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8600" y="178308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783080"/>
            <a:ext cx="27432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19202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233172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tools: SolarWinds, Instana, Prometheus, Oracle OEM, Azure Sentinel, Splunk, Syslog, ServiceNow — rich data but fragmented response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783080"/>
            <a:ext cx="274320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9202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233172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alert noise, manual correlation across tools, slow MTTR, lack of predictive intelligence, and limited self-healing capability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178308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783080"/>
            <a:ext cx="27432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6281928" y="19202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81928" y="233172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AIOps to unify telemetry, auto-correlate incidents, reduce noise by up to 90%, and accelerate resolution via intelligent automation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 | Copilot Studio &amp; Edwin AI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ON-PREMISES TOOLING LANDSCAPE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Sources Available for AI Integration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280160"/>
            <a:ext cx="2057400" cy="164592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280160"/>
            <a:ext cx="205740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17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Infra Monitoring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02996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topology, bandwidth, device health, SNMP traps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280160"/>
            <a:ext cx="2057400" cy="164592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77440" y="1280160"/>
            <a:ext cx="2057400" cy="9144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417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Instana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68880" y="1737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/ Application Performance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68880" y="202996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traces, service maps, container/microservice metrics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280160"/>
            <a:ext cx="2057400" cy="164592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280160"/>
            <a:ext cx="2057400" cy="91440"/>
          </a:xfrm>
          <a:prstGeom prst="rect">
            <a:avLst/>
          </a:prstGeom>
          <a:solidFill>
            <a:srgbClr val="E6522C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417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1737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Alerting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202996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metrics, Kubernetes, custom exporters, AlertManager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280160"/>
            <a:ext cx="2057400" cy="164592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280160"/>
            <a:ext cx="2057400" cy="9144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417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OEM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0" y="1737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Monitoring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58000" y="202996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 performance, SQL diagnostics, capacity planning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3063240"/>
            <a:ext cx="2057400" cy="164592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3063240"/>
            <a:ext cx="2057400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200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Sentinel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4320" y="3520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SIEM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381304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events, threat detection, log analytics, KQL queries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77440" y="3063240"/>
            <a:ext cx="2057400" cy="164592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377440" y="3063240"/>
            <a:ext cx="2057400" cy="91440"/>
          </a:xfrm>
          <a:prstGeom prst="rect">
            <a:avLst/>
          </a:prstGeom>
          <a:solidFill>
            <a:srgbClr val="65A637"/>
          </a:solidFill>
          <a:ln/>
        </p:spPr>
      </p:sp>
      <p:sp>
        <p:nvSpPr>
          <p:cNvPr id="32" name="Text 30"/>
          <p:cNvSpPr/>
          <p:nvPr/>
        </p:nvSpPr>
        <p:spPr>
          <a:xfrm>
            <a:off x="2468880" y="3200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468880" y="3520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Management &amp; Analytics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468880" y="381304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aggregation, search, dashboards, machine data analytics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3063240"/>
            <a:ext cx="2057400" cy="164592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3063240"/>
            <a:ext cx="2057400" cy="9144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200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663440" y="3520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Logging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63440" y="381304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events, device logs, RFC 5424 structured log transport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0" y="3063240"/>
            <a:ext cx="2057400" cy="164592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66560" y="3063240"/>
            <a:ext cx="2057400" cy="91440"/>
          </a:xfrm>
          <a:prstGeom prst="rect">
            <a:avLst/>
          </a:prstGeom>
          <a:solidFill>
            <a:srgbClr val="81B5A1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0" y="3200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858000" y="3520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/ Ticketing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58000" y="381304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Incident, change, CMDB, ITOM event management workflows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 | Copilot Studio &amp; Edwin AI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STUDIO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840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3794760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2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Copilot Studio?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Studio is a low-code platform for building AI-powered copilots and agents. It integrates natively with Microsoft 365, Azure OpenAI, and enterprise data connectors — enabling IT teams to build intelligent virtual agents that automate operations, answer questions from your monitoring tools, and trigger workflows via Power Automate.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 in IT Ops Context: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82112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querying of Splunk, Sentinel, ServiceNow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incident triage via Power Automate flows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Teams-integrated alert notifications with actionable cards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agents for runbook execution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Azure Logic Apps &amp; REST connectors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868680"/>
            <a:ext cx="4480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868680"/>
            <a:ext cx="73152" cy="640080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886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0" y="11887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Azure hosted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618488"/>
            <a:ext cx="4480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1618488"/>
            <a:ext cx="73152" cy="640080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6367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19385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Platform, M365, Azure OpenAI, REST APIs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2368296"/>
            <a:ext cx="4480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2368296"/>
            <a:ext cx="73152" cy="640080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23865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0" y="268833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Microsoft 365 + Copilot Studio addon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3118104"/>
            <a:ext cx="4480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0" y="3118104"/>
            <a:ext cx="73152" cy="640080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3136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0" y="34381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agents, orchestration, automation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3867912"/>
            <a:ext cx="4480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0" y="3867912"/>
            <a:ext cx="73152" cy="640080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Ops Fit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41879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ServiceNow integration, Teams alerts, runbooks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 | Copilot Studio &amp; Edwin AI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 EDWIN 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840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3794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Edwin AI?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 Edwin AI is a native AIOps intelligence layer built into the LogicMonitor platform. Edwin leverages machine learning for anomaly detection, root cause analysis, alert correlation, and predictive alerting — purpose-built for hybrid IT infrastructure monitoring across physical, virtual, cloud, and containerized environments.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 in IT Ops Context: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82112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alert thresholds with ML-based baselining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anomaly correlation &amp; noise reduction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identification across infrastructure layers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alerts before incidents occur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&amp; ITSM bidirectional integration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868680"/>
            <a:ext cx="4480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868680"/>
            <a:ext cx="73152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886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0" y="11887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(Cloud) with on-prem collectors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618488"/>
            <a:ext cx="4480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1618488"/>
            <a:ext cx="73152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6367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19385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native connectors, SNMP, WMI, JMX, NetFlow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2368296"/>
            <a:ext cx="4480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2368296"/>
            <a:ext cx="73152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23865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0" y="268833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per device/resource monitored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3118104"/>
            <a:ext cx="4480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0" y="3118104"/>
            <a:ext cx="73152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3136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0" y="34381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infrastructure monitoring, AIOps intelligence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3867912"/>
            <a:ext cx="44805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0" y="3867912"/>
            <a:ext cx="73152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Ops Fit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41879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alert correlation, anomaly detection, root cause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 | Copilot Studio &amp; Edwin AI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— INTEGRATION WITH ON-PREM TOOLING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65960" y="804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Method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17720" y="804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Ops Use Case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52360" y="804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877824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612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65960" y="1161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/ SWIS connector via Power Automate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17720" y="1161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alerts on node-down events; query topology data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98080" y="118872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B300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188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581912"/>
            <a:ext cx="8778240" cy="457200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645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Instana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6596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connector; webhook-based events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1772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APM incidents into Copilot conversation; correlate traces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98080" y="167335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B300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16733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066544"/>
            <a:ext cx="877824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1305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65960" y="2130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connector via Power Automate / Azure API Mgmt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17720" y="2130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Prometheus metrics in natural language via Copilot agent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98080" y="2157984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1744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21579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2551176"/>
            <a:ext cx="8778240" cy="457200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6151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OEM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65960" y="26151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(OEM 13c+) via custom connector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17720" y="2615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performance queries, alert triage, SQL advisory in Teams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98080" y="2642616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1744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2642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" y="3035808"/>
            <a:ext cx="877824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309981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Sentinel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965960" y="30998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connector (M365 / Sentinel MCP)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17720" y="30998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 enrichment, IOC lookup, KQL via natural language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98080" y="312724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0C853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0" y="3127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2880" y="3520440"/>
            <a:ext cx="8778240" cy="457200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35844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965960" y="3584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REST API / Splunk Add-on for Power Platform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17720" y="3584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search queries, alert forwarding, correlation to ITSM tickets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98080" y="3611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B300">
              <a:alpha val="3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82880" y="4005072"/>
            <a:ext cx="877824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069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96596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Syslog ingestion or OMS agent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61772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syslog into Log Analytics; queryable from Copilot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498080" y="409651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B300">
              <a:alpha val="3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0" y="4096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82880" y="4489704"/>
            <a:ext cx="8778240" cy="457200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4553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965960" y="4553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ServiceNow connector in Power Platform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617720" y="4553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creation, update, closure; CMDB lookups via Teams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498080" y="4581144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0C853">
              <a:alpha val="3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498080" y="4581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 | Copilot Studio &amp; Edwin AI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 EDWIN AI — INTEGRATION WITH ON-PREM TOOLING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65960" y="804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Method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17720" y="804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 Use Case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52360" y="804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877824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612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65960" y="1161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Collector (SNMP/WMI/ICMP polling)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17720" y="1161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or replace SolarWinds polling with LM native collection; Edwin correlates network events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98080" y="118872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0C853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188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581912"/>
            <a:ext cx="8778240" cy="457200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645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Instana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6596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pull / Webhook push to LM Events API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1772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APM anomalies into Edwin for cross-tier correlation with infra metrics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98080" y="167335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B300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16733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066544"/>
            <a:ext cx="877824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1305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65960" y="2130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Prometheus collector / remote_write endpoint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17720" y="2130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Prometheus time-series into LM; Edwin applies ML baselining to containerised workloads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98080" y="2157984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0C853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21579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2551176"/>
            <a:ext cx="8778240" cy="457200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6151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OEM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65960" y="26151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/ WMI / SNMP OID collection via LM Collector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17720" y="2615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layer metrics fed to Edwin; anomaly detection on wait times, session counts, tablespace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98080" y="2642616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B300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2642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" y="3035808"/>
            <a:ext cx="877824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309981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Sentinel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965960" y="30998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/ REST to LM Events API (one-way)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17720" y="30998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events create LM incidents; correlated with infra context for enriched root cause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98080" y="312724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B300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0" y="3127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2880" y="3520440"/>
            <a:ext cx="8778240" cy="457200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35844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965960" y="3584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HEC forwarder → LM Events API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17720" y="3584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critical Splunk alerts into Edwin event correlation pipeline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98080" y="361188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B300">
              <a:alpha val="3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82880" y="4005072"/>
            <a:ext cx="877824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069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96596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Collector native syslog listener (UDP/TCP 514)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61772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 events ingested directly; Edwin correlates with metrics for noise-reduced alerting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498080" y="409651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0C853">
              <a:alpha val="3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0" y="4096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82880" y="4489704"/>
            <a:ext cx="8778240" cy="457200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45537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965960" y="4553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LM–ServiceNow bidirectional integration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617720" y="4553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/ update / close incidents; Edwin enriches tickets with root cause context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498080" y="4581144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0C853">
              <a:alpha val="3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498080" y="4581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 | Copilot Studio &amp; Edwin AI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ARCHITECTURE: EDWIN AI + COPILOT STUDIO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8778240" cy="347472"/>
          </a:xfrm>
          <a:prstGeom prst="rect">
            <a:avLst/>
          </a:prstGeom>
          <a:solidFill>
            <a:srgbClr val="0D2B3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503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SOURCES  |  SolarWinds · IBM Instana · Prometheus · Oracle OEM · Azure Sentinel · Splunk · Syslog · ServiceNow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0" y="1170432"/>
            <a:ext cx="0" cy="27432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170432"/>
            <a:ext cx="0" cy="27432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170432"/>
            <a:ext cx="0" cy="27432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444752"/>
            <a:ext cx="8778240" cy="347472"/>
          </a:xfrm>
          <a:prstGeom prst="rect">
            <a:avLst/>
          </a:prstGeom>
          <a:solidFill>
            <a:srgbClr val="13263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444752"/>
            <a:ext cx="87782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4904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COLLECTORS  |  SNMP · WMI · JMX · Syslog · Prometheus remote_write · REST/Webhook ingestion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792224"/>
            <a:ext cx="0" cy="27432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066544"/>
            <a:ext cx="4297680" cy="868680"/>
          </a:xfrm>
          <a:prstGeom prst="rect">
            <a:avLst/>
          </a:prstGeom>
          <a:solidFill>
            <a:srgbClr val="1A0A0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066544"/>
            <a:ext cx="429768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 EDWIN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423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Detection · Alert Correlation · Root Cause · Predictive Alerts · Dynamic Thresholds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2505456"/>
            <a:ext cx="54864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066544"/>
            <a:ext cx="4297680" cy="868680"/>
          </a:xfrm>
          <a:prstGeom prst="rect">
            <a:avLst/>
          </a:prstGeom>
          <a:solidFill>
            <a:srgbClr val="1108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066544"/>
            <a:ext cx="4297680" cy="73152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STUDIO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423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· NL Query · Power Automate · Teams Alerts · Runbook Automation · M365 Copilot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77440" y="2935224"/>
            <a:ext cx="0" cy="27432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2935224"/>
            <a:ext cx="0" cy="27432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209544"/>
            <a:ext cx="2103120" cy="150876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3209544"/>
            <a:ext cx="210312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3101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INTELLIGENCE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370332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Noise-reduced, enriched alerts with root cause context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23160" y="3209544"/>
            <a:ext cx="2103120" cy="150876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23160" y="3209544"/>
            <a:ext cx="2103120" cy="640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0" name="Text 28"/>
          <p:cNvSpPr/>
          <p:nvPr/>
        </p:nvSpPr>
        <p:spPr>
          <a:xfrm>
            <a:off x="2514600" y="33101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AUTOMATION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14600" y="370332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Auto-create/update ServiceNow incidents with AI context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209544"/>
            <a:ext cx="2103120" cy="150876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209544"/>
            <a:ext cx="2103120" cy="64008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3101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NOTIFICATIONS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370332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alert cards in MS Teams; agent-driven responses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03720" y="3209544"/>
            <a:ext cx="2103120" cy="150876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03720" y="3209544"/>
            <a:ext cx="2103120" cy="6400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8" name="Text 36"/>
          <p:cNvSpPr/>
          <p:nvPr/>
        </p:nvSpPr>
        <p:spPr>
          <a:xfrm>
            <a:off x="6995160" y="33101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OPERATIONS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95160" y="370332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queries, runbook execution via Copilot agent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 | Copilot Studio &amp; Edwin AI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 CASES — AI-DRIVEN INCIDENT RESPONSE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420624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Alert Triage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005840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F6B35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100584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8328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correlates alerts across SolarWinds, Prometheus, Instana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identifies root cause node/service from correlated events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enriched ticket raised in ServiceNow vs. 50+ raw alerts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reduced; on-call engineers given actionable context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68680"/>
            <a:ext cx="420624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Capacity Alerting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0" y="1005840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FF6B35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00584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73168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baselines Oracle OEM tablespace, CPU, memory trends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capacity exhaustion 72+ hours in advance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ServiceNow change ticket raised for preventive action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P1 outages before they impact business services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97180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71800"/>
            <a:ext cx="4206240" cy="91440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Ops — Query Any Tool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54680" y="3108960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6B2FBF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154680" y="310896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2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8328" y="34747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asks Teams: 'Show me Splunk errors in last 2h for app-prod'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 queries Splunk REST API; returns summary in Teams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 'Create a ServiceNow incident for the top error'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ITSM workflow triggered via Power Automate — no portal needed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71800"/>
            <a:ext cx="4206240" cy="914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 Enrichment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0" y="3108960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00897B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0" y="310896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73168" y="34747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Sentinel detects suspicious login from Syslog + Instana traces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 correlates infra anomalies occurring simultaneously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 surfaces enriched context in Teams security channel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Sentinel playbook + ServiceNow ticket created in parallel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 | Copilot Studio &amp; Edwin AI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 — COPILOT STUDIO vs. EDWIN AI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95528"/>
            <a:ext cx="2331720" cy="301752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5" name="Shape 3"/>
          <p:cNvSpPr/>
          <p:nvPr/>
        </p:nvSpPr>
        <p:spPr>
          <a:xfrm>
            <a:off x="2606040" y="795528"/>
            <a:ext cx="3063240" cy="301752"/>
          </a:xfrm>
          <a:prstGeom prst="rect">
            <a:avLst/>
          </a:prstGeom>
          <a:solidFill>
            <a:srgbClr val="6B2FBF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60720" y="795528"/>
            <a:ext cx="3200400" cy="301752"/>
          </a:xfrm>
          <a:prstGeom prst="rect">
            <a:avLst/>
          </a:prstGeom>
          <a:solidFill>
            <a:srgbClr val="FF6B35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229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Area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97480" y="8229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52160" y="822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 (LogicMonitor)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1115568"/>
            <a:ext cx="8778240" cy="347472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11" name="Shape 9"/>
          <p:cNvSpPr/>
          <p:nvPr/>
        </p:nvSpPr>
        <p:spPr>
          <a:xfrm>
            <a:off x="2606040" y="1115568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115568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1704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Capability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97480" y="117043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AI, agent orchestration, workflow automation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11704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AIOps: anomaly detection, alert correlation, root cause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1490472"/>
            <a:ext cx="8778240" cy="347472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06040" y="1490472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1490472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5453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 Reduction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97480" y="154533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— via routing rules &amp; Power Automate filters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0" y="15453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— ML clustering reduces alerts by up to 90%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1865376"/>
            <a:ext cx="8778240" cy="347472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23" name="Shape 21"/>
          <p:cNvSpPr/>
          <p:nvPr/>
        </p:nvSpPr>
        <p:spPr>
          <a:xfrm>
            <a:off x="2606040" y="1865376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1865376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9202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97480" y="192024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native — requires external data + custom logic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19202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dynamic baselining across all monitored metrics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2240280"/>
            <a:ext cx="8778240" cy="347472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2606040" y="2240280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2240280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29514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97480" y="229514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via AI reasoning on ingested log/metric data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22951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cross-layer RCA with dependency mapping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2615184"/>
            <a:ext cx="8778240" cy="347472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5" name="Shape 33"/>
          <p:cNvSpPr/>
          <p:nvPr/>
        </p:nvSpPr>
        <p:spPr>
          <a:xfrm>
            <a:off x="2606040" y="2615184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60720" y="2615184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6700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Integration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697480" y="267004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Native, bidirectional via Power Platform connector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26700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bidirectional; auto-enriches tickets with AI context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" y="2990088"/>
            <a:ext cx="8778240" cy="347472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41" name="Shape 39"/>
          <p:cNvSpPr/>
          <p:nvPr/>
        </p:nvSpPr>
        <p:spPr>
          <a:xfrm>
            <a:off x="2606040" y="2990088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60720" y="2990088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04495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697480" y="304495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— first-class integration with actionable cards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52160" y="30449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via webhook to Teams; less rich UX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82880" y="3364992"/>
            <a:ext cx="8778240" cy="347472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47" name="Shape 45"/>
          <p:cNvSpPr/>
          <p:nvPr/>
        </p:nvSpPr>
        <p:spPr>
          <a:xfrm>
            <a:off x="2606040" y="3364992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60720" y="3364992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4198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Collection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697480" y="341985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via connectors; depends on existing tools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52160" y="34198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collectors for SNMP, WMI, Prometheus, Syslog, etc.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82880" y="3739896"/>
            <a:ext cx="8778240" cy="347472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53" name="Shape 51"/>
          <p:cNvSpPr/>
          <p:nvPr/>
        </p:nvSpPr>
        <p:spPr>
          <a:xfrm>
            <a:off x="2606040" y="3739896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60720" y="3739896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7947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Complexity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697480" y="37947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Low-code; requires M365 licensing &amp; Azure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852160" y="37947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collectors; requires LM platform subscription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82880" y="4114800"/>
            <a:ext cx="8778240" cy="347472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59" name="Shape 57"/>
          <p:cNvSpPr/>
          <p:nvPr/>
        </p:nvSpPr>
        <p:spPr>
          <a:xfrm>
            <a:off x="2606040" y="4114800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0720" y="4114800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16966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697480" y="416966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with Azure ML integration + custom models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852160" y="41696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predictive alerting and trend forecasting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82880" y="4489704"/>
            <a:ext cx="8778240" cy="347472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65" name="Shape 63"/>
          <p:cNvSpPr/>
          <p:nvPr/>
        </p:nvSpPr>
        <p:spPr>
          <a:xfrm>
            <a:off x="2606040" y="4489704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760720" y="4489704"/>
            <a:ext cx="0" cy="34747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5445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697480" y="454456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Teams-first workflows, NL querying, ITSM automation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852160" y="45445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monitoring, AIOps intelligence, alert mgmt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1" name="Text 69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 | Copilot Studio &amp; Edwin AI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OPTIONS — INDIVIDUAL OR COMBINED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2834640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41248"/>
            <a:ext cx="283464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50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Edwin AI Only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14081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682496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AIOps — best-in-class alert correlation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time to value for infrastructure monitoring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collectors replace / augment SolarWinds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ServiceNow integration with AI enrichment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integration complexity vs. Copilot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907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31821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conversational UI (no native Teams agent)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M365 ecosystem synergy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 capabilities are nascent vs. Copilot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4005072"/>
            <a:ext cx="2651760" cy="594360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404164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Organisations prioritising infrastructure observability, alert noise reduction, and AIOps intelligence first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182112" y="841248"/>
            <a:ext cx="2834640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841248"/>
            <a:ext cx="2834640" cy="73152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15" name="Text 13"/>
          <p:cNvSpPr/>
          <p:nvPr/>
        </p:nvSpPr>
        <p:spPr>
          <a:xfrm>
            <a:off x="3273552" y="950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2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Copilot Studio Only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73552" y="14081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73552" y="1682496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Microsoft Teams / M365 integration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Low-code: rapid build of IT ops agents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querying of existing tools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existing Azure / M365 licensing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73552" y="2907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73552" y="31821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monitoring — fully dependent on source tools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anomaly detection or dynamic baselining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 reduction requires manual rule engineering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73552" y="4005072"/>
            <a:ext cx="2651760" cy="594360"/>
          </a:xfrm>
          <a:prstGeom prst="rect">
            <a:avLst/>
          </a:prstGeom>
          <a:solidFill>
            <a:srgbClr val="6B2FBF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19272" y="404164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Organisations already invested in M365, needing IT workflow automation and self-service ops via Teams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181344" y="841248"/>
            <a:ext cx="2834640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841248"/>
            <a:ext cx="2834640" cy="731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950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C: Combined (Recommended)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72784" y="14081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72784" y="1682496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 provides intelligence layer: correlation, RCA, anomaly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provides action layer: agents, Teams, runbooks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Best-of-breed AIOps + best-of-breed conversational AI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enriches ServiceNow; Copilot acts on enriched tickets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72784" y="2907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72784" y="31821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investment (two platforms + licensing)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complexity requires planning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model needed for AI-driven actions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72784" y="4005072"/>
            <a:ext cx="2651760" cy="594360"/>
          </a:xfrm>
          <a:prstGeom prst="rect">
            <a:avLst/>
          </a:prstGeom>
          <a:solidFill>
            <a:srgbClr val="00897B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318504" y="404164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Full AI ITOps transformation: intelligent detection, automated response, and natural language operations in one ecosystem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 | Copilot Studio &amp; Edwin AI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BENEFITS &amp; OPERATIONAL KPIs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1965960" cy="16916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1965960" cy="6400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80–90%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 Reduction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 ML correlation vs. raw alerts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841248"/>
            <a:ext cx="1965960" cy="16916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841248"/>
            <a:ext cx="1965960" cy="6400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60%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50592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Resolve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42032" y="20299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root cause + automated ITSM workflows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841248"/>
            <a:ext cx="1965960" cy="16916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841248"/>
            <a:ext cx="1965960" cy="6400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3–5×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26864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Productivity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18304" y="20299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ops via Copilot vs. manual portal navigation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841248"/>
            <a:ext cx="1965960" cy="16916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841248"/>
            <a:ext cx="1965960" cy="64008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40%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03136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P1/P2 Incident Rate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94576" y="20299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alerting prevents outages proactively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743200"/>
            <a:ext cx="4206240" cy="86868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743200"/>
            <a:ext cx="64008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816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Observability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telemetry from 8 tools into single AI-enriched view; break down silos between network, app, DB, security teams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743200"/>
            <a:ext cx="4206240" cy="86868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743200"/>
            <a:ext cx="64008" cy="868680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816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of AI-driven actions, automated ITSM documentation; supports ISO 27001, SOC2 evidence collection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3749040"/>
            <a:ext cx="4206240" cy="86868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749040"/>
            <a:ext cx="64008" cy="8686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Retention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114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captures tribal knowledge in reusable agents; runbooks encoded as conversational workflows, not docs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749040"/>
            <a:ext cx="4206240" cy="86868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749040"/>
            <a:ext cx="64008" cy="8686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822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Avoidance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00600" y="4114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alerting and faster MTTR reduce business impact; potential reduction in on-call escalations and overtime cost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 | Copilot Studio &amp; Edwin AI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DEPENDENCIES &amp; CONSIDERATIONS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50392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50392"/>
            <a:ext cx="4206240" cy="9144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987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Coverage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98755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FF1744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987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3075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 and Copilot are only as good as the telemetry fed into them. Gaps in Prometheus exporters, missing SNMP OIDs, or poor Splunk index hygiene will degrade AI accuracy.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" y="17647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Conduct a telemetry coverage audit before deployment. Define minimum data quality standards per tool.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850392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50392"/>
            <a:ext cx="4206240" cy="9144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3" name="Text 11"/>
          <p:cNvSpPr/>
          <p:nvPr/>
        </p:nvSpPr>
        <p:spPr>
          <a:xfrm>
            <a:off x="4773168" y="987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Action Governance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0" y="98755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FF1744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987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73168" y="13075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runbook execution via Copilot or Edwin-triggered ServiceNow changes carry risk of incorrect actions on production systems.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17647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Implement approval gates for high-impact actions. Start in read-only/advisory mode; expand automation gradually.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267712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267712"/>
            <a:ext cx="4206240" cy="914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" y="2404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Licensing Requirements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37560" y="240487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FFB300">
              <a:alpha val="2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" y="27249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requires Microsoft 365 licensing plus Copilot Studio addon. Teams-based agent features may require Copilot for M365 license.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" y="31821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Validate current M365 plan entitlements. Identify licensing gaps and model TCO before committing to Copilot Studio.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267712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267712"/>
            <a:ext cx="4206240" cy="914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2404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Proliferation &amp; Overlap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0" y="240487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FFB300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2404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73168" y="27249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Edwin AI alongside SolarWinds creates potential duplication of monitoring coverage, dual alert streams, and additional tool management overhead.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31821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Define clear scope for LM Edwin AI. Plan phased migration or consolidation of SolarWinds where Edwin native collection is superior.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685032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685032"/>
            <a:ext cx="4206240" cy="914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Connectivity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337560" y="382219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FFB300">
              <a:alpha val="2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337560" y="38221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8328" y="41422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solutions are cloud-hosted SaaS. LM Collectors and Power Platform connectors require outbound internet from on-prem networks to SaaS endpoints.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8328" y="45994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Review network firewall rules. Validate proxy/SSL inspection policies do not break LM Collector or Power Platform connectivity.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685032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685032"/>
            <a:ext cx="4206240" cy="9144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1" name="Text 39"/>
          <p:cNvSpPr/>
          <p:nvPr/>
        </p:nvSpPr>
        <p:spPr>
          <a:xfrm>
            <a:off x="4773168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772400" y="382219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00C853">
              <a:alpha val="2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0" y="38221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73168" y="41422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staff accustomed to portal-based tools may resist agent-driven workflows. AI recommendations require trust-building before adoption.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73168" y="45994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Pilot with a champion team. Create clear escalation paths; ensure AI suggestions are explainable and auditable.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 | Copilot Studio &amp; Edwin AI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— PHASED APPROACH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2743200" cy="3858768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41248"/>
            <a:ext cx="2743200" cy="914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502920" cy="502920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960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2070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Telemetry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901952"/>
            <a:ext cx="25603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audit: coverage gaps across 8 source tools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LM Collectors for SolarWinds/Prometheus/Syslog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Edwin AI baseline training on infra metrics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ServiceNow integration &amp; ITSM workflows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licensing review for Copilot Studio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841248"/>
            <a:ext cx="2743200" cy="3858768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41248"/>
            <a:ext cx="274320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96012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58768" y="960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58768" y="12070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9184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Intelligence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1901952"/>
            <a:ext cx="25603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Edwin AI alert correlation across all ingested sources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dynamic thresholds for Oracle OEM &amp; Instana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Edwin noise reduction models; target 80%+ reduction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Copilot Studio agent for ServiceNow NL queries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alert notification cards via Copilot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841248"/>
            <a:ext cx="2743200" cy="3858768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841248"/>
            <a:ext cx="2743200" cy="91440"/>
          </a:xfrm>
          <a:prstGeom prst="rect">
            <a:avLst/>
          </a:prstGeom>
          <a:solidFill>
            <a:srgbClr val="6B2FBF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960120"/>
            <a:ext cx="502920" cy="502920"/>
          </a:xfrm>
          <a:prstGeom prst="ellipse">
            <a:avLst/>
          </a:prstGeom>
          <a:solidFill>
            <a:srgbClr val="6B2FBF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30568" y="960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30568" y="12070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15–24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6364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Scale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1901952"/>
            <a:ext cx="25603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Power Automate runbook flows for top 10 incident types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Edwin predictive alerting for capacity/availability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Copilot agents: Splunk, Sentinel NL querying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model: AI action audit trails, approval workflows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measurement: MTTR, alert volume, ticket quality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4645152"/>
            <a:ext cx="8686800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880" y="4590288"/>
            <a:ext cx="201168" cy="201168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154680" y="4590288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4590288"/>
            <a:ext cx="201168" cy="201168"/>
          </a:xfrm>
          <a:prstGeom prst="ellipse">
            <a:avLst/>
          </a:prstGeom>
          <a:solidFill>
            <a:srgbClr val="6B2FBF"/>
          </a:solidFill>
          <a:ln/>
        </p:spPr>
      </p:sp>
      <p:sp>
        <p:nvSpPr>
          <p:cNvPr id="32" name="Shape 30"/>
          <p:cNvSpPr/>
          <p:nvPr/>
        </p:nvSpPr>
        <p:spPr>
          <a:xfrm>
            <a:off x="8750808" y="4590288"/>
            <a:ext cx="201168" cy="201168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 | Copilot Studio &amp; Edwin AI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868680"/>
          </a:xfrm>
          <a:prstGeom prst="rect">
            <a:avLst/>
          </a:prstGeom>
          <a:solidFill>
            <a:srgbClr val="00897B">
              <a:alpha val="2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73152" cy="8686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86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Option C — Combined Edwin AI + Copilot Studio — as the target AI ITOps architecture. Begin with Edwin AI as the AIOps intelligence foundation (Phase 1–2), then layer Copilot Studio as the operations interaction and automation interface (Phase 2–3).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8470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267712"/>
            <a:ext cx="859536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2359152"/>
            <a:ext cx="320040" cy="32004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359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2340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Coverage Audit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569464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monitoring gaps across all 8 tools; prioritise for LM Collector deployment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715000" y="2359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Ops Lead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52360" y="23591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779776"/>
            <a:ext cx="8595360" cy="457200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2871216"/>
            <a:ext cx="320040" cy="32004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871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2852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 PoC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3232" y="308152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LM Collectors in non-prod; validate Edwin AI alert correlation vs. current SolarWinds baseline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715000" y="28712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Team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52360" y="28712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2–6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291840"/>
            <a:ext cx="859536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3383280"/>
            <a:ext cx="320040" cy="32004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Licensing Review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3232" y="3593592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Copilot Studio licensing availability; identify gaps and cost for full deployment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5715000" y="3383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Procurement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52360" y="3383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803904"/>
            <a:ext cx="8595360" cy="457200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3895344"/>
            <a:ext cx="320040" cy="32004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3895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3877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Pilot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13232" y="4105656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first agent: ServiceNow NL query + alert acknowledgement in Teams for a single monitoring domain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5715000" y="38953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Ops &amp; Dev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52360" y="38953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6–10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8" name="Shape 36"/>
          <p:cNvSpPr/>
          <p:nvPr/>
        </p:nvSpPr>
        <p:spPr>
          <a:xfrm>
            <a:off x="320040" y="4407408"/>
            <a:ext cx="320040" cy="32004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4407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13232" y="461772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AI action approval policies, audit logging requirements, and escalation thresholds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5715000" y="4407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+ IT Lead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452360" y="4407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4–8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 | Copilot Studio &amp; Edwin AI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Operations Transformation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Studio  ·  LogicMonitor Edwin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0" y="3017520"/>
            <a:ext cx="3657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  ·  IBM Instana  ·  Prometheus  ·  Oracle OEM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Sentinel  ·  Splunk  ·  Syslog  ·  ServiceNow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IT Strategy &amp; Innovation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IT Operations - Microsoft Copilot Studio &amp; LogicMonitor Edwin AI</dc:title>
  <dc:subject>PptxGenJS Presentation</dc:subject>
  <dc:creator>PptxGenJS</dc:creator>
  <cp:lastModifiedBy>PptxGenJS</cp:lastModifiedBy>
  <cp:revision>1</cp:revision>
  <dcterms:created xsi:type="dcterms:W3CDTF">2026-04-08T23:49:22Z</dcterms:created>
  <dcterms:modified xsi:type="dcterms:W3CDTF">2026-04-08T23:49:22Z</dcterms:modified>
</cp:coreProperties>
</file>