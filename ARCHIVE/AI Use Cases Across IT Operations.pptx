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018407"/>
            <a:ext cx="2478881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2418457"/>
            <a:ext cx="11706225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AI Use Cases Across </a:t>
            </a:r>
            <a:r>
              <a:t>
</a:t>
            </a:r>
            <a:r>
              <a:rPr b="1" sz="4200" i="0" u="none">
                <a:solidFill>
                  <a:srgbClr val="38BDF8"/>
                </a:solidFill>
                <a:latin typeface="Plus Jakarta Sans"/>
              </a:rPr>
              <a:t>IT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3925192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From Assistive Automation to Controlled Autonomous Operations in Regulated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0880" y="4687192"/>
            <a:ext cx="966534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+Sans"/>
              </a:rPr>
              <a:t> Governance First</a:t>
            </a:r>
            <a:r>
              <a:rPr b="0" sz="1050" i="0" u="none">
                <a:solidFill>
                  <a:srgbClr val="64748B"/>
                </a:solidFill>
                <a:latin typeface="Plus Jakarta+Sans"/>
              </a:rPr>
              <a:t> </a:t>
            </a:r>
            <a:r>
              <a:rPr b="0" sz="1050" i="0" u="none">
                <a:solidFill>
                  <a:srgbClr val="64748B"/>
                </a:solidFill>
                <a:latin typeface="Plus Jakarta+Sans"/>
              </a:rPr>
              <a:t> Quantifiable ROI</a:t>
            </a:r>
            <a:r>
              <a:rPr b="0" sz="1050" i="0" u="none">
                <a:solidFill>
                  <a:srgbClr val="64748B"/>
                </a:solidFill>
                <a:latin typeface="Plus Jakarta+Sans"/>
              </a:rPr>
              <a:t> </a:t>
            </a:r>
            <a:r>
              <a:rPr b="0" sz="1050" i="0" u="none">
                <a:solidFill>
                  <a:srgbClr val="64748B"/>
                </a:solidFill>
                <a:latin typeface="Plus Jakarta+Sans"/>
              </a:rPr>
              <a:t> Human-in-the-Loop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696717"/>
            <a:ext cx="13335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880" y="4696717"/>
            <a:ext cx="13335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075" y="4696717"/>
            <a:ext cx="1714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371725"/>
            <a:ext cx="3581400" cy="25431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371725"/>
            <a:ext cx="3581400" cy="2543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2371725"/>
            <a:ext cx="3581400" cy="2543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2619375"/>
            <a:ext cx="882848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950" y="2619375"/>
            <a:ext cx="93151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475" y="2619375"/>
            <a:ext cx="95250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Executive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2943225"/>
            <a:ext cx="324040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Why AI in IT 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3448050"/>
            <a:ext cx="30861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Escalating ticket volumes, alert fatigue, and strict SLA demands require shifting from manual triage to intelligent automation.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2950" y="2943225"/>
            <a:ext cx="324040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Key Value Themes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475" y="2943225"/>
            <a:ext cx="324040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Regulated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2475" y="3448050"/>
            <a:ext cx="30861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Balancing efficiency gains with rigorous audit trails, role-based controls, and mandatory human approval gates for production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1550" y="32956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Faster incident triage &amp; MTTR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1550" y="36385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Reduced L1 manual 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1550" y="39814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Stronger compliance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1550" y="43243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Enhanced alert noise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950" y="329565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2950" y="363855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2950" y="398145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950" y="432435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785937"/>
            <a:ext cx="3581400" cy="3714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1785937"/>
            <a:ext cx="3581400" cy="3714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1785937"/>
            <a:ext cx="3581400" cy="3714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AI Adoption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Framework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2062162"/>
            <a:ext cx="546199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2386012"/>
            <a:ext cx="324040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Assistive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2890837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Focus: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Content generation, summarization, and advisory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3767137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Risk Profile: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4414837"/>
            <a:ext cx="3086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Examples: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Ticket summarization, knowledge article drafting, log analysis assistance.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950" y="2062162"/>
            <a:ext cx="546199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2950" y="2386012"/>
            <a:ext cx="324040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Semi-Autonomous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2950" y="2890837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Focus: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Workflow execution with mandatory human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2950" y="3767137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Risk Profile: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950" y="4414837"/>
            <a:ext cx="3086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Examples: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Vulnerability patch packet generation, auto-routing, draft runbook execution.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475" y="2062162"/>
            <a:ext cx="546199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72475" y="2386012"/>
            <a:ext cx="324040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Controlled Autonomous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2475" y="2890837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Focus: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Closed-loop automated remediation under strict policies.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2475" y="3767137"/>
            <a:ext cx="3086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Risk Profile: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475" y="4414837"/>
            <a:ext cx="3086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Examples: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Automated scaling, self-healing endpoints, alert suppression with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200275"/>
            <a:ext cx="5419725" cy="2886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00275"/>
            <a:ext cx="5419725" cy="2886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447925"/>
            <a:ext cx="1741884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447925"/>
            <a:ext cx="1856184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Cross-Functional Workflow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771775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Linear &amp; Siloed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771775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Intelligent &amp; Integrated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124200"/>
            <a:ext cx="469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Manual intake and reactive L1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467100"/>
            <a:ext cx="469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Prolonged manual investigation &amp; log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810000"/>
            <a:ext cx="469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Siloed communication across support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152900"/>
            <a:ext cx="469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Fragmented documentation and audit gathering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495800"/>
            <a:ext cx="469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High MTTR and recurring human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3124200"/>
            <a:ext cx="469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AI automated intake, classification &amp;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3467100"/>
            <a:ext cx="469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Instant knowledge retrieval &amp; RCA 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3810000"/>
            <a:ext cx="469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Automated action execution where approved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4152900"/>
            <a:ext cx="469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Real-time audit logging &amp; compliance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4495800"/>
            <a:ext cx="469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Continuous feedback loop &amp; model 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31242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34671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38100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425" y="41529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" y="44958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1242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4150" y="34671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4150" y="38100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150" y="41529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4150" y="4495800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962150"/>
            <a:ext cx="5419725" cy="3362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2150"/>
            <a:ext cx="5419725" cy="3362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Domain Focus: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Service &amp; Desktop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" y="2209800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Service Desk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27146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Use Cases: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Virtual agents for L1, smart ticket classification, major incident drafting.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5909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Solution: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ITSM Copilot (e.g., ServiceNow Now Assist, Microsoft Copilot Studio).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4672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Cost &amp; KPI: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Medium cost impact; 30-40% reduction in L1 manual effort, faster resolution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209800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Desktop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7146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Use Cases: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Endpoint anomaly detection, guided troubleshooting, self-heal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590925"/>
            <a:ext cx="49244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Solution: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Endpoint Analytics platform with AI remediation.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42386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Cost &amp; KPI: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Lower ticket recurrence, improved Digital Employee Experience (DEX)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962150"/>
            <a:ext cx="5419725" cy="3362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2150"/>
            <a:ext cx="5419725" cy="3362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Domain Focus: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Wintel &amp; Linux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" y="2209800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Wintel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27146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Use Cases: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Windows event log summarization, AD/DNS diagnostics, runbook remediation.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5909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Solution: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Infrastructure Copilot integrated with Microsoft ecosystem.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4672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Risks &amp; Controls: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Active directory changes require mandatory approval gates and audit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209800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Linux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7146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Use Cases: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Syslog analysis, capacity anomaly detection, patch advisory summarization.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590925"/>
            <a:ext cx="49244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Solution: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AIOps platform &amp; Observability assistant.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42386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Risks &amp; Controls: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Shell script execution restricted via policy guardrails and sandboxed previews.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076450"/>
            <a:ext cx="5419725" cy="31337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76450"/>
            <a:ext cx="5419725" cy="3133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Domain Focus: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Database &amp; Network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" y="2324100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Database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28289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Use Cases: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SQL performance anomaly detection, root-cause recommendation, backup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05225"/>
            <a:ext cx="49244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Solution: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DBA Copilot &amp; Database Observability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3529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Cost &amp; KPI: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Faster query optimization, minimized downtime during peak loads.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324100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Network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8289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Use Cases: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Alert correlation, noise reduction, config drift insight, change-risk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705225"/>
            <a:ext cx="49244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Solution: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Network AIOps &amp; NOC Copilot.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43529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Cost &amp; KPI: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Up to 70% reduction in alert noise; faster root-cause identification.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962150"/>
            <a:ext cx="5419725" cy="3362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2150"/>
            <a:ext cx="5419725" cy="3362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Domain Focus: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Vulnerability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" y="2209800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Vulnerability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27146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Use Cases: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Risk-based prioritization, asset criticality correlation, patch wave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5909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Solution: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Exposure Management Platform with AI (e.g., Tenable, ServiceNow SecOps).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4672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Cost &amp; KPI: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Reduced exposure window for critical CVEs, optimized remediation planning.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209800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Audit and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7146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Use Cases: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Control evidence mapping, automated audit trails, continuous compliance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590925"/>
            <a:ext cx="49244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Solution: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GRC Copilot &amp; Evidence Automation Assistant.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4238625"/>
            <a:ext cx="4924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Cost &amp; KPI: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Significant reduction in audit preparation effort and manual sampling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033587"/>
            <a:ext cx="11220450" cy="32194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281237"/>
            <a:ext cx="1371748" cy="209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Domain Focus: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Documentation &amp;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" y="2605087"/>
            <a:ext cx="1126140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Automating IT Documentation &amp; Postmortems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252787"/>
            <a:ext cx="51720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Use Cases: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252787"/>
            <a:ext cx="51720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Solution &amp; Governance: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633787"/>
            <a:ext cx="4943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Knowledge article generation from resolved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976687"/>
            <a:ext cx="4943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SOP drafting and policy review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319587"/>
            <a:ext cx="4943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Automated RCA &amp; postmortem 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662487"/>
            <a:ext cx="4943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Operational handover documentation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633787"/>
            <a:ext cx="4943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Enterprise knowledge copilot with approval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976687"/>
            <a:ext cx="49434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Strict permissioning to prevent sensitive data leakage in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548187"/>
            <a:ext cx="4943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Human review before publishing knowledge base articles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3633787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3976687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4319587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" y="4662487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3633787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3976687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4548187"/>
            <a:ext cx="15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8BDF8"/>
                </a:solidFill>
                <a:latin typeface="Plus Jakarta Sans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Cost Impact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5775" y="2421731"/>
            <a:ext cx="11220450" cy="2443162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5775" y="2421731"/>
          <a:ext cx="11220448" cy="2443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49996"/>
                <a:gridCol w="1688008"/>
                <a:gridCol w="3431083"/>
                <a:gridCol w="2283767"/>
                <a:gridCol w="1467594"/>
              </a:tblGrid>
              <a:tr h="48863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Workstream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AI Solution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Potential Savings Driver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Investment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ROI Horizon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8863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Service Desk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ITSM Copilot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Reduced L1 effort, faster MTTR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3–6 Months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63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Network &amp; Infrastructure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AIOps Platform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Lower alert noise, reduced escalations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6–12 Months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63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Vulnerability Mgmt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Exposure 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Optimized patching, reduced backlog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6–12 Months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634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Audit &amp; Compliance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GRC Copilot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Lower audit prep effort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12–18 Months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85775" y="2897981"/>
            <a:ext cx="23499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5771" y="2897981"/>
            <a:ext cx="16880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23779" y="2897981"/>
            <a:ext cx="34310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4863" y="2897981"/>
            <a:ext cx="22837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38630" y="2897981"/>
            <a:ext cx="14675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5775" y="3388518"/>
            <a:ext cx="23499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5771" y="3388518"/>
            <a:ext cx="16880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3779" y="3388518"/>
            <a:ext cx="34310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4863" y="3388518"/>
            <a:ext cx="22837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38630" y="3388518"/>
            <a:ext cx="14675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5775" y="3879056"/>
            <a:ext cx="23499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5771" y="3879056"/>
            <a:ext cx="16880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3779" y="3879056"/>
            <a:ext cx="34310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4863" y="3879056"/>
            <a:ext cx="22837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38630" y="3879056"/>
            <a:ext cx="14675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5775" y="4369593"/>
            <a:ext cx="23499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35771" y="4369593"/>
            <a:ext cx="16880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3779" y="4369593"/>
            <a:ext cx="34310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4863" y="4369593"/>
            <a:ext cx="22837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38630" y="4369593"/>
            <a:ext cx="14675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495550"/>
            <a:ext cx="2662237" cy="2295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12" y="2495550"/>
            <a:ext cx="2662237" cy="2295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495550"/>
            <a:ext cx="2662237" cy="2295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987" y="2495550"/>
            <a:ext cx="2662237" cy="2295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Governance &amp; Risk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743200"/>
            <a:ext cx="227528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Approval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3248025"/>
            <a:ext cx="216693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Mandatory human-in-the-loop checkpoints for all production changes, access grants, and patching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6162" y="2743200"/>
            <a:ext cx="227528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Data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6162" y="3248025"/>
            <a:ext cx="216693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Rigorous data residency reviews, tenant isolation, and prompt/data filtering to prevent PII/credential leaks.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2743200"/>
            <a:ext cx="227528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Auditability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248025"/>
            <a:ext cx="216693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End-to-end logging of model inputs, generated recommendations, user approvals, and downstream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1637" y="2743200"/>
            <a:ext cx="227528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Model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1637" y="3248025"/>
            <a:ext cx="216693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Continuous testing against prompt injection, hallucination tracking, and drift 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447925"/>
            <a:ext cx="3581400" cy="23907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447925"/>
            <a:ext cx="3581400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825" y="2447925"/>
            <a:ext cx="3581400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695575"/>
            <a:ext cx="1486048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950" y="2695575"/>
            <a:ext cx="679698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475" y="2695575"/>
            <a:ext cx="679698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485775"/>
            <a:ext cx="117062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Implementation </a:t>
            </a:r>
            <a:r>
              <a:rPr b="1" sz="2700" i="0" u="none">
                <a:solidFill>
                  <a:srgbClr val="38BDF8"/>
                </a:solidFill>
                <a:latin typeface="Plus Jakarta Sans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3019425"/>
            <a:ext cx="324040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Assistive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3524250"/>
            <a:ext cx="30861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Deploy Service Desk ticket summarization, knowledge auto-generation, and audit evidence mapping. Focus on low-risk productivity.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2950" y="3019425"/>
            <a:ext cx="324040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Workflow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950" y="3524250"/>
            <a:ext cx="30861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Integrate AIOps alert correlation, vulnerability prioritization, and runbook recommendation with human approval gates.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2475" y="3019425"/>
            <a:ext cx="324040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Controlled Autonomous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524250"/>
            <a:ext cx="3086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Expand to closed-loop auto-remediation for non-critical assets under strict policy governance and continuous auditing.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