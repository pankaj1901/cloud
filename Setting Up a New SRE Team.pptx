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Space Grotesk"/>
      <ns0:bold ns1:id="rIdFont17"/>
    </ns0:embeddedFont>
    <ns0:embeddedFont>
      <ns0:font typeface="Inter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c1e2d670-8c93-4ab0-890d-19aba387ca44.fntdata" /><ns0:Relationship Id="rIdFont18" Type="http://schemas.openxmlformats.org/officeDocument/2006/relationships/font" Target="fonts/6c74746e-6910-4035-995f-827c269a1d7a.fntdata" /><ns0:Relationship Id="rIdFont19" Type="http://schemas.openxmlformats.org/officeDocument/2006/relationships/font" Target="fonts/676f1ada-92e8-47ae-a656-af495cdd6ff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199483"/>
            <a:ext cx="7620000" cy="590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199483"/>
            <a:ext cx="7620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95525" y="4437608"/>
            <a:ext cx="2781300" cy="352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95525" y="4437608"/>
            <a:ext cx="9525" cy="3524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67817"/>
            <a:ext cx="25717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486917"/>
            <a:ext cx="11251406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Space Grotesk"/>
              </a:rPr>
              <a:t>Establishing the New SRE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246983"/>
            <a:ext cx="6762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Operational Blueprint across Server, Network, Cloud, and Middleware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2082105"/>
            <a:ext cx="4953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Space Grotesk"/>
              </a:rPr>
              <a:t>INFRASTRUCTURE OPERATIONS &amp; 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437608"/>
            <a:ext cx="1821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99533"/>
            <a:ext cx="1821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Inter"/>
              </a:rPr>
              <a:t>Full-Stack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3650" y="4437608"/>
            <a:ext cx="3178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3650" y="4599533"/>
            <a:ext cx="31789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Inter"/>
              </a:rPr>
              <a:t>Zero Manual Toil &amp; 99.99% Uptime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19375"/>
            <a:ext cx="3505200" cy="2552700"/>
          </a:xfrm>
          <a:prstGeom prst="roundRect">
            <a:avLst>
              <a:gd name="adj" fmla="val 44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33675"/>
            <a:ext cx="3505200" cy="232410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33675"/>
            <a:ext cx="3505200" cy="232410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337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0480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0480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62" y="3057525"/>
            <a:ext cx="1619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1550" y="3171825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6775" y="3171825"/>
            <a:ext cx="26670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FOUNDATION &amp; 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Pre-Requisites Before Launching SRE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581400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Executive Buy-In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94335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Leadership must mandate engineering velocity over pure firefighting and accept initial slow-down for long-term stability.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695700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Baseline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05765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Basic server, network, and app metrics must exist. SREs cannot govern systems with zero telemetry visibility.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695700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Cultural Alignment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05765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Shift from punitive root-cause blame to Blameless Post-Mortems and shared accountability between Dev and 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47975"/>
            <a:ext cx="2600325" cy="2095500"/>
          </a:xfrm>
          <a:prstGeom prst="roundRect">
            <a:avLst>
              <a:gd name="adj" fmla="val 54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847975"/>
            <a:ext cx="2600325" cy="2095500"/>
          </a:xfrm>
          <a:prstGeom prst="roundRect">
            <a:avLst>
              <a:gd name="adj" fmla="val 54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847975"/>
            <a:ext cx="2600325" cy="2095500"/>
          </a:xfrm>
          <a:prstGeom prst="roundRect">
            <a:avLst>
              <a:gd name="adj" fmla="val 54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847975"/>
            <a:ext cx="2600325" cy="2095500"/>
          </a:xfrm>
          <a:prstGeom prst="roundRect">
            <a:avLst>
              <a:gd name="adj" fmla="val 54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847975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00425" y="2847975"/>
            <a:ext cx="2600325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0" y="2847975"/>
            <a:ext cx="2600325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82075" y="2847975"/>
            <a:ext cx="2600325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71825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5" y="3171825"/>
            <a:ext cx="2857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3171825"/>
            <a:ext cx="28575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0675" y="3171825"/>
            <a:ext cx="25717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SCOPE OF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The Four Infrastructure Towers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581400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Server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876675"/>
            <a:ext cx="223837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Linux/Windows OS patching, kernel tuning, hypervisor health, and bare-metal lifecycle automation.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9025" y="3581400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Network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9025" y="3876675"/>
            <a:ext cx="223837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SDN, load balancers, DNS resolution, firewalls, and inter-datacenter circuit latency tracking.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3581400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Cloud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3876675"/>
            <a:ext cx="223837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Multi-cloud IAM policies, Kubernetes clusters, auto-scaling groups, and finops cloud cost efficiency.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0675" y="3581400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Middleware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0675" y="3876675"/>
            <a:ext cx="223837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Kafka message brokers, Redis caches, API gateways, enterprise service buses, and relational databases.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43212"/>
            <a:ext cx="3505200" cy="2105025"/>
          </a:xfrm>
          <a:prstGeom prst="roundRect">
            <a:avLst>
              <a:gd name="adj" fmla="val 54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43212"/>
            <a:ext cx="3505200" cy="2105025"/>
          </a:xfrm>
          <a:prstGeom prst="roundRect">
            <a:avLst>
              <a:gd name="adj" fmla="val 54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43212"/>
            <a:ext cx="3505200" cy="2105025"/>
          </a:xfrm>
          <a:prstGeom prst="roundRect">
            <a:avLst>
              <a:gd name="adj" fmla="val 54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" y="4329112"/>
            <a:ext cx="1743075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57725" y="4329112"/>
            <a:ext cx="1971675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91525" y="4329112"/>
            <a:ext cx="1733550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TOOLCHAIN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Core SRE Tool 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157537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Observability &amp;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490912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Prometheus, Grafana, Datadog, OpenTelemetry for unified metrics, logs, and distributed traces.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4405312"/>
            <a:ext cx="16097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Inter"/>
              </a:rPr>
              <a:t>Foundation of SLIs / SLOs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157537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Automation &amp; IaC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725" y="3490912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Terraform, Ansible, ArgoCD to eliminate manual provisioning and enforce immutable infrastructure state.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2025" y="4405312"/>
            <a:ext cx="1838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Inter"/>
              </a:rPr>
              <a:t>Eliminates Configuration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3157537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Incident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490912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PagerDuty, ServiceNow, Incident.io for automated alert routing, on-call schedules, and post-mortems.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5825" y="4405312"/>
            <a:ext cx="1600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369A1"/>
                </a:solidFill>
                <a:latin typeface="Inter"/>
              </a:rPr>
              <a:t>Minimizes MTTD &amp; MTTR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695575"/>
          <a:ext cx="10972797" cy="22479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54088"/>
                <a:gridCol w="1919733"/>
                <a:gridCol w="3693318"/>
                <a:gridCol w="3605658"/>
              </a:tblGrid>
              <a:tr h="4495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Space Grotesk"/>
                        </a:rPr>
                        <a:t>Tool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Space Grotesk"/>
                        </a:rPr>
                        <a:t>Primary 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Space Grotesk"/>
                        </a:rPr>
                        <a:t>Strengths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Space Grotesk"/>
                        </a:rPr>
                        <a:t>Trade-offs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Datadog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Full-Stack Observability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700+ integrations, superior APM, instant value.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High ingestion cost at scale.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Grafana LGTM Stack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Metrics, Logs, Traces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Open-source freedom, ultra-flexible dashboards.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Requires significant cluster maintenance.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Terraform &amp; Ansible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Provisioning &amp; Config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Industry standard, robust provider ecosystem.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Not designed for live incident response.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Inter"/>
                        </a:rPr>
                        <a:t>PagerDuty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Incident Routing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Flawless on-call rotations, mobile app alerting.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Strictly alert router; requires telemetry sources.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COMPARATIVE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66750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SRE Tooling Feature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66975"/>
            <a:ext cx="5372100" cy="131445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466975"/>
            <a:ext cx="5372100" cy="131445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10025"/>
            <a:ext cx="5372100" cy="131445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010025"/>
            <a:ext cx="5372100" cy="1314450"/>
          </a:xfrm>
          <a:prstGeom prst="roundRect">
            <a:avLst>
              <a:gd name="adj" fmla="val 8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733675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733675"/>
            <a:ext cx="219075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276725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4276725"/>
            <a:ext cx="19050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MAPPING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Tool Alignment per Infrastructure Tower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705100"/>
            <a:ext cx="6425803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Server Systems Tower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000375"/>
            <a:ext cx="49911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Tools: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Ansible, Prometheus Node Exporter, Datadog Infra Agent.</a:t>
            </a:r>
            <a:r>
              <a:t>
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Focus: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OS patch automation, kernel metrics, resource exhaustion tracking.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2705100"/>
            <a:ext cx="5743575" cy="219075"/>
          </a:xfrm>
          <a:prstGeom prst="rect">
            <a:avLst/>
          </a:prstGeom>
          <a:noFill/>
        </p:spPr>
        <p:txBody>
          <a:bodyPr wrap="none" lIns="29527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Network Operations Tower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000375"/>
            <a:ext cx="49911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Tools: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Kentik, ThousandEyes, Prometheus SNMP Exporter.</a:t>
            </a:r>
            <a:r>
              <a:t>
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Focus: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Packet loss, DNS propagation, bandwidth saturation, circuit latency.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248150"/>
            <a:ext cx="6425803" cy="219075"/>
          </a:xfrm>
          <a:prstGeom prst="rect">
            <a:avLst/>
          </a:prstGeom>
          <a:noFill/>
        </p:spPr>
        <p:txBody>
          <a:bodyPr wrap="none" lIns="29527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Cloud Infrastructure Tower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543425"/>
            <a:ext cx="49911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Tools: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Terraform, AWS CloudWatch, Azure Monitor, Kube-state-metrics.</a:t>
            </a:r>
            <a:r>
              <a:t>
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Focus: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Immutable provisioning, cloud cost governance, K8s cluster health.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4248150"/>
            <a:ext cx="5743575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Middleware Systems Tower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4543425"/>
            <a:ext cx="49911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Inter"/>
              </a:rPr>
              <a:t>Tools: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Jaeger Tracing, Redis Exporter, Kafka Exporter, New Relic APM.</a:t>
            </a:r>
            <a:r>
              <a:t>
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Focus: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Message queue lag, database connection pooling, distributed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19375"/>
            <a:ext cx="3505200" cy="2552700"/>
          </a:xfrm>
          <a:prstGeom prst="roundRect">
            <a:avLst>
              <a:gd name="adj" fmla="val 44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33675"/>
            <a:ext cx="3505200" cy="232410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19375"/>
            <a:ext cx="3505200" cy="2552700"/>
          </a:xfrm>
          <a:prstGeom prst="roundRect">
            <a:avLst>
              <a:gd name="adj" fmla="val 44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337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0480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9337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3057525"/>
            <a:ext cx="2667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7262" y="3171825"/>
            <a:ext cx="2381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6775" y="3057525"/>
            <a:ext cx="26670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TALENT ACQUISITION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SRE Candidate Skill Set: Core Competencies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581400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Software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94335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Proficiency in Python, Go, or Bash. Ability to write automation scripts, tools, and operators rather than manual ops.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695700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Systems &amp; Kernel Internals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05765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Deep Linux kernel understanding, TCP/IP networking stacks, DNS resolution, and low-level debugging.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581400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Cloud &amp; Containerization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94335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Kubernetes administration, Docker containers, Terraform state management, and multi-cloud architectures.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33675"/>
            <a:ext cx="3505200" cy="232410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19375"/>
            <a:ext cx="3505200" cy="2552700"/>
          </a:xfrm>
          <a:prstGeom prst="roundRect">
            <a:avLst>
              <a:gd name="adj" fmla="val 44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33675"/>
            <a:ext cx="3505200" cy="232410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480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9337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0480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3171825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975" y="3057525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6775" y="3171825"/>
            <a:ext cx="26670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CULTURAL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SRE Candidate Skill Set: Mindset &amp; Attributes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695700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Root-Cause Curiosity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05765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Not satisfied with quick patches; digs deep into systemic failures to prevent recurrence permanently.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581400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Blameless Post-Mortems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94335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Focuses on process and tool vulnerabilities during post-incident analysis rather than individual human error.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695700"/>
            <a:ext cx="377547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Automate Everything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05765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Driven by a 50% rule: spends at least half of time on software engineering to eliminate manual operational toil.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9887"/>
            <a:ext cx="2600325" cy="1971675"/>
          </a:xfrm>
          <a:prstGeom prst="roundRect">
            <a:avLst>
              <a:gd name="adj" fmla="val 5797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909887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2909887"/>
            <a:ext cx="2600325" cy="1971675"/>
          </a:xfrm>
          <a:prstGeom prst="roundRect">
            <a:avLst>
              <a:gd name="adj" fmla="val 5797"/>
            </a:avLst>
          </a:prstGeom>
          <a:solidFill>
            <a:srgbClr val="F8FAFC"/>
          </a:solidFill>
          <a:ln w="381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00425" y="2909887"/>
            <a:ext cx="2600325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3009900"/>
            <a:ext cx="2600325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1250" y="3009900"/>
            <a:ext cx="2600325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82075" y="2909887"/>
            <a:ext cx="2600325" cy="1971675"/>
          </a:xfrm>
          <a:prstGeom prst="roundRect">
            <a:avLst>
              <a:gd name="adj" fmla="val 5797"/>
            </a:avLst>
          </a:prstGeom>
          <a:solidFill>
            <a:srgbClr val="F8FAFC"/>
          </a:solidFill>
          <a:ln w="381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82075" y="2909887"/>
            <a:ext cx="2600325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EXECUTION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Phased SRE Team Rollout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176587"/>
            <a:ext cx="2238375" cy="1438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9025" y="3176587"/>
            <a:ext cx="2238375" cy="1438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Inter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850" y="3276600"/>
            <a:ext cx="2238375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Inter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0675" y="3176587"/>
            <a:ext cx="2238375" cy="1438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C3AED"/>
                </a:solidFill>
                <a:latin typeface="Inter"/>
              </a:rPr>
              <a:t>Phase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481387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Visibility &amp;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814762"/>
            <a:ext cx="223837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Deploy unified monitoring across server, network, and middleware towers. Establish initial SLIs.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9025" y="3481387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SLOs &amp; Incident 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9025" y="3814762"/>
            <a:ext cx="223837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Define strict SLO error budgets, integrate PagerDuty on-call rotations, and conduct post-mortems.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3581400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Toil Reduction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3914775"/>
            <a:ext cx="22383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Implement Terraform &amp; Ansible automation. Replace manual runbook executions with code.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0675" y="3481387"/>
            <a:ext cx="28128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Resiliency &amp; Chaos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0675" y="3814762"/>
            <a:ext cx="223837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Introduce chaos engineering experiments to test cloud and middleware failover resilience under load.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2837" y="4433887"/>
            <a:ext cx="2333625" cy="438150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38862" y="4433887"/>
            <a:ext cx="2400300" cy="438150"/>
          </a:xfrm>
          <a:prstGeom prst="roundRect">
            <a:avLst>
              <a:gd name="adj" fmla="val 1739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85962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38362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33042" y="2824162"/>
            <a:ext cx="7325915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Space Grotesk"/>
              </a:rPr>
              <a:t>Ready to Build 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4125" y="3557587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Questions &amp; Discussion on SRE Team Setup and Tower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9734" y="4548187"/>
            <a:ext cx="2459831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1F5F9"/>
                </a:solidFill>
                <a:latin typeface="Inter"/>
              </a:rPr>
              <a:t>Infrastructure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7425" y="4548187"/>
            <a:ext cx="254317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1F5F9"/>
                </a:solidFill>
                <a:latin typeface="Inter"/>
              </a:rPr>
              <a:t>Site Reliability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