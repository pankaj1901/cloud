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3" r:id="rId5"/>
    <p:sldId id="265" r:id="rId6"/>
    <p:sldId id="270" r:id="rId7"/>
    <p:sldId id="272" r:id="rId8"/>
    <p:sldId id="274" r:id="rId9"/>
    <p:sldId id="276" r:id="rId10"/>
    <p:sldId id="278" r:id="rId11"/>
    <p:sldId id="279" r:id="rId12"/>
    <p:sldId id="281" r:id="rId13"/>
    <p:sldId id="283" r:id="rId14"/>
    <p:sldId id="284" r:id="rId15"/>
    <p:sldId id="286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4" d="100"/>
          <a:sy n="104" d="100"/>
        </p:scale>
        <p:origin x="120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FooterHairline"/>
          <p:cNvSpPr/>
          <p:nvPr/>
        </p:nvSpPr>
        <p:spPr>
          <a:xfrm>
            <a:off x="457200" y="6604000"/>
            <a:ext cx="11277600" cy="127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B57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A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CE13-BB3D-7F8F-347A-6D0F04583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Cross-Forest Administrative Access Model for RDP and Domain Administration</a:t>
            </a:r>
            <a:endParaRPr lang="en-SG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5B5F7-9223-0A89-9387-3FD9CF682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Secure, Least-Privilege Design for Multi-Forest Enterprise Environments
[Your Name]  |  July 2026</a:t>
            </a:r>
            <a:endParaRPr lang="en-SG"/>
          </a:p>
        </p:txBody>
      </p:sp>
      <p:pic>
        <p:nvPicPr>
          <p:cNvPr id="4" name="Graphic 4" descr="Fore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1600" y="5524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3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62F5-50A6-E707-9844-AB14C9B7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/>
              <a:t>Centralized Identity, Decentralized Permissioning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CD6A-1B95-6D3D-56B8-D617C7D91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317500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One dedicated admin account created in Forest A, Domain A.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Account added to a role-based </a:t>
            </a:r>
            <a:r>
              <a:rPr lang="en-US" sz="1600" b="1" dirty="0"/>
              <a:t>Global Group</a:t>
            </a:r>
            <a:r>
              <a:rPr lang="en-US" sz="1600" dirty="0"/>
              <a:t> in Domain A.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Same-forest child domains use </a:t>
            </a:r>
            <a:r>
              <a:rPr lang="en-US" sz="1600" b="1" dirty="0"/>
              <a:t>Universal Groups</a:t>
            </a:r>
            <a:r>
              <a:rPr lang="en-US" sz="1600" dirty="0"/>
              <a:t> for cross-domain nesting.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Separate forest (Forest B) uses </a:t>
            </a:r>
            <a:r>
              <a:rPr lang="en-US" sz="1600" b="1" dirty="0"/>
              <a:t>Domain Local groups</a:t>
            </a:r>
            <a:r>
              <a:rPr lang="en-US" sz="1600" dirty="0"/>
              <a:t> in the target domain — </a:t>
            </a:r>
            <a:r>
              <a:rPr lang="en-US" sz="1600" b="1" dirty="0"/>
              <a:t>not</a:t>
            </a:r>
            <a:r>
              <a:rPr lang="en-US" sz="1600" dirty="0"/>
              <a:t> direct Global Group reuse.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RDP and delegated admin are granted via explicit groups, never via broad Domain Admin rights.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Design follows </a:t>
            </a:r>
            <a:r>
              <a:rPr lang="en-US" sz="1600" b="1" dirty="0"/>
              <a:t>AGDLP / AGUDLP</a:t>
            </a:r>
            <a:r>
              <a:rPr lang="en-US" sz="1600" dirty="0"/>
              <a:t> best practices, enforces least privilege, and enables full auditability.</a:t>
            </a:r>
          </a:p>
        </p:txBody>
      </p:sp>
      <p:sp>
        <p:nvSpPr>
          <p:cNvPr id="20" name="FlowBox1"/>
          <p:cNvSpPr/>
          <p:nvPr/>
        </p:nvSpPr>
        <p:spPr>
          <a:xfrm>
            <a:off x="1333500" y="5384800"/>
            <a:ext cx="2095500" cy="812800"/>
          </a:xfrm>
          <a:prstGeom prst="roundRect">
            <a:avLst/>
          </a:prstGeom>
          <a:solidFill>
            <a:srgbClr val="3E7E3E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Account</a:t>
            </a:r>
          </a:p>
        </p:txBody>
      </p:sp>
      <p:sp>
        <p:nvSpPr>
          <p:cNvPr id="24" name="FlowArrow24"/>
          <p:cNvSpPr/>
          <p:nvPr/>
        </p:nvSpPr>
        <p:spPr>
          <a:xfrm>
            <a:off x="3454400" y="5664200"/>
            <a:ext cx="330200" cy="254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lowBox2"/>
          <p:cNvSpPr/>
          <p:nvPr/>
        </p:nvSpPr>
        <p:spPr>
          <a:xfrm>
            <a:off x="3810000" y="5384800"/>
            <a:ext cx="2095500" cy="8128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Group</a:t>
            </a:r>
          </a:p>
        </p:txBody>
      </p:sp>
      <p:sp>
        <p:nvSpPr>
          <p:cNvPr id="25" name="FlowArrow25"/>
          <p:cNvSpPr/>
          <p:nvPr/>
        </p:nvSpPr>
        <p:spPr>
          <a:xfrm>
            <a:off x="5930900" y="5664200"/>
            <a:ext cx="330200" cy="254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FlowBox3"/>
          <p:cNvSpPr/>
          <p:nvPr/>
        </p:nvSpPr>
        <p:spPr>
          <a:xfrm>
            <a:off x="6286500" y="5384800"/>
            <a:ext cx="2095500" cy="812800"/>
          </a:xfrm>
          <a:prstGeom prst="roundRect">
            <a:avLst/>
          </a:prstGeom>
          <a:solidFill>
            <a:srgbClr val="2E6DA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Universal Group (optional)</a:t>
            </a:r>
          </a:p>
        </p:txBody>
      </p:sp>
      <p:sp>
        <p:nvSpPr>
          <p:cNvPr id="26" name="FlowArrow26"/>
          <p:cNvSpPr/>
          <p:nvPr/>
        </p:nvSpPr>
        <p:spPr>
          <a:xfrm>
            <a:off x="8407400" y="5664200"/>
            <a:ext cx="330200" cy="254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FlowBox4"/>
          <p:cNvSpPr/>
          <p:nvPr/>
        </p:nvSpPr>
        <p:spPr>
          <a:xfrm>
            <a:off x="8763000" y="5384800"/>
            <a:ext cx="2095500" cy="812800"/>
          </a:xfrm>
          <a:prstGeom prst="roundRect">
            <a:avLst/>
          </a:prstGeom>
          <a:solidFill>
            <a:srgbClr val="B05E10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 Local Group (target)</a:t>
            </a:r>
          </a:p>
        </p:txBody>
      </p:sp>
      <p:sp>
        <p:nvSpPr>
          <p:cNvPr id="30" name="FlowCaption"/>
          <p:cNvSpPr txBox="1"/>
          <p:nvPr/>
        </p:nvSpPr>
        <p:spPr>
          <a:xfrm>
            <a:off x="1333500" y="6350000"/>
            <a:ext cx="9525000" cy="330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buNone/>
            </a:pPr>
            <a:r>
              <a:rPr lang="en-US" sz="1400" i="1" dirty="0">
                <a:solidFill>
                  <a:srgbClr val="7F7F7F"/>
                </a:solidFill>
              </a:rPr>
              <a:t>Membership → Nesting → Permission assignment</a:t>
            </a:r>
          </a:p>
        </p:txBody>
      </p:sp>
    </p:spTree>
    <p:extLst>
      <p:ext uri="{BB962C8B-B14F-4D97-AF65-F5344CB8AC3E}">
        <p14:creationId xmlns:p14="http://schemas.microsoft.com/office/powerpoint/2010/main" val="247422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94E5-FA3B-85F7-8EC4-70E7FEFB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/>
              <a:t>Business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ED6B-69A7-7796-84F4-74C4C6E1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6858000" cy="4191000"/>
          </a:xfrm>
        </p:spPr>
        <p:txBody>
          <a:bodyPr/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dirty="0"/>
              <a:t>Centralized privileged account for all administrative tasks across all domains and forests.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dirty="0"/>
              <a:t>Remote Desktop access to managed servers in child domains (Forest A) and in a separate trusted forest (Forest B).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dirty="0"/>
              <a:t>Delegated administrative rights (e.g., local admin, service management) scoped per domain.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dirty="0"/>
              <a:t>Minimal number of privileged accounts — no standing Domain Admin rights except where explicitly justified.</a:t>
            </a:r>
          </a:p>
        </p:txBody>
      </p:sp>
      <p:sp>
        <p:nvSpPr>
          <p:cNvPr id="20" name="SidePanel"/>
          <p:cNvSpPr/>
          <p:nvPr/>
        </p:nvSpPr>
        <p:spPr>
          <a:xfrm>
            <a:off x="8001000" y="1905000"/>
            <a:ext cx="3556000" cy="4191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anelLabel21"/>
          <p:cNvSpPr txBox="1"/>
          <p:nvPr/>
        </p:nvSpPr>
        <p:spPr>
          <a:xfrm>
            <a:off x="9042400" y="2222500"/>
            <a:ext cx="2360000" cy="1016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Single privileged identity</a:t>
            </a:r>
          </a:p>
        </p:txBody>
      </p:sp>
      <p:sp>
        <p:nvSpPr>
          <p:cNvPr id="22" name="PanelLabel22"/>
          <p:cNvSpPr txBox="1"/>
          <p:nvPr/>
        </p:nvSpPr>
        <p:spPr>
          <a:xfrm>
            <a:off x="9042400" y="3619500"/>
            <a:ext cx="2360000" cy="1016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RDP to approved servers only</a:t>
            </a:r>
          </a:p>
        </p:txBody>
      </p:sp>
      <p:sp>
        <p:nvSpPr>
          <p:cNvPr id="23" name="PanelLabel23"/>
          <p:cNvSpPr txBox="1"/>
          <p:nvPr/>
        </p:nvSpPr>
        <p:spPr>
          <a:xfrm>
            <a:off x="9042400" y="5016500"/>
            <a:ext cx="2360000" cy="1016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No standing Domain Admin</a:t>
            </a:r>
          </a:p>
        </p:txBody>
      </p:sp>
      <p:pic>
        <p:nvPicPr>
          <p:cNvPr id="24" name="Graphic 24" descr="Privileged ident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0400" y="2451100"/>
            <a:ext cx="558800" cy="558800"/>
          </a:xfrm>
          <a:prstGeom prst="rect">
            <a:avLst/>
          </a:prstGeom>
        </p:spPr>
      </p:pic>
      <p:pic>
        <p:nvPicPr>
          <p:cNvPr id="25" name="Graphic 25" descr="RDP acce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0400" y="3848100"/>
            <a:ext cx="558800" cy="558800"/>
          </a:xfrm>
          <a:prstGeom prst="rect">
            <a:avLst/>
          </a:prstGeom>
        </p:spPr>
      </p:pic>
      <p:pic>
        <p:nvPicPr>
          <p:cNvPr id="26" name="Graphic 26" descr="Restricted Domain Adm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0400" y="52451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0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81C8-137B-D56A-664F-1E107952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58FF-9593-36E5-A840-5C50C55DD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292100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/>
              <a:t>Global Groups</a:t>
            </a:r>
            <a:r>
              <a:rPr lang="en-US" sz="1600" dirty="0"/>
              <a:t> from Domain A cannot be directly assigned permissions in Forest B (cross-forest membership does not nest like same-forest).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Child domains within the same forest can use </a:t>
            </a:r>
            <a:r>
              <a:rPr lang="en-US" sz="1600" b="1" dirty="0"/>
              <a:t>Universal Groups</a:t>
            </a:r>
            <a:r>
              <a:rPr lang="en-US" sz="1600" dirty="0"/>
              <a:t> for cross-domain nesting, but Global Groups alone are insufficient.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RDP rights must be granted through </a:t>
            </a:r>
            <a:r>
              <a:rPr lang="en-US" sz="1600" b="1" dirty="0"/>
              <a:t>Remote Desktop Users</a:t>
            </a:r>
            <a:r>
              <a:rPr lang="en-US" sz="1600" dirty="0"/>
              <a:t> or server-local groups — </a:t>
            </a:r>
            <a:r>
              <a:rPr lang="en-US" sz="1600" b="1" dirty="0"/>
              <a:t>not</a:t>
            </a:r>
            <a:r>
              <a:rPr lang="en-US" sz="1600" dirty="0"/>
              <a:t> through Domain Admin membership.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dirty="0"/>
              <a:t>Domain Admin must be </a:t>
            </a:r>
            <a:r>
              <a:rPr lang="en-US" sz="1600" b="1" dirty="0"/>
              <a:t>restricted</a:t>
            </a:r>
            <a:r>
              <a:rPr lang="en-US" sz="1600" dirty="0"/>
              <a:t> to specific, approved administrative tasks only.</a:t>
            </a:r>
          </a:p>
        </p:txBody>
      </p:sp>
      <p:sp>
        <p:nvSpPr>
          <p:cNvPr id="20" name="CompareBox20"/>
          <p:cNvSpPr/>
          <p:nvPr/>
        </p:nvSpPr>
        <p:spPr>
          <a:xfrm>
            <a:off x="762000" y="5080000"/>
            <a:ext cx="5080000" cy="1206500"/>
          </a:xfrm>
          <a:prstGeom prst="roundRect">
            <a:avLst>
              <a:gd name="adj" fmla="val 8000"/>
            </a:avLst>
          </a:prstGeom>
          <a:solidFill>
            <a:srgbClr val="EAF2EA"/>
          </a:solidFill>
          <a:ln w="19050">
            <a:solidFill>
              <a:srgbClr val="3E7E3E"/>
            </a:solidFill>
          </a:ln>
        </p:spPr>
        <p:txBody>
          <a:bodyPr lIns="182880" rIns="182880" anchor="ctr"/>
          <a:lstStyle/>
          <a:p>
            <a:pPr algn="ctr">
              <a:buNone/>
            </a:pPr>
            <a:r>
              <a:rPr lang="en-US" sz="1600" b="1" dirty="0">
                <a:solidFill>
                  <a:srgbClr val="3E7E3E"/>
                </a:solidFill>
              </a:rPr>
              <a:t>Same Forest</a:t>
            </a:r>
          </a:p>
          <a:p>
            <a:pPr algn="ctr">
              <a:buNone/>
            </a:pPr>
            <a:r>
              <a:rPr lang="en-US" sz="1400" dirty="0">
                <a:solidFill>
                  <a:srgbClr val="1F2A3D"/>
                </a:solidFill>
              </a:rPr>
              <a:t>Universal Group nesting allowed — resolved by the Global Catalog</a:t>
            </a:r>
          </a:p>
        </p:txBody>
      </p:sp>
      <p:sp>
        <p:nvSpPr>
          <p:cNvPr id="21" name="CompareBox21"/>
          <p:cNvSpPr/>
          <p:nvPr/>
        </p:nvSpPr>
        <p:spPr>
          <a:xfrm>
            <a:off x="6096000" y="5080000"/>
            <a:ext cx="5080000" cy="12065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9050">
            <a:solidFill>
              <a:srgbClr val="D97C2B"/>
            </a:solidFill>
          </a:ln>
        </p:spPr>
        <p:txBody>
          <a:bodyPr lIns="182880" rIns="182880" anchor="ctr"/>
          <a:lstStyle/>
          <a:p>
            <a:pPr algn="ctr">
              <a:buNone/>
            </a:pPr>
            <a:r>
              <a:rPr lang="en-US" sz="1600" b="1" dirty="0">
                <a:solidFill>
                  <a:srgbClr val="B05E10"/>
                </a:solidFill>
              </a:rPr>
              <a:t>Separate Forest</a:t>
            </a:r>
          </a:p>
          <a:p>
            <a:pPr algn="ctr">
              <a:buNone/>
            </a:pPr>
            <a:r>
              <a:rPr lang="en-US" sz="1400" dirty="0">
                <a:solidFill>
                  <a:srgbClr val="1F2A3D"/>
                </a:solidFill>
              </a:rPr>
              <a:t>Domain Local Group required — nesting does not cross the trust boundary</a:t>
            </a:r>
          </a:p>
        </p:txBody>
      </p:sp>
    </p:spTree>
    <p:extLst>
      <p:ext uri="{BB962C8B-B14F-4D97-AF65-F5344CB8AC3E}">
        <p14:creationId xmlns:p14="http://schemas.microsoft.com/office/powerpoint/2010/main" val="25838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D272-43C5-40E9-2853-BBCA6903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Proposed Access Model: AGUDLP + Cross-Forest Domain Local Groups</a:t>
            </a:r>
            <a:endParaRPr lang="en-SG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EF6F-AEFF-08C0-83CD-E02B61C8C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3175000"/>
          </a:xfrm>
        </p:spPr>
        <p:txBody>
          <a:bodyPr/>
          <a:lstStyle/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Forest A, Domain A</a:t>
            </a:r>
            <a:r>
              <a:rPr lang="en-US" sz="1500" dirty="0"/>
              <a:t> — create the privileged admin account.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Domain A</a:t>
            </a:r>
            <a:r>
              <a:rPr lang="en-US" sz="1500" dirty="0"/>
              <a:t> — add the account to a role-based Global Group.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Same-forest child domains</a:t>
            </a:r>
            <a:r>
              <a:rPr lang="en-US" sz="1500" dirty="0"/>
              <a:t> — nest the Global Group into a Universal Group (if needed for multiple child domains).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Each target domain (child or Forest B)</a:t>
            </a:r>
            <a:r>
              <a:rPr lang="en-US" sz="1500" dirty="0"/>
              <a:t> — create a Domain Local group for each required permission set.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Target domain</a:t>
            </a:r>
            <a:r>
              <a:rPr lang="en-US" sz="1500" dirty="0"/>
              <a:t> — add the Universal Group (or, for Forest B, the source Global Group as a Foreign Security Principal) into the Domain Local group.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en-US" sz="1500" b="1" dirty="0"/>
              <a:t>Target domain</a:t>
            </a:r>
            <a:r>
              <a:rPr lang="en-US" sz="1500" dirty="0"/>
              <a:t> — assign the Domain Local group to RDP / delegated admin / Domain Admin (only if approved).</a:t>
            </a:r>
          </a:p>
        </p:txBody>
      </p:sp>
      <p:sp>
        <p:nvSpPr>
          <p:cNvPr id="20" name="Chevron20"/>
          <p:cNvSpPr/>
          <p:nvPr/>
        </p:nvSpPr>
        <p:spPr>
          <a:xfrm>
            <a:off x="1016000" y="5638800"/>
            <a:ext cx="2032000" cy="711200"/>
          </a:xfrm>
          <a:prstGeom prst="homePlate">
            <a:avLst/>
          </a:prstGeom>
          <a:solidFill>
            <a:srgbClr val="3E7E3E"/>
          </a:solidFill>
          <a:ln>
            <a:noFill/>
          </a:ln>
        </p:spPr>
        <p:txBody>
          <a:bodyPr lIns="91440" tIns="0" rIns="9144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Account</a:t>
            </a:r>
          </a:p>
        </p:txBody>
      </p:sp>
      <p:sp>
        <p:nvSpPr>
          <p:cNvPr id="21" name="Chevron21"/>
          <p:cNvSpPr/>
          <p:nvPr/>
        </p:nvSpPr>
        <p:spPr>
          <a:xfrm>
            <a:off x="3098800" y="5638800"/>
            <a:ext cx="2032000" cy="711200"/>
          </a:xfrm>
          <a:prstGeom prst="chevron">
            <a:avLst/>
          </a:prstGeom>
          <a:solidFill>
            <a:srgbClr val="2B579A"/>
          </a:solidFill>
          <a:ln>
            <a:noFill/>
          </a:ln>
        </p:spPr>
        <p:txBody>
          <a:bodyPr lIns="91440" tIns="0" rIns="9144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Group</a:t>
            </a:r>
          </a:p>
        </p:txBody>
      </p:sp>
      <p:sp>
        <p:nvSpPr>
          <p:cNvPr id="22" name="Chevron22"/>
          <p:cNvSpPr/>
          <p:nvPr/>
        </p:nvSpPr>
        <p:spPr>
          <a:xfrm>
            <a:off x="5181600" y="5638800"/>
            <a:ext cx="2032000" cy="711200"/>
          </a:xfrm>
          <a:prstGeom prst="chevron">
            <a:avLst/>
          </a:prstGeom>
          <a:solidFill>
            <a:srgbClr val="2E6DA4"/>
          </a:solidFill>
          <a:ln>
            <a:noFill/>
          </a:ln>
        </p:spPr>
        <p:txBody>
          <a:bodyPr lIns="91440" tIns="0" rIns="9144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Universal Group</a:t>
            </a:r>
          </a:p>
        </p:txBody>
      </p:sp>
      <p:sp>
        <p:nvSpPr>
          <p:cNvPr id="23" name="Chevron23"/>
          <p:cNvSpPr/>
          <p:nvPr/>
        </p:nvSpPr>
        <p:spPr>
          <a:xfrm>
            <a:off x="7264400" y="5638800"/>
            <a:ext cx="2032000" cy="711200"/>
          </a:xfrm>
          <a:prstGeom prst="chevron">
            <a:avLst/>
          </a:prstGeom>
          <a:solidFill>
            <a:srgbClr val="B05E10"/>
          </a:solidFill>
          <a:ln>
            <a:noFill/>
          </a:ln>
        </p:spPr>
        <p:txBody>
          <a:bodyPr lIns="91440" tIns="0" rIns="9144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 Local Group</a:t>
            </a:r>
          </a:p>
        </p:txBody>
      </p:sp>
      <p:sp>
        <p:nvSpPr>
          <p:cNvPr id="24" name="Chevron24"/>
          <p:cNvSpPr/>
          <p:nvPr/>
        </p:nvSpPr>
        <p:spPr>
          <a:xfrm>
            <a:off x="9347200" y="5638800"/>
            <a:ext cx="2032000" cy="711200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txBody>
          <a:bodyPr lIns="91440" tIns="0" rIns="9144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Permission</a:t>
            </a:r>
          </a:p>
        </p:txBody>
      </p:sp>
      <p:cxnSp>
        <p:nvCxnSpPr>
          <p:cNvPr id="30" name="TrustBoundaryLine"/>
          <p:cNvCxnSpPr/>
          <p:nvPr/>
        </p:nvCxnSpPr>
        <p:spPr>
          <a:xfrm>
            <a:off x="7239000" y="5334000"/>
            <a:ext cx="0" cy="1244600"/>
          </a:xfrm>
          <a:prstGeom prst="line">
            <a:avLst/>
          </a:prstGeom>
          <a:ln w="19050">
            <a:solidFill>
              <a:srgbClr val="A63D3D"/>
            </a:solidFill>
            <a:prstDash val="dash"/>
          </a:ln>
        </p:spPr>
      </p:cxnSp>
      <p:sp>
        <p:nvSpPr>
          <p:cNvPr id="31" name="TrustBoundaryLabel"/>
          <p:cNvSpPr txBox="1"/>
          <p:nvPr/>
        </p:nvSpPr>
        <p:spPr>
          <a:xfrm>
            <a:off x="6096000" y="5013960"/>
            <a:ext cx="2286000" cy="304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buNone/>
            </a:pPr>
            <a:r>
              <a:rPr lang="en-US" sz="1400" i="1" dirty="0">
                <a:solidFill>
                  <a:srgbClr val="A63D3D"/>
                </a:solidFill>
              </a:rPr>
              <a:t>Trust boundary</a:t>
            </a:r>
          </a:p>
        </p:txBody>
      </p:sp>
    </p:spTree>
    <p:extLst>
      <p:ext uri="{BB962C8B-B14F-4D97-AF65-F5344CB8AC3E}">
        <p14:creationId xmlns:p14="http://schemas.microsoft.com/office/powerpoint/2010/main" val="406589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FD15-2A16-1924-13EE-3A1D1A84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Why We Use Each Group Type</a:t>
            </a:r>
            <a:endParaRPr lang="en-SG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518122-88BE-4C72-983B-CF5665B1DD8B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778000"/>
          <a:ext cx="1066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7225228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7647144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220521813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Group Type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Use Case in This Design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3135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SG" sz="1400" b="1"/>
                        <a:t>Global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Same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Collects the admin account in Domain 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77774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SG" sz="1400" b="1"/>
                        <a:t>Universal Group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Same forest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Nests Global Groups for multi-domain access (child domains).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4823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SG" sz="1400" b="1"/>
                        <a:t>Domain Local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Target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Grants permissions in resource domains (child domains and Forest B).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48856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SG" sz="1400" b="1"/>
                        <a:t>Foreign Security Principal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Cross-forest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Represents the source identity in the target forest's ACLs.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84510"/>
                  </a:ext>
                </a:extLst>
              </a:tr>
            </a:tbl>
          </a:graphicData>
        </a:graphic>
      </p:graphicFrame>
      <p:sp>
        <p:nvSpPr>
          <p:cNvPr id="20" name="KeyRule"/>
          <p:cNvSpPr/>
          <p:nvPr/>
        </p:nvSpPr>
        <p:spPr>
          <a:xfrm>
            <a:off x="762000" y="5232400"/>
            <a:ext cx="10668000" cy="1016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9050">
            <a:solidFill>
              <a:srgbClr val="2B579A"/>
            </a:solidFill>
          </a:ln>
        </p:spPr>
        <p:txBody>
          <a:bodyPr lIns="182880" rIns="182880" anchor="ctr"/>
          <a:lstStyle/>
          <a:p>
            <a:pPr>
              <a:buNone/>
            </a:pPr>
            <a:r>
              <a:rPr lang="en-US" sz="1500" b="1" dirty="0">
                <a:solidFill>
                  <a:srgbClr val="2B579A"/>
                </a:solidFill>
              </a:rPr>
              <a:t>Key rule: </a:t>
            </a:r>
            <a:r>
              <a:rPr lang="en-US" sz="1500" dirty="0">
                <a:solidFill>
                  <a:srgbClr val="1F2A3D"/>
                </a:solidFill>
              </a:rPr>
              <a:t>Cross-forest permissions must be assigned via Domain Local groups in the target forest — never directly with source Global Groups.</a:t>
            </a:r>
          </a:p>
        </p:txBody>
      </p:sp>
    </p:spTree>
    <p:extLst>
      <p:ext uri="{BB962C8B-B14F-4D97-AF65-F5344CB8AC3E}">
        <p14:creationId xmlns:p14="http://schemas.microsoft.com/office/powerpoint/2010/main" val="375143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971A-AD76-8987-CD53-DA7AE27E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000"/>
          </a:xfrm>
        </p:spPr>
        <p:txBody>
          <a:bodyPr>
            <a:normAutofit/>
          </a:bodyPr>
          <a:lstStyle/>
          <a:p>
            <a:r>
              <a:rPr lang="en-US" sz="3200"/>
              <a:t>System Architecture: Cross-Forest Access Flow</a:t>
            </a:r>
            <a:endParaRPr lang="en-SG" sz="3200"/>
          </a:p>
        </p:txBody>
      </p:sp>
      <p:sp>
        <p:nvSpPr>
          <p:cNvPr id="20" name="ForestA"/>
          <p:cNvSpPr/>
          <p:nvPr/>
        </p:nvSpPr>
        <p:spPr>
          <a:xfrm>
            <a:off x="762000" y="2032000"/>
            <a:ext cx="6731000" cy="4191000"/>
          </a:xfrm>
          <a:prstGeom prst="roundRect">
            <a:avLst>
              <a:gd name="adj" fmla="val 2500"/>
            </a:avLst>
          </a:prstGeom>
          <a:solidFill>
            <a:srgbClr val="EAF0F9"/>
          </a:solidFill>
          <a:ln w="19050">
            <a:solidFill>
              <a:srgbClr val="2B57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ForestB"/>
          <p:cNvSpPr/>
          <p:nvPr/>
        </p:nvSpPr>
        <p:spPr>
          <a:xfrm>
            <a:off x="8382000" y="2032000"/>
            <a:ext cx="3048000" cy="419100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ForestALabel"/>
          <p:cNvSpPr txBox="1"/>
          <p:nvPr/>
        </p:nvSpPr>
        <p:spPr>
          <a:xfrm>
            <a:off x="952500" y="2108200"/>
            <a:ext cx="1905000" cy="279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2B579A"/>
                </a:solidFill>
              </a:rPr>
              <a:t>Forest A</a:t>
            </a:r>
          </a:p>
        </p:txBody>
      </p:sp>
      <p:sp>
        <p:nvSpPr>
          <p:cNvPr id="23" name="ForestBLabel"/>
          <p:cNvSpPr txBox="1"/>
          <p:nvPr/>
        </p:nvSpPr>
        <p:spPr>
          <a:xfrm>
            <a:off x="8572500" y="2108200"/>
            <a:ext cx="1905000" cy="279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595959"/>
                </a:solidFill>
              </a:rPr>
              <a:t>Forest B</a:t>
            </a:r>
          </a:p>
        </p:txBody>
      </p:sp>
      <p:sp>
        <p:nvSpPr>
          <p:cNvPr id="24" name="DomainA"/>
          <p:cNvSpPr/>
          <p:nvPr/>
        </p:nvSpPr>
        <p:spPr>
          <a:xfrm>
            <a:off x="1016000" y="2476500"/>
            <a:ext cx="2921000" cy="349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E7E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DomainALabel"/>
          <p:cNvSpPr txBox="1"/>
          <p:nvPr/>
        </p:nvSpPr>
        <p:spPr>
          <a:xfrm>
            <a:off x="1168400" y="25654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Domain A (source)</a:t>
            </a:r>
          </a:p>
        </p:txBody>
      </p:sp>
      <p:sp>
        <p:nvSpPr>
          <p:cNvPr id="26" name="AdminChip"/>
          <p:cNvSpPr/>
          <p:nvPr/>
        </p:nvSpPr>
        <p:spPr>
          <a:xfrm>
            <a:off x="1270000" y="2921000"/>
            <a:ext cx="2413000" cy="482600"/>
          </a:xfrm>
          <a:prstGeom prst="roundRect">
            <a:avLst>
              <a:gd name="adj" fmla="val 12000"/>
            </a:avLst>
          </a:prstGeom>
          <a:solidFill>
            <a:srgbClr val="3E7E3E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Account</a:t>
            </a:r>
          </a:p>
        </p:txBody>
      </p:sp>
      <p:cxnSp>
        <p:nvCxnSpPr>
          <p:cNvPr id="27" name="ArrowAG"/>
          <p:cNvCxnSpPr/>
          <p:nvPr/>
        </p:nvCxnSpPr>
        <p:spPr>
          <a:xfrm>
            <a:off x="2451100" y="3403600"/>
            <a:ext cx="0" cy="254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28" name="LblMembership"/>
          <p:cNvSpPr txBox="1"/>
          <p:nvPr/>
        </p:nvSpPr>
        <p:spPr>
          <a:xfrm>
            <a:off x="2603500" y="3403600"/>
            <a:ext cx="127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595959"/>
                </a:solidFill>
              </a:rPr>
              <a:t>membership</a:t>
            </a:r>
          </a:p>
        </p:txBody>
      </p:sp>
      <p:sp>
        <p:nvSpPr>
          <p:cNvPr id="29" name="GlobalChip"/>
          <p:cNvSpPr/>
          <p:nvPr/>
        </p:nvSpPr>
        <p:spPr>
          <a:xfrm>
            <a:off x="1270000" y="3657600"/>
            <a:ext cx="2413000" cy="482600"/>
          </a:xfrm>
          <a:prstGeom prst="roundRect">
            <a:avLst>
              <a:gd name="adj" fmla="val 12000"/>
            </a:avLst>
          </a:prstGeom>
          <a:solidFill>
            <a:srgbClr val="2B579A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Group</a:t>
            </a:r>
          </a:p>
        </p:txBody>
      </p:sp>
      <p:cxnSp>
        <p:nvCxnSpPr>
          <p:cNvPr id="30" name="ArrowGU"/>
          <p:cNvCxnSpPr/>
          <p:nvPr/>
        </p:nvCxnSpPr>
        <p:spPr>
          <a:xfrm>
            <a:off x="2451100" y="4140200"/>
            <a:ext cx="0" cy="254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31" name="LblNesting1"/>
          <p:cNvSpPr txBox="1"/>
          <p:nvPr/>
        </p:nvSpPr>
        <p:spPr>
          <a:xfrm>
            <a:off x="2603500" y="4140200"/>
            <a:ext cx="1016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595959"/>
                </a:solidFill>
              </a:rPr>
              <a:t>nesting</a:t>
            </a:r>
          </a:p>
        </p:txBody>
      </p:sp>
      <p:sp>
        <p:nvSpPr>
          <p:cNvPr id="32" name="UniversalChip"/>
          <p:cNvSpPr/>
          <p:nvPr/>
        </p:nvSpPr>
        <p:spPr>
          <a:xfrm>
            <a:off x="1270000" y="4394200"/>
            <a:ext cx="2413000" cy="48260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Universal Group</a:t>
            </a:r>
          </a:p>
        </p:txBody>
      </p:sp>
      <p:sp>
        <p:nvSpPr>
          <p:cNvPr id="33" name="ChildA1"/>
          <p:cNvSpPr/>
          <p:nvPr/>
        </p:nvSpPr>
        <p:spPr>
          <a:xfrm>
            <a:off x="4318000" y="2413000"/>
            <a:ext cx="2921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7C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hildA1Label"/>
          <p:cNvSpPr txBox="1"/>
          <p:nvPr/>
        </p:nvSpPr>
        <p:spPr>
          <a:xfrm>
            <a:off x="4470400" y="24892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Child Domain A1</a:t>
            </a:r>
          </a:p>
        </p:txBody>
      </p:sp>
      <p:sp>
        <p:nvSpPr>
          <p:cNvPr id="35" name="DLG_A1"/>
          <p:cNvSpPr/>
          <p:nvPr/>
        </p:nvSpPr>
        <p:spPr>
          <a:xfrm>
            <a:off x="4508500" y="2794000"/>
            <a:ext cx="2540000" cy="431800"/>
          </a:xfrm>
          <a:prstGeom prst="roundRect">
            <a:avLst>
              <a:gd name="adj" fmla="val 12000"/>
            </a:avLst>
          </a:prstGeom>
          <a:solidFill>
            <a:srgbClr val="B05E10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 Local Group</a:t>
            </a:r>
          </a:p>
        </p:txBody>
      </p:sp>
      <p:sp>
        <p:nvSpPr>
          <p:cNvPr id="36" name="Perm_A1"/>
          <p:cNvSpPr/>
          <p:nvPr/>
        </p:nvSpPr>
        <p:spPr>
          <a:xfrm>
            <a:off x="4508500" y="3327400"/>
            <a:ext cx="2540000" cy="38100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RDP / Local Admin</a:t>
            </a:r>
          </a:p>
        </p:txBody>
      </p:sp>
      <p:sp>
        <p:nvSpPr>
          <p:cNvPr id="37" name="ChildA2"/>
          <p:cNvSpPr/>
          <p:nvPr/>
        </p:nvSpPr>
        <p:spPr>
          <a:xfrm>
            <a:off x="4318000" y="4508500"/>
            <a:ext cx="2921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7C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ChildA2Label"/>
          <p:cNvSpPr txBox="1"/>
          <p:nvPr/>
        </p:nvSpPr>
        <p:spPr>
          <a:xfrm>
            <a:off x="4470400" y="45847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Child Domain A2</a:t>
            </a:r>
          </a:p>
        </p:txBody>
      </p:sp>
      <p:sp>
        <p:nvSpPr>
          <p:cNvPr id="39" name="DLG_A2"/>
          <p:cNvSpPr/>
          <p:nvPr/>
        </p:nvSpPr>
        <p:spPr>
          <a:xfrm>
            <a:off x="4508500" y="4889500"/>
            <a:ext cx="2540000" cy="431800"/>
          </a:xfrm>
          <a:prstGeom prst="roundRect">
            <a:avLst>
              <a:gd name="adj" fmla="val 12000"/>
            </a:avLst>
          </a:prstGeom>
          <a:solidFill>
            <a:srgbClr val="B05E10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 Local Group</a:t>
            </a:r>
          </a:p>
        </p:txBody>
      </p:sp>
      <p:sp>
        <p:nvSpPr>
          <p:cNvPr id="40" name="Perm_A2"/>
          <p:cNvSpPr/>
          <p:nvPr/>
        </p:nvSpPr>
        <p:spPr>
          <a:xfrm>
            <a:off x="4508500" y="5422900"/>
            <a:ext cx="2540000" cy="38100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RDP / Local Admin</a:t>
            </a:r>
          </a:p>
        </p:txBody>
      </p:sp>
      <p:cxnSp>
        <p:nvCxnSpPr>
          <p:cNvPr id="41" name="ArrowU_A1"/>
          <p:cNvCxnSpPr/>
          <p:nvPr/>
        </p:nvCxnSpPr>
        <p:spPr>
          <a:xfrm flipV="1">
            <a:off x="3683000" y="3009900"/>
            <a:ext cx="825500" cy="16256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42" name="ArrowU_A2"/>
          <p:cNvCxnSpPr/>
          <p:nvPr/>
        </p:nvCxnSpPr>
        <p:spPr>
          <a:xfrm>
            <a:off x="3683000" y="4635500"/>
            <a:ext cx="825500" cy="4699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43" name="LblNesting2"/>
          <p:cNvSpPr txBox="1"/>
          <p:nvPr/>
        </p:nvSpPr>
        <p:spPr>
          <a:xfrm>
            <a:off x="3759200" y="4330700"/>
            <a:ext cx="1016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595959"/>
                </a:solidFill>
              </a:rPr>
              <a:t>nesting</a:t>
            </a:r>
          </a:p>
        </p:txBody>
      </p:sp>
      <p:cxnSp>
        <p:nvCxnSpPr>
          <p:cNvPr id="44" name="TrustLine"/>
          <p:cNvCxnSpPr/>
          <p:nvPr/>
        </p:nvCxnSpPr>
        <p:spPr>
          <a:xfrm>
            <a:off x="7937500" y="2032000"/>
            <a:ext cx="0" cy="4254500"/>
          </a:xfrm>
          <a:prstGeom prst="line">
            <a:avLst/>
          </a:prstGeom>
          <a:ln w="19050">
            <a:solidFill>
              <a:srgbClr val="A63D3D"/>
            </a:solidFill>
            <a:prstDash val="dash"/>
            <a:tailEnd type="triangle" w="med" len="med"/>
          </a:ln>
        </p:spPr>
      </p:cxnSp>
      <p:sp>
        <p:nvSpPr>
          <p:cNvPr id="45" name="TrustLabel"/>
          <p:cNvSpPr txBox="1"/>
          <p:nvPr/>
        </p:nvSpPr>
        <p:spPr>
          <a:xfrm>
            <a:off x="6985000" y="6311900"/>
            <a:ext cx="1905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buNone/>
            </a:pPr>
            <a:r>
              <a:rPr lang="en-US" sz="1400" b="1" i="1" dirty="0">
                <a:solidFill>
                  <a:srgbClr val="A63D3D"/>
                </a:solidFill>
              </a:rPr>
              <a:t>Trust Boundary</a:t>
            </a:r>
          </a:p>
        </p:txBody>
      </p:sp>
      <p:sp>
        <p:nvSpPr>
          <p:cNvPr id="46" name="DomainB1"/>
          <p:cNvSpPr/>
          <p:nvPr/>
        </p:nvSpPr>
        <p:spPr>
          <a:xfrm>
            <a:off x="8610600" y="2476500"/>
            <a:ext cx="2590800" cy="349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7C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DomainB1Label"/>
          <p:cNvSpPr txBox="1"/>
          <p:nvPr/>
        </p:nvSpPr>
        <p:spPr>
          <a:xfrm>
            <a:off x="8763000" y="2565400"/>
            <a:ext cx="2286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b="1" dirty="0">
                <a:solidFill>
                  <a:srgbClr val="1F2A3D"/>
                </a:solidFill>
              </a:rPr>
              <a:t>Domain B1</a:t>
            </a:r>
          </a:p>
        </p:txBody>
      </p:sp>
      <p:sp>
        <p:nvSpPr>
          <p:cNvPr id="48" name="FSPChip"/>
          <p:cNvSpPr/>
          <p:nvPr/>
        </p:nvSpPr>
        <p:spPr>
          <a:xfrm>
            <a:off x="8801100" y="3810000"/>
            <a:ext cx="2209800" cy="5080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FSP (source admin)</a:t>
            </a:r>
          </a:p>
        </p:txBody>
      </p:sp>
      <p:cxnSp>
        <p:nvCxnSpPr>
          <p:cNvPr id="49" name="ArrowFSP_DLG"/>
          <p:cNvCxnSpPr/>
          <p:nvPr/>
        </p:nvCxnSpPr>
        <p:spPr>
          <a:xfrm>
            <a:off x="9880600" y="4318000"/>
            <a:ext cx="0" cy="1905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50" name="DLG_B1"/>
          <p:cNvSpPr/>
          <p:nvPr/>
        </p:nvSpPr>
        <p:spPr>
          <a:xfrm>
            <a:off x="8801100" y="4508500"/>
            <a:ext cx="2209800" cy="457200"/>
          </a:xfrm>
          <a:prstGeom prst="roundRect">
            <a:avLst>
              <a:gd name="adj" fmla="val 12000"/>
            </a:avLst>
          </a:prstGeom>
          <a:solidFill>
            <a:srgbClr val="B05E10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 Local Group</a:t>
            </a:r>
          </a:p>
        </p:txBody>
      </p:sp>
      <p:cxnSp>
        <p:nvCxnSpPr>
          <p:cNvPr id="51" name="ArrowDLG_Perm"/>
          <p:cNvCxnSpPr/>
          <p:nvPr/>
        </p:nvCxnSpPr>
        <p:spPr>
          <a:xfrm>
            <a:off x="9880600" y="4965700"/>
            <a:ext cx="0" cy="1905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52" name="Perm_B1"/>
          <p:cNvSpPr/>
          <p:nvPr/>
        </p:nvSpPr>
        <p:spPr>
          <a:xfrm>
            <a:off x="8801100" y="5156200"/>
            <a:ext cx="2209800" cy="406400"/>
          </a:xfrm>
          <a:prstGeom prst="roundRect">
            <a:avLst>
              <a:gd name="adj" fmla="val 12000"/>
            </a:avLst>
          </a:prstGeom>
          <a:solidFill>
            <a:srgbClr val="2E6DA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RDP / Local Admin</a:t>
            </a:r>
          </a:p>
        </p:txBody>
      </p:sp>
      <p:cxnSp>
        <p:nvCxnSpPr>
          <p:cNvPr id="53" name="CrossForestArrow"/>
          <p:cNvCxnSpPr/>
          <p:nvPr/>
        </p:nvCxnSpPr>
        <p:spPr>
          <a:xfrm>
            <a:off x="3683000" y="3898900"/>
            <a:ext cx="5118100" cy="165100"/>
          </a:xfrm>
          <a:prstGeom prst="line">
            <a:avLst/>
          </a:prstGeom>
          <a:ln w="19050">
            <a:solidFill>
              <a:srgbClr val="A63D3D"/>
            </a:solidFill>
            <a:prstDash val="dash"/>
            <a:tailEnd type="triangle" w="med" len="med"/>
          </a:ln>
        </p:spPr>
      </p:cxnSp>
      <p:sp>
        <p:nvSpPr>
          <p:cNvPr id="54" name="CrossLabel"/>
          <p:cNvSpPr txBox="1"/>
          <p:nvPr/>
        </p:nvSpPr>
        <p:spPr>
          <a:xfrm>
            <a:off x="4826000" y="4089400"/>
            <a:ext cx="2667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A63D3D"/>
                </a:solidFill>
              </a:rPr>
              <a:t>Foreign Security Principal</a:t>
            </a:r>
          </a:p>
        </p:txBody>
      </p:sp>
      <p:sp>
        <p:nvSpPr>
          <p:cNvPr id="55" name="LegendSq60"/>
          <p:cNvSpPr/>
          <p:nvPr/>
        </p:nvSpPr>
        <p:spPr>
          <a:xfrm>
            <a:off x="762000" y="6362700"/>
            <a:ext cx="152400" cy="152400"/>
          </a:xfrm>
          <a:prstGeom prst="rect">
            <a:avLst/>
          </a:prstGeom>
          <a:solidFill>
            <a:srgbClr val="3E7E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LegendSrc"/>
          <p:cNvSpPr txBox="1"/>
          <p:nvPr/>
        </p:nvSpPr>
        <p:spPr>
          <a:xfrm>
            <a:off x="990600" y="6324600"/>
            <a:ext cx="1397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1F2A3D"/>
                </a:solidFill>
              </a:rPr>
              <a:t>Source identity</a:t>
            </a:r>
          </a:p>
        </p:txBody>
      </p:sp>
      <p:sp>
        <p:nvSpPr>
          <p:cNvPr id="57" name="LegendSq200"/>
          <p:cNvSpPr/>
          <p:nvPr/>
        </p:nvSpPr>
        <p:spPr>
          <a:xfrm>
            <a:off x="2540000" y="6362700"/>
            <a:ext cx="152400" cy="152400"/>
          </a:xfrm>
          <a:prstGeom prst="rect">
            <a:avLst/>
          </a:prstGeom>
          <a:solidFill>
            <a:srgbClr val="B05E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LegendTgt"/>
          <p:cNvSpPr txBox="1"/>
          <p:nvPr/>
        </p:nvSpPr>
        <p:spPr>
          <a:xfrm>
            <a:off x="2768600" y="6324600"/>
            <a:ext cx="13335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1F2A3D"/>
                </a:solidFill>
              </a:rPr>
              <a:t>Target groups</a:t>
            </a:r>
          </a:p>
        </p:txBody>
      </p:sp>
      <p:sp>
        <p:nvSpPr>
          <p:cNvPr id="59" name="LegendSq340"/>
          <p:cNvSpPr/>
          <p:nvPr/>
        </p:nvSpPr>
        <p:spPr>
          <a:xfrm>
            <a:off x="4318000" y="6362700"/>
            <a:ext cx="152400" cy="152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LegendPerm"/>
          <p:cNvSpPr txBox="1"/>
          <p:nvPr/>
        </p:nvSpPr>
        <p:spPr>
          <a:xfrm>
            <a:off x="4546600" y="6324600"/>
            <a:ext cx="127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1F2A3D"/>
                </a:solidFill>
              </a:rPr>
              <a:t>Permissions</a:t>
            </a:r>
          </a:p>
        </p:txBody>
      </p:sp>
    </p:spTree>
    <p:extLst>
      <p:ext uri="{BB962C8B-B14F-4D97-AF65-F5344CB8AC3E}">
        <p14:creationId xmlns:p14="http://schemas.microsoft.com/office/powerpoint/2010/main" val="1473890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DFE0-B7DC-8C5B-96D1-DCBD61F4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000"/>
          </a:xfrm>
        </p:spPr>
        <p:txBody>
          <a:bodyPr>
            <a:normAutofit/>
          </a:bodyPr>
          <a:lstStyle/>
          <a:p>
            <a:r>
              <a:rPr lang="en-SG" sz="3200"/>
              <a:t>Before Implementation, Verify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5BB602-4C4B-41D4-A932-672E07B8B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48929"/>
              </p:ext>
            </p:extLst>
          </p:nvPr>
        </p:nvGraphicFramePr>
        <p:xfrm>
          <a:off x="762000" y="1651000"/>
          <a:ext cx="10668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598325344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53174053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348053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Check Item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8433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2B579A"/>
                          </a:solidFill>
                        </a:rPr>
                        <a:t>Trust &amp; Networking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Forest trust direction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6399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endParaRPr lang="en-SG" sz="1400" b="1">
                        <a:solidFill>
                          <a:srgbClr val="2B579A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Name resolution (DNS) across forests and domains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04574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endParaRPr lang="en-SG" sz="1400" b="1">
                        <a:solidFill>
                          <a:srgbClr val="2B579A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Network connectivity (jump hosts → DCs → servers)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659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2B579A"/>
                          </a:solidFill>
                        </a:rPr>
                        <a:t>Infrastructure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Time sync healthy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3499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2B579A"/>
                          </a:solidFill>
                        </a:rPr>
                        <a:t>Governance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 admin permissions approved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8892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endParaRPr lang="en-SG" sz="1400" b="1">
                        <a:solidFill>
                          <a:srgbClr val="2B579A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Group Policy change window scheduled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88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endParaRPr lang="en-SG" sz="1400" b="1">
                        <a:solidFill>
                          <a:srgbClr val="2B579A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Security approval for privileged access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3103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2B579A"/>
                          </a:solidFill>
                        </a:rPr>
                        <a:t>Identity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Privileged admin account naming standard defined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516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2B579A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Target servers for RDP access identified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18486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endParaRPr lang="en-SG" sz="1400" b="1">
                        <a:solidFill>
                          <a:srgbClr val="2B579A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Target domains for delegated admin scope identified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468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048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9115-D48F-2C26-54DB-8029257A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00"/>
          </a:xfrm>
        </p:spPr>
        <p:txBody>
          <a:bodyPr>
            <a:normAutofit/>
          </a:bodyPr>
          <a:lstStyle/>
          <a:p>
            <a:r>
              <a:rPr lang="en-SG" sz="3200"/>
              <a:t>Step-by-Step Implementation (Order Matters)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A440FF-AA31-4B55-BE16-FAC4D9F3EAFE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5494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440955858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32285910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21963830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7988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Create privileged admin account in Domain A (naming convention)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AD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1074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Create role-based Global Group in Domain 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AD Team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3559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Add admin account to the Global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AD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5888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(If needed) Create Universal Group for same-forest multi-domain access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AD Team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4738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Nest Global Group into Universal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AD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6867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6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In each target child domain / Forest B domain: create Domain Local group per permission set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Resource Admins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44147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7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Add source Universal Group (or Global Group as FSP) to target Domain Local group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Resource Admins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1974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8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Assign Domain Local group to RDP (Remote Desktop Users / Allow logon via RDS)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Server Team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9827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9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Assign Domain Local group to delegated admin roles (e.g., local Administrators)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Server Team</a:t>
                      </a:r>
                    </a:p>
                  </a:txBody>
                  <a:tcPr anchor="ctr">
                    <a:solidFill>
                      <a:srgbClr val="FB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26838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Grant Domain Admin only if explicitly approved and justified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Security Team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485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Apply/update GPOs to enforce RDP and admin policies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GPO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4744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SG" sz="1400" b="1"/>
                        <a:t>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Document rollback procedures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/>
                        <a:t>All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26645"/>
                  </a:ext>
                </a:extLst>
              </a:tr>
            </a:tbl>
          </a:graphicData>
        </a:graphic>
      </p:graphicFrame>
      <p:sp>
        <p:nvSpPr>
          <p:cNvPr id="20" name="HighlightNote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B05E10"/>
                </a:solidFill>
              </a:rPr>
              <a:t>Steps 6–9 (highlighted) are the critical cross-forest permission assignment steps — the Domain Local group anchors the design.</a:t>
            </a:r>
          </a:p>
        </p:txBody>
      </p:sp>
    </p:spTree>
    <p:extLst>
      <p:ext uri="{BB962C8B-B14F-4D97-AF65-F5344CB8AC3E}">
        <p14:creationId xmlns:p14="http://schemas.microsoft.com/office/powerpoint/2010/main" val="49483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9EE2-F5F7-FE0F-E5AE-C9574101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00"/>
          </a:xfrm>
        </p:spPr>
        <p:txBody>
          <a:bodyPr>
            <a:normAutofit/>
          </a:bodyPr>
          <a:lstStyle/>
          <a:p>
            <a:r>
              <a:rPr lang="en-US" sz="3200"/>
              <a:t>Verify the Solution After Implementation</a:t>
            </a:r>
            <a:endParaRPr lang="en-SG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E3F73-A7F3-4FA5-9459-4F21E3FAF3AF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587500"/>
          <a:ext cx="10668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8645310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6486646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86974763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Expected Outcome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b="1">
                          <a:solidFill>
                            <a:srgbClr val="FFFFFF"/>
                          </a:solidFill>
                        </a:rPr>
                        <a:t>Pass/Fail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01397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Admin account exists; interactive logon restricted as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Account enabled only for privileged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2595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Group memberships replicate to all DCs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All groups show correct members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299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Trust path resolution 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Admin account resolves in target forests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16948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RDP login to approved target server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Access granted via Remote Desktop Users group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4872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RDP login to unapproved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Access denied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20669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Delegated admin tasks (e.g., service restart)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Task completes under the admin account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5257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Audit logs capture logon and privilege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Logs show accurate entries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26146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No excessive privileged memberships remain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Domain Admin contains only justified members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50368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Least-privilege design intact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/>
                        <a:t>Admin account has only intended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228075"/>
                  </a:ext>
                </a:extLst>
              </a:tr>
            </a:tbl>
          </a:graphicData>
        </a:graphic>
      </p:graphicFrame>
      <p:sp>
        <p:nvSpPr>
          <p:cNvPr id="20" name="DenialNote"/>
          <p:cNvSpPr txBox="1"/>
          <p:nvPr/>
        </p:nvSpPr>
        <p:spPr>
          <a:xfrm>
            <a:off x="762000" y="5765800"/>
            <a:ext cx="10668000" cy="3048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buNone/>
            </a:pPr>
            <a:r>
              <a:rPr lang="en-US" sz="1400" i="1" dirty="0">
                <a:solidFill>
                  <a:srgbClr val="595959"/>
                </a:solidFill>
              </a:rPr>
              <a:t>Run these tests after each step. The RDP denial test is the most important — it proves broad access was not accidentally granted.</a:t>
            </a:r>
          </a:p>
        </p:txBody>
      </p:sp>
    </p:spTree>
    <p:extLst>
      <p:ext uri="{BB962C8B-B14F-4D97-AF65-F5344CB8AC3E}">
        <p14:creationId xmlns:p14="http://schemas.microsoft.com/office/powerpoint/2010/main" val="113631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0AB5-2E10-E79A-72E7-4672F713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00"/>
          </a:xfrm>
        </p:spPr>
        <p:txBody>
          <a:bodyPr>
            <a:normAutofit/>
          </a:bodyPr>
          <a:lstStyle/>
          <a:p>
            <a:r>
              <a:rPr lang="en-US" sz="3200"/>
              <a:t>Mitigating the Risks of Cross-Forest Administration</a:t>
            </a:r>
            <a:endParaRPr lang="en-SG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F3509-B54B-4844-81CB-F8DCAEA7F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35218"/>
              </p:ext>
            </p:extLst>
          </p:nvPr>
        </p:nvGraphicFramePr>
        <p:xfrm>
          <a:off x="762000" y="1714500"/>
          <a:ext cx="10668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787236523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418185897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704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Excessive Domain Admin membership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Restrict Domain Admin to approved roles only; use Just-in-Time (JIT) elevation where possible.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7226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RDP privilege creep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Grant RDP only through explicit membership in Remote Desktop Users — never via Domain Admin.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40189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Trust compromise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Use bidirectional trust only when required; enforce SID filtering on the cross-forest trust.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14785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Account theft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Enforce MFA on the privileged admin account; audit all logon events.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381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Unauthorized group nesting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Apply AGUDLP strictly; document every nested group membership.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8485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SG" sz="1400" b="1">
                          <a:solidFill>
                            <a:srgbClr val="A63D3D"/>
                          </a:solidFill>
                        </a:rPr>
                        <a:t>Misconfigured Foreign Security Principals</a:t>
                      </a:r>
                    </a:p>
                  </a:txBody>
                  <a:tcPr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400">
                          <a:solidFill>
                            <a:srgbClr val="1F2A3D"/>
                          </a:solidFill>
                        </a:rPr>
                        <a:t>Validate FSP resolution in the target forest before assigning permissions.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089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79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DE16-F855-399E-5D68-2B2F8A59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/>
              <a:t>Proposal Summary &amp; Action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8628-2230-F584-7407-0A34A9627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819400"/>
            <a:ext cx="10668000" cy="2603500"/>
          </a:xfrm>
        </p:spPr>
        <p:txBody>
          <a:bodyPr/>
          <a:lstStyle/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Immediate:</a:t>
            </a:r>
            <a:r>
              <a:rPr lang="en-US" sz="1500" dirty="0"/>
              <a:t> Sign off on the model and prerequisites.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Week 1:</a:t>
            </a:r>
            <a:r>
              <a:rPr lang="en-US" sz="1500" dirty="0"/>
              <a:t> Verify trust, DNS, and networking.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Week 2:</a:t>
            </a:r>
            <a:r>
              <a:rPr lang="en-US" sz="1500" dirty="0"/>
              <a:t> Create the admin account and Global Group in Domain A.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Week 3:</a:t>
            </a:r>
            <a:r>
              <a:rPr lang="en-US" sz="1500" dirty="0"/>
              <a:t> Deploy Domain Local groups and permissions to child domains and Forest B.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Week 4:</a:t>
            </a:r>
            <a:r>
              <a:rPr lang="en-US" sz="1500" dirty="0"/>
              <a:t> Conduct full verification and perform a pilot test.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sz="1500" b="1" dirty="0"/>
              <a:t>Week 5:</a:t>
            </a:r>
            <a:r>
              <a:rPr lang="en-US" sz="1500" dirty="0"/>
              <a:t> Roll out to production and enable audit logging.</a:t>
            </a:r>
          </a:p>
        </p:txBody>
      </p:sp>
      <p:sp>
        <p:nvSpPr>
          <p:cNvPr id="20" name="RecommendationBox"/>
          <p:cNvSpPr/>
          <p:nvPr/>
        </p:nvSpPr>
        <p:spPr>
          <a:xfrm>
            <a:off x="762000" y="17526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lIns="182880" rIns="182880" anchor="ctr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Recommendation: </a:t>
            </a:r>
            <a:r>
              <a:rPr lang="en-US" sz="1500" dirty="0">
                <a:solidFill>
                  <a:srgbClr val="FFFFFF"/>
                </a:solidFill>
              </a:rPr>
              <a:t>Adopt the AGUDLP + cross-forest Domain Local group model as the enterprise standard for cross-forest administrative access.</a:t>
            </a:r>
          </a:p>
        </p:txBody>
      </p:sp>
      <p:sp>
        <p:nvSpPr>
          <p:cNvPr id="21" name="TL0"/>
          <p:cNvSpPr/>
          <p:nvPr/>
        </p:nvSpPr>
        <p:spPr>
          <a:xfrm>
            <a:off x="762000" y="5715000"/>
            <a:ext cx="1778000" cy="431800"/>
          </a:xfrm>
          <a:prstGeom prst="homePlate">
            <a:avLst/>
          </a:prstGeom>
          <a:solidFill>
            <a:srgbClr val="2E6DA4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22" name="TL1"/>
          <p:cNvSpPr/>
          <p:nvPr/>
        </p:nvSpPr>
        <p:spPr>
          <a:xfrm>
            <a:off x="2603500" y="5715000"/>
            <a:ext cx="1778000" cy="431800"/>
          </a:xfrm>
          <a:prstGeom prst="homePlate">
            <a:avLst/>
          </a:prstGeom>
          <a:solidFill>
            <a:srgbClr val="285E9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23" name="TL2"/>
          <p:cNvSpPr/>
          <p:nvPr/>
        </p:nvSpPr>
        <p:spPr>
          <a:xfrm>
            <a:off x="4445000" y="5715000"/>
            <a:ext cx="1778000" cy="431800"/>
          </a:xfrm>
          <a:prstGeom prst="homePlate">
            <a:avLst/>
          </a:prstGeom>
          <a:solidFill>
            <a:srgbClr val="235387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4" name="TL3"/>
          <p:cNvSpPr/>
          <p:nvPr/>
        </p:nvSpPr>
        <p:spPr>
          <a:xfrm>
            <a:off x="6286500" y="5715000"/>
            <a:ext cx="1778000" cy="431800"/>
          </a:xfrm>
          <a:prstGeom prst="homePlate">
            <a:avLst/>
          </a:prstGeom>
          <a:solidFill>
            <a:srgbClr val="1F4879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5" name="TL4"/>
          <p:cNvSpPr/>
          <p:nvPr/>
        </p:nvSpPr>
        <p:spPr>
          <a:xfrm>
            <a:off x="8128000" y="5715000"/>
            <a:ext cx="1778000" cy="431800"/>
          </a:xfrm>
          <a:prstGeom prst="homePlate">
            <a:avLst/>
          </a:prstGeom>
          <a:solidFill>
            <a:srgbClr val="1A3C6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30" name="GateDiamond"/>
          <p:cNvSpPr/>
          <p:nvPr/>
        </p:nvSpPr>
        <p:spPr>
          <a:xfrm>
            <a:off x="10312400" y="5626100"/>
            <a:ext cx="609600" cy="609600"/>
          </a:xfrm>
          <a:prstGeom prst="diamond">
            <a:avLst/>
          </a:prstGeom>
          <a:solidFill>
            <a:srgbClr val="D97C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GateLabel"/>
          <p:cNvSpPr txBox="1"/>
          <p:nvPr/>
        </p:nvSpPr>
        <p:spPr>
          <a:xfrm>
            <a:off x="9842500" y="6286500"/>
            <a:ext cx="15875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buNone/>
            </a:pPr>
            <a:r>
              <a:rPr lang="en-US" sz="1400" b="1" dirty="0">
                <a:solidFill>
                  <a:srgbClr val="B05E10"/>
                </a:solidFill>
              </a:rPr>
              <a:t>Go / No-Go</a:t>
            </a:r>
          </a:p>
        </p:txBody>
      </p:sp>
    </p:spTree>
    <p:extLst>
      <p:ext uri="{BB962C8B-B14F-4D97-AF65-F5344CB8AC3E}">
        <p14:creationId xmlns:p14="http://schemas.microsoft.com/office/powerpoint/2010/main" val="3184585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74BC-CE5B-95E0-3994-78514FF4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000"/>
          </a:xfrm>
        </p:spPr>
        <p:txBody>
          <a:bodyPr>
            <a:normAutofit/>
          </a:bodyPr>
          <a:lstStyle/>
          <a:p>
            <a:r>
              <a:rPr lang="en-US" sz="3200"/>
              <a:t>Group Scope and Trust Dependency — At a Glance</a:t>
            </a:r>
            <a:endParaRPr lang="en-SG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F23214-4B44-4B68-9E91-2B9B9B484CA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68500"/>
          <a:ext cx="10668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977994098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3045641365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44692030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22172084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Recommended Group Pattern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Trust Dependency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Risk Level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0195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SG" sz="1500" b="1"/>
                        <a:t>Same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Global Group → Permission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1">
                          <a:solidFill>
                            <a:srgbClr val="3E7E3E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EA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92918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SG" sz="1500" b="1"/>
                        <a:t>Child domains (same forest)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Global Group → Universal Group → Domain Local Group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Same forest trust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1">
                          <a:solidFill>
                            <a:srgbClr val="8A6D00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84667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SG" sz="1500" b="1"/>
                        <a:t>Separate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Global Group (source) → Domain Local Group (target, with FSP)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500"/>
                        <a:t>Explicit forest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1">
                          <a:solidFill>
                            <a:srgbClr val="B05E10"/>
                          </a:solidFill>
                        </a:rPr>
                        <a:t>Medium-High</a:t>
                      </a:r>
                    </a:p>
                  </a:txBody>
                  <a:tcPr anchor="ctr">
                    <a:solidFill>
                      <a:srgbClr val="FBE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106539"/>
                  </a:ext>
                </a:extLst>
              </a:tr>
            </a:tbl>
          </a:graphicData>
        </a:graphic>
      </p:graphicFrame>
      <p:sp>
        <p:nvSpPr>
          <p:cNvPr id="20" name="Takeaway"/>
          <p:cNvSpPr/>
          <p:nvPr/>
        </p:nvSpPr>
        <p:spPr>
          <a:xfrm>
            <a:off x="762000" y="5220970"/>
            <a:ext cx="10668000" cy="990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</p:spPr>
        <p:txBody>
          <a:bodyPr lIns="182880" rIns="182880" anchor="ctr"/>
          <a:lstStyle/>
          <a:p>
            <a:pPr>
              <a:buNone/>
            </a:pPr>
            <a:r>
              <a:rPr lang="en-US" sz="1500" b="1" dirty="0">
                <a:solidFill>
                  <a:srgbClr val="2B579A"/>
                </a:solidFill>
              </a:rPr>
              <a:t>Takeaway: </a:t>
            </a:r>
            <a:r>
              <a:rPr lang="en-US" sz="1500" dirty="0">
                <a:solidFill>
                  <a:srgbClr val="1F2A3D"/>
                </a:solidFill>
              </a:rPr>
              <a:t>Cross-forest access is fundamentally different from same-forest access — nesting stops at the trust boundary, so treat every cross-forest permission with extra care.</a:t>
            </a:r>
          </a:p>
        </p:txBody>
      </p:sp>
    </p:spTree>
    <p:extLst>
      <p:ext uri="{BB962C8B-B14F-4D97-AF65-F5344CB8AC3E}">
        <p14:creationId xmlns:p14="http://schemas.microsoft.com/office/powerpoint/2010/main" val="331783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4545307344]">
  <a:themeElements>
    <a:clrScheme name="Office">
      <a:dk1>
        <a:srgbClr val="1F2A3D"/>
      </a:dk1>
      <a:lt1>
        <a:srgbClr val="FFFFFF"/>
      </a:lt1>
      <a:dk2>
        <a:srgbClr val="2B579A"/>
      </a:dk2>
      <a:lt2>
        <a:srgbClr val="F2F2F2"/>
      </a:lt2>
      <a:accent1>
        <a:srgbClr val="2B579A"/>
      </a:accent1>
      <a:accent2>
        <a:srgbClr val="7F7F7F"/>
      </a:accent2>
      <a:accent3>
        <a:srgbClr val="3E7E3E"/>
      </a:accent3>
      <a:accent4>
        <a:srgbClr val="D97C2B"/>
      </a:accent4>
      <a:accent5>
        <a:srgbClr val="5B9BD5"/>
      </a:accent5>
      <a:accent6>
        <a:srgbClr val="A63D3D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60f53f-b2e4-477f-bf76-56b26a6f88ab}">
  <we:reference id="WA200010001" version="1.0.0.1" store="en-US" storeType="OMEX"/>
  <we:alternateReferences/>
  <we:properties>
    <we:property name="Microsoft.Office.CampaignId" value="&quot;none&quot;"/>
    <we:property name="claude.fileId" value="&quot;e9bd606f-5c19-49bd-ace2-78dad2d5b81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1350</Words>
  <Application>Microsoft Office PowerPoint</Application>
  <PresentationFormat>Widescreen</PresentationFormat>
  <Paragraphs>216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Segoe UI</vt:lpstr>
      <vt:lpstr>Segoe UI Semibold</vt:lpstr>
      <vt:lpstr>Office Theme [1784545307344]</vt:lpstr>
      <vt:lpstr>Cross-Forest Administrative Access Model for RDP and Domain Administration</vt:lpstr>
      <vt:lpstr>Centralized Identity, Decentralized Permissioning</vt:lpstr>
      <vt:lpstr>Business Need</vt:lpstr>
      <vt:lpstr>The Challenge</vt:lpstr>
      <vt:lpstr>Proposed Access Model: AGUDLP + Cross-Forest Domain Local Groups</vt:lpstr>
      <vt:lpstr>Why We Use Each Group Type</vt:lpstr>
      <vt:lpstr>System Architecture: Cross-Forest Access Flow</vt:lpstr>
      <vt:lpstr>Before Implementation, Verify</vt:lpstr>
      <vt:lpstr>Step-by-Step Implementation (Order Matters)</vt:lpstr>
      <vt:lpstr>Verify the Solution After Implementation</vt:lpstr>
      <vt:lpstr>Mitigating the Risks of Cross-Forest Administration</vt:lpstr>
      <vt:lpstr>Proposal Summary &amp; Action Plan</vt:lpstr>
      <vt:lpstr>Group Scope and Trust Dependency — At a Glance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Pankaj Gupta</cp:lastModifiedBy>
  <cp:revision>5</cp:revision>
  <dcterms:created xsi:type="dcterms:W3CDTF">2018-06-07T21:39:02Z</dcterms:created>
  <dcterms:modified xsi:type="dcterms:W3CDTF">2026-07-20T11:17:43Z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