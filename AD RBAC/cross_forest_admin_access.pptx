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81709" y="4663976"/>
            <a:ext cx="1357313" cy="303907"/>
          </a:xfrm>
          <a:prstGeom prst="roundRect">
            <a:avLst>
              <a:gd name="adj" fmla="val 300580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06680" tIns="106680" rIns="106680" bIns="106680" rtlCol="0" anchor="ctr">
            <a:normAutofit/>
          </a:bodyPr>
          <a:lstStyle/>
          <a:p>
            <a:pPr algn="ctr" indent="0" marL="0">
              <a:buNone/>
            </a:pPr>
            <a:r>
              <a:rPr lang="en-US" sz="93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Identity separation</a:t>
            </a:r>
            <a:endParaRPr lang="en-US" sz="936" dirty="0"/>
          </a:p>
        </p:txBody>
      </p:sp>
      <p:sp>
        <p:nvSpPr>
          <p:cNvPr id="4" name="Text 1"/>
          <p:cNvSpPr/>
          <p:nvPr/>
        </p:nvSpPr>
        <p:spPr>
          <a:xfrm>
            <a:off x="3953321" y="4663976"/>
            <a:ext cx="1103412" cy="303907"/>
          </a:xfrm>
          <a:prstGeom prst="roundRect">
            <a:avLst>
              <a:gd name="adj" fmla="val 300580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06680" tIns="106680" rIns="106680" bIns="106680" rtlCol="0" anchor="ctr">
            <a:normAutofit/>
          </a:bodyPr>
          <a:lstStyle/>
          <a:p>
            <a:pPr algn="ctr" indent="0" marL="0">
              <a:buNone/>
            </a:pPr>
            <a:r>
              <a:rPr lang="en-US" sz="93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Least privilege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5171033" y="4663976"/>
            <a:ext cx="1491258" cy="303907"/>
          </a:xfrm>
          <a:prstGeom prst="roundRect">
            <a:avLst>
              <a:gd name="adj" fmla="val 300580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06680" tIns="106680" rIns="106680" bIns="106680" rtlCol="0" anchor="ctr">
            <a:normAutofit/>
          </a:bodyPr>
          <a:lstStyle/>
          <a:p>
            <a:pPr algn="ctr" indent="0" marL="0">
              <a:buNone/>
            </a:pPr>
            <a:r>
              <a:rPr lang="en-US" sz="93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Trusted-forest access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405872" y="175617"/>
            <a:ext cx="8332256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50"/>
              </a:lnSpc>
              <a:buNone/>
            </a:pPr>
            <a:r>
              <a:rPr lang="en-US" sz="69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🛡️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487561" y="1680567"/>
            <a:ext cx="8168878" cy="224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20"/>
              </a:lnSpc>
              <a:buNone/>
            </a:pPr>
            <a:r>
              <a:rPr lang="en-US" sz="5880" b="1" dirty="0">
                <a:solidFill>
                  <a:srgbClr val="60A5F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Cross-Forest Administrative Access Model</a:t>
            </a:r>
            <a:endParaRPr lang="en-US" sz="5880" dirty="0"/>
          </a:p>
        </p:txBody>
      </p:sp>
      <p:sp>
        <p:nvSpPr>
          <p:cNvPr id="8" name="Text 5"/>
          <p:cNvSpPr/>
          <p:nvPr/>
        </p:nvSpPr>
        <p:spPr>
          <a:xfrm>
            <a:off x="405872" y="4073426"/>
            <a:ext cx="83322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RDP and Domain Administration Proposal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61" y="2072729"/>
            <a:ext cx="2595860" cy="219119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921" y="2072729"/>
            <a:ext cx="2596009" cy="219119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430" y="2072729"/>
            <a:ext cx="2595860" cy="219119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87561" y="879574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Executive summary</a:t>
            </a:r>
            <a:endParaRPr lang="en-US" sz="864" dirty="0"/>
          </a:p>
        </p:txBody>
      </p:sp>
      <p:sp>
        <p:nvSpPr>
          <p:cNvPr id="7" name="Text 1"/>
          <p:cNvSpPr/>
          <p:nvPr/>
        </p:nvSpPr>
        <p:spPr>
          <a:xfrm>
            <a:off x="487561" y="1158329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Design intent and outcome</a:t>
            </a:r>
            <a:endParaRPr lang="en-US" sz="3600" dirty="0"/>
          </a:p>
        </p:txBody>
      </p:sp>
      <p:sp>
        <p:nvSpPr>
          <p:cNvPr id="8" name="Text 2"/>
          <p:cNvSpPr/>
          <p:nvPr/>
        </p:nvSpPr>
        <p:spPr>
          <a:xfrm>
            <a:off x="649486" y="2234654"/>
            <a:ext cx="2317450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Identity model</a:t>
            </a:r>
            <a:endParaRPr lang="en-US" sz="864" dirty="0"/>
          </a:p>
        </p:txBody>
      </p:sp>
      <p:sp>
        <p:nvSpPr>
          <p:cNvPr id="9" name="Text 3"/>
          <p:cNvSpPr/>
          <p:nvPr/>
        </p:nvSpPr>
        <p:spPr>
          <a:xfrm>
            <a:off x="649486" y="2475309"/>
            <a:ext cx="22720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 dedicated admin ID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649486" y="3161109"/>
            <a:ext cx="2272010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a separate privileged account in Forest A / Domain A and keep it distinct from the user’s standard account.</a:t>
            </a:r>
            <a:endParaRPr lang="en-US" sz="1080" dirty="0"/>
          </a:p>
        </p:txBody>
      </p:sp>
      <p:sp>
        <p:nvSpPr>
          <p:cNvPr id="11" name="Text 5"/>
          <p:cNvSpPr/>
          <p:nvPr/>
        </p:nvSpPr>
        <p:spPr>
          <a:xfrm>
            <a:off x="3435846" y="2234654"/>
            <a:ext cx="2317602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Grouping model</a:t>
            </a:r>
            <a:endParaRPr lang="en-US" sz="864" dirty="0"/>
          </a:p>
        </p:txBody>
      </p:sp>
      <p:sp>
        <p:nvSpPr>
          <p:cNvPr id="12" name="Text 6"/>
          <p:cNvSpPr/>
          <p:nvPr/>
        </p:nvSpPr>
        <p:spPr>
          <a:xfrm>
            <a:off x="3435846" y="2475309"/>
            <a:ext cx="23176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GG → UG → DL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3435846" y="2856309"/>
            <a:ext cx="2272159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Global Groups for source-role membership, Universal Groups for same-forest expansion, and Domain Local Groups for resource-side permission assignment.</a:t>
            </a:r>
            <a:endParaRPr lang="en-US" sz="1080" dirty="0"/>
          </a:p>
        </p:txBody>
      </p:sp>
      <p:sp>
        <p:nvSpPr>
          <p:cNvPr id="14" name="Text 8"/>
          <p:cNvSpPr/>
          <p:nvPr/>
        </p:nvSpPr>
        <p:spPr>
          <a:xfrm>
            <a:off x="6222355" y="2234654"/>
            <a:ext cx="2317450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 model</a:t>
            </a:r>
            <a:endParaRPr lang="en-US" sz="864" dirty="0"/>
          </a:p>
        </p:txBody>
      </p:sp>
      <p:sp>
        <p:nvSpPr>
          <p:cNvPr id="15" name="Text 9"/>
          <p:cNvSpPr/>
          <p:nvPr/>
        </p:nvSpPr>
        <p:spPr>
          <a:xfrm>
            <a:off x="6222355" y="2475309"/>
            <a:ext cx="22720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Target-side authorization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222355" y="3161109"/>
            <a:ext cx="227201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Grant RDP and delegated admin rights in the target domain or forest, with Domain Admin reserved for explicitly approved cases only.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1501527"/>
            <a:ext cx="3970139" cy="3333750"/>
          </a:xfrm>
          <a:prstGeom prst="roundRect">
            <a:avLst>
              <a:gd name="adj" fmla="val 6034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501527"/>
            <a:ext cx="3970139" cy="3333750"/>
          </a:xfrm>
          <a:prstGeom prst="roundRect">
            <a:avLst>
              <a:gd name="adj" fmla="val 6034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87561" y="308372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Requirement statement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487561" y="587127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Requested access scenario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3786" y="1777752"/>
            <a:ext cx="34860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ask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3786" y="2158752"/>
            <a:ext cx="3417689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7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one privileged admin account in the source forest domain.</a:t>
            </a:r>
            <a:endParaRPr lang="en-US" sz="1176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7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Add that account to a role-based source security group.</a:t>
            </a:r>
            <a:endParaRPr lang="en-US" sz="1176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7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Extend access to same-forest child domains and a separate trusted forest.</a:t>
            </a:r>
            <a:endParaRPr lang="en-US" sz="1176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7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Support RDP and delegated administrative operations with clear governance.</a:t>
            </a:r>
            <a:endParaRPr lang="en-US" sz="1176" dirty="0"/>
          </a:p>
        </p:txBody>
      </p:sp>
      <p:sp>
        <p:nvSpPr>
          <p:cNvPr id="9" name="Text 6"/>
          <p:cNvSpPr/>
          <p:nvPr/>
        </p:nvSpPr>
        <p:spPr>
          <a:xfrm>
            <a:off x="4962525" y="1777752"/>
            <a:ext cx="34860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Key interpretation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62525" y="2158752"/>
            <a:ext cx="3417689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7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same identity can be reused, but the same permission object cannot be assumed across all trust boundaries.</a:t>
            </a:r>
            <a:endParaRPr lang="en-US" sz="1176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7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Same-forest expansion differs from separate-forest authorization.</a:t>
            </a:r>
            <a:endParaRPr lang="en-US" sz="1176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7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Permissioning must remain resource-side and least-privileged.</a:t>
            </a:r>
            <a:endParaRPr lang="en-US" sz="1176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7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RDP must be explicitly granted rather than inferred from broad admin membership.</a:t>
            </a:r>
            <a:endParaRPr lang="en-US" sz="117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1534418"/>
            <a:ext cx="2595860" cy="2105918"/>
          </a:xfrm>
          <a:prstGeom prst="roundRect">
            <a:avLst>
              <a:gd name="adj" fmla="val 7815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73921" y="1534418"/>
            <a:ext cx="2596009" cy="2105918"/>
          </a:xfrm>
          <a:prstGeom prst="roundRect">
            <a:avLst>
              <a:gd name="adj" fmla="val 7815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60430" y="1534418"/>
            <a:ext cx="2595860" cy="2105918"/>
          </a:xfrm>
          <a:prstGeom prst="roundRect">
            <a:avLst>
              <a:gd name="adj" fmla="val 7815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7561" y="3830836"/>
            <a:ext cx="8168878" cy="933450"/>
          </a:xfrm>
          <a:prstGeom prst="roundRect">
            <a:avLst>
              <a:gd name="adj" fmla="val 21551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7561" y="379363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Constraints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487561" y="658118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Problem statement and design constraints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57076" y="1696343"/>
            <a:ext cx="2309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Scope mismatch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7076" y="1985814"/>
            <a:ext cx="2264420" cy="145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Global Groups collect accounts from their own domain role boundary.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They should not be treated as the universal final permission layer across every target domain and forest.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43436" y="1696343"/>
            <a:ext cx="2309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 boundary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43436" y="1985814"/>
            <a:ext cx="2264569" cy="124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Child domains in the same forest can use Universal Group expansion where justified.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separate forest requires trust-aware, target-side group assignment.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29945" y="1696343"/>
            <a:ext cx="2309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Privilege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29945" y="1985814"/>
            <a:ext cx="2264420" cy="124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Domain Admin should not become a shortcut for RDP enablement.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Broad inherited privilege increases audit and blast-radius concerns.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7586" y="4078486"/>
            <a:ext cx="14263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152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Design principle: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3111550" y="4078486"/>
            <a:ext cx="12114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152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identity account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4678859" y="4078486"/>
            <a:ext cx="7635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152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role group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6128891" y="4078486"/>
            <a:ext cx="19886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152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resource permission group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764381"/>
            <a:ext cx="1511796" cy="2731443"/>
          </a:xfrm>
          <a:prstGeom prst="roundRect">
            <a:avLst>
              <a:gd name="adj" fmla="val 13306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151757" y="764381"/>
            <a:ext cx="1511796" cy="2731443"/>
          </a:xfrm>
          <a:prstGeom prst="roundRect">
            <a:avLst>
              <a:gd name="adj" fmla="val 13306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815953" y="764381"/>
            <a:ext cx="1511945" cy="2731443"/>
          </a:xfrm>
          <a:prstGeom prst="roundRect">
            <a:avLst>
              <a:gd name="adj" fmla="val 13305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80298" y="764381"/>
            <a:ext cx="1511796" cy="2731443"/>
          </a:xfrm>
          <a:prstGeom prst="roundRect">
            <a:avLst>
              <a:gd name="adj" fmla="val 13306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144494" y="764381"/>
            <a:ext cx="1511945" cy="2731443"/>
          </a:xfrm>
          <a:prstGeom prst="roundRect">
            <a:avLst>
              <a:gd name="adj" fmla="val 13305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7561" y="3724424"/>
            <a:ext cx="2621310" cy="1847850"/>
          </a:xfrm>
          <a:prstGeom prst="roundRect">
            <a:avLst>
              <a:gd name="adj" fmla="val 10886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261271" y="3724424"/>
            <a:ext cx="2621310" cy="1847850"/>
          </a:xfrm>
          <a:prstGeom prst="roundRect">
            <a:avLst>
              <a:gd name="adj" fmla="val 10886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34980" y="3724424"/>
            <a:ext cx="2621459" cy="1847850"/>
          </a:xfrm>
          <a:prstGeom prst="roundRect">
            <a:avLst>
              <a:gd name="adj" fmla="val 10886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7561" y="-428774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Access model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487561" y="-150019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Recommended control path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87586" y="964406"/>
            <a:ext cx="1133981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687586" y="1205061"/>
            <a:ext cx="11117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Admin account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87586" y="1814661"/>
            <a:ext cx="1111746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a dedicated privileged account in Domain A.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2351782" y="964406"/>
            <a:ext cx="1133981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2351782" y="1205061"/>
            <a:ext cx="11117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Global Group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351782" y="1814661"/>
            <a:ext cx="1111746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Add the account to a source-domain role group.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4015978" y="964406"/>
            <a:ext cx="1134133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4015978" y="1205061"/>
            <a:ext cx="11118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Universal Group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015978" y="1814661"/>
            <a:ext cx="111189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only when same-forest multi-domain scope is required.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680323" y="964406"/>
            <a:ext cx="1133981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5680323" y="1205061"/>
            <a:ext cx="11117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Domain Local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680323" y="1814661"/>
            <a:ext cx="1111746" cy="1295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target-side permission groups per child domain or trusted forest resource domain.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7344519" y="964406"/>
            <a:ext cx="1134133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344519" y="1205061"/>
            <a:ext cx="11118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Assigned rights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344519" y="1814661"/>
            <a:ext cx="1111895" cy="148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Map DL groups to RDP, delegated admin, or explicitly approved domain-wide rights.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687586" y="3924449"/>
            <a:ext cx="2265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Single domain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7586" y="4229249"/>
            <a:ext cx="2221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AGDLP: Account → Global Group → Domain Local Group → Permission.</a:t>
            </a:r>
            <a:endParaRPr lang="en-US" sz="1128" dirty="0"/>
          </a:p>
        </p:txBody>
      </p:sp>
      <p:sp>
        <p:nvSpPr>
          <p:cNvPr id="30" name="Text 27"/>
          <p:cNvSpPr/>
          <p:nvPr/>
        </p:nvSpPr>
        <p:spPr>
          <a:xfrm>
            <a:off x="3461296" y="3924449"/>
            <a:ext cx="2221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Same forest, multi-domain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461296" y="4457849"/>
            <a:ext cx="2221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AGUDLP: Account → Global Group → Universal Group → Domain Local Group → Permission.</a:t>
            </a:r>
            <a:endParaRPr lang="en-US" sz="1128" dirty="0"/>
          </a:p>
        </p:txBody>
      </p:sp>
      <p:sp>
        <p:nvSpPr>
          <p:cNvPr id="32" name="Text 29"/>
          <p:cNvSpPr/>
          <p:nvPr/>
        </p:nvSpPr>
        <p:spPr>
          <a:xfrm>
            <a:off x="6235005" y="3924449"/>
            <a:ext cx="22658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Separate forest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235005" y="4229249"/>
            <a:ext cx="22214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Trusted-forest target-side Domain Local groups remain the primary permission boundary.</a:t>
            </a:r>
            <a:endParaRPr lang="en-US" sz="112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516731"/>
            <a:ext cx="8168878" cy="3814465"/>
          </a:xfrm>
          <a:prstGeom prst="roundRect">
            <a:avLst>
              <a:gd name="adj" fmla="val 5273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87561" y="4521696"/>
            <a:ext cx="3989189" cy="1260277"/>
          </a:xfrm>
          <a:prstGeom prst="roundRect">
            <a:avLst>
              <a:gd name="adj" fmla="val 15962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67250" y="4521696"/>
            <a:ext cx="3989189" cy="1260277"/>
          </a:xfrm>
          <a:prstGeom prst="roundRect">
            <a:avLst>
              <a:gd name="adj" fmla="val 15962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486" y="678656"/>
          <a:ext cx="7845028" cy="3490615"/>
        </p:xfrm>
        <a:graphic>
          <a:graphicData uri="http://schemas.openxmlformats.org/drawingml/2006/table">
            <a:tbl>
              <a:tblPr/>
              <a:tblGrid>
                <a:gridCol w="1961257"/>
                <a:gridCol w="1961257"/>
                <a:gridCol w="1961257"/>
                <a:gridCol w="1961257"/>
              </a:tblGrid>
              <a:tr h="872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dirty="0">
                          <a:solidFill>
                            <a:srgbClr val="EEF4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Access scope</a:t>
                      </a:r>
                      <a:endParaRPr lang="en-US" sz="1008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dirty="0">
                          <a:solidFill>
                            <a:srgbClr val="EEF4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Recommended pattern</a:t>
                      </a:r>
                      <a:endParaRPr lang="en-US" sz="1008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dirty="0">
                          <a:solidFill>
                            <a:srgbClr val="EEF4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Trust dependency</a:t>
                      </a:r>
                      <a:endParaRPr lang="en-US" sz="1008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dirty="0">
                          <a:solidFill>
                            <a:srgbClr val="EEF4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Risk level</a:t>
                      </a:r>
                      <a:endParaRPr lang="en-US" sz="1008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E"/>
                    </a:solidFill>
                  </a:tcPr>
                </a:tc>
              </a:tr>
              <a:tr h="8726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Same domain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AGDLP, with DL group mapped directly to local/server/admin permissions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Intra-domain only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Low when roles are separated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26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Child domains in same forest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AGUDLP where cross-domain reuse is needed, still ending in target DL groups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Native same-forest trust and GC-aware design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Medium if UG usage is not governed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26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Separate trusted forest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Source role group / trusted principal nested into target-side DL groups; permissions granted only on resource side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Forest trust, name resolution, object resolution, selective scope controls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Higher due to trust boundary and privilege delegation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87561" y="-638324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Scope model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487561" y="-359569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Group scope and trust comparison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687586" y="4721721"/>
            <a:ext cx="3660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RDP rule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7586" y="5026521"/>
            <a:ext cx="3589139" cy="55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Grant RDP through target-side Remote Desktop Users, local group management, and the user-right assignment path aligned to server role.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4867275" y="4721721"/>
            <a:ext cx="3660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Admin rule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67275" y="5026521"/>
            <a:ext cx="3589139" cy="55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delegated admin or local Administrators where possible; reserve Domain Admin for approved domain-wide administration only.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1392138"/>
            <a:ext cx="4009132" cy="2721025"/>
          </a:xfrm>
          <a:prstGeom prst="roundRect">
            <a:avLst>
              <a:gd name="adj" fmla="val 60489"/>
            </a:avLst>
          </a:prstGeom>
          <a:solidFill>
            <a:srgbClr val="0C1626">
              <a:alpha val="74000"/>
            </a:srgbClr>
          </a:solidFill>
          <a:ln w="9525">
            <a:solidFill>
              <a:srgbClr val="93C5F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314700" y="1554063"/>
            <a:ext cx="1020068" cy="303907"/>
          </a:xfrm>
          <a:prstGeom prst="roundRect">
            <a:avLst>
              <a:gd name="adj" fmla="val 300580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06680" tIns="106680" rIns="106680" bIns="10668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 forest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649486" y="1972270"/>
            <a:ext cx="1152227" cy="1508075"/>
          </a:xfrm>
          <a:prstGeom prst="roundRect">
            <a:avLst>
              <a:gd name="adj" fmla="val 17459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916013" y="1972270"/>
            <a:ext cx="1152227" cy="1508075"/>
          </a:xfrm>
          <a:prstGeom prst="roundRect">
            <a:avLst>
              <a:gd name="adj" fmla="val 17459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182541" y="1972270"/>
            <a:ext cx="1152227" cy="1508075"/>
          </a:xfrm>
          <a:prstGeom prst="roundRect">
            <a:avLst>
              <a:gd name="adj" fmla="val 17459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093" y="2613571"/>
            <a:ext cx="770930" cy="1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2423" y="784324"/>
            <a:ext cx="3083868" cy="3936653"/>
          </a:xfrm>
          <a:prstGeom prst="roundRect">
            <a:avLst>
              <a:gd name="adj" fmla="val 53372"/>
            </a:avLst>
          </a:prstGeom>
          <a:solidFill>
            <a:srgbClr val="0C1626">
              <a:alpha val="74000"/>
            </a:srgbClr>
          </a:solidFill>
          <a:ln w="9525">
            <a:solidFill>
              <a:srgbClr val="93C5F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894612" y="946249"/>
            <a:ext cx="1599754" cy="303907"/>
          </a:xfrm>
          <a:prstGeom prst="roundRect">
            <a:avLst>
              <a:gd name="adj" fmla="val 300580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06680" tIns="106680" rIns="106680" bIns="10668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Trusted resource forest</a:t>
            </a:r>
            <a:endParaRPr lang="en-US" sz="936" dirty="0"/>
          </a:p>
        </p:txBody>
      </p:sp>
      <p:sp>
        <p:nvSpPr>
          <p:cNvPr id="11" name="Text 7"/>
          <p:cNvSpPr/>
          <p:nvPr/>
        </p:nvSpPr>
        <p:spPr>
          <a:xfrm>
            <a:off x="5734348" y="1364456"/>
            <a:ext cx="2760018" cy="3194596"/>
          </a:xfrm>
          <a:prstGeom prst="roundRect">
            <a:avLst>
              <a:gd name="adj" fmla="val 7288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858173" y="1728936"/>
            <a:ext cx="2512368" cy="851297"/>
          </a:xfrm>
          <a:prstGeom prst="roundRect">
            <a:avLst>
              <a:gd name="adj" fmla="val 23630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858173" y="2656433"/>
            <a:ext cx="2512368" cy="851297"/>
          </a:xfrm>
          <a:prstGeom prst="roundRect">
            <a:avLst>
              <a:gd name="adj" fmla="val 23630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858173" y="3583930"/>
            <a:ext cx="2512368" cy="851297"/>
          </a:xfrm>
          <a:prstGeom prst="roundRect">
            <a:avLst>
              <a:gd name="adj" fmla="val 23630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87561" y="4873377"/>
            <a:ext cx="1927920" cy="640854"/>
          </a:xfrm>
          <a:prstGeom prst="roundRect">
            <a:avLst>
              <a:gd name="adj" fmla="val 3139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① Admin-A → GG_Admin_Role</a:t>
            </a:r>
            <a:endParaRPr lang="en-US" sz="1032" dirty="0"/>
          </a:p>
        </p:txBody>
      </p:sp>
      <p:sp>
        <p:nvSpPr>
          <p:cNvPr id="16" name="Text 12"/>
          <p:cNvSpPr/>
          <p:nvPr/>
        </p:nvSpPr>
        <p:spPr>
          <a:xfrm>
            <a:off x="2567880" y="4873377"/>
            <a:ext cx="1927920" cy="640854"/>
          </a:xfrm>
          <a:prstGeom prst="roundRect">
            <a:avLst>
              <a:gd name="adj" fmla="val 3139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② GG → UG for same-forest reuse</a:t>
            </a:r>
            <a:endParaRPr lang="en-US" sz="1032" dirty="0"/>
          </a:p>
        </p:txBody>
      </p:sp>
      <p:sp>
        <p:nvSpPr>
          <p:cNvPr id="17" name="Text 13"/>
          <p:cNvSpPr/>
          <p:nvPr/>
        </p:nvSpPr>
        <p:spPr>
          <a:xfrm>
            <a:off x="4648200" y="4873377"/>
            <a:ext cx="1927920" cy="640854"/>
          </a:xfrm>
          <a:prstGeom prst="roundRect">
            <a:avLst>
              <a:gd name="adj" fmla="val 3139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③ UG / trusted principal → target DL group</a:t>
            </a:r>
            <a:endParaRPr lang="en-US" sz="1032" dirty="0"/>
          </a:p>
        </p:txBody>
      </p:sp>
      <p:sp>
        <p:nvSpPr>
          <p:cNvPr id="18" name="Text 14"/>
          <p:cNvSpPr/>
          <p:nvPr/>
        </p:nvSpPr>
        <p:spPr>
          <a:xfrm>
            <a:off x="6728520" y="4873377"/>
            <a:ext cx="1927920" cy="640854"/>
          </a:xfrm>
          <a:prstGeom prst="roundRect">
            <a:avLst>
              <a:gd name="adj" fmla="val 3139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④ DL group → RDP / admin permission</a:t>
            </a:r>
            <a:endParaRPr lang="en-US" sz="1032" dirty="0"/>
          </a:p>
        </p:txBody>
      </p:sp>
      <p:sp>
        <p:nvSpPr>
          <p:cNvPr id="19" name="Text 15"/>
          <p:cNvSpPr/>
          <p:nvPr/>
        </p:nvSpPr>
        <p:spPr>
          <a:xfrm>
            <a:off x="487561" y="-370731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</a:t>
            </a:r>
            <a:endParaRPr lang="en-US" sz="864" dirty="0"/>
          </a:p>
        </p:txBody>
      </p:sp>
      <p:sp>
        <p:nvSpPr>
          <p:cNvPr id="20" name="Text 16"/>
          <p:cNvSpPr/>
          <p:nvPr/>
        </p:nvSpPr>
        <p:spPr>
          <a:xfrm>
            <a:off x="487561" y="-91976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System architecture diagram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649486" y="1591717"/>
            <a:ext cx="730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Forest A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73311" y="2096095"/>
            <a:ext cx="922669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Domain A</a:t>
            </a:r>
            <a:endParaRPr lang="en-US" sz="864" dirty="0"/>
          </a:p>
        </p:txBody>
      </p:sp>
      <p:sp>
        <p:nvSpPr>
          <p:cNvPr id="23" name="Text 19"/>
          <p:cNvSpPr/>
          <p:nvPr/>
        </p:nvSpPr>
        <p:spPr>
          <a:xfrm>
            <a:off x="773311" y="2298650"/>
            <a:ext cx="9045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👤 Admin-A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73311" y="2793950"/>
            <a:ext cx="92266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GG_Admin_Role</a:t>
            </a:r>
            <a:endParaRPr lang="en-US" sz="984" dirty="0"/>
          </a:p>
        </p:txBody>
      </p:sp>
      <p:sp>
        <p:nvSpPr>
          <p:cNvPr id="25" name="Text 21"/>
          <p:cNvSpPr/>
          <p:nvPr/>
        </p:nvSpPr>
        <p:spPr>
          <a:xfrm>
            <a:off x="773311" y="2981474"/>
            <a:ext cx="904577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UG_Admin_Access (optional)</a:t>
            </a:r>
            <a:endParaRPr lang="en-US" sz="984" dirty="0"/>
          </a:p>
        </p:txBody>
      </p:sp>
      <p:sp>
        <p:nvSpPr>
          <p:cNvPr id="26" name="Text 22"/>
          <p:cNvSpPr/>
          <p:nvPr/>
        </p:nvSpPr>
        <p:spPr>
          <a:xfrm>
            <a:off x="2039838" y="2096095"/>
            <a:ext cx="904577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Child Domain A1</a:t>
            </a:r>
            <a:endParaRPr lang="en-US" sz="864" dirty="0"/>
          </a:p>
        </p:txBody>
      </p:sp>
      <p:sp>
        <p:nvSpPr>
          <p:cNvPr id="27" name="Text 23"/>
          <p:cNvSpPr/>
          <p:nvPr/>
        </p:nvSpPr>
        <p:spPr>
          <a:xfrm>
            <a:off x="2039838" y="2463105"/>
            <a:ext cx="922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DL_RDP_A1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2039838" y="2729805"/>
            <a:ext cx="92266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DL_LocalAdmin_A1</a:t>
            </a:r>
            <a:endParaRPr lang="en-US" sz="984" dirty="0"/>
          </a:p>
        </p:txBody>
      </p:sp>
      <p:sp>
        <p:nvSpPr>
          <p:cNvPr id="29" name="Text 25"/>
          <p:cNvSpPr/>
          <p:nvPr/>
        </p:nvSpPr>
        <p:spPr>
          <a:xfrm>
            <a:off x="2039838" y="2917329"/>
            <a:ext cx="904577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 only if approved</a:t>
            </a:r>
            <a:endParaRPr lang="en-US" sz="984" dirty="0"/>
          </a:p>
        </p:txBody>
      </p:sp>
      <p:sp>
        <p:nvSpPr>
          <p:cNvPr id="30" name="Text 26"/>
          <p:cNvSpPr/>
          <p:nvPr/>
        </p:nvSpPr>
        <p:spPr>
          <a:xfrm>
            <a:off x="3306366" y="2096095"/>
            <a:ext cx="904577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Child Domain A2</a:t>
            </a:r>
            <a:endParaRPr lang="en-US" sz="864" dirty="0"/>
          </a:p>
        </p:txBody>
      </p:sp>
      <p:sp>
        <p:nvSpPr>
          <p:cNvPr id="31" name="Text 27"/>
          <p:cNvSpPr/>
          <p:nvPr/>
        </p:nvSpPr>
        <p:spPr>
          <a:xfrm>
            <a:off x="3306366" y="2463105"/>
            <a:ext cx="922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DL_RDP_A2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3306366" y="2729805"/>
            <a:ext cx="92266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DL_LocalAdmin_A2</a:t>
            </a:r>
            <a:endParaRPr lang="en-US" sz="984" dirty="0"/>
          </a:p>
        </p:txBody>
      </p:sp>
      <p:sp>
        <p:nvSpPr>
          <p:cNvPr id="33" name="Text 29"/>
          <p:cNvSpPr/>
          <p:nvPr/>
        </p:nvSpPr>
        <p:spPr>
          <a:xfrm>
            <a:off x="3306366" y="2917329"/>
            <a:ext cx="904577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 only if approved</a:t>
            </a:r>
            <a:endParaRPr lang="en-US" sz="984" dirty="0"/>
          </a:p>
        </p:txBody>
      </p:sp>
      <p:sp>
        <p:nvSpPr>
          <p:cNvPr id="34" name="Text 30"/>
          <p:cNvSpPr/>
          <p:nvPr/>
        </p:nvSpPr>
        <p:spPr>
          <a:xfrm>
            <a:off x="649486" y="3594646"/>
            <a:ext cx="115222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Account membership</a:t>
            </a:r>
            <a:endParaRPr lang="en-US" sz="936" dirty="0"/>
          </a:p>
        </p:txBody>
      </p:sp>
      <p:sp>
        <p:nvSpPr>
          <p:cNvPr id="35" name="Text 31"/>
          <p:cNvSpPr/>
          <p:nvPr/>
        </p:nvSpPr>
        <p:spPr>
          <a:xfrm>
            <a:off x="1916013" y="3594646"/>
            <a:ext cx="115222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UG nesting for same forest</a:t>
            </a:r>
            <a:endParaRPr lang="en-US" sz="936" dirty="0"/>
          </a:p>
        </p:txBody>
      </p:sp>
      <p:sp>
        <p:nvSpPr>
          <p:cNvPr id="36" name="Text 32"/>
          <p:cNvSpPr/>
          <p:nvPr/>
        </p:nvSpPr>
        <p:spPr>
          <a:xfrm>
            <a:off x="3182541" y="3594646"/>
            <a:ext cx="115222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DL permission mapping</a:t>
            </a:r>
            <a:endParaRPr lang="en-US" sz="936" dirty="0"/>
          </a:p>
        </p:txBody>
      </p:sp>
      <p:sp>
        <p:nvSpPr>
          <p:cNvPr id="37" name="Text 33"/>
          <p:cNvSpPr/>
          <p:nvPr/>
        </p:nvSpPr>
        <p:spPr>
          <a:xfrm>
            <a:off x="4641384" y="2708821"/>
            <a:ext cx="78634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Forest trust</a:t>
            </a:r>
            <a:endParaRPr lang="en-US" sz="960" dirty="0"/>
          </a:p>
        </p:txBody>
      </p:sp>
      <p:sp>
        <p:nvSpPr>
          <p:cNvPr id="38" name="Text 34"/>
          <p:cNvSpPr/>
          <p:nvPr/>
        </p:nvSpPr>
        <p:spPr>
          <a:xfrm>
            <a:off x="5734348" y="983903"/>
            <a:ext cx="72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Forest B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858173" y="1488281"/>
            <a:ext cx="2562615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Domain B1</a:t>
            </a:r>
            <a:endParaRPr lang="en-US" sz="864" dirty="0"/>
          </a:p>
        </p:txBody>
      </p:sp>
      <p:sp>
        <p:nvSpPr>
          <p:cNvPr id="40" name="Text 36"/>
          <p:cNvSpPr/>
          <p:nvPr/>
        </p:nvSpPr>
        <p:spPr>
          <a:xfrm>
            <a:off x="5981998" y="1852761"/>
            <a:ext cx="2310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DL_RDP_B1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5981998" y="2081361"/>
            <a:ext cx="2264718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Assigned to Remote Desktop Users / GPO right path</a:t>
            </a:r>
            <a:endParaRPr lang="en-US" sz="984" dirty="0"/>
          </a:p>
        </p:txBody>
      </p:sp>
      <p:sp>
        <p:nvSpPr>
          <p:cNvPr id="42" name="Text 38"/>
          <p:cNvSpPr/>
          <p:nvPr/>
        </p:nvSpPr>
        <p:spPr>
          <a:xfrm>
            <a:off x="5981998" y="2780258"/>
            <a:ext cx="2310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DL_Admin_B1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5981998" y="3008858"/>
            <a:ext cx="2264718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Assigned to local admin or delegated admin roles</a:t>
            </a:r>
            <a:endParaRPr lang="en-US" sz="984" dirty="0"/>
          </a:p>
        </p:txBody>
      </p:sp>
      <p:sp>
        <p:nvSpPr>
          <p:cNvPr id="44" name="Text 40"/>
          <p:cNvSpPr/>
          <p:nvPr/>
        </p:nvSpPr>
        <p:spPr>
          <a:xfrm>
            <a:off x="5981998" y="3707755"/>
            <a:ext cx="2310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DA_B1 (exception)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5981998" y="3936355"/>
            <a:ext cx="2264718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Only with governance approval and explicit business case</a:t>
            </a:r>
            <a:endParaRPr lang="en-US" sz="9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1051471"/>
            <a:ext cx="4008239" cy="2233613"/>
          </a:xfrm>
          <a:prstGeom prst="roundRect">
            <a:avLst>
              <a:gd name="adj" fmla="val 736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48200" y="1051471"/>
            <a:ext cx="4008239" cy="2233613"/>
          </a:xfrm>
          <a:prstGeom prst="roundRect">
            <a:avLst>
              <a:gd name="adj" fmla="val 736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87561" y="3475583"/>
            <a:ext cx="2621310" cy="1771650"/>
          </a:xfrm>
          <a:prstGeom prst="roundRect">
            <a:avLst>
              <a:gd name="adj" fmla="val 11354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261271" y="3475583"/>
            <a:ext cx="2621310" cy="1771650"/>
          </a:xfrm>
          <a:prstGeom prst="roundRect">
            <a:avLst>
              <a:gd name="adj" fmla="val 11354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34980" y="3475583"/>
            <a:ext cx="2621459" cy="1771650"/>
          </a:xfrm>
          <a:prstGeom prst="roundRect">
            <a:avLst>
              <a:gd name="adj" fmla="val 11354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7561" y="-103584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Readiness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487561" y="175171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Pre-requisites and implementation checklist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57076" y="1213396"/>
            <a:ext cx="3750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Pre-requisites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7076" y="1502866"/>
            <a:ext cx="3676799" cy="1376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 direction and status validated.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Cross-forest DNS and connectivity confirmed.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Time sync and DC reachability healthy.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Admin naming standard and PAM controls approved.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Security, CAB, and GPO windows approved.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17715" y="1213396"/>
            <a:ext cx="3750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17715" y="1502866"/>
            <a:ext cx="3676799" cy="1577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privileged account and source Global Group.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Add account to GG; add GG to UG if same-forest reuse is needed.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target DL groups per permission set.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Map DL groups to RDP, local admin, or approved delegated roles.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Apply GPO updates and document rollback.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486" y="3637508"/>
            <a:ext cx="2343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9486" y="3942308"/>
            <a:ext cx="2297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Admin jump hosts, DC connectivity, firewall paths, and server scope must be confirmed before change execution.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3423196" y="3637508"/>
            <a:ext cx="2343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23196" y="3942308"/>
            <a:ext cx="22974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Approval should define which targets permit RDP, which targets allow admin functions, and where domain-wide roles are prohibited.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6196905" y="3637508"/>
            <a:ext cx="2343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Rollback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96905" y="3942308"/>
            <a:ext cx="22976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Rollback requires reversible group membership, GPO version control, and validation points for service continuity.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786408"/>
            <a:ext cx="3970139" cy="3409950"/>
          </a:xfrm>
          <a:prstGeom prst="roundRect">
            <a:avLst>
              <a:gd name="adj" fmla="val 5899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786408"/>
            <a:ext cx="3970139" cy="3409950"/>
          </a:xfrm>
          <a:prstGeom prst="roundRect">
            <a:avLst>
              <a:gd name="adj" fmla="val 5899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87561" y="4386858"/>
            <a:ext cx="8168878" cy="1125438"/>
          </a:xfrm>
          <a:prstGeom prst="roundRect">
            <a:avLst>
              <a:gd name="adj" fmla="val 17874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7561" y="-368647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Execution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487561" y="-89892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Implementation sequence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25686" y="1024533"/>
            <a:ext cx="3493889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the dedicated privileged admin account in Domain A.</a:t>
            </a:r>
            <a:endParaRPr lang="en-US" sz="1128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source role Global Group and assign the admin account.</a:t>
            </a:r>
            <a:endParaRPr lang="en-US" sz="1128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Universal Group only if the account needs same-forest multi-domain reuse.</a:t>
            </a:r>
            <a:endParaRPr lang="en-US" sz="1128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Domain Local groups per target domain and permission type.</a:t>
            </a:r>
            <a:endParaRPr lang="en-US" sz="1128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Add the approved source group or trusted principal into the target DL groups.</a:t>
            </a:r>
            <a:endParaRPr lang="en-US" sz="1128" dirty="0"/>
          </a:p>
        </p:txBody>
      </p:sp>
      <p:sp>
        <p:nvSpPr>
          <p:cNvPr id="9" name="Text 6"/>
          <p:cNvSpPr/>
          <p:nvPr/>
        </p:nvSpPr>
        <p:spPr>
          <a:xfrm>
            <a:off x="4924425" y="1024533"/>
            <a:ext cx="3493889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Assign DL groups to Remote Desktop Users, local Administrators, or delegated groups as approved.</a:t>
            </a:r>
            <a:endParaRPr lang="en-US" sz="1128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Apply “Allow log on through Remote Desktop Services” through the intended target policy path.</a:t>
            </a:r>
            <a:endParaRPr lang="en-US" sz="1128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Keep Domain Admin assignment as an exception workflow only.</a:t>
            </a:r>
            <a:endParaRPr lang="en-US" sz="1128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 replication and policy validation.</a:t>
            </a:r>
            <a:endParaRPr lang="en-US" sz="1128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128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Record implementation evidence and rollback checkpoints.</a:t>
            </a:r>
            <a:endParaRPr lang="en-US" sz="1128" dirty="0"/>
          </a:p>
        </p:txBody>
      </p:sp>
      <p:sp>
        <p:nvSpPr>
          <p:cNvPr id="10" name="Text 7"/>
          <p:cNvSpPr/>
          <p:nvPr/>
        </p:nvSpPr>
        <p:spPr>
          <a:xfrm>
            <a:off x="687586" y="4586883"/>
            <a:ext cx="79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Operational note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7586" y="4891683"/>
            <a:ext cx="7768828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104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member servers, adding approved groups to the target-side Remote Desktop Users path is the preferred mechanism; for domain controllers, RDP access should remain tightly restricted and explicitly approved.</a:t>
            </a:r>
            <a:endParaRPr lang="en-US" sz="110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436662"/>
            <a:ext cx="3989189" cy="1989981"/>
          </a:xfrm>
          <a:prstGeom prst="roundRect">
            <a:avLst>
              <a:gd name="adj" fmla="val 8271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67250" y="436662"/>
            <a:ext cx="3989189" cy="1989981"/>
          </a:xfrm>
          <a:prstGeom prst="roundRect">
            <a:avLst>
              <a:gd name="adj" fmla="val 8271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87561" y="2617143"/>
            <a:ext cx="8168878" cy="3244900"/>
          </a:xfrm>
          <a:prstGeom prst="roundRect">
            <a:avLst>
              <a:gd name="adj" fmla="val 6199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486" y="2779068"/>
          <a:ext cx="7845028" cy="2921050"/>
        </p:xfrm>
        <a:graphic>
          <a:graphicData uri="http://schemas.openxmlformats.org/drawingml/2006/table">
            <a:tbl>
              <a:tblPr/>
              <a:tblGrid>
                <a:gridCol w="2615009"/>
                <a:gridCol w="2615009"/>
                <a:gridCol w="2615009"/>
              </a:tblGrid>
              <a:tr h="584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dirty="0">
                          <a:solidFill>
                            <a:srgbClr val="EEF4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Test case</a:t>
                      </a:r>
                      <a:endParaRPr lang="en-US" sz="1008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dirty="0">
                          <a:solidFill>
                            <a:srgbClr val="EEF4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Expected result</a:t>
                      </a:r>
                      <a:endParaRPr lang="en-US" sz="1008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dirty="0">
                          <a:solidFill>
                            <a:srgbClr val="EEF4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Evidence</a:t>
                      </a:r>
                      <a:endParaRPr lang="en-US" sz="1008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E"/>
                    </a:solidFill>
                  </a:tcPr>
                </a:tc>
              </a:tr>
              <a:tr h="584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Source admin added to GG / UG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Membership visible and replicated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ADUC / PowerShell membership output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Target DL membership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Trusted principal resolves in child domain / Forest B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Group membership and object SID resolution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RDP to approved host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Success with intended rights only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Event logs, gpresult, session logon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RDP to non-approved host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Denied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4" dirty="0">
                          <a:solidFill>
                            <a:srgbClr val="D9E4F4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Denied logon evidence and control record</a:t>
                      </a:r>
                      <a:endParaRPr lang="en-US" sz="110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87561" y="-718393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Validation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487561" y="-439638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Verification checklist and test cases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657076" y="598587"/>
            <a:ext cx="3730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Directory validation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7076" y="888057"/>
            <a:ext cx="3657749" cy="1334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Admin account and source memberships created correctly.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UG and DL nesting resolves correctly across intended scope.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 path and object lookup succeed.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Replication completes across impacted domains.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36765" y="598587"/>
            <a:ext cx="3730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Access validation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36765" y="888057"/>
            <a:ext cx="3657749" cy="113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RDP succeeds on approved servers only.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Unauthorized servers reject remote logon.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Delegated admin tasks execute successfully.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Domain-wide admin is absent unless approved by design.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1378893"/>
            <a:ext cx="2595860" cy="1904851"/>
          </a:xfrm>
          <a:prstGeom prst="roundRect">
            <a:avLst>
              <a:gd name="adj" fmla="val 8640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73921" y="1378893"/>
            <a:ext cx="2596009" cy="1904851"/>
          </a:xfrm>
          <a:prstGeom prst="roundRect">
            <a:avLst>
              <a:gd name="adj" fmla="val 8640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60430" y="1378893"/>
            <a:ext cx="2595860" cy="1904851"/>
          </a:xfrm>
          <a:prstGeom prst="roundRect">
            <a:avLst>
              <a:gd name="adj" fmla="val 8640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7561" y="3474244"/>
            <a:ext cx="3989189" cy="1445419"/>
          </a:xfrm>
          <a:prstGeom prst="roundRect">
            <a:avLst>
              <a:gd name="adj" fmla="val 13917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67250" y="3474244"/>
            <a:ext cx="3989189" cy="1445419"/>
          </a:xfrm>
          <a:prstGeom prst="roundRect">
            <a:avLst>
              <a:gd name="adj" fmla="val 13917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7561" y="223838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 and control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487561" y="502593"/>
            <a:ext cx="833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EF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Security risks and control measures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57076" y="1540818"/>
            <a:ext cx="2309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Privilege sprawl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7076" y="1830288"/>
            <a:ext cx="2264420" cy="1047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 with target-side DL groups.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separate admin IDs and approval-based role assignment.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43436" y="1540818"/>
            <a:ext cx="2309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Cross-forest ambiguity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43436" y="1830288"/>
            <a:ext cx="2264569" cy="846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Document trust path, DNS, and delegated ownership.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Keep permissions local to the resource domain.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29945" y="1540818"/>
            <a:ext cx="2309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 gaps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29945" y="1830288"/>
            <a:ext cx="2264420" cy="124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 group changes, logon events, and admin task evidence.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Review exception-based Domain Admin assignment regularly.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7586" y="3674269"/>
            <a:ext cx="3660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Recommended controls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7586" y="3979069"/>
            <a:ext cx="3589139" cy="55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Tiered administration, just-in-time approval where available, scoped RDP, and periodic access recertification.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4867275" y="3674269"/>
            <a:ext cx="3660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Anti-patterns to avoid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67275" y="3979069"/>
            <a:ext cx="3589139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Using Domain Admin as the default remote access mechanism, assigning source groups directly without target-side design, and mixing standard-user and admin identities.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561" y="3063329"/>
            <a:ext cx="2621310" cy="1550938"/>
          </a:xfrm>
          <a:prstGeom prst="roundRect">
            <a:avLst>
              <a:gd name="adj" fmla="val 1297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61271" y="3063329"/>
            <a:ext cx="2621310" cy="1550938"/>
          </a:xfrm>
          <a:prstGeom prst="roundRect">
            <a:avLst>
              <a:gd name="adj" fmla="val 1297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34980" y="3063329"/>
            <a:ext cx="2621459" cy="1550938"/>
          </a:xfrm>
          <a:prstGeom prst="roundRect">
            <a:avLst>
              <a:gd name="adj" fmla="val 1297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476250" dist="133350" dir="5400000">
              <a:srgbClr val="020C1B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05872" y="529084"/>
            <a:ext cx="833225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0A3B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Recommendation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405872" y="807839"/>
            <a:ext cx="8332256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buNone/>
            </a:pPr>
            <a:r>
              <a:rPr lang="en-US" sz="5040" b="1" dirty="0">
                <a:solidFill>
                  <a:srgbClr val="60A5F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Approve the target-side access model</a:t>
            </a:r>
            <a:endParaRPr lang="en-US" sz="5040" dirty="0"/>
          </a:p>
        </p:txBody>
      </p:sp>
      <p:sp>
        <p:nvSpPr>
          <p:cNvPr id="8" name="Text 5"/>
          <p:cNvSpPr/>
          <p:nvPr/>
        </p:nvSpPr>
        <p:spPr>
          <a:xfrm>
            <a:off x="523875" y="1958429"/>
            <a:ext cx="8096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Adopt a single privileged identity with role-based source grouping, optional same-forest Universal Group expansion, and target-side Domain Local group permissioning for child domains and the separate trusted forest.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7586" y="3263354"/>
            <a:ext cx="2221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Operationally manageable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7586" y="3796754"/>
            <a:ext cx="2221260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Clear ownership of source identity, target permissions, and rollback actions.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439083" y="3263354"/>
            <a:ext cx="2265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Security aligned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61296" y="3568154"/>
            <a:ext cx="2221260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Least-privilege, auditable, and resistant to privilege inheritance misuse.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6212791" y="3263354"/>
            <a:ext cx="22658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Architecturally correct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35005" y="3568154"/>
            <a:ext cx="2221409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6D2E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Respects AD group-scope boundaries and trust-aware access design.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2026-07-20T10:48:55Z</dcterms:created>
  <dcterms:modified xsi:type="dcterms:W3CDTF">2026-07-20T10:48:55Z</dcterms:modified>
</cp:coreProperties>
</file>