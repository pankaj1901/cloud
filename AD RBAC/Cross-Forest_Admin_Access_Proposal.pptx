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proposal presents a secure, manageable design for extending administrative and Remote Desktop access from a single source domain out to child domains in the same forest and to a separately trusted forest. The central theme throughout is least privilege and correct Active Directory group scope: we separate the identity account from role membership, and both of those from where permissions are actually assigned. We deliberately avoid the common mistake of assuming a single Global Group can be reused as the universal permission object everywhere. We also make clear that Domain Admin is not a remote-access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executive takeaway: the goal is achievable and safe, but only if we respect Active Directory group scope and least privilege. A single Global Group cannot serve as a universal permission object across a forest boundary. We separate three things — the identity account, its role membership, and the resource-side permission assignment. Access is granted where the resource lives, using Domain Local groups, and RDP is authorised explicitly rather than inherited from Domain Admin. The result is precise, reversible, and auditable.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Restate the requirement plainly so everyone agrees on scope before we discuss design. We are being asked to (1) create one privileged admin account in the source domain, (2) give it a role membership, (3) extend its reach to child domains and a separate forest, and (4) enable RDP plus administrative access on target servers. Each ask looks trivial but hides a group-scope decision. The rest of the deck resolves those decisions correctly rather than taking the shortcut of one group or blanket Domain Admin.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problem honestly. The naive shortcuts — one Global Group reused everywhere, or Domain Admin as a remote-access tool — either do not work across a forest or create serious over-privilege. A Global Group only holds principals from its own domain and is not the cross-forest permission vehicle. Cross-forest access uses foreign security principals granted on the target side. Our constraints follow directly: separate identity from permission, respect group scope, grant on the resource side, keep least privilege, authorise RDP explicitly, and keep everything auditable and reversible.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design: three layers that stay separate. Layer 1 is the identity — one dedicated privileged account in the source domain. Layer 2 is the role — the account joins a Global Group in its home domain, and for same-forest multi-domain reach that Global Group nests into a Universal Group. Layer 3 is the resource grant — on each target domain or forest, a Domain Local group holds the approved principal and receives the actual permission. The account itself never moves; we only change where it is granted. That is what keeps the model precise and auditable.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anchors the design in group-scope rules. Global groups collect accounts from their own domain. Universal groups span domains within one forest. Domain Local groups live in the resource domain and are where permissions are actually granted. For a separate forest, the trusted principal appears as a foreign security principal inside a target-side Domain Local group. The table maps each boundary to its pattern, trust dependency, and risk: same domain is simple AGDLP; same-forest multi-domain adds a Universal group (AGUDLP); separate forest requires an explicit forest trust and target-side Domain Local grants. Emphasise that cross-forest is not just "more nesting" — it is a different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left to right. In Forest A, Domain A, the dedicated admin account joins a role-based Global Group. That Global Group nests into a Universal Group to give reach across the same forest. Child Domains A1 and A2 each hold their own Domain Local group that grants RDP and delegated admin on their managed servers — never Domain Admin by default. Crossing to Forest B requires an explicit forest trust of the correct direction. On the Forest B side, the source principal is represented as a foreign security principal inside a Domain Local group in Domain B1, which is assigned the actual permissions on Forest B servers. Domain Admin appears only as a guarded, governance-approved exception. Notice the account is defined once and granted many places — never re-created or exported. This diagram is fully editable.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pre-requisites must all be green before implementation begins. The most important are the forest trust with correct direction, working cross-forest name resolution, validated connectivity between jump hosts, domain controllers and managed servers, and healthy time sync for Kerberos. On the governance side we need approved AD permissions, an approved GPO change window, completed security sign-off on the privileged-access model, and an agreed naming standard for the separate admin account. Finally, the exact target servers and target domains must be enumerated so scope is unambiguous. Treat this as a gate, not a formality.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implementation follows AGDLP / AGUDLP order strictly. First build the identity: create the dedicated admin account, apply the naming standard and controls. Then build the role: create the source Global Group and add the account. For same-forest multi-domain reach, add a Universal Group and nest the Global Group into it. Then, and only then, build the resource grants: on each target child domain or resource forest create a Domain Local group, add the approved source principal or Universal Group, and assign that Domain Local group to the actual permission — RDP rights, delegated or local admin, and Domain Admin strictly by exception. Update GPOs for Remote Desktop where needed, and document rollback for every step. Steps 9 and 10 in steel are policy and safety-net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Verification proves both that access works where intended and — just as important — that it fails everywhere else. On the left, confirm the account state, that memberships replicated, that trust and object resolution work, that delegated tasks succeed, that logs capture logon and privilege use, and that no excess privilege crept in. On the right, run explicit test cases: RDP to approved servers in the child domain and Forest B should ALLOW; RDP to any out-of-scope host must DENY; delegated admin should succeed in scope; a Domain Admin action in a non-approved domain must DENY; and every attempt must be AUDITED. The pass criteria is the whole point of least privilege: allow the approved, deny the rest, log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design decision maps to a specific risk it contains. Over-privilege is controlled by least-privilege scoping through Domain Local groups instead of blanket Domain Admin. Credential abuse is contained by separating the privileged identity from daily-use accounts. Cross-forest mis-grants are prevented by target-side design using foreign principals on an explicit trust. Uncontrolled RDP is prevented by authorising Remote Desktop explicitly through Remote Desktop Users and GPO on approved hosts only. Undetected misuse is addressed by logon and privilege-use auditing plus periodic membership review. And unreversible change is addressed by documented, tested rollback for every step. Governance can trace each control back to its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recommend approval of the least-privilege, group-scope model. It uses AGDLP for single-domain access, AGUDLP for same-forest multi-domain reach, and target-side Domain Local groups with foreign principals for the separate forest, with RDP authorised explicitly. This satisfies the requirement in full while keeping Domain Admin restricted and everything auditable. The five key messages summarise the discipline: separate identity from permission, nest by scope, grant on the target side, restrict Domain Admin, and authorise RDP by policy. The next steps move from approval through the three deliverable gates — pre-requisites, implementation, verification — to governance sign-off and handover. I welcome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1.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slideLayout" Target="../slideLayouts/slideLayout1.xml"/><Relationship Id="rId1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slideLayout" Target="../slideLayouts/slideLayout1.xml"/><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slideLayout" Target="../slideLayouts/slideLayout1.xml"/><Relationship Id="rId1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slideLayout" Target="../slideLayouts/slideLayout1.xml"/><Relationship Id="rId1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A4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1A47"/>
          </a:solidFill>
          <a:ln/>
        </p:spPr>
      </p:sp>
      <p:pic>
        <p:nvPicPr>
          <p:cNvPr id="3" name="Image 0" descr="preencoded.png">    </p:cNvPr>
          <p:cNvPicPr>
            <a:picLocks noChangeAspect="1"/>
          </p:cNvPicPr>
          <p:nvPr/>
        </p:nvPicPr>
        <p:blipFill>
          <a:blip r:embed="rId1">
            <a:alphaModFix amt="14000"/>
          </a:blip>
          <a:stretch>
            <a:fillRect/>
          </a:stretch>
        </p:blipFill>
        <p:spPr>
          <a:xfrm>
            <a:off x="8503920" y="1371600"/>
            <a:ext cx="3840480" cy="3840480"/>
          </a:xfrm>
          <a:prstGeom prst="rect">
            <a:avLst/>
          </a:prstGeom>
        </p:spPr>
      </p:pic>
      <p:sp>
        <p:nvSpPr>
          <p:cNvPr id="4" name="Text 1"/>
          <p:cNvSpPr/>
          <p:nvPr/>
        </p:nvSpPr>
        <p:spPr>
          <a:xfrm>
            <a:off x="777240" y="1234440"/>
            <a:ext cx="8229600" cy="365760"/>
          </a:xfrm>
          <a:prstGeom prst="rect">
            <a:avLst/>
          </a:prstGeom>
          <a:noFill/>
          <a:ln/>
        </p:spPr>
        <p:txBody>
          <a:bodyPr wrap="square" rtlCol="0" anchor="ctr"/>
          <a:lstStyle/>
          <a:p>
            <a:pPr indent="0" marL="0">
              <a:buNone/>
            </a:pPr>
            <a:r>
              <a:rPr lang="en-US" sz="1400" b="1" spc="400" kern="0" dirty="0">
                <a:solidFill>
                  <a:srgbClr val="E8B84B"/>
                </a:solidFill>
                <a:latin typeface="Calibri" pitchFamily="34" charset="0"/>
                <a:ea typeface="Calibri" pitchFamily="34" charset="-122"/>
                <a:cs typeface="Calibri" pitchFamily="34" charset="-120"/>
              </a:rPr>
              <a:t>ENTERPRISE INFRASTRUCTURE PROPOSAL</a:t>
            </a:r>
            <a:endParaRPr lang="en-US" sz="1400" dirty="0"/>
          </a:p>
        </p:txBody>
      </p:sp>
      <p:sp>
        <p:nvSpPr>
          <p:cNvPr id="5" name="Text 2"/>
          <p:cNvSpPr/>
          <p:nvPr/>
        </p:nvSpPr>
        <p:spPr>
          <a:xfrm>
            <a:off x="731520" y="1737360"/>
            <a:ext cx="10241280" cy="1371600"/>
          </a:xfrm>
          <a:prstGeom prst="rect">
            <a:avLst/>
          </a:prstGeom>
          <a:noFill/>
          <a:ln/>
        </p:spPr>
        <p:txBody>
          <a:bodyPr wrap="square" rtlCol="0" anchor="ctr"/>
          <a:lstStyle/>
          <a:p>
            <a:pPr indent="0" marL="0">
              <a:lnSpc>
                <a:spcPct val="100000"/>
              </a:lnSpc>
              <a:buNone/>
            </a:pPr>
            <a:r>
              <a:rPr lang="en-US" sz="4600" b="1" dirty="0">
                <a:solidFill>
                  <a:srgbClr val="FFFFFF"/>
                </a:solidFill>
                <a:latin typeface="Century Schoolbook" pitchFamily="34" charset="0"/>
                <a:ea typeface="Century Schoolbook" pitchFamily="34" charset="-122"/>
                <a:cs typeface="Century Schoolbook" pitchFamily="34" charset="-120"/>
              </a:rPr>
              <a:t>Cross-Forest Administrative Access Model</a:t>
            </a:r>
            <a:endParaRPr lang="en-US" sz="4600" dirty="0"/>
          </a:p>
        </p:txBody>
      </p:sp>
      <p:sp>
        <p:nvSpPr>
          <p:cNvPr id="6" name="Text 3"/>
          <p:cNvSpPr/>
          <p:nvPr/>
        </p:nvSpPr>
        <p:spPr>
          <a:xfrm>
            <a:off x="777240" y="3063240"/>
            <a:ext cx="10058400" cy="731520"/>
          </a:xfrm>
          <a:prstGeom prst="rect">
            <a:avLst/>
          </a:prstGeom>
          <a:noFill/>
          <a:ln/>
        </p:spPr>
        <p:txBody>
          <a:bodyPr wrap="square" rtlCol="0" anchor="ctr"/>
          <a:lstStyle/>
          <a:p>
            <a:pPr indent="0" marL="0">
              <a:buNone/>
            </a:pPr>
            <a:r>
              <a:rPr lang="en-US" sz="3000" i="1" dirty="0">
                <a:solidFill>
                  <a:srgbClr val="CADCFC"/>
                </a:solidFill>
                <a:latin typeface="Century Schoolbook" pitchFamily="34" charset="0"/>
                <a:ea typeface="Century Schoolbook" pitchFamily="34" charset="-122"/>
                <a:cs typeface="Century Schoolbook" pitchFamily="34" charset="-120"/>
              </a:rPr>
              <a:t>for RDP and Domain Administration</a:t>
            </a:r>
            <a:endParaRPr lang="en-US" sz="3000" dirty="0"/>
          </a:p>
        </p:txBody>
      </p:sp>
      <p:sp>
        <p:nvSpPr>
          <p:cNvPr id="7" name="Text 4"/>
          <p:cNvSpPr/>
          <p:nvPr/>
        </p:nvSpPr>
        <p:spPr>
          <a:xfrm>
            <a:off x="777240" y="4023360"/>
            <a:ext cx="7680960" cy="914400"/>
          </a:xfrm>
          <a:prstGeom prst="rect">
            <a:avLst/>
          </a:prstGeom>
          <a:noFill/>
          <a:ln/>
        </p:spPr>
        <p:txBody>
          <a:bodyPr wrap="square" rtlCol="0" anchor="ctr"/>
          <a:lstStyle/>
          <a:p>
            <a:pPr indent="0" marL="0">
              <a:lnSpc>
                <a:spcPct val="125000"/>
              </a:lnSpc>
              <a:buNone/>
            </a:pPr>
            <a:r>
              <a:rPr lang="en-US" sz="1500" dirty="0">
                <a:solidFill>
                  <a:srgbClr val="CADCFC"/>
                </a:solidFill>
                <a:latin typeface="Calibri" pitchFamily="34" charset="0"/>
                <a:ea typeface="Calibri" pitchFamily="34" charset="-122"/>
                <a:cs typeface="Calibri" pitchFamily="34" charset="-120"/>
              </a:rPr>
              <a:t>A secure, least-privilege design for extending administrative access across domains and a trusted forest — built on Active Directory group-scope best practice (AGDLP / AGUDLP).</a:t>
            </a:r>
            <a:endParaRPr lang="en-US" sz="1500" dirty="0"/>
          </a:p>
        </p:txBody>
      </p:sp>
      <p:sp>
        <p:nvSpPr>
          <p:cNvPr id="8" name="Shape 5"/>
          <p:cNvSpPr/>
          <p:nvPr/>
        </p:nvSpPr>
        <p:spPr>
          <a:xfrm>
            <a:off x="777240" y="5440680"/>
            <a:ext cx="566928" cy="566928"/>
          </a:xfrm>
          <a:prstGeom prst="ellipse">
            <a:avLst/>
          </a:prstGeom>
          <a:solidFill>
            <a:srgbClr val="2A3670"/>
          </a:solidFill>
          <a:ln/>
        </p:spPr>
      </p:sp>
      <p:pic>
        <p:nvPicPr>
          <p:cNvPr id="9" name="Image 1" descr="preencoded.png">    </p:cNvPr>
          <p:cNvPicPr>
            <a:picLocks noChangeAspect="1"/>
          </p:cNvPicPr>
          <p:nvPr/>
        </p:nvPicPr>
        <p:blipFill>
          <a:blip r:embed="rId2"/>
          <a:stretch>
            <a:fillRect/>
          </a:stretch>
        </p:blipFill>
        <p:spPr>
          <a:xfrm>
            <a:off x="913303" y="5576743"/>
            <a:ext cx="294803" cy="294803"/>
          </a:xfrm>
          <a:prstGeom prst="rect">
            <a:avLst/>
          </a:prstGeom>
        </p:spPr>
      </p:pic>
      <p:sp>
        <p:nvSpPr>
          <p:cNvPr id="10" name="Text 6"/>
          <p:cNvSpPr/>
          <p:nvPr/>
        </p:nvSpPr>
        <p:spPr>
          <a:xfrm>
            <a:off x="457200" y="6053328"/>
            <a:ext cx="1207008" cy="274320"/>
          </a:xfrm>
          <a:prstGeom prst="rect">
            <a:avLst/>
          </a:prstGeom>
          <a:noFill/>
          <a:ln/>
        </p:spPr>
        <p:txBody>
          <a:bodyPr wrap="square" rtlCol="0" anchor="ctr"/>
          <a:lstStyle/>
          <a:p>
            <a:pPr algn="ctr" indent="0" marL="0">
              <a:buNone/>
            </a:pPr>
            <a:r>
              <a:rPr lang="en-US" sz="950" dirty="0">
                <a:solidFill>
                  <a:srgbClr val="8593AC"/>
                </a:solidFill>
                <a:latin typeface="Calibri" pitchFamily="34" charset="0"/>
                <a:ea typeface="Calibri" pitchFamily="34" charset="-122"/>
                <a:cs typeface="Calibri" pitchFamily="34" charset="-120"/>
              </a:rPr>
              <a:t>Forest</a:t>
            </a:r>
            <a:endParaRPr lang="en-US" sz="950" dirty="0"/>
          </a:p>
        </p:txBody>
      </p:sp>
      <p:sp>
        <p:nvSpPr>
          <p:cNvPr id="11" name="Shape 7"/>
          <p:cNvSpPr/>
          <p:nvPr/>
        </p:nvSpPr>
        <p:spPr>
          <a:xfrm>
            <a:off x="1947672" y="5440680"/>
            <a:ext cx="566928" cy="566928"/>
          </a:xfrm>
          <a:prstGeom prst="ellipse">
            <a:avLst/>
          </a:prstGeom>
          <a:solidFill>
            <a:srgbClr val="2A3670"/>
          </a:solidFill>
          <a:ln/>
        </p:spPr>
      </p:sp>
      <p:pic>
        <p:nvPicPr>
          <p:cNvPr id="12" name="Image 2" descr="preencoded.png">    </p:cNvPr>
          <p:cNvPicPr>
            <a:picLocks noChangeAspect="1"/>
          </p:cNvPicPr>
          <p:nvPr/>
        </p:nvPicPr>
        <p:blipFill>
          <a:blip r:embed="rId3"/>
          <a:stretch>
            <a:fillRect/>
          </a:stretch>
        </p:blipFill>
        <p:spPr>
          <a:xfrm>
            <a:off x="2083735" y="5576743"/>
            <a:ext cx="294803" cy="294803"/>
          </a:xfrm>
          <a:prstGeom prst="rect">
            <a:avLst/>
          </a:prstGeom>
        </p:spPr>
      </p:pic>
      <p:sp>
        <p:nvSpPr>
          <p:cNvPr id="13" name="Text 8"/>
          <p:cNvSpPr/>
          <p:nvPr/>
        </p:nvSpPr>
        <p:spPr>
          <a:xfrm>
            <a:off x="1627632" y="6053328"/>
            <a:ext cx="1207008" cy="274320"/>
          </a:xfrm>
          <a:prstGeom prst="rect">
            <a:avLst/>
          </a:prstGeom>
          <a:noFill/>
          <a:ln/>
        </p:spPr>
        <p:txBody>
          <a:bodyPr wrap="square" rtlCol="0" anchor="ctr"/>
          <a:lstStyle/>
          <a:p>
            <a:pPr algn="ctr" indent="0" marL="0">
              <a:buNone/>
            </a:pPr>
            <a:r>
              <a:rPr lang="en-US" sz="950" dirty="0">
                <a:solidFill>
                  <a:srgbClr val="8593AC"/>
                </a:solidFill>
                <a:latin typeface="Calibri" pitchFamily="34" charset="0"/>
                <a:ea typeface="Calibri" pitchFamily="34" charset="-122"/>
                <a:cs typeface="Calibri" pitchFamily="34" charset="-120"/>
              </a:rPr>
              <a:t>Domain</a:t>
            </a:r>
            <a:endParaRPr lang="en-US" sz="950" dirty="0"/>
          </a:p>
        </p:txBody>
      </p:sp>
      <p:sp>
        <p:nvSpPr>
          <p:cNvPr id="14" name="Shape 9"/>
          <p:cNvSpPr/>
          <p:nvPr/>
        </p:nvSpPr>
        <p:spPr>
          <a:xfrm>
            <a:off x="3118104" y="5440680"/>
            <a:ext cx="566928" cy="566928"/>
          </a:xfrm>
          <a:prstGeom prst="ellipse">
            <a:avLst/>
          </a:prstGeom>
          <a:solidFill>
            <a:srgbClr val="2A3670"/>
          </a:solidFill>
          <a:ln/>
        </p:spPr>
      </p:sp>
      <p:pic>
        <p:nvPicPr>
          <p:cNvPr id="15" name="Image 3" descr="preencoded.png">    </p:cNvPr>
          <p:cNvPicPr>
            <a:picLocks noChangeAspect="1"/>
          </p:cNvPicPr>
          <p:nvPr/>
        </p:nvPicPr>
        <p:blipFill>
          <a:blip r:embed="rId4"/>
          <a:stretch>
            <a:fillRect/>
          </a:stretch>
        </p:blipFill>
        <p:spPr>
          <a:xfrm>
            <a:off x="3254167" y="5576743"/>
            <a:ext cx="294803" cy="294803"/>
          </a:xfrm>
          <a:prstGeom prst="rect">
            <a:avLst/>
          </a:prstGeom>
        </p:spPr>
      </p:pic>
      <p:sp>
        <p:nvSpPr>
          <p:cNvPr id="16" name="Text 10"/>
          <p:cNvSpPr/>
          <p:nvPr/>
        </p:nvSpPr>
        <p:spPr>
          <a:xfrm>
            <a:off x="2798064" y="6053328"/>
            <a:ext cx="1207008" cy="274320"/>
          </a:xfrm>
          <a:prstGeom prst="rect">
            <a:avLst/>
          </a:prstGeom>
          <a:noFill/>
          <a:ln/>
        </p:spPr>
        <p:txBody>
          <a:bodyPr wrap="square" rtlCol="0" anchor="ctr"/>
          <a:lstStyle/>
          <a:p>
            <a:pPr algn="ctr" indent="0" marL="0">
              <a:buNone/>
            </a:pPr>
            <a:r>
              <a:rPr lang="en-US" sz="950" dirty="0">
                <a:solidFill>
                  <a:srgbClr val="8593AC"/>
                </a:solidFill>
                <a:latin typeface="Calibri" pitchFamily="34" charset="0"/>
                <a:ea typeface="Calibri" pitchFamily="34" charset="-122"/>
                <a:cs typeface="Calibri" pitchFamily="34" charset="-120"/>
              </a:rPr>
              <a:t>Trust</a:t>
            </a:r>
            <a:endParaRPr lang="en-US" sz="950" dirty="0"/>
          </a:p>
        </p:txBody>
      </p:sp>
      <p:sp>
        <p:nvSpPr>
          <p:cNvPr id="17" name="Shape 11"/>
          <p:cNvSpPr/>
          <p:nvPr/>
        </p:nvSpPr>
        <p:spPr>
          <a:xfrm>
            <a:off x="4288536" y="5440680"/>
            <a:ext cx="566928" cy="566928"/>
          </a:xfrm>
          <a:prstGeom prst="ellipse">
            <a:avLst/>
          </a:prstGeom>
          <a:solidFill>
            <a:srgbClr val="2A3670"/>
          </a:solidFill>
          <a:ln/>
        </p:spPr>
      </p:sp>
      <p:pic>
        <p:nvPicPr>
          <p:cNvPr id="18" name="Image 4" descr="preencoded.png">    </p:cNvPr>
          <p:cNvPicPr>
            <a:picLocks noChangeAspect="1"/>
          </p:cNvPicPr>
          <p:nvPr/>
        </p:nvPicPr>
        <p:blipFill>
          <a:blip r:embed="rId5"/>
          <a:stretch>
            <a:fillRect/>
          </a:stretch>
        </p:blipFill>
        <p:spPr>
          <a:xfrm>
            <a:off x="4424599" y="5576743"/>
            <a:ext cx="294803" cy="294803"/>
          </a:xfrm>
          <a:prstGeom prst="rect">
            <a:avLst/>
          </a:prstGeom>
        </p:spPr>
      </p:pic>
      <p:sp>
        <p:nvSpPr>
          <p:cNvPr id="19" name="Text 12"/>
          <p:cNvSpPr/>
          <p:nvPr/>
        </p:nvSpPr>
        <p:spPr>
          <a:xfrm>
            <a:off x="3968496" y="6053328"/>
            <a:ext cx="1207008" cy="274320"/>
          </a:xfrm>
          <a:prstGeom prst="rect">
            <a:avLst/>
          </a:prstGeom>
          <a:noFill/>
          <a:ln/>
        </p:spPr>
        <p:txBody>
          <a:bodyPr wrap="square" rtlCol="0" anchor="ctr"/>
          <a:lstStyle/>
          <a:p>
            <a:pPr algn="ctr" indent="0" marL="0">
              <a:buNone/>
            </a:pPr>
            <a:r>
              <a:rPr lang="en-US" sz="950" dirty="0">
                <a:solidFill>
                  <a:srgbClr val="8593AC"/>
                </a:solidFill>
                <a:latin typeface="Calibri" pitchFamily="34" charset="0"/>
                <a:ea typeface="Calibri" pitchFamily="34" charset="-122"/>
                <a:cs typeface="Calibri" pitchFamily="34" charset="-120"/>
              </a:rPr>
              <a:t>Admin ID</a:t>
            </a:r>
            <a:endParaRPr lang="en-US" sz="950" dirty="0"/>
          </a:p>
        </p:txBody>
      </p:sp>
      <p:sp>
        <p:nvSpPr>
          <p:cNvPr id="20" name="Shape 13"/>
          <p:cNvSpPr/>
          <p:nvPr/>
        </p:nvSpPr>
        <p:spPr>
          <a:xfrm>
            <a:off x="5458968" y="5440680"/>
            <a:ext cx="566928" cy="566928"/>
          </a:xfrm>
          <a:prstGeom prst="ellipse">
            <a:avLst/>
          </a:prstGeom>
          <a:solidFill>
            <a:srgbClr val="2A3670"/>
          </a:solidFill>
          <a:ln/>
        </p:spPr>
      </p:sp>
      <p:pic>
        <p:nvPicPr>
          <p:cNvPr id="21" name="Image 5" descr="preencoded.png">    </p:cNvPr>
          <p:cNvPicPr>
            <a:picLocks noChangeAspect="1"/>
          </p:cNvPicPr>
          <p:nvPr/>
        </p:nvPicPr>
        <p:blipFill>
          <a:blip r:embed="rId6"/>
          <a:stretch>
            <a:fillRect/>
          </a:stretch>
        </p:blipFill>
        <p:spPr>
          <a:xfrm>
            <a:off x="5595031" y="5576743"/>
            <a:ext cx="294803" cy="294803"/>
          </a:xfrm>
          <a:prstGeom prst="rect">
            <a:avLst/>
          </a:prstGeom>
        </p:spPr>
      </p:pic>
      <p:sp>
        <p:nvSpPr>
          <p:cNvPr id="22" name="Text 14"/>
          <p:cNvSpPr/>
          <p:nvPr/>
        </p:nvSpPr>
        <p:spPr>
          <a:xfrm>
            <a:off x="5138928" y="6053328"/>
            <a:ext cx="1207008" cy="274320"/>
          </a:xfrm>
          <a:prstGeom prst="rect">
            <a:avLst/>
          </a:prstGeom>
          <a:noFill/>
          <a:ln/>
        </p:spPr>
        <p:txBody>
          <a:bodyPr wrap="square" rtlCol="0" anchor="ctr"/>
          <a:lstStyle/>
          <a:p>
            <a:pPr algn="ctr" indent="0" marL="0">
              <a:buNone/>
            </a:pPr>
            <a:r>
              <a:rPr lang="en-US" sz="950" dirty="0">
                <a:solidFill>
                  <a:srgbClr val="8593AC"/>
                </a:solidFill>
                <a:latin typeface="Calibri" pitchFamily="34" charset="0"/>
                <a:ea typeface="Calibri" pitchFamily="34" charset="-122"/>
                <a:cs typeface="Calibri" pitchFamily="34" charset="-120"/>
              </a:rPr>
              <a:t>Groups</a:t>
            </a:r>
            <a:endParaRPr lang="en-US" sz="950" dirty="0"/>
          </a:p>
        </p:txBody>
      </p:sp>
      <p:sp>
        <p:nvSpPr>
          <p:cNvPr id="23" name="Shape 15"/>
          <p:cNvSpPr/>
          <p:nvPr/>
        </p:nvSpPr>
        <p:spPr>
          <a:xfrm>
            <a:off x="6629400" y="5440680"/>
            <a:ext cx="566928" cy="566928"/>
          </a:xfrm>
          <a:prstGeom prst="ellipse">
            <a:avLst/>
          </a:prstGeom>
          <a:solidFill>
            <a:srgbClr val="2A3670"/>
          </a:solidFill>
          <a:ln/>
        </p:spPr>
      </p:sp>
      <p:pic>
        <p:nvPicPr>
          <p:cNvPr id="24" name="Image 6" descr="preencoded.png">    </p:cNvPr>
          <p:cNvPicPr>
            <a:picLocks noChangeAspect="1"/>
          </p:cNvPicPr>
          <p:nvPr/>
        </p:nvPicPr>
        <p:blipFill>
          <a:blip r:embed="rId7"/>
          <a:stretch>
            <a:fillRect/>
          </a:stretch>
        </p:blipFill>
        <p:spPr>
          <a:xfrm>
            <a:off x="6765463" y="5576743"/>
            <a:ext cx="294803" cy="294803"/>
          </a:xfrm>
          <a:prstGeom prst="rect">
            <a:avLst/>
          </a:prstGeom>
        </p:spPr>
      </p:pic>
      <p:sp>
        <p:nvSpPr>
          <p:cNvPr id="25" name="Text 16"/>
          <p:cNvSpPr/>
          <p:nvPr/>
        </p:nvSpPr>
        <p:spPr>
          <a:xfrm>
            <a:off x="6309360" y="6053328"/>
            <a:ext cx="1207008" cy="274320"/>
          </a:xfrm>
          <a:prstGeom prst="rect">
            <a:avLst/>
          </a:prstGeom>
          <a:noFill/>
          <a:ln/>
        </p:spPr>
        <p:txBody>
          <a:bodyPr wrap="square" rtlCol="0" anchor="ctr"/>
          <a:lstStyle/>
          <a:p>
            <a:pPr algn="ctr" indent="0" marL="0">
              <a:buNone/>
            </a:pPr>
            <a:r>
              <a:rPr lang="en-US" sz="950" dirty="0">
                <a:solidFill>
                  <a:srgbClr val="8593AC"/>
                </a:solidFill>
                <a:latin typeface="Calibri" pitchFamily="34" charset="0"/>
                <a:ea typeface="Calibri" pitchFamily="34" charset="-122"/>
                <a:cs typeface="Calibri" pitchFamily="34" charset="-120"/>
              </a:rPr>
              <a:t>RDP</a:t>
            </a:r>
            <a:endParaRPr lang="en-US" sz="950" dirty="0"/>
          </a:p>
        </p:txBody>
      </p:sp>
      <p:sp>
        <p:nvSpPr>
          <p:cNvPr id="26" name="Shape 17"/>
          <p:cNvSpPr/>
          <p:nvPr/>
        </p:nvSpPr>
        <p:spPr>
          <a:xfrm>
            <a:off x="7799832" y="5440680"/>
            <a:ext cx="566928" cy="566928"/>
          </a:xfrm>
          <a:prstGeom prst="ellipse">
            <a:avLst/>
          </a:prstGeom>
          <a:solidFill>
            <a:srgbClr val="2A3670"/>
          </a:solidFill>
          <a:ln/>
        </p:spPr>
      </p:sp>
      <p:pic>
        <p:nvPicPr>
          <p:cNvPr id="27" name="Image 7" descr="preencoded.png">    </p:cNvPr>
          <p:cNvPicPr>
            <a:picLocks noChangeAspect="1"/>
          </p:cNvPicPr>
          <p:nvPr/>
        </p:nvPicPr>
        <p:blipFill>
          <a:blip r:embed="rId8"/>
          <a:stretch>
            <a:fillRect/>
          </a:stretch>
        </p:blipFill>
        <p:spPr>
          <a:xfrm>
            <a:off x="7935895" y="5576743"/>
            <a:ext cx="294803" cy="294803"/>
          </a:xfrm>
          <a:prstGeom prst="rect">
            <a:avLst/>
          </a:prstGeom>
        </p:spPr>
      </p:pic>
      <p:sp>
        <p:nvSpPr>
          <p:cNvPr id="28" name="Text 18"/>
          <p:cNvSpPr/>
          <p:nvPr/>
        </p:nvSpPr>
        <p:spPr>
          <a:xfrm>
            <a:off x="7479792" y="6053328"/>
            <a:ext cx="1207008" cy="274320"/>
          </a:xfrm>
          <a:prstGeom prst="rect">
            <a:avLst/>
          </a:prstGeom>
          <a:noFill/>
          <a:ln/>
        </p:spPr>
        <p:txBody>
          <a:bodyPr wrap="square" rtlCol="0" anchor="ctr"/>
          <a:lstStyle/>
          <a:p>
            <a:pPr algn="ctr" indent="0" marL="0">
              <a:buNone/>
            </a:pPr>
            <a:r>
              <a:rPr lang="en-US" sz="950" dirty="0">
                <a:solidFill>
                  <a:srgbClr val="8593AC"/>
                </a:solidFill>
                <a:latin typeface="Calibri" pitchFamily="34" charset="0"/>
                <a:ea typeface="Calibri" pitchFamily="34" charset="-122"/>
                <a:cs typeface="Calibri" pitchFamily="34" charset="-120"/>
              </a:rPr>
              <a:t>Domain Controllers</a:t>
            </a:r>
            <a:endParaRPr lang="en-US" sz="950" dirty="0"/>
          </a:p>
        </p:txBody>
      </p:sp>
      <p:sp>
        <p:nvSpPr>
          <p:cNvPr id="29" name="Text 19"/>
          <p:cNvSpPr/>
          <p:nvPr/>
        </p:nvSpPr>
        <p:spPr>
          <a:xfrm>
            <a:off x="777240" y="6382512"/>
            <a:ext cx="10515600" cy="274320"/>
          </a:xfrm>
          <a:prstGeom prst="rect">
            <a:avLst/>
          </a:prstGeom>
          <a:noFill/>
          <a:ln/>
        </p:spPr>
        <p:txBody>
          <a:bodyPr wrap="square" rtlCol="0" anchor="ctr"/>
          <a:lstStyle/>
          <a:p>
            <a:pPr indent="0" marL="0">
              <a:buNone/>
            </a:pPr>
            <a:r>
              <a:rPr lang="en-US" sz="1100" i="1" dirty="0">
                <a:solidFill>
                  <a:srgbClr val="8593AC"/>
                </a:solidFill>
                <a:latin typeface="Calibri" pitchFamily="34" charset="0"/>
                <a:ea typeface="Calibri" pitchFamily="34" charset="-122"/>
                <a:cs typeface="Calibri" pitchFamily="34" charset="-120"/>
              </a:rPr>
              <a:t>Prepared for Infrastructure Architecture, AD Administration &amp; Security Governance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rtlCol="0" anchor="ctr"/>
          <a:lstStyle/>
          <a:p>
            <a:pPr algn="l" indent="0" marL="0">
              <a:buNone/>
            </a:pPr>
            <a:r>
              <a:rPr lang="en-US" sz="1200" b="1" spc="300" kern="0" dirty="0">
                <a:solidFill>
                  <a:srgbClr val="4A6FA5"/>
                </a:solidFill>
                <a:latin typeface="Calibri" pitchFamily="34" charset="0"/>
                <a:ea typeface="Calibri" pitchFamily="34" charset="-122"/>
                <a:cs typeface="Calibri" pitchFamily="34" charset="-120"/>
              </a:rPr>
              <a:t>EXECUTIVE SUMMARY</a:t>
            </a:r>
            <a:endParaRPr lang="en-US" sz="1200" dirty="0"/>
          </a:p>
        </p:txBody>
      </p:sp>
      <p:sp>
        <p:nvSpPr>
          <p:cNvPr id="3" name="Text 1"/>
          <p:cNvSpPr/>
          <p:nvPr/>
        </p:nvSpPr>
        <p:spPr>
          <a:xfrm>
            <a:off x="548640" y="658368"/>
            <a:ext cx="10515600" cy="822960"/>
          </a:xfrm>
          <a:prstGeom prst="rect">
            <a:avLst/>
          </a:prstGeom>
          <a:noFill/>
          <a:ln/>
        </p:spPr>
        <p:txBody>
          <a:bodyPr wrap="square" rtlCol="0" anchor="ctr"/>
          <a:lstStyle/>
          <a:p>
            <a:pPr algn="l" indent="0" marL="0">
              <a:buNone/>
            </a:pPr>
            <a:r>
              <a:rPr lang="en-US" sz="3200" b="1" dirty="0">
                <a:solidFill>
                  <a:srgbClr val="1E2761"/>
                </a:solidFill>
                <a:latin typeface="Century Schoolbook" pitchFamily="34" charset="0"/>
                <a:ea typeface="Century Schoolbook" pitchFamily="34" charset="-122"/>
                <a:cs typeface="Century Schoolbook" pitchFamily="34" charset="-120"/>
              </a:rPr>
              <a:t>A least-privilege model for cross-boundary admin access</a:t>
            </a:r>
            <a:endParaRPr lang="en-US" sz="3200" dirty="0"/>
          </a:p>
        </p:txBody>
      </p:sp>
      <p:sp>
        <p:nvSpPr>
          <p:cNvPr id="4" name="Text 2"/>
          <p:cNvSpPr/>
          <p:nvPr/>
        </p:nvSpPr>
        <p:spPr>
          <a:xfrm>
            <a:off x="11277295" y="6400800"/>
            <a:ext cx="457200" cy="274320"/>
          </a:xfrm>
          <a:prstGeom prst="rect">
            <a:avLst/>
          </a:prstGeom>
          <a:noFill/>
          <a:ln/>
        </p:spPr>
        <p:txBody>
          <a:bodyPr wrap="square" rtlCol="0" anchor="ctr"/>
          <a:lstStyle/>
          <a:p>
            <a:pPr algn="r" indent="0" marL="0">
              <a:buNone/>
            </a:pPr>
            <a:r>
              <a:rPr lang="en-US" sz="1000" dirty="0">
                <a:solidFill>
                  <a:srgbClr val="8593AC"/>
                </a:solidFill>
                <a:latin typeface="Calibri" pitchFamily="34" charset="0"/>
                <a:ea typeface="Calibri" pitchFamily="34" charset="-122"/>
                <a:cs typeface="Calibri" pitchFamily="34" charset="-120"/>
              </a:rPr>
              <a:t>02</a:t>
            </a:r>
            <a:endParaRPr lang="en-US" sz="1000" dirty="0"/>
          </a:p>
        </p:txBody>
      </p:sp>
      <p:sp>
        <p:nvSpPr>
          <p:cNvPr id="5" name="Text 3"/>
          <p:cNvSpPr/>
          <p:nvPr/>
        </p:nvSpPr>
        <p:spPr>
          <a:xfrm>
            <a:off x="548640" y="6400800"/>
            <a:ext cx="6400800" cy="274320"/>
          </a:xfrm>
          <a:prstGeom prst="rect">
            <a:avLst/>
          </a:prstGeom>
          <a:noFill/>
          <a:ln/>
        </p:spPr>
        <p:txBody>
          <a:bodyPr wrap="square" rtlCol="0" anchor="ctr"/>
          <a:lstStyle/>
          <a:p>
            <a:pPr algn="l" indent="0" marL="0">
              <a:buNone/>
            </a:pPr>
            <a:r>
              <a:rPr lang="en-US" sz="900" dirty="0">
                <a:solidFill>
                  <a:srgbClr val="8593AC"/>
                </a:solidFill>
                <a:latin typeface="Calibri" pitchFamily="34" charset="0"/>
                <a:ea typeface="Calibri" pitchFamily="34" charset="-122"/>
                <a:cs typeface="Calibri" pitchFamily="34" charset="-120"/>
              </a:rPr>
              <a:t>Cross-Forest Administrative Access Model</a:t>
            </a:r>
            <a:endParaRPr lang="en-US" sz="900" dirty="0"/>
          </a:p>
        </p:txBody>
      </p:sp>
      <p:sp>
        <p:nvSpPr>
          <p:cNvPr id="6" name="Text 4"/>
          <p:cNvSpPr/>
          <p:nvPr/>
        </p:nvSpPr>
        <p:spPr>
          <a:xfrm>
            <a:off x="548640" y="1691640"/>
            <a:ext cx="5486400" cy="2468880"/>
          </a:xfrm>
          <a:prstGeom prst="rect">
            <a:avLst/>
          </a:prstGeom>
          <a:noFill/>
          <a:ln/>
        </p:spPr>
        <p:txBody>
          <a:bodyPr wrap="square" rtlCol="0" anchor="t"/>
          <a:lstStyle/>
          <a:p>
            <a:pPr indent="0" marL="0">
              <a:spcAft>
                <a:spcPts val="800"/>
              </a:spcAft>
              <a:buNone/>
            </a:pPr>
            <a:r>
              <a:rPr lang="en-US" sz="1450" dirty="0">
                <a:solidFill>
                  <a:srgbClr val="1E2761"/>
                </a:solidFill>
                <a:latin typeface="Calibri" pitchFamily="34" charset="0"/>
                <a:ea typeface="Calibri" pitchFamily="34" charset="-122"/>
                <a:cs typeface="Calibri" pitchFamily="34" charset="-120"/>
              </a:rPr>
              <a:t>The requirement is to grant a single administrative identity RDP and administrative access across multiple Active Directory domains and a separate forest. </a:t>
            </a:r>
            <a:endParaRPr lang="en-US" sz="1450" dirty="0"/>
          </a:p>
          <a:p>
            <a:pPr indent="0" marL="0">
              <a:spcAft>
                <a:spcPts val="800"/>
              </a:spcAft>
              <a:buNone/>
            </a:pPr>
            <a:r>
              <a:rPr lang="en-US" sz="1450" dirty="0">
                <a:solidFill>
                  <a:srgbClr val="5B6B8C"/>
                </a:solidFill>
                <a:latin typeface="Calibri" pitchFamily="34" charset="0"/>
                <a:ea typeface="Calibri" pitchFamily="34" charset="-122"/>
                <a:cs typeface="Calibri" pitchFamily="34" charset="-120"/>
              </a:rPr>
              <a:t>Done naively — by reusing one Global Group or by granting Domain Admin broadly — this creates real security exposure and does not even work reliably across a forest boundary. </a:t>
            </a:r>
            <a:endParaRPr lang="en-US" sz="1450" dirty="0"/>
          </a:p>
          <a:p>
            <a:pPr indent="0" marL="0">
              <a:buNone/>
            </a:pPr>
            <a:r>
              <a:rPr lang="en-US" sz="1450" dirty="0">
                <a:solidFill>
                  <a:srgbClr val="5B6B8C"/>
                </a:solidFill>
                <a:latin typeface="Calibri" pitchFamily="34" charset="0"/>
                <a:ea typeface="Calibri" pitchFamily="34" charset="-122"/>
                <a:cs typeface="Calibri" pitchFamily="34" charset="-120"/>
              </a:rPr>
              <a:t>This proposal applies AD group-scope best practice so access is scoped precisely, assigned on the resource side, and fully auditable.</a:t>
            </a:r>
            <a:endParaRPr lang="en-US" sz="1450" dirty="0"/>
          </a:p>
        </p:txBody>
      </p:sp>
      <p:sp>
        <p:nvSpPr>
          <p:cNvPr id="7" name="Shape 5"/>
          <p:cNvSpPr/>
          <p:nvPr/>
        </p:nvSpPr>
        <p:spPr>
          <a:xfrm>
            <a:off x="548640" y="4160520"/>
            <a:ext cx="566928" cy="566928"/>
          </a:xfrm>
          <a:prstGeom prst="roundRect">
            <a:avLst>
              <a:gd name="adj" fmla="val 22000"/>
            </a:avLst>
          </a:prstGeom>
          <a:solidFill>
            <a:srgbClr val="E8F0FE"/>
          </a:solidFill>
          <a:ln/>
          <a:effectLst>
            <a:outerShdw sx="100000" sy="100000" kx="0" ky="0" algn="bl" rotWithShape="0" blurRad="63500" dist="25400" dir="5400000">
              <a:srgbClr val="A9B4C8">
                <a:alpha val="22000"/>
              </a:srgbClr>
            </a:outerShdw>
          </a:effectLst>
        </p:spPr>
      </p:sp>
      <p:pic>
        <p:nvPicPr>
          <p:cNvPr id="8" name="Image 0" descr="preencoded.png">    </p:cNvPr>
          <p:cNvPicPr>
            <a:picLocks noChangeAspect="1"/>
          </p:cNvPicPr>
          <p:nvPr/>
        </p:nvPicPr>
        <p:blipFill>
          <a:blip r:embed="rId1"/>
          <a:stretch>
            <a:fillRect/>
          </a:stretch>
        </p:blipFill>
        <p:spPr>
          <a:xfrm>
            <a:off x="662026" y="4273906"/>
            <a:ext cx="340157" cy="340157"/>
          </a:xfrm>
          <a:prstGeom prst="rect">
            <a:avLst/>
          </a:prstGeom>
        </p:spPr>
      </p:pic>
      <p:sp>
        <p:nvSpPr>
          <p:cNvPr id="9" name="Text 6"/>
          <p:cNvSpPr/>
          <p:nvPr/>
        </p:nvSpPr>
        <p:spPr>
          <a:xfrm>
            <a:off x="1261872" y="4142232"/>
            <a:ext cx="4800600" cy="603504"/>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Separate identity  </a:t>
            </a:r>
            <a:pPr indent="0" marL="0">
              <a:buNone/>
            </a:pPr>
            <a:r>
              <a:rPr lang="en-US" sz="1150" dirty="0">
                <a:solidFill>
                  <a:srgbClr val="5B6B8C"/>
                </a:solidFill>
                <a:latin typeface="Calibri" pitchFamily="34" charset="0"/>
                <a:ea typeface="Calibri" pitchFamily="34" charset="-122"/>
                <a:cs typeface="Calibri" pitchFamily="34" charset="-120"/>
              </a:rPr>
              <a:t>A dedicated privileged account, distinct from any daily-use ID.</a:t>
            </a:r>
            <a:endParaRPr lang="en-US" sz="1300" dirty="0"/>
          </a:p>
        </p:txBody>
      </p:sp>
      <p:sp>
        <p:nvSpPr>
          <p:cNvPr id="10" name="Shape 7"/>
          <p:cNvSpPr/>
          <p:nvPr/>
        </p:nvSpPr>
        <p:spPr>
          <a:xfrm>
            <a:off x="548640" y="4818888"/>
            <a:ext cx="566928" cy="566928"/>
          </a:xfrm>
          <a:prstGeom prst="roundRect">
            <a:avLst>
              <a:gd name="adj" fmla="val 22000"/>
            </a:avLst>
          </a:prstGeom>
          <a:solidFill>
            <a:srgbClr val="E8F0FE"/>
          </a:solidFill>
          <a:ln/>
          <a:effectLst>
            <a:outerShdw sx="100000" sy="100000" kx="0" ky="0" algn="bl" rotWithShape="0" blurRad="63500" dist="25400" dir="5400000">
              <a:srgbClr val="A9B4C8">
                <a:alpha val="22000"/>
              </a:srgbClr>
            </a:outerShdw>
          </a:effectLst>
        </p:spPr>
      </p:sp>
      <p:pic>
        <p:nvPicPr>
          <p:cNvPr id="11" name="Image 1" descr="preencoded.png">    </p:cNvPr>
          <p:cNvPicPr>
            <a:picLocks noChangeAspect="1"/>
          </p:cNvPicPr>
          <p:nvPr/>
        </p:nvPicPr>
        <p:blipFill>
          <a:blip r:embed="rId2"/>
          <a:stretch>
            <a:fillRect/>
          </a:stretch>
        </p:blipFill>
        <p:spPr>
          <a:xfrm>
            <a:off x="662026" y="4932274"/>
            <a:ext cx="340157" cy="340157"/>
          </a:xfrm>
          <a:prstGeom prst="rect">
            <a:avLst/>
          </a:prstGeom>
        </p:spPr>
      </p:pic>
      <p:sp>
        <p:nvSpPr>
          <p:cNvPr id="12" name="Text 8"/>
          <p:cNvSpPr/>
          <p:nvPr/>
        </p:nvSpPr>
        <p:spPr>
          <a:xfrm>
            <a:off x="1261872" y="4800600"/>
            <a:ext cx="4800600" cy="603504"/>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Correct group scope  </a:t>
            </a:r>
            <a:pPr indent="0" marL="0">
              <a:buNone/>
            </a:pPr>
            <a:r>
              <a:rPr lang="en-US" sz="1150" dirty="0">
                <a:solidFill>
                  <a:srgbClr val="5B6B8C"/>
                </a:solidFill>
                <a:latin typeface="Calibri" pitchFamily="34" charset="0"/>
                <a:ea typeface="Calibri" pitchFamily="34" charset="-122"/>
                <a:cs typeface="Calibri" pitchFamily="34" charset="-120"/>
              </a:rPr>
              <a:t>Global to collect, Universal to span the forest, Domain Local to grant.</a:t>
            </a:r>
            <a:endParaRPr lang="en-US" sz="1300" dirty="0"/>
          </a:p>
        </p:txBody>
      </p:sp>
      <p:sp>
        <p:nvSpPr>
          <p:cNvPr id="13" name="Shape 9"/>
          <p:cNvSpPr/>
          <p:nvPr/>
        </p:nvSpPr>
        <p:spPr>
          <a:xfrm>
            <a:off x="548640" y="5477256"/>
            <a:ext cx="566928" cy="566928"/>
          </a:xfrm>
          <a:prstGeom prst="roundRect">
            <a:avLst>
              <a:gd name="adj" fmla="val 22000"/>
            </a:avLst>
          </a:prstGeom>
          <a:solidFill>
            <a:srgbClr val="E8F0FE"/>
          </a:solidFill>
          <a:ln/>
          <a:effectLst>
            <a:outerShdw sx="100000" sy="100000" kx="0" ky="0" algn="bl" rotWithShape="0" blurRad="63500" dist="25400" dir="5400000">
              <a:srgbClr val="A9B4C8">
                <a:alpha val="22000"/>
              </a:srgbClr>
            </a:outerShdw>
          </a:effectLst>
        </p:spPr>
      </p:sp>
      <p:pic>
        <p:nvPicPr>
          <p:cNvPr id="14" name="Image 2" descr="preencoded.png">    </p:cNvPr>
          <p:cNvPicPr>
            <a:picLocks noChangeAspect="1"/>
          </p:cNvPicPr>
          <p:nvPr/>
        </p:nvPicPr>
        <p:blipFill>
          <a:blip r:embed="rId3"/>
          <a:stretch>
            <a:fillRect/>
          </a:stretch>
        </p:blipFill>
        <p:spPr>
          <a:xfrm>
            <a:off x="662026" y="5590642"/>
            <a:ext cx="340157" cy="340157"/>
          </a:xfrm>
          <a:prstGeom prst="rect">
            <a:avLst/>
          </a:prstGeom>
        </p:spPr>
      </p:pic>
      <p:sp>
        <p:nvSpPr>
          <p:cNvPr id="15" name="Text 10"/>
          <p:cNvSpPr/>
          <p:nvPr/>
        </p:nvSpPr>
        <p:spPr>
          <a:xfrm>
            <a:off x="1261872" y="5458968"/>
            <a:ext cx="4800600" cy="603504"/>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Least privilege  </a:t>
            </a:r>
            <a:pPr indent="0" marL="0">
              <a:buNone/>
            </a:pPr>
            <a:r>
              <a:rPr lang="en-US" sz="1150" dirty="0">
                <a:solidFill>
                  <a:srgbClr val="5B6B8C"/>
                </a:solidFill>
                <a:latin typeface="Calibri" pitchFamily="34" charset="0"/>
                <a:ea typeface="Calibri" pitchFamily="34" charset="-122"/>
                <a:cs typeface="Calibri" pitchFamily="34" charset="-120"/>
              </a:rPr>
              <a:t>Domain Admin restricted; RDP granted through explicit, approved rights.</a:t>
            </a:r>
            <a:endParaRPr lang="en-US" sz="1300" dirty="0"/>
          </a:p>
        </p:txBody>
      </p:sp>
      <p:sp>
        <p:nvSpPr>
          <p:cNvPr id="16" name="Shape 11"/>
          <p:cNvSpPr/>
          <p:nvPr/>
        </p:nvSpPr>
        <p:spPr>
          <a:xfrm>
            <a:off x="6446520" y="1691640"/>
            <a:ext cx="5166360" cy="4434840"/>
          </a:xfrm>
          <a:prstGeom prst="roundRect">
            <a:avLst>
              <a:gd name="adj" fmla="val 2887"/>
            </a:avLst>
          </a:prstGeom>
          <a:solidFill>
            <a:srgbClr val="1E2761"/>
          </a:solidFill>
          <a:ln/>
          <a:effectLst>
            <a:outerShdw sx="100000" sy="100000" kx="0" ky="0" algn="bl" rotWithShape="0" blurRad="88900" dist="38100" dir="5400000">
              <a:srgbClr val="8593AC">
                <a:alpha val="28000"/>
              </a:srgbClr>
            </a:outerShdw>
          </a:effectLst>
        </p:spPr>
      </p:sp>
      <p:sp>
        <p:nvSpPr>
          <p:cNvPr id="17" name="Text 12"/>
          <p:cNvSpPr/>
          <p:nvPr/>
        </p:nvSpPr>
        <p:spPr>
          <a:xfrm>
            <a:off x="6858000" y="2011680"/>
            <a:ext cx="4480560" cy="320040"/>
          </a:xfrm>
          <a:prstGeom prst="rect">
            <a:avLst/>
          </a:prstGeom>
          <a:noFill/>
          <a:ln/>
        </p:spPr>
        <p:txBody>
          <a:bodyPr wrap="square" rtlCol="0" anchor="ctr"/>
          <a:lstStyle/>
          <a:p>
            <a:pPr indent="0" marL="0">
              <a:buNone/>
            </a:pPr>
            <a:r>
              <a:rPr lang="en-US" sz="1200" b="1" spc="200" kern="0" dirty="0">
                <a:solidFill>
                  <a:srgbClr val="E8B84B"/>
                </a:solidFill>
                <a:latin typeface="Calibri" pitchFamily="34" charset="0"/>
                <a:ea typeface="Calibri" pitchFamily="34" charset="-122"/>
                <a:cs typeface="Calibri" pitchFamily="34" charset="-120"/>
              </a:rPr>
              <a:t>WHAT THIS DESIGN DELIVERS</a:t>
            </a:r>
            <a:endParaRPr lang="en-US" sz="1200" dirty="0"/>
          </a:p>
        </p:txBody>
      </p:sp>
      <p:pic>
        <p:nvPicPr>
          <p:cNvPr id="18" name="Image 3" descr="preencoded.png">    </p:cNvPr>
          <p:cNvPicPr>
            <a:picLocks noChangeAspect="1"/>
          </p:cNvPicPr>
          <p:nvPr/>
        </p:nvPicPr>
        <p:blipFill>
          <a:blip r:embed="rId4"/>
          <a:stretch>
            <a:fillRect/>
          </a:stretch>
        </p:blipFill>
        <p:spPr>
          <a:xfrm>
            <a:off x="6858000" y="2478024"/>
            <a:ext cx="237744" cy="237744"/>
          </a:xfrm>
          <a:prstGeom prst="rect">
            <a:avLst/>
          </a:prstGeom>
        </p:spPr>
      </p:pic>
      <p:sp>
        <p:nvSpPr>
          <p:cNvPr id="19" name="Text 13"/>
          <p:cNvSpPr/>
          <p:nvPr/>
        </p:nvSpPr>
        <p:spPr>
          <a:xfrm>
            <a:off x="7223760" y="2395728"/>
            <a:ext cx="4160520" cy="548640"/>
          </a:xfrm>
          <a:prstGeom prst="rect">
            <a:avLst/>
          </a:prstGeom>
          <a:noFill/>
          <a:ln/>
        </p:spPr>
        <p:txBody>
          <a:bodyPr wrap="square" rtlCol="0" anchor="t"/>
          <a:lstStyle/>
          <a:p>
            <a:pPr indent="0" marL="0">
              <a:lnSpc>
                <a:spcPct val="102000"/>
              </a:lnSpc>
              <a:buNone/>
            </a:pPr>
            <a:r>
              <a:rPr lang="en-US" sz="1250" dirty="0">
                <a:solidFill>
                  <a:srgbClr val="CADCFC"/>
                </a:solidFill>
                <a:latin typeface="Calibri" pitchFamily="34" charset="0"/>
                <a:ea typeface="Calibri" pitchFamily="34" charset="-122"/>
                <a:cs typeface="Calibri" pitchFamily="34" charset="-120"/>
              </a:rPr>
              <a:t>One admin identity, precisely scoped to only the servers and domains that require it</a:t>
            </a:r>
            <a:endParaRPr lang="en-US" sz="1250" dirty="0"/>
          </a:p>
        </p:txBody>
      </p:sp>
      <p:pic>
        <p:nvPicPr>
          <p:cNvPr id="20" name="Image 4" descr="preencoded.png">    </p:cNvPr>
          <p:cNvPicPr>
            <a:picLocks noChangeAspect="1"/>
          </p:cNvPicPr>
          <p:nvPr/>
        </p:nvPicPr>
        <p:blipFill>
          <a:blip r:embed="rId5"/>
          <a:stretch>
            <a:fillRect/>
          </a:stretch>
        </p:blipFill>
        <p:spPr>
          <a:xfrm>
            <a:off x="6858000" y="3081528"/>
            <a:ext cx="237744" cy="237744"/>
          </a:xfrm>
          <a:prstGeom prst="rect">
            <a:avLst/>
          </a:prstGeom>
        </p:spPr>
      </p:pic>
      <p:sp>
        <p:nvSpPr>
          <p:cNvPr id="21" name="Text 14"/>
          <p:cNvSpPr/>
          <p:nvPr/>
        </p:nvSpPr>
        <p:spPr>
          <a:xfrm>
            <a:off x="7223760" y="2999232"/>
            <a:ext cx="4160520" cy="548640"/>
          </a:xfrm>
          <a:prstGeom prst="rect">
            <a:avLst/>
          </a:prstGeom>
          <a:noFill/>
          <a:ln/>
        </p:spPr>
        <p:txBody>
          <a:bodyPr wrap="square" rtlCol="0" anchor="t"/>
          <a:lstStyle/>
          <a:p>
            <a:pPr indent="0" marL="0">
              <a:lnSpc>
                <a:spcPct val="102000"/>
              </a:lnSpc>
              <a:buNone/>
            </a:pPr>
            <a:r>
              <a:rPr lang="en-US" sz="1250" dirty="0">
                <a:solidFill>
                  <a:srgbClr val="CADCFC"/>
                </a:solidFill>
                <a:latin typeface="Calibri" pitchFamily="34" charset="0"/>
                <a:ea typeface="Calibri" pitchFamily="34" charset="-122"/>
                <a:cs typeface="Calibri" pitchFamily="34" charset="-120"/>
              </a:rPr>
              <a:t>Same-forest reach via correct Global → Universal nesting (AGUDLP)</a:t>
            </a:r>
            <a:endParaRPr lang="en-US" sz="1250" dirty="0"/>
          </a:p>
        </p:txBody>
      </p:sp>
      <p:pic>
        <p:nvPicPr>
          <p:cNvPr id="22" name="Image 5" descr="preencoded.png">    </p:cNvPr>
          <p:cNvPicPr>
            <a:picLocks noChangeAspect="1"/>
          </p:cNvPicPr>
          <p:nvPr/>
        </p:nvPicPr>
        <p:blipFill>
          <a:blip r:embed="rId6"/>
          <a:stretch>
            <a:fillRect/>
          </a:stretch>
        </p:blipFill>
        <p:spPr>
          <a:xfrm>
            <a:off x="6858000" y="3685032"/>
            <a:ext cx="237744" cy="237744"/>
          </a:xfrm>
          <a:prstGeom prst="rect">
            <a:avLst/>
          </a:prstGeom>
        </p:spPr>
      </p:pic>
      <p:sp>
        <p:nvSpPr>
          <p:cNvPr id="23" name="Text 15"/>
          <p:cNvSpPr/>
          <p:nvPr/>
        </p:nvSpPr>
        <p:spPr>
          <a:xfrm>
            <a:off x="7223760" y="3602736"/>
            <a:ext cx="4160520" cy="548640"/>
          </a:xfrm>
          <a:prstGeom prst="rect">
            <a:avLst/>
          </a:prstGeom>
          <a:noFill/>
          <a:ln/>
        </p:spPr>
        <p:txBody>
          <a:bodyPr wrap="square" rtlCol="0" anchor="t"/>
          <a:lstStyle/>
          <a:p>
            <a:pPr indent="0" marL="0">
              <a:lnSpc>
                <a:spcPct val="102000"/>
              </a:lnSpc>
              <a:buNone/>
            </a:pPr>
            <a:r>
              <a:rPr lang="en-US" sz="1250" dirty="0">
                <a:solidFill>
                  <a:srgbClr val="CADCFC"/>
                </a:solidFill>
                <a:latin typeface="Calibri" pitchFamily="34" charset="0"/>
                <a:ea typeface="Calibri" pitchFamily="34" charset="-122"/>
                <a:cs typeface="Calibri" pitchFamily="34" charset="-120"/>
              </a:rPr>
              <a:t>Cross-forest access granted through target-side Domain Local groups</a:t>
            </a:r>
            <a:endParaRPr lang="en-US" sz="1250" dirty="0"/>
          </a:p>
        </p:txBody>
      </p:sp>
      <p:pic>
        <p:nvPicPr>
          <p:cNvPr id="24" name="Image 6" descr="preencoded.png">    </p:cNvPr>
          <p:cNvPicPr>
            <a:picLocks noChangeAspect="1"/>
          </p:cNvPicPr>
          <p:nvPr/>
        </p:nvPicPr>
        <p:blipFill>
          <a:blip r:embed="rId7"/>
          <a:stretch>
            <a:fillRect/>
          </a:stretch>
        </p:blipFill>
        <p:spPr>
          <a:xfrm>
            <a:off x="6858000" y="4288536"/>
            <a:ext cx="237744" cy="237744"/>
          </a:xfrm>
          <a:prstGeom prst="rect">
            <a:avLst/>
          </a:prstGeom>
        </p:spPr>
      </p:pic>
      <p:sp>
        <p:nvSpPr>
          <p:cNvPr id="25" name="Text 16"/>
          <p:cNvSpPr/>
          <p:nvPr/>
        </p:nvSpPr>
        <p:spPr>
          <a:xfrm>
            <a:off x="7223760" y="4206240"/>
            <a:ext cx="4160520" cy="548640"/>
          </a:xfrm>
          <a:prstGeom prst="rect">
            <a:avLst/>
          </a:prstGeom>
          <a:noFill/>
          <a:ln/>
        </p:spPr>
        <p:txBody>
          <a:bodyPr wrap="square" rtlCol="0" anchor="t"/>
          <a:lstStyle/>
          <a:p>
            <a:pPr indent="0" marL="0">
              <a:lnSpc>
                <a:spcPct val="102000"/>
              </a:lnSpc>
              <a:buNone/>
            </a:pPr>
            <a:r>
              <a:rPr lang="en-US" sz="1250" dirty="0">
                <a:solidFill>
                  <a:srgbClr val="CADCFC"/>
                </a:solidFill>
                <a:latin typeface="Calibri" pitchFamily="34" charset="0"/>
                <a:ea typeface="Calibri" pitchFamily="34" charset="-122"/>
                <a:cs typeface="Calibri" pitchFamily="34" charset="-120"/>
              </a:rPr>
              <a:t>RDP authorised by explicit rights, never by broad privilege inheritance</a:t>
            </a:r>
            <a:endParaRPr lang="en-US" sz="1250" dirty="0"/>
          </a:p>
        </p:txBody>
      </p:sp>
      <p:pic>
        <p:nvPicPr>
          <p:cNvPr id="26" name="Image 7" descr="preencoded.png">    </p:cNvPr>
          <p:cNvPicPr>
            <a:picLocks noChangeAspect="1"/>
          </p:cNvPicPr>
          <p:nvPr/>
        </p:nvPicPr>
        <p:blipFill>
          <a:blip r:embed="rId8"/>
          <a:stretch>
            <a:fillRect/>
          </a:stretch>
        </p:blipFill>
        <p:spPr>
          <a:xfrm>
            <a:off x="6858000" y="4892040"/>
            <a:ext cx="237744" cy="237744"/>
          </a:xfrm>
          <a:prstGeom prst="rect">
            <a:avLst/>
          </a:prstGeom>
        </p:spPr>
      </p:pic>
      <p:sp>
        <p:nvSpPr>
          <p:cNvPr id="27" name="Text 17"/>
          <p:cNvSpPr/>
          <p:nvPr/>
        </p:nvSpPr>
        <p:spPr>
          <a:xfrm>
            <a:off x="7223760" y="4809744"/>
            <a:ext cx="4160520" cy="548640"/>
          </a:xfrm>
          <a:prstGeom prst="rect">
            <a:avLst/>
          </a:prstGeom>
          <a:noFill/>
          <a:ln/>
        </p:spPr>
        <p:txBody>
          <a:bodyPr wrap="square" rtlCol="0" anchor="t"/>
          <a:lstStyle/>
          <a:p>
            <a:pPr indent="0" marL="0">
              <a:lnSpc>
                <a:spcPct val="102000"/>
              </a:lnSpc>
              <a:buNone/>
            </a:pPr>
            <a:r>
              <a:rPr lang="en-US" sz="1250" dirty="0">
                <a:solidFill>
                  <a:srgbClr val="CADCFC"/>
                </a:solidFill>
                <a:latin typeface="Calibri" pitchFamily="34" charset="0"/>
                <a:ea typeface="Calibri" pitchFamily="34" charset="-122"/>
                <a:cs typeface="Calibri" pitchFamily="34" charset="-120"/>
              </a:rPr>
              <a:t>Domain Admin reserved for governance-approved, justified cases only</a:t>
            </a:r>
            <a:endParaRPr lang="en-US" sz="1250" dirty="0"/>
          </a:p>
        </p:txBody>
      </p:sp>
      <p:pic>
        <p:nvPicPr>
          <p:cNvPr id="28" name="Image 8" descr="preencoded.png">    </p:cNvPr>
          <p:cNvPicPr>
            <a:picLocks noChangeAspect="1"/>
          </p:cNvPicPr>
          <p:nvPr/>
        </p:nvPicPr>
        <p:blipFill>
          <a:blip r:embed="rId9"/>
          <a:stretch>
            <a:fillRect/>
          </a:stretch>
        </p:blipFill>
        <p:spPr>
          <a:xfrm>
            <a:off x="6858000" y="5495544"/>
            <a:ext cx="237744" cy="237744"/>
          </a:xfrm>
          <a:prstGeom prst="rect">
            <a:avLst/>
          </a:prstGeom>
        </p:spPr>
      </p:pic>
      <p:sp>
        <p:nvSpPr>
          <p:cNvPr id="29" name="Text 18"/>
          <p:cNvSpPr/>
          <p:nvPr/>
        </p:nvSpPr>
        <p:spPr>
          <a:xfrm>
            <a:off x="7223760" y="5413248"/>
            <a:ext cx="4160520" cy="548640"/>
          </a:xfrm>
          <a:prstGeom prst="rect">
            <a:avLst/>
          </a:prstGeom>
          <a:noFill/>
          <a:ln/>
        </p:spPr>
        <p:txBody>
          <a:bodyPr wrap="square" rtlCol="0" anchor="t"/>
          <a:lstStyle/>
          <a:p>
            <a:pPr indent="0" marL="0">
              <a:lnSpc>
                <a:spcPct val="102000"/>
              </a:lnSpc>
              <a:buNone/>
            </a:pPr>
            <a:r>
              <a:rPr lang="en-US" sz="1250" dirty="0">
                <a:solidFill>
                  <a:srgbClr val="CADCFC"/>
                </a:solidFill>
                <a:latin typeface="Calibri" pitchFamily="34" charset="0"/>
                <a:ea typeface="Calibri" pitchFamily="34" charset="-122"/>
                <a:cs typeface="Calibri" pitchFamily="34" charset="-120"/>
              </a:rPr>
              <a:t>Full auditability of logon and privilege use</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rtlCol="0" anchor="ctr"/>
          <a:lstStyle/>
          <a:p>
            <a:pPr algn="l" indent="0" marL="0">
              <a:buNone/>
            </a:pPr>
            <a:r>
              <a:rPr lang="en-US" sz="1200" b="1" spc="300" kern="0" dirty="0">
                <a:solidFill>
                  <a:srgbClr val="4A6FA5"/>
                </a:solidFill>
                <a:latin typeface="Calibri" pitchFamily="34" charset="0"/>
                <a:ea typeface="Calibri" pitchFamily="34" charset="-122"/>
                <a:cs typeface="Calibri" pitchFamily="34" charset="-120"/>
              </a:rPr>
              <a:t>CURRENT REQUIREMENT</a:t>
            </a:r>
            <a:endParaRPr lang="en-US" sz="1200" dirty="0"/>
          </a:p>
        </p:txBody>
      </p:sp>
      <p:sp>
        <p:nvSpPr>
          <p:cNvPr id="3" name="Text 1"/>
          <p:cNvSpPr/>
          <p:nvPr/>
        </p:nvSpPr>
        <p:spPr>
          <a:xfrm>
            <a:off x="548640" y="658368"/>
            <a:ext cx="10515600" cy="822960"/>
          </a:xfrm>
          <a:prstGeom prst="rect">
            <a:avLst/>
          </a:prstGeom>
          <a:noFill/>
          <a:ln/>
        </p:spPr>
        <p:txBody>
          <a:bodyPr wrap="square" rtlCol="0" anchor="ctr"/>
          <a:lstStyle/>
          <a:p>
            <a:pPr algn="l" indent="0" marL="0">
              <a:buNone/>
            </a:pPr>
            <a:r>
              <a:rPr lang="en-US" sz="3200" b="1" dirty="0">
                <a:solidFill>
                  <a:srgbClr val="1E2761"/>
                </a:solidFill>
                <a:latin typeface="Century Schoolbook" pitchFamily="34" charset="0"/>
                <a:ea typeface="Century Schoolbook" pitchFamily="34" charset="-122"/>
                <a:cs typeface="Century Schoolbook" pitchFamily="34" charset="-120"/>
              </a:rPr>
              <a:t>What we have been asked to enable</a:t>
            </a:r>
            <a:endParaRPr lang="en-US" sz="3200" dirty="0"/>
          </a:p>
        </p:txBody>
      </p:sp>
      <p:sp>
        <p:nvSpPr>
          <p:cNvPr id="4" name="Text 2"/>
          <p:cNvSpPr/>
          <p:nvPr/>
        </p:nvSpPr>
        <p:spPr>
          <a:xfrm>
            <a:off x="11277295" y="6400800"/>
            <a:ext cx="457200" cy="274320"/>
          </a:xfrm>
          <a:prstGeom prst="rect">
            <a:avLst/>
          </a:prstGeom>
          <a:noFill/>
          <a:ln/>
        </p:spPr>
        <p:txBody>
          <a:bodyPr wrap="square" rtlCol="0" anchor="ctr"/>
          <a:lstStyle/>
          <a:p>
            <a:pPr algn="r" indent="0" marL="0">
              <a:buNone/>
            </a:pPr>
            <a:r>
              <a:rPr lang="en-US" sz="1000" dirty="0">
                <a:solidFill>
                  <a:srgbClr val="8593AC"/>
                </a:solidFill>
                <a:latin typeface="Calibri" pitchFamily="34" charset="0"/>
                <a:ea typeface="Calibri" pitchFamily="34" charset="-122"/>
                <a:cs typeface="Calibri" pitchFamily="34" charset="-120"/>
              </a:rPr>
              <a:t>03</a:t>
            </a:r>
            <a:endParaRPr lang="en-US" sz="1000" dirty="0"/>
          </a:p>
        </p:txBody>
      </p:sp>
      <p:sp>
        <p:nvSpPr>
          <p:cNvPr id="5" name="Text 3"/>
          <p:cNvSpPr/>
          <p:nvPr/>
        </p:nvSpPr>
        <p:spPr>
          <a:xfrm>
            <a:off x="548640" y="6400800"/>
            <a:ext cx="6400800" cy="274320"/>
          </a:xfrm>
          <a:prstGeom prst="rect">
            <a:avLst/>
          </a:prstGeom>
          <a:noFill/>
          <a:ln/>
        </p:spPr>
        <p:txBody>
          <a:bodyPr wrap="square" rtlCol="0" anchor="ctr"/>
          <a:lstStyle/>
          <a:p>
            <a:pPr algn="l" indent="0" marL="0">
              <a:buNone/>
            </a:pPr>
            <a:r>
              <a:rPr lang="en-US" sz="900" dirty="0">
                <a:solidFill>
                  <a:srgbClr val="8593AC"/>
                </a:solidFill>
                <a:latin typeface="Calibri" pitchFamily="34" charset="0"/>
                <a:ea typeface="Calibri" pitchFamily="34" charset="-122"/>
                <a:cs typeface="Calibri" pitchFamily="34" charset="-120"/>
              </a:rPr>
              <a:t>Cross-Forest Administrative Access Model</a:t>
            </a:r>
            <a:endParaRPr lang="en-US" sz="900" dirty="0"/>
          </a:p>
        </p:txBody>
      </p:sp>
      <p:sp>
        <p:nvSpPr>
          <p:cNvPr id="6" name="Shape 4"/>
          <p:cNvSpPr/>
          <p:nvPr/>
        </p:nvSpPr>
        <p:spPr>
          <a:xfrm>
            <a:off x="548640" y="1645920"/>
            <a:ext cx="11064240" cy="1371600"/>
          </a:xfrm>
          <a:prstGeom prst="roundRect">
            <a:avLst>
              <a:gd name="adj" fmla="val 8000"/>
            </a:avLst>
          </a:prstGeom>
          <a:solidFill>
            <a:srgbClr val="E8F0FE"/>
          </a:solidFill>
          <a:ln w="12700">
            <a:solidFill>
              <a:srgbClr val="DCE4F2"/>
            </a:solidFill>
            <a:prstDash val="solid"/>
          </a:ln>
        </p:spPr>
      </p:sp>
      <p:sp>
        <p:nvSpPr>
          <p:cNvPr id="7" name="Shape 5"/>
          <p:cNvSpPr/>
          <p:nvPr/>
        </p:nvSpPr>
        <p:spPr>
          <a:xfrm>
            <a:off x="868680" y="1965960"/>
            <a:ext cx="731520" cy="731520"/>
          </a:xfrm>
          <a:prstGeom prst="roundRect">
            <a:avLst>
              <a:gd name="adj" fmla="val 22000"/>
            </a:avLst>
          </a:prstGeom>
          <a:solidFill>
            <a:srgbClr val="FFFFFF"/>
          </a:solidFill>
          <a:ln/>
          <a:effectLst>
            <a:outerShdw sx="100000" sy="100000" kx="0" ky="0" algn="bl" rotWithShape="0" blurRad="63500" dist="25400" dir="5400000">
              <a:srgbClr val="A9B4C8">
                <a:alpha val="22000"/>
              </a:srgbClr>
            </a:outerShdw>
          </a:effectLst>
        </p:spPr>
      </p:sp>
      <p:pic>
        <p:nvPicPr>
          <p:cNvPr id="8" name="Image 0" descr="preencoded.png">    </p:cNvPr>
          <p:cNvPicPr>
            <a:picLocks noChangeAspect="1"/>
          </p:cNvPicPr>
          <p:nvPr/>
        </p:nvPicPr>
        <p:blipFill>
          <a:blip r:embed="rId1"/>
          <a:stretch>
            <a:fillRect/>
          </a:stretch>
        </p:blipFill>
        <p:spPr>
          <a:xfrm>
            <a:off x="1014984" y="2112264"/>
            <a:ext cx="438912" cy="438912"/>
          </a:xfrm>
          <a:prstGeom prst="rect">
            <a:avLst/>
          </a:prstGeom>
        </p:spPr>
      </p:pic>
      <p:sp>
        <p:nvSpPr>
          <p:cNvPr id="9" name="Text 6"/>
          <p:cNvSpPr/>
          <p:nvPr/>
        </p:nvSpPr>
        <p:spPr>
          <a:xfrm>
            <a:off x="1874520" y="1783080"/>
            <a:ext cx="9464040" cy="1097280"/>
          </a:xfrm>
          <a:prstGeom prst="rect">
            <a:avLst/>
          </a:prstGeom>
          <a:noFill/>
          <a:ln/>
        </p:spPr>
        <p:txBody>
          <a:bodyPr wrap="square" rtlCol="0" anchor="ctr"/>
          <a:lstStyle/>
          <a:p>
            <a:pPr indent="0" marL="0">
              <a:buNone/>
            </a:pPr>
            <a:r>
              <a:rPr lang="en-US" sz="1500" i="1" dirty="0">
                <a:solidFill>
                  <a:srgbClr val="1E2761"/>
                </a:solidFill>
                <a:latin typeface="Calibri" pitchFamily="34" charset="0"/>
                <a:ea typeface="Calibri" pitchFamily="34" charset="-122"/>
                <a:cs typeface="Calibri" pitchFamily="34" charset="-120"/>
              </a:rPr>
              <a:t>“Create an administrative account in one forest domain, add that ID to a security group, and use that group to grant the account RDP and administrative access across other child domains and a separate forest.”</a:t>
            </a:r>
            <a:endParaRPr lang="en-US" sz="1500" dirty="0"/>
          </a:p>
        </p:txBody>
      </p:sp>
      <p:sp>
        <p:nvSpPr>
          <p:cNvPr id="10" name="Shape 7"/>
          <p:cNvSpPr/>
          <p:nvPr/>
        </p:nvSpPr>
        <p:spPr>
          <a:xfrm>
            <a:off x="548640" y="3429000"/>
            <a:ext cx="2651760" cy="2651760"/>
          </a:xfrm>
          <a:prstGeom prst="roundRect">
            <a:avLst>
              <a:gd name="adj" fmla="val 3448"/>
            </a:avLst>
          </a:prstGeom>
          <a:solidFill>
            <a:srgbClr val="F4F7FC"/>
          </a:solidFill>
          <a:ln w="12700">
            <a:solidFill>
              <a:srgbClr val="DCE4F2"/>
            </a:solidFill>
            <a:prstDash val="solid"/>
          </a:ln>
          <a:effectLst>
            <a:outerShdw sx="100000" sy="100000" kx="0" ky="0" algn="bl" rotWithShape="0" blurRad="63500" dist="25400" dir="5400000">
              <a:srgbClr val="A9B4C8">
                <a:alpha val="22000"/>
              </a:srgbClr>
            </a:outerShdw>
          </a:effectLst>
        </p:spPr>
      </p:sp>
      <p:sp>
        <p:nvSpPr>
          <p:cNvPr id="11" name="Shape 8"/>
          <p:cNvSpPr/>
          <p:nvPr/>
        </p:nvSpPr>
        <p:spPr>
          <a:xfrm>
            <a:off x="804672" y="3675888"/>
            <a:ext cx="658368" cy="658368"/>
          </a:xfrm>
          <a:prstGeom prst="roundRect">
            <a:avLst>
              <a:gd name="adj" fmla="val 22000"/>
            </a:avLst>
          </a:prstGeom>
          <a:solidFill>
            <a:srgbClr val="1E2761"/>
          </a:solidFill>
          <a:ln/>
          <a:effectLst>
            <a:outerShdw sx="100000" sy="100000" kx="0" ky="0" algn="bl" rotWithShape="0" blurRad="63500" dist="25400" dir="5400000">
              <a:srgbClr val="A9B4C8">
                <a:alpha val="22000"/>
              </a:srgbClr>
            </a:outerShdw>
          </a:effectLst>
        </p:spPr>
      </p:sp>
      <p:pic>
        <p:nvPicPr>
          <p:cNvPr id="12" name="Image 1" descr="preencoded.png">    </p:cNvPr>
          <p:cNvPicPr>
            <a:picLocks noChangeAspect="1"/>
          </p:cNvPicPr>
          <p:nvPr/>
        </p:nvPicPr>
        <p:blipFill>
          <a:blip r:embed="rId2"/>
          <a:stretch>
            <a:fillRect/>
          </a:stretch>
        </p:blipFill>
        <p:spPr>
          <a:xfrm>
            <a:off x="936346" y="3807562"/>
            <a:ext cx="395021" cy="395021"/>
          </a:xfrm>
          <a:prstGeom prst="rect">
            <a:avLst/>
          </a:prstGeom>
        </p:spPr>
      </p:pic>
      <p:sp>
        <p:nvSpPr>
          <p:cNvPr id="13" name="Text 9"/>
          <p:cNvSpPr/>
          <p:nvPr/>
        </p:nvSpPr>
        <p:spPr>
          <a:xfrm>
            <a:off x="2377440" y="3611880"/>
            <a:ext cx="640080" cy="548640"/>
          </a:xfrm>
          <a:prstGeom prst="rect">
            <a:avLst/>
          </a:prstGeom>
          <a:noFill/>
          <a:ln/>
        </p:spPr>
        <p:txBody>
          <a:bodyPr wrap="square" rtlCol="0" anchor="ctr"/>
          <a:lstStyle/>
          <a:p>
            <a:pPr algn="r" indent="0" marL="0">
              <a:buNone/>
            </a:pPr>
            <a:r>
              <a:rPr lang="en-US" sz="3000" b="1" dirty="0">
                <a:solidFill>
                  <a:srgbClr val="D4DCEA"/>
                </a:solidFill>
                <a:latin typeface="Century Schoolbook" pitchFamily="34" charset="0"/>
                <a:ea typeface="Century Schoolbook" pitchFamily="34" charset="-122"/>
                <a:cs typeface="Century Schoolbook" pitchFamily="34" charset="-120"/>
              </a:rPr>
              <a:t>01</a:t>
            </a:r>
            <a:endParaRPr lang="en-US" sz="3000" dirty="0"/>
          </a:p>
        </p:txBody>
      </p:sp>
      <p:sp>
        <p:nvSpPr>
          <p:cNvPr id="14" name="Text 10"/>
          <p:cNvSpPr/>
          <p:nvPr/>
        </p:nvSpPr>
        <p:spPr>
          <a:xfrm>
            <a:off x="804672" y="4526280"/>
            <a:ext cx="2194560" cy="457200"/>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Dedicated admin ID</a:t>
            </a:r>
            <a:endParaRPr lang="en-US" sz="1450" dirty="0"/>
          </a:p>
        </p:txBody>
      </p:sp>
      <p:sp>
        <p:nvSpPr>
          <p:cNvPr id="15" name="Text 11"/>
          <p:cNvSpPr/>
          <p:nvPr/>
        </p:nvSpPr>
        <p:spPr>
          <a:xfrm>
            <a:off x="804672" y="4956048"/>
            <a:ext cx="2194560" cy="1005840"/>
          </a:xfrm>
          <a:prstGeom prst="rect">
            <a:avLst/>
          </a:prstGeom>
          <a:noFill/>
          <a:ln/>
        </p:spPr>
        <p:txBody>
          <a:bodyPr wrap="square" rtlCol="0" anchor="t"/>
          <a:lstStyle/>
          <a:p>
            <a:pPr indent="0" marL="0">
              <a:lnSpc>
                <a:spcPct val="108000"/>
              </a:lnSpc>
              <a:buNone/>
            </a:pPr>
            <a:r>
              <a:rPr lang="en-US" sz="1200" dirty="0">
                <a:solidFill>
                  <a:srgbClr val="5B6B8C"/>
                </a:solidFill>
                <a:latin typeface="Calibri" pitchFamily="34" charset="0"/>
                <a:ea typeface="Calibri" pitchFamily="34" charset="-122"/>
                <a:cs typeface="Calibri" pitchFamily="34" charset="-120"/>
              </a:rPr>
              <a:t>Provision one privileged account in the source domain (Forest A / Domain A).</a:t>
            </a:r>
            <a:endParaRPr lang="en-US" sz="1200" dirty="0"/>
          </a:p>
        </p:txBody>
      </p:sp>
      <p:sp>
        <p:nvSpPr>
          <p:cNvPr id="16" name="Shape 12"/>
          <p:cNvSpPr/>
          <p:nvPr/>
        </p:nvSpPr>
        <p:spPr>
          <a:xfrm>
            <a:off x="3355848" y="3429000"/>
            <a:ext cx="2651760" cy="2651760"/>
          </a:xfrm>
          <a:prstGeom prst="roundRect">
            <a:avLst>
              <a:gd name="adj" fmla="val 3448"/>
            </a:avLst>
          </a:prstGeom>
          <a:solidFill>
            <a:srgbClr val="F4F7FC"/>
          </a:solidFill>
          <a:ln w="12700">
            <a:solidFill>
              <a:srgbClr val="DCE4F2"/>
            </a:solidFill>
            <a:prstDash val="solid"/>
          </a:ln>
          <a:effectLst>
            <a:outerShdw sx="100000" sy="100000" kx="0" ky="0" algn="bl" rotWithShape="0" blurRad="63500" dist="25400" dir="5400000">
              <a:srgbClr val="A9B4C8">
                <a:alpha val="22000"/>
              </a:srgbClr>
            </a:outerShdw>
          </a:effectLst>
        </p:spPr>
      </p:sp>
      <p:sp>
        <p:nvSpPr>
          <p:cNvPr id="17" name="Shape 13"/>
          <p:cNvSpPr/>
          <p:nvPr/>
        </p:nvSpPr>
        <p:spPr>
          <a:xfrm>
            <a:off x="3611880" y="3675888"/>
            <a:ext cx="658368" cy="658368"/>
          </a:xfrm>
          <a:prstGeom prst="roundRect">
            <a:avLst>
              <a:gd name="adj" fmla="val 22000"/>
            </a:avLst>
          </a:prstGeom>
          <a:solidFill>
            <a:srgbClr val="1E2761"/>
          </a:solidFill>
          <a:ln/>
          <a:effectLst>
            <a:outerShdw sx="100000" sy="100000" kx="0" ky="0" algn="bl" rotWithShape="0" blurRad="63500" dist="25400" dir="5400000">
              <a:srgbClr val="A9B4C8">
                <a:alpha val="22000"/>
              </a:srgbClr>
            </a:outerShdw>
          </a:effectLst>
        </p:spPr>
      </p:sp>
      <p:pic>
        <p:nvPicPr>
          <p:cNvPr id="18" name="Image 2" descr="preencoded.png">    </p:cNvPr>
          <p:cNvPicPr>
            <a:picLocks noChangeAspect="1"/>
          </p:cNvPicPr>
          <p:nvPr/>
        </p:nvPicPr>
        <p:blipFill>
          <a:blip r:embed="rId3"/>
          <a:stretch>
            <a:fillRect/>
          </a:stretch>
        </p:blipFill>
        <p:spPr>
          <a:xfrm>
            <a:off x="3743554" y="3807562"/>
            <a:ext cx="395021" cy="395021"/>
          </a:xfrm>
          <a:prstGeom prst="rect">
            <a:avLst/>
          </a:prstGeom>
        </p:spPr>
      </p:pic>
      <p:sp>
        <p:nvSpPr>
          <p:cNvPr id="19" name="Text 14"/>
          <p:cNvSpPr/>
          <p:nvPr/>
        </p:nvSpPr>
        <p:spPr>
          <a:xfrm>
            <a:off x="5184648" y="3611880"/>
            <a:ext cx="640080" cy="548640"/>
          </a:xfrm>
          <a:prstGeom prst="rect">
            <a:avLst/>
          </a:prstGeom>
          <a:noFill/>
          <a:ln/>
        </p:spPr>
        <p:txBody>
          <a:bodyPr wrap="square" rtlCol="0" anchor="ctr"/>
          <a:lstStyle/>
          <a:p>
            <a:pPr algn="r" indent="0" marL="0">
              <a:buNone/>
            </a:pPr>
            <a:r>
              <a:rPr lang="en-US" sz="3000" b="1" dirty="0">
                <a:solidFill>
                  <a:srgbClr val="D4DCEA"/>
                </a:solidFill>
                <a:latin typeface="Century Schoolbook" pitchFamily="34" charset="0"/>
                <a:ea typeface="Century Schoolbook" pitchFamily="34" charset="-122"/>
                <a:cs typeface="Century Schoolbook" pitchFamily="34" charset="-120"/>
              </a:rPr>
              <a:t>02</a:t>
            </a:r>
            <a:endParaRPr lang="en-US" sz="3000" dirty="0"/>
          </a:p>
        </p:txBody>
      </p:sp>
      <p:sp>
        <p:nvSpPr>
          <p:cNvPr id="20" name="Text 15"/>
          <p:cNvSpPr/>
          <p:nvPr/>
        </p:nvSpPr>
        <p:spPr>
          <a:xfrm>
            <a:off x="3611880" y="4526280"/>
            <a:ext cx="2194560" cy="457200"/>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Role membership</a:t>
            </a:r>
            <a:endParaRPr lang="en-US" sz="1450" dirty="0"/>
          </a:p>
        </p:txBody>
      </p:sp>
      <p:sp>
        <p:nvSpPr>
          <p:cNvPr id="21" name="Text 16"/>
          <p:cNvSpPr/>
          <p:nvPr/>
        </p:nvSpPr>
        <p:spPr>
          <a:xfrm>
            <a:off x="3611880" y="4956048"/>
            <a:ext cx="2194560" cy="1005840"/>
          </a:xfrm>
          <a:prstGeom prst="rect">
            <a:avLst/>
          </a:prstGeom>
          <a:noFill/>
          <a:ln/>
        </p:spPr>
        <p:txBody>
          <a:bodyPr wrap="square" rtlCol="0" anchor="t"/>
          <a:lstStyle/>
          <a:p>
            <a:pPr indent="0" marL="0">
              <a:lnSpc>
                <a:spcPct val="108000"/>
              </a:lnSpc>
              <a:buNone/>
            </a:pPr>
            <a:r>
              <a:rPr lang="en-US" sz="1200" dirty="0">
                <a:solidFill>
                  <a:srgbClr val="5B6B8C"/>
                </a:solidFill>
                <a:latin typeface="Calibri" pitchFamily="34" charset="0"/>
                <a:ea typeface="Calibri" pitchFamily="34" charset="-122"/>
                <a:cs typeface="Calibri" pitchFamily="34" charset="-120"/>
              </a:rPr>
              <a:t>Add that account to an appropriate role-based security group.</a:t>
            </a:r>
            <a:endParaRPr lang="en-US" sz="1200" dirty="0"/>
          </a:p>
        </p:txBody>
      </p:sp>
      <p:sp>
        <p:nvSpPr>
          <p:cNvPr id="22" name="Shape 17"/>
          <p:cNvSpPr/>
          <p:nvPr/>
        </p:nvSpPr>
        <p:spPr>
          <a:xfrm>
            <a:off x="6163056" y="3429000"/>
            <a:ext cx="2651760" cy="2651760"/>
          </a:xfrm>
          <a:prstGeom prst="roundRect">
            <a:avLst>
              <a:gd name="adj" fmla="val 3448"/>
            </a:avLst>
          </a:prstGeom>
          <a:solidFill>
            <a:srgbClr val="F4F7FC"/>
          </a:solidFill>
          <a:ln w="12700">
            <a:solidFill>
              <a:srgbClr val="DCE4F2"/>
            </a:solidFill>
            <a:prstDash val="solid"/>
          </a:ln>
          <a:effectLst>
            <a:outerShdw sx="100000" sy="100000" kx="0" ky="0" algn="bl" rotWithShape="0" blurRad="63500" dist="25400" dir="5400000">
              <a:srgbClr val="A9B4C8">
                <a:alpha val="22000"/>
              </a:srgbClr>
            </a:outerShdw>
          </a:effectLst>
        </p:spPr>
      </p:sp>
      <p:sp>
        <p:nvSpPr>
          <p:cNvPr id="23" name="Shape 18"/>
          <p:cNvSpPr/>
          <p:nvPr/>
        </p:nvSpPr>
        <p:spPr>
          <a:xfrm>
            <a:off x="6419088" y="3675888"/>
            <a:ext cx="658368" cy="658368"/>
          </a:xfrm>
          <a:prstGeom prst="roundRect">
            <a:avLst>
              <a:gd name="adj" fmla="val 22000"/>
            </a:avLst>
          </a:prstGeom>
          <a:solidFill>
            <a:srgbClr val="1E2761"/>
          </a:solidFill>
          <a:ln/>
          <a:effectLst>
            <a:outerShdw sx="100000" sy="100000" kx="0" ky="0" algn="bl" rotWithShape="0" blurRad="63500" dist="25400" dir="5400000">
              <a:srgbClr val="A9B4C8">
                <a:alpha val="22000"/>
              </a:srgbClr>
            </a:outerShdw>
          </a:effectLst>
        </p:spPr>
      </p:sp>
      <p:pic>
        <p:nvPicPr>
          <p:cNvPr id="24" name="Image 3" descr="preencoded.png">    </p:cNvPr>
          <p:cNvPicPr>
            <a:picLocks noChangeAspect="1"/>
          </p:cNvPicPr>
          <p:nvPr/>
        </p:nvPicPr>
        <p:blipFill>
          <a:blip r:embed="rId4"/>
          <a:stretch>
            <a:fillRect/>
          </a:stretch>
        </p:blipFill>
        <p:spPr>
          <a:xfrm>
            <a:off x="6550762" y="3807562"/>
            <a:ext cx="395021" cy="395021"/>
          </a:xfrm>
          <a:prstGeom prst="rect">
            <a:avLst/>
          </a:prstGeom>
        </p:spPr>
      </p:pic>
      <p:sp>
        <p:nvSpPr>
          <p:cNvPr id="25" name="Text 19"/>
          <p:cNvSpPr/>
          <p:nvPr/>
        </p:nvSpPr>
        <p:spPr>
          <a:xfrm>
            <a:off x="7991856" y="3611880"/>
            <a:ext cx="640080" cy="548640"/>
          </a:xfrm>
          <a:prstGeom prst="rect">
            <a:avLst/>
          </a:prstGeom>
          <a:noFill/>
          <a:ln/>
        </p:spPr>
        <p:txBody>
          <a:bodyPr wrap="square" rtlCol="0" anchor="ctr"/>
          <a:lstStyle/>
          <a:p>
            <a:pPr algn="r" indent="0" marL="0">
              <a:buNone/>
            </a:pPr>
            <a:r>
              <a:rPr lang="en-US" sz="3000" b="1" dirty="0">
                <a:solidFill>
                  <a:srgbClr val="D4DCEA"/>
                </a:solidFill>
                <a:latin typeface="Century Schoolbook" pitchFamily="34" charset="0"/>
                <a:ea typeface="Century Schoolbook" pitchFamily="34" charset="-122"/>
                <a:cs typeface="Century Schoolbook" pitchFamily="34" charset="-120"/>
              </a:rPr>
              <a:t>03</a:t>
            </a:r>
            <a:endParaRPr lang="en-US" sz="3000" dirty="0"/>
          </a:p>
        </p:txBody>
      </p:sp>
      <p:sp>
        <p:nvSpPr>
          <p:cNvPr id="26" name="Text 20"/>
          <p:cNvSpPr/>
          <p:nvPr/>
        </p:nvSpPr>
        <p:spPr>
          <a:xfrm>
            <a:off x="6419088" y="4526280"/>
            <a:ext cx="2194560" cy="457200"/>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Extend across domains</a:t>
            </a:r>
            <a:endParaRPr lang="en-US" sz="1450" dirty="0"/>
          </a:p>
        </p:txBody>
      </p:sp>
      <p:sp>
        <p:nvSpPr>
          <p:cNvPr id="27" name="Text 21"/>
          <p:cNvSpPr/>
          <p:nvPr/>
        </p:nvSpPr>
        <p:spPr>
          <a:xfrm>
            <a:off x="6419088" y="4956048"/>
            <a:ext cx="2194560" cy="1005840"/>
          </a:xfrm>
          <a:prstGeom prst="rect">
            <a:avLst/>
          </a:prstGeom>
          <a:noFill/>
          <a:ln/>
        </p:spPr>
        <p:txBody>
          <a:bodyPr wrap="square" rtlCol="0" anchor="t"/>
          <a:lstStyle/>
          <a:p>
            <a:pPr indent="0" marL="0">
              <a:lnSpc>
                <a:spcPct val="108000"/>
              </a:lnSpc>
              <a:buNone/>
            </a:pPr>
            <a:r>
              <a:rPr lang="en-US" sz="1200" dirty="0">
                <a:solidFill>
                  <a:srgbClr val="5B6B8C"/>
                </a:solidFill>
                <a:latin typeface="Calibri" pitchFamily="34" charset="0"/>
                <a:ea typeface="Calibri" pitchFamily="34" charset="-122"/>
                <a:cs typeface="Calibri" pitchFamily="34" charset="-120"/>
              </a:rPr>
              <a:t>Reach child domains in the same forest and a separately trusted forest.</a:t>
            </a:r>
            <a:endParaRPr lang="en-US" sz="1200" dirty="0"/>
          </a:p>
        </p:txBody>
      </p:sp>
      <p:sp>
        <p:nvSpPr>
          <p:cNvPr id="28" name="Shape 22"/>
          <p:cNvSpPr/>
          <p:nvPr/>
        </p:nvSpPr>
        <p:spPr>
          <a:xfrm>
            <a:off x="8970264" y="3429000"/>
            <a:ext cx="2651760" cy="2651760"/>
          </a:xfrm>
          <a:prstGeom prst="roundRect">
            <a:avLst>
              <a:gd name="adj" fmla="val 3448"/>
            </a:avLst>
          </a:prstGeom>
          <a:solidFill>
            <a:srgbClr val="F4F7FC"/>
          </a:solidFill>
          <a:ln w="12700">
            <a:solidFill>
              <a:srgbClr val="DCE4F2"/>
            </a:solidFill>
            <a:prstDash val="solid"/>
          </a:ln>
          <a:effectLst>
            <a:outerShdw sx="100000" sy="100000" kx="0" ky="0" algn="bl" rotWithShape="0" blurRad="63500" dist="25400" dir="5400000">
              <a:srgbClr val="A9B4C8">
                <a:alpha val="22000"/>
              </a:srgbClr>
            </a:outerShdw>
          </a:effectLst>
        </p:spPr>
      </p:sp>
      <p:sp>
        <p:nvSpPr>
          <p:cNvPr id="29" name="Shape 23"/>
          <p:cNvSpPr/>
          <p:nvPr/>
        </p:nvSpPr>
        <p:spPr>
          <a:xfrm>
            <a:off x="9226296" y="3675888"/>
            <a:ext cx="658368" cy="658368"/>
          </a:xfrm>
          <a:prstGeom prst="roundRect">
            <a:avLst>
              <a:gd name="adj" fmla="val 22000"/>
            </a:avLst>
          </a:prstGeom>
          <a:solidFill>
            <a:srgbClr val="1E2761"/>
          </a:solidFill>
          <a:ln/>
          <a:effectLst>
            <a:outerShdw sx="100000" sy="100000" kx="0" ky="0" algn="bl" rotWithShape="0" blurRad="63500" dist="25400" dir="5400000">
              <a:srgbClr val="A9B4C8">
                <a:alpha val="22000"/>
              </a:srgbClr>
            </a:outerShdw>
          </a:effectLst>
        </p:spPr>
      </p:sp>
      <p:pic>
        <p:nvPicPr>
          <p:cNvPr id="30" name="Image 4" descr="preencoded.png">    </p:cNvPr>
          <p:cNvPicPr>
            <a:picLocks noChangeAspect="1"/>
          </p:cNvPicPr>
          <p:nvPr/>
        </p:nvPicPr>
        <p:blipFill>
          <a:blip r:embed="rId5"/>
          <a:stretch>
            <a:fillRect/>
          </a:stretch>
        </p:blipFill>
        <p:spPr>
          <a:xfrm>
            <a:off x="9357970" y="3807562"/>
            <a:ext cx="395021" cy="395021"/>
          </a:xfrm>
          <a:prstGeom prst="rect">
            <a:avLst/>
          </a:prstGeom>
        </p:spPr>
      </p:pic>
      <p:sp>
        <p:nvSpPr>
          <p:cNvPr id="31" name="Text 24"/>
          <p:cNvSpPr/>
          <p:nvPr/>
        </p:nvSpPr>
        <p:spPr>
          <a:xfrm>
            <a:off x="10799064" y="3611880"/>
            <a:ext cx="640080" cy="548640"/>
          </a:xfrm>
          <a:prstGeom prst="rect">
            <a:avLst/>
          </a:prstGeom>
          <a:noFill/>
          <a:ln/>
        </p:spPr>
        <p:txBody>
          <a:bodyPr wrap="square" rtlCol="0" anchor="ctr"/>
          <a:lstStyle/>
          <a:p>
            <a:pPr algn="r" indent="0" marL="0">
              <a:buNone/>
            </a:pPr>
            <a:r>
              <a:rPr lang="en-US" sz="3000" b="1" dirty="0">
                <a:solidFill>
                  <a:srgbClr val="D4DCEA"/>
                </a:solidFill>
                <a:latin typeface="Century Schoolbook" pitchFamily="34" charset="0"/>
                <a:ea typeface="Century Schoolbook" pitchFamily="34" charset="-122"/>
                <a:cs typeface="Century Schoolbook" pitchFamily="34" charset="-120"/>
              </a:rPr>
              <a:t>04</a:t>
            </a:r>
            <a:endParaRPr lang="en-US" sz="3000" dirty="0"/>
          </a:p>
        </p:txBody>
      </p:sp>
      <p:sp>
        <p:nvSpPr>
          <p:cNvPr id="32" name="Text 25"/>
          <p:cNvSpPr/>
          <p:nvPr/>
        </p:nvSpPr>
        <p:spPr>
          <a:xfrm>
            <a:off x="9226296" y="4526280"/>
            <a:ext cx="2194560" cy="457200"/>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RDP + admin rights</a:t>
            </a:r>
            <a:endParaRPr lang="en-US" sz="1450" dirty="0"/>
          </a:p>
        </p:txBody>
      </p:sp>
      <p:sp>
        <p:nvSpPr>
          <p:cNvPr id="33" name="Text 26"/>
          <p:cNvSpPr/>
          <p:nvPr/>
        </p:nvSpPr>
        <p:spPr>
          <a:xfrm>
            <a:off x="9226296" y="4956048"/>
            <a:ext cx="2194560" cy="1005840"/>
          </a:xfrm>
          <a:prstGeom prst="rect">
            <a:avLst/>
          </a:prstGeom>
          <a:noFill/>
          <a:ln/>
        </p:spPr>
        <p:txBody>
          <a:bodyPr wrap="square" rtlCol="0" anchor="t"/>
          <a:lstStyle/>
          <a:p>
            <a:pPr indent="0" marL="0">
              <a:lnSpc>
                <a:spcPct val="108000"/>
              </a:lnSpc>
              <a:buNone/>
            </a:pPr>
            <a:r>
              <a:rPr lang="en-US" sz="1200" dirty="0">
                <a:solidFill>
                  <a:srgbClr val="5B6B8C"/>
                </a:solidFill>
                <a:latin typeface="Calibri" pitchFamily="34" charset="0"/>
                <a:ea typeface="Calibri" pitchFamily="34" charset="-122"/>
                <a:cs typeface="Calibri" pitchFamily="34" charset="-120"/>
              </a:rPr>
              <a:t>Enable Remote Desktop and the required administrative access on target servers.</a:t>
            </a:r>
            <a:endParaRPr lang="en-US" sz="1200" dirty="0"/>
          </a:p>
        </p:txBody>
      </p:sp>
      <p:sp>
        <p:nvSpPr>
          <p:cNvPr id="34" name="Text 27"/>
          <p:cNvSpPr/>
          <p:nvPr/>
        </p:nvSpPr>
        <p:spPr>
          <a:xfrm>
            <a:off x="548640" y="6263640"/>
            <a:ext cx="11064240" cy="365760"/>
          </a:xfrm>
          <a:prstGeom prst="rect">
            <a:avLst/>
          </a:prstGeom>
          <a:noFill/>
          <a:ln/>
        </p:spPr>
        <p:txBody>
          <a:bodyPr wrap="square" rtlCol="0" anchor="ctr"/>
          <a:lstStyle/>
          <a:p>
            <a:pPr indent="0" marL="0">
              <a:buNone/>
            </a:pPr>
            <a:r>
              <a:rPr lang="en-US" sz="1150" i="1" dirty="0">
                <a:solidFill>
                  <a:srgbClr val="8593AC"/>
                </a:solidFill>
                <a:latin typeface="Calibri" pitchFamily="34" charset="0"/>
                <a:ea typeface="Calibri" pitchFamily="34" charset="-122"/>
                <a:cs typeface="Calibri" pitchFamily="34" charset="-120"/>
              </a:rPr>
              <a:t>These four asks are simple to state — but each one carries a scope decision that determines whether the design is secure. The following slides address those decisions.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rtlCol="0" anchor="ctr"/>
          <a:lstStyle/>
          <a:p>
            <a:pPr algn="l" indent="0" marL="0">
              <a:buNone/>
            </a:pPr>
            <a:r>
              <a:rPr lang="en-US" sz="1200" b="1" spc="300" kern="0" dirty="0">
                <a:solidFill>
                  <a:srgbClr val="4A6FA5"/>
                </a:solidFill>
                <a:latin typeface="Calibri" pitchFamily="34" charset="0"/>
                <a:ea typeface="Calibri" pitchFamily="34" charset="-122"/>
                <a:cs typeface="Calibri" pitchFamily="34" charset="-120"/>
              </a:rPr>
              <a:t>PROBLEM STATEMENT</a:t>
            </a:r>
            <a:endParaRPr lang="en-US" sz="1200" dirty="0"/>
          </a:p>
        </p:txBody>
      </p:sp>
      <p:sp>
        <p:nvSpPr>
          <p:cNvPr id="3" name="Text 1"/>
          <p:cNvSpPr/>
          <p:nvPr/>
        </p:nvSpPr>
        <p:spPr>
          <a:xfrm>
            <a:off x="548640" y="658368"/>
            <a:ext cx="10515600" cy="822960"/>
          </a:xfrm>
          <a:prstGeom prst="rect">
            <a:avLst/>
          </a:prstGeom>
          <a:noFill/>
          <a:ln/>
        </p:spPr>
        <p:txBody>
          <a:bodyPr wrap="square" rtlCol="0" anchor="ctr"/>
          <a:lstStyle/>
          <a:p>
            <a:pPr algn="l" indent="0" marL="0">
              <a:buNone/>
            </a:pPr>
            <a:r>
              <a:rPr lang="en-US" sz="3200" b="1" dirty="0">
                <a:solidFill>
                  <a:srgbClr val="1E2761"/>
                </a:solidFill>
                <a:latin typeface="Century Schoolbook" pitchFamily="34" charset="0"/>
                <a:ea typeface="Century Schoolbook" pitchFamily="34" charset="-122"/>
                <a:cs typeface="Century Schoolbook" pitchFamily="34" charset="-120"/>
              </a:rPr>
              <a:t>Why the naive approach fails — and our constraints</a:t>
            </a:r>
            <a:endParaRPr lang="en-US" sz="3200" dirty="0"/>
          </a:p>
        </p:txBody>
      </p:sp>
      <p:sp>
        <p:nvSpPr>
          <p:cNvPr id="4" name="Text 2"/>
          <p:cNvSpPr/>
          <p:nvPr/>
        </p:nvSpPr>
        <p:spPr>
          <a:xfrm>
            <a:off x="11277295" y="6400800"/>
            <a:ext cx="457200" cy="274320"/>
          </a:xfrm>
          <a:prstGeom prst="rect">
            <a:avLst/>
          </a:prstGeom>
          <a:noFill/>
          <a:ln/>
        </p:spPr>
        <p:txBody>
          <a:bodyPr wrap="square" rtlCol="0" anchor="ctr"/>
          <a:lstStyle/>
          <a:p>
            <a:pPr algn="r" indent="0" marL="0">
              <a:buNone/>
            </a:pPr>
            <a:r>
              <a:rPr lang="en-US" sz="1000" dirty="0">
                <a:solidFill>
                  <a:srgbClr val="8593AC"/>
                </a:solidFill>
                <a:latin typeface="Calibri" pitchFamily="34" charset="0"/>
                <a:ea typeface="Calibri" pitchFamily="34" charset="-122"/>
                <a:cs typeface="Calibri" pitchFamily="34" charset="-120"/>
              </a:rPr>
              <a:t>04</a:t>
            </a:r>
            <a:endParaRPr lang="en-US" sz="1000" dirty="0"/>
          </a:p>
        </p:txBody>
      </p:sp>
      <p:sp>
        <p:nvSpPr>
          <p:cNvPr id="5" name="Text 3"/>
          <p:cNvSpPr/>
          <p:nvPr/>
        </p:nvSpPr>
        <p:spPr>
          <a:xfrm>
            <a:off x="548640" y="6400800"/>
            <a:ext cx="6400800" cy="274320"/>
          </a:xfrm>
          <a:prstGeom prst="rect">
            <a:avLst/>
          </a:prstGeom>
          <a:noFill/>
          <a:ln/>
        </p:spPr>
        <p:txBody>
          <a:bodyPr wrap="square" rtlCol="0" anchor="ctr"/>
          <a:lstStyle/>
          <a:p>
            <a:pPr algn="l" indent="0" marL="0">
              <a:buNone/>
            </a:pPr>
            <a:r>
              <a:rPr lang="en-US" sz="900" dirty="0">
                <a:solidFill>
                  <a:srgbClr val="8593AC"/>
                </a:solidFill>
                <a:latin typeface="Calibri" pitchFamily="34" charset="0"/>
                <a:ea typeface="Calibri" pitchFamily="34" charset="-122"/>
                <a:cs typeface="Calibri" pitchFamily="34" charset="-120"/>
              </a:rPr>
              <a:t>Cross-Forest Administrative Access Model</a:t>
            </a:r>
            <a:endParaRPr lang="en-US" sz="900" dirty="0"/>
          </a:p>
        </p:txBody>
      </p:sp>
      <p:sp>
        <p:nvSpPr>
          <p:cNvPr id="6" name="Text 4"/>
          <p:cNvSpPr/>
          <p:nvPr/>
        </p:nvSpPr>
        <p:spPr>
          <a:xfrm>
            <a:off x="548640" y="1600200"/>
            <a:ext cx="5394960" cy="320040"/>
          </a:xfrm>
          <a:prstGeom prst="rect">
            <a:avLst/>
          </a:prstGeom>
          <a:noFill/>
          <a:ln/>
        </p:spPr>
        <p:txBody>
          <a:bodyPr wrap="square" rtlCol="0" anchor="ctr"/>
          <a:lstStyle/>
          <a:p>
            <a:pPr indent="0" marL="0">
              <a:buNone/>
            </a:pPr>
            <a:r>
              <a:rPr lang="en-US" sz="1250" b="1" spc="200" kern="0" dirty="0">
                <a:solidFill>
                  <a:srgbClr val="C0504D"/>
                </a:solidFill>
                <a:latin typeface="Calibri" pitchFamily="34" charset="0"/>
                <a:ea typeface="Calibri" pitchFamily="34" charset="-122"/>
                <a:cs typeface="Calibri" pitchFamily="34" charset="-120"/>
              </a:rPr>
              <a:t>COMMON PITFALLS TO AVOID</a:t>
            </a:r>
            <a:endParaRPr lang="en-US" sz="1250" dirty="0"/>
          </a:p>
        </p:txBody>
      </p:sp>
      <p:pic>
        <p:nvPicPr>
          <p:cNvPr id="7" name="Image 0" descr="preencoded.png">    </p:cNvPr>
          <p:cNvPicPr>
            <a:picLocks noChangeAspect="1"/>
          </p:cNvPicPr>
          <p:nvPr/>
        </p:nvPicPr>
        <p:blipFill>
          <a:blip r:embed="rId1"/>
          <a:stretch>
            <a:fillRect/>
          </a:stretch>
        </p:blipFill>
        <p:spPr>
          <a:xfrm>
            <a:off x="566928" y="2048256"/>
            <a:ext cx="310896" cy="310896"/>
          </a:xfrm>
          <a:prstGeom prst="rect">
            <a:avLst/>
          </a:prstGeom>
        </p:spPr>
      </p:pic>
      <p:sp>
        <p:nvSpPr>
          <p:cNvPr id="8" name="Text 5"/>
          <p:cNvSpPr/>
          <p:nvPr/>
        </p:nvSpPr>
        <p:spPr>
          <a:xfrm>
            <a:off x="1005840" y="1965960"/>
            <a:ext cx="4937760" cy="1005840"/>
          </a:xfrm>
          <a:prstGeom prst="rect">
            <a:avLst/>
          </a:prstGeom>
          <a:noFill/>
          <a:ln/>
        </p:spPr>
        <p:txBody>
          <a:bodyPr wrap="square" rtlCol="0" anchor="t"/>
          <a:lstStyle/>
          <a:p>
            <a:pPr indent="0" marL="0">
              <a:lnSpc>
                <a:spcPct val="103000"/>
              </a:lnSpc>
              <a:buNone/>
            </a:pPr>
            <a:r>
              <a:rPr lang="en-US" sz="1250" b="1" dirty="0">
                <a:solidFill>
                  <a:srgbClr val="1E2761"/>
                </a:solidFill>
                <a:latin typeface="Calibri" pitchFamily="34" charset="0"/>
                <a:ea typeface="Calibri" pitchFamily="34" charset="-122"/>
                <a:cs typeface="Calibri" pitchFamily="34" charset="-120"/>
              </a:rPr>
              <a:t>One Global Group, used everywhere
</a:t>
            </a:r>
            <a:pPr indent="0" marL="0">
              <a:lnSpc>
                <a:spcPct val="103000"/>
              </a:lnSpc>
              <a:buNone/>
            </a:pPr>
            <a:r>
              <a:rPr lang="en-US" sz="1100" dirty="0">
                <a:solidFill>
                  <a:srgbClr val="5B6B8C"/>
                </a:solidFill>
                <a:latin typeface="Calibri" pitchFamily="34" charset="0"/>
                <a:ea typeface="Calibri" pitchFamily="34" charset="-122"/>
                <a:cs typeface="Calibri" pitchFamily="34" charset="-120"/>
              </a:rPr>
              <a:t>A Global Group only contains principals from its own domain and cannot be the final permission object across a forest boundary.</a:t>
            </a:r>
            <a:endParaRPr lang="en-US" sz="1250" dirty="0"/>
          </a:p>
        </p:txBody>
      </p:sp>
      <p:pic>
        <p:nvPicPr>
          <p:cNvPr id="9" name="Image 1" descr="preencoded.png">    </p:cNvPr>
          <p:cNvPicPr>
            <a:picLocks noChangeAspect="1"/>
          </p:cNvPicPr>
          <p:nvPr/>
        </p:nvPicPr>
        <p:blipFill>
          <a:blip r:embed="rId2"/>
          <a:stretch>
            <a:fillRect/>
          </a:stretch>
        </p:blipFill>
        <p:spPr>
          <a:xfrm>
            <a:off x="566928" y="3108960"/>
            <a:ext cx="310896" cy="310896"/>
          </a:xfrm>
          <a:prstGeom prst="rect">
            <a:avLst/>
          </a:prstGeom>
        </p:spPr>
      </p:pic>
      <p:sp>
        <p:nvSpPr>
          <p:cNvPr id="10" name="Text 6"/>
          <p:cNvSpPr/>
          <p:nvPr/>
        </p:nvSpPr>
        <p:spPr>
          <a:xfrm>
            <a:off x="1005840" y="3026664"/>
            <a:ext cx="4937760" cy="1005840"/>
          </a:xfrm>
          <a:prstGeom prst="rect">
            <a:avLst/>
          </a:prstGeom>
          <a:noFill/>
          <a:ln/>
        </p:spPr>
        <p:txBody>
          <a:bodyPr wrap="square" rtlCol="0" anchor="t"/>
          <a:lstStyle/>
          <a:p>
            <a:pPr indent="0" marL="0">
              <a:lnSpc>
                <a:spcPct val="103000"/>
              </a:lnSpc>
              <a:buNone/>
            </a:pPr>
            <a:r>
              <a:rPr lang="en-US" sz="1250" b="1" dirty="0">
                <a:solidFill>
                  <a:srgbClr val="1E2761"/>
                </a:solidFill>
                <a:latin typeface="Calibri" pitchFamily="34" charset="0"/>
                <a:ea typeface="Calibri" pitchFamily="34" charset="-122"/>
                <a:cs typeface="Calibri" pitchFamily="34" charset="-120"/>
              </a:rPr>
              <a:t>Domain Admin as remote access
</a:t>
            </a:r>
            <a:pPr indent="0" marL="0">
              <a:lnSpc>
                <a:spcPct val="103000"/>
              </a:lnSpc>
              <a:buNone/>
            </a:pPr>
            <a:r>
              <a:rPr lang="en-US" sz="1100" dirty="0">
                <a:solidFill>
                  <a:srgbClr val="5B6B8C"/>
                </a:solidFill>
                <a:latin typeface="Calibri" pitchFamily="34" charset="0"/>
                <a:ea typeface="Calibri" pitchFamily="34" charset="-122"/>
                <a:cs typeface="Calibri" pitchFamily="34" charset="-120"/>
              </a:rPr>
              <a:t>Granting Domain Admin to reach servers is vast over-privilege and breaks least privilege and separation of duties.</a:t>
            </a:r>
            <a:endParaRPr lang="en-US" sz="1250" dirty="0"/>
          </a:p>
        </p:txBody>
      </p:sp>
      <p:pic>
        <p:nvPicPr>
          <p:cNvPr id="11" name="Image 2" descr="preencoded.png">    </p:cNvPr>
          <p:cNvPicPr>
            <a:picLocks noChangeAspect="1"/>
          </p:cNvPicPr>
          <p:nvPr/>
        </p:nvPicPr>
        <p:blipFill>
          <a:blip r:embed="rId3"/>
          <a:stretch>
            <a:fillRect/>
          </a:stretch>
        </p:blipFill>
        <p:spPr>
          <a:xfrm>
            <a:off x="566928" y="4169664"/>
            <a:ext cx="310896" cy="310896"/>
          </a:xfrm>
          <a:prstGeom prst="rect">
            <a:avLst/>
          </a:prstGeom>
        </p:spPr>
      </p:pic>
      <p:sp>
        <p:nvSpPr>
          <p:cNvPr id="12" name="Text 7"/>
          <p:cNvSpPr/>
          <p:nvPr/>
        </p:nvSpPr>
        <p:spPr>
          <a:xfrm>
            <a:off x="1005840" y="4087368"/>
            <a:ext cx="4937760" cy="1005840"/>
          </a:xfrm>
          <a:prstGeom prst="rect">
            <a:avLst/>
          </a:prstGeom>
          <a:noFill/>
          <a:ln/>
        </p:spPr>
        <p:txBody>
          <a:bodyPr wrap="square" rtlCol="0" anchor="t"/>
          <a:lstStyle/>
          <a:p>
            <a:pPr indent="0" marL="0">
              <a:lnSpc>
                <a:spcPct val="103000"/>
              </a:lnSpc>
              <a:buNone/>
            </a:pPr>
            <a:r>
              <a:rPr lang="en-US" sz="1250" b="1" dirty="0">
                <a:solidFill>
                  <a:srgbClr val="1E2761"/>
                </a:solidFill>
                <a:latin typeface="Calibri" pitchFamily="34" charset="0"/>
                <a:ea typeface="Calibri" pitchFamily="34" charset="-122"/>
                <a:cs typeface="Calibri" pitchFamily="34" charset="-120"/>
              </a:rPr>
              <a:t>Shared admin / daily-use identity
</a:t>
            </a:r>
            <a:pPr indent="0" marL="0">
              <a:lnSpc>
                <a:spcPct val="103000"/>
              </a:lnSpc>
              <a:buNone/>
            </a:pPr>
            <a:r>
              <a:rPr lang="en-US" sz="1100" dirty="0">
                <a:solidFill>
                  <a:srgbClr val="5B6B8C"/>
                </a:solidFill>
                <a:latin typeface="Calibri" pitchFamily="34" charset="0"/>
                <a:ea typeface="Calibri" pitchFamily="34" charset="-122"/>
                <a:cs typeface="Calibri" pitchFamily="34" charset="-120"/>
              </a:rPr>
              <a:t>Using a normal account for privileged tasks removes accountability and widens the attack surface.</a:t>
            </a:r>
            <a:endParaRPr lang="en-US" sz="1250" dirty="0"/>
          </a:p>
        </p:txBody>
      </p:sp>
      <p:pic>
        <p:nvPicPr>
          <p:cNvPr id="13" name="Image 3" descr="preencoded.png">    </p:cNvPr>
          <p:cNvPicPr>
            <a:picLocks noChangeAspect="1"/>
          </p:cNvPicPr>
          <p:nvPr/>
        </p:nvPicPr>
        <p:blipFill>
          <a:blip r:embed="rId4"/>
          <a:stretch>
            <a:fillRect/>
          </a:stretch>
        </p:blipFill>
        <p:spPr>
          <a:xfrm>
            <a:off x="566928" y="5230368"/>
            <a:ext cx="310896" cy="310896"/>
          </a:xfrm>
          <a:prstGeom prst="rect">
            <a:avLst/>
          </a:prstGeom>
        </p:spPr>
      </p:pic>
      <p:sp>
        <p:nvSpPr>
          <p:cNvPr id="14" name="Text 8"/>
          <p:cNvSpPr/>
          <p:nvPr/>
        </p:nvSpPr>
        <p:spPr>
          <a:xfrm>
            <a:off x="1005840" y="5148072"/>
            <a:ext cx="4937760" cy="1005840"/>
          </a:xfrm>
          <a:prstGeom prst="rect">
            <a:avLst/>
          </a:prstGeom>
          <a:noFill/>
          <a:ln/>
        </p:spPr>
        <p:txBody>
          <a:bodyPr wrap="square" rtlCol="0" anchor="t"/>
          <a:lstStyle/>
          <a:p>
            <a:pPr indent="0" marL="0">
              <a:lnSpc>
                <a:spcPct val="103000"/>
              </a:lnSpc>
              <a:buNone/>
            </a:pPr>
            <a:r>
              <a:rPr lang="en-US" sz="1250" b="1" dirty="0">
                <a:solidFill>
                  <a:srgbClr val="1E2761"/>
                </a:solidFill>
                <a:latin typeface="Calibri" pitchFamily="34" charset="0"/>
                <a:ea typeface="Calibri" pitchFamily="34" charset="-122"/>
                <a:cs typeface="Calibri" pitchFamily="34" charset="-120"/>
              </a:rPr>
              <a:t>Assuming forest nesting = domain nesting
</a:t>
            </a:r>
            <a:pPr indent="0" marL="0">
              <a:lnSpc>
                <a:spcPct val="103000"/>
              </a:lnSpc>
              <a:buNone/>
            </a:pPr>
            <a:r>
              <a:rPr lang="en-US" sz="1100" dirty="0">
                <a:solidFill>
                  <a:srgbClr val="5B6B8C"/>
                </a:solidFill>
                <a:latin typeface="Calibri" pitchFamily="34" charset="0"/>
                <a:ea typeface="Calibri" pitchFamily="34" charset="-122"/>
                <a:cs typeface="Calibri" pitchFamily="34" charset="-120"/>
              </a:rPr>
              <a:t>Cross-forest membership and permissioning behave differently; foreign principals must be granted on the target side.</a:t>
            </a:r>
            <a:endParaRPr lang="en-US" sz="1250" dirty="0"/>
          </a:p>
        </p:txBody>
      </p:sp>
      <p:sp>
        <p:nvSpPr>
          <p:cNvPr id="15" name="Shape 9"/>
          <p:cNvSpPr/>
          <p:nvPr/>
        </p:nvSpPr>
        <p:spPr>
          <a:xfrm>
            <a:off x="6309360" y="1554480"/>
            <a:ext cx="5303520" cy="4617720"/>
          </a:xfrm>
          <a:prstGeom prst="roundRect">
            <a:avLst>
              <a:gd name="adj" fmla="val 2772"/>
            </a:avLst>
          </a:prstGeom>
          <a:solidFill>
            <a:srgbClr val="1E2761"/>
          </a:solidFill>
          <a:ln/>
          <a:effectLst>
            <a:outerShdw sx="100000" sy="100000" kx="0" ky="0" algn="bl" rotWithShape="0" blurRad="88900" dist="38100" dir="5400000">
              <a:srgbClr val="8593AC">
                <a:alpha val="28000"/>
              </a:srgbClr>
            </a:outerShdw>
          </a:effectLst>
        </p:spPr>
      </p:sp>
      <p:sp>
        <p:nvSpPr>
          <p:cNvPr id="16" name="Shape 10"/>
          <p:cNvSpPr/>
          <p:nvPr/>
        </p:nvSpPr>
        <p:spPr>
          <a:xfrm>
            <a:off x="6629400" y="1828800"/>
            <a:ext cx="640080" cy="640080"/>
          </a:xfrm>
          <a:prstGeom prst="roundRect">
            <a:avLst>
              <a:gd name="adj" fmla="val 22000"/>
            </a:avLst>
          </a:prstGeom>
          <a:solidFill>
            <a:srgbClr val="2A3670"/>
          </a:solidFill>
          <a:ln/>
          <a:effectLst>
            <a:outerShdw sx="100000" sy="100000" kx="0" ky="0" algn="bl" rotWithShape="0" blurRad="63500" dist="25400" dir="5400000">
              <a:srgbClr val="A9B4C8">
                <a:alpha val="22000"/>
              </a:srgbClr>
            </a:outerShdw>
          </a:effectLst>
        </p:spPr>
      </p:sp>
      <p:pic>
        <p:nvPicPr>
          <p:cNvPr id="17" name="Image 4" descr="preencoded.png">    </p:cNvPr>
          <p:cNvPicPr>
            <a:picLocks noChangeAspect="1"/>
          </p:cNvPicPr>
          <p:nvPr/>
        </p:nvPicPr>
        <p:blipFill>
          <a:blip r:embed="rId5"/>
          <a:stretch>
            <a:fillRect/>
          </a:stretch>
        </p:blipFill>
        <p:spPr>
          <a:xfrm>
            <a:off x="6757416" y="1956816"/>
            <a:ext cx="384048" cy="384048"/>
          </a:xfrm>
          <a:prstGeom prst="rect">
            <a:avLst/>
          </a:prstGeom>
        </p:spPr>
      </p:pic>
      <p:sp>
        <p:nvSpPr>
          <p:cNvPr id="18" name="Text 11"/>
          <p:cNvSpPr/>
          <p:nvPr/>
        </p:nvSpPr>
        <p:spPr>
          <a:xfrm>
            <a:off x="7406640" y="1938528"/>
            <a:ext cx="3931920" cy="411480"/>
          </a:xfrm>
          <a:prstGeom prst="rect">
            <a:avLst/>
          </a:prstGeom>
          <a:noFill/>
          <a:ln/>
        </p:spPr>
        <p:txBody>
          <a:bodyPr wrap="square" rtlCol="0" anchor="ctr"/>
          <a:lstStyle/>
          <a:p>
            <a:pPr indent="0" marL="0">
              <a:buNone/>
            </a:pPr>
            <a:r>
              <a:rPr lang="en-US" sz="1400" b="1" spc="200" kern="0" dirty="0">
                <a:solidFill>
                  <a:srgbClr val="E8B84B"/>
                </a:solidFill>
                <a:latin typeface="Calibri" pitchFamily="34" charset="0"/>
                <a:ea typeface="Calibri" pitchFamily="34" charset="-122"/>
                <a:cs typeface="Calibri" pitchFamily="34" charset="-120"/>
              </a:rPr>
              <a:t>DESIGN CONSTRAINTS</a:t>
            </a:r>
            <a:endParaRPr lang="en-US" sz="1400" dirty="0"/>
          </a:p>
        </p:txBody>
      </p:sp>
      <p:pic>
        <p:nvPicPr>
          <p:cNvPr id="19" name="Image 5" descr="preencoded.png">    </p:cNvPr>
          <p:cNvPicPr>
            <a:picLocks noChangeAspect="1"/>
          </p:cNvPicPr>
          <p:nvPr/>
        </p:nvPicPr>
        <p:blipFill>
          <a:blip r:embed="rId6"/>
          <a:stretch>
            <a:fillRect/>
          </a:stretch>
        </p:blipFill>
        <p:spPr>
          <a:xfrm>
            <a:off x="6629400" y="2715768"/>
            <a:ext cx="219456" cy="219456"/>
          </a:xfrm>
          <a:prstGeom prst="rect">
            <a:avLst/>
          </a:prstGeom>
        </p:spPr>
      </p:pic>
      <p:sp>
        <p:nvSpPr>
          <p:cNvPr id="20" name="Text 12"/>
          <p:cNvSpPr/>
          <p:nvPr/>
        </p:nvSpPr>
        <p:spPr>
          <a:xfrm>
            <a:off x="6967728" y="2624328"/>
            <a:ext cx="4389120" cy="603504"/>
          </a:xfrm>
          <a:prstGeom prst="rect">
            <a:avLst/>
          </a:prstGeom>
          <a:noFill/>
          <a:ln/>
        </p:spPr>
        <p:txBody>
          <a:bodyPr wrap="square" rtlCol="0" anchor="t"/>
          <a:lstStyle/>
          <a:p>
            <a:pPr indent="0" marL="0">
              <a:lnSpc>
                <a:spcPct val="103000"/>
              </a:lnSpc>
              <a:buNone/>
            </a:pPr>
            <a:r>
              <a:rPr lang="en-US" sz="1250" dirty="0">
                <a:solidFill>
                  <a:srgbClr val="CADCFC"/>
                </a:solidFill>
                <a:latin typeface="Calibri" pitchFamily="34" charset="0"/>
                <a:ea typeface="Calibri" pitchFamily="34" charset="-122"/>
                <a:cs typeface="Calibri" pitchFamily="34" charset="-120"/>
              </a:rPr>
              <a:t>Separate identity from permission — three distinct layers (account · role · resource grant).</a:t>
            </a:r>
            <a:endParaRPr lang="en-US" sz="1250" dirty="0"/>
          </a:p>
        </p:txBody>
      </p:sp>
      <p:pic>
        <p:nvPicPr>
          <p:cNvPr id="21" name="Image 6" descr="preencoded.png">    </p:cNvPr>
          <p:cNvPicPr>
            <a:picLocks noChangeAspect="1"/>
          </p:cNvPicPr>
          <p:nvPr/>
        </p:nvPicPr>
        <p:blipFill>
          <a:blip r:embed="rId7"/>
          <a:stretch>
            <a:fillRect/>
          </a:stretch>
        </p:blipFill>
        <p:spPr>
          <a:xfrm>
            <a:off x="6629400" y="3300984"/>
            <a:ext cx="219456" cy="219456"/>
          </a:xfrm>
          <a:prstGeom prst="rect">
            <a:avLst/>
          </a:prstGeom>
        </p:spPr>
      </p:pic>
      <p:sp>
        <p:nvSpPr>
          <p:cNvPr id="22" name="Text 13"/>
          <p:cNvSpPr/>
          <p:nvPr/>
        </p:nvSpPr>
        <p:spPr>
          <a:xfrm>
            <a:off x="6967728" y="3209544"/>
            <a:ext cx="4389120" cy="603504"/>
          </a:xfrm>
          <a:prstGeom prst="rect">
            <a:avLst/>
          </a:prstGeom>
          <a:noFill/>
          <a:ln/>
        </p:spPr>
        <p:txBody>
          <a:bodyPr wrap="square" rtlCol="0" anchor="t"/>
          <a:lstStyle/>
          <a:p>
            <a:pPr indent="0" marL="0">
              <a:lnSpc>
                <a:spcPct val="103000"/>
              </a:lnSpc>
              <a:buNone/>
            </a:pPr>
            <a:r>
              <a:rPr lang="en-US" sz="1250" dirty="0">
                <a:solidFill>
                  <a:srgbClr val="CADCFC"/>
                </a:solidFill>
                <a:latin typeface="Calibri" pitchFamily="34" charset="0"/>
                <a:ea typeface="Calibri" pitchFamily="34" charset="-122"/>
                <a:cs typeface="Calibri" pitchFamily="34" charset="-120"/>
              </a:rPr>
              <a:t>Respect AD group scope: Global to collect, Universal to span a forest, Domain Local to grant.</a:t>
            </a:r>
            <a:endParaRPr lang="en-US" sz="1250" dirty="0"/>
          </a:p>
        </p:txBody>
      </p:sp>
      <p:pic>
        <p:nvPicPr>
          <p:cNvPr id="23" name="Image 7" descr="preencoded.png">    </p:cNvPr>
          <p:cNvPicPr>
            <a:picLocks noChangeAspect="1"/>
          </p:cNvPicPr>
          <p:nvPr/>
        </p:nvPicPr>
        <p:blipFill>
          <a:blip r:embed="rId8"/>
          <a:stretch>
            <a:fillRect/>
          </a:stretch>
        </p:blipFill>
        <p:spPr>
          <a:xfrm>
            <a:off x="6629400" y="3886200"/>
            <a:ext cx="219456" cy="219456"/>
          </a:xfrm>
          <a:prstGeom prst="rect">
            <a:avLst/>
          </a:prstGeom>
        </p:spPr>
      </p:pic>
      <p:sp>
        <p:nvSpPr>
          <p:cNvPr id="24" name="Text 14"/>
          <p:cNvSpPr/>
          <p:nvPr/>
        </p:nvSpPr>
        <p:spPr>
          <a:xfrm>
            <a:off x="6967728" y="3794760"/>
            <a:ext cx="4389120" cy="603504"/>
          </a:xfrm>
          <a:prstGeom prst="rect">
            <a:avLst/>
          </a:prstGeom>
          <a:noFill/>
          <a:ln/>
        </p:spPr>
        <p:txBody>
          <a:bodyPr wrap="square" rtlCol="0" anchor="t"/>
          <a:lstStyle/>
          <a:p>
            <a:pPr indent="0" marL="0">
              <a:lnSpc>
                <a:spcPct val="103000"/>
              </a:lnSpc>
              <a:buNone/>
            </a:pPr>
            <a:r>
              <a:rPr lang="en-US" sz="1250" dirty="0">
                <a:solidFill>
                  <a:srgbClr val="CADCFC"/>
                </a:solidFill>
                <a:latin typeface="Calibri" pitchFamily="34" charset="0"/>
                <a:ea typeface="Calibri" pitchFamily="34" charset="-122"/>
                <a:cs typeface="Calibri" pitchFamily="34" charset="-120"/>
              </a:rPr>
              <a:t>Grant resource permissions on the target/resource side, never by exporting a source group.</a:t>
            </a:r>
            <a:endParaRPr lang="en-US" sz="1250" dirty="0"/>
          </a:p>
        </p:txBody>
      </p:sp>
      <p:pic>
        <p:nvPicPr>
          <p:cNvPr id="25" name="Image 8" descr="preencoded.png">    </p:cNvPr>
          <p:cNvPicPr>
            <a:picLocks noChangeAspect="1"/>
          </p:cNvPicPr>
          <p:nvPr/>
        </p:nvPicPr>
        <p:blipFill>
          <a:blip r:embed="rId9"/>
          <a:stretch>
            <a:fillRect/>
          </a:stretch>
        </p:blipFill>
        <p:spPr>
          <a:xfrm>
            <a:off x="6629400" y="4471416"/>
            <a:ext cx="219456" cy="219456"/>
          </a:xfrm>
          <a:prstGeom prst="rect">
            <a:avLst/>
          </a:prstGeom>
        </p:spPr>
      </p:pic>
      <p:sp>
        <p:nvSpPr>
          <p:cNvPr id="26" name="Text 15"/>
          <p:cNvSpPr/>
          <p:nvPr/>
        </p:nvSpPr>
        <p:spPr>
          <a:xfrm>
            <a:off x="6967728" y="4379976"/>
            <a:ext cx="4389120" cy="603504"/>
          </a:xfrm>
          <a:prstGeom prst="rect">
            <a:avLst/>
          </a:prstGeom>
          <a:noFill/>
          <a:ln/>
        </p:spPr>
        <p:txBody>
          <a:bodyPr wrap="square" rtlCol="0" anchor="t"/>
          <a:lstStyle/>
          <a:p>
            <a:pPr indent="0" marL="0">
              <a:lnSpc>
                <a:spcPct val="103000"/>
              </a:lnSpc>
              <a:buNone/>
            </a:pPr>
            <a:r>
              <a:rPr lang="en-US" sz="1250" dirty="0">
                <a:solidFill>
                  <a:srgbClr val="CADCFC"/>
                </a:solidFill>
                <a:latin typeface="Calibri" pitchFamily="34" charset="0"/>
                <a:ea typeface="Calibri" pitchFamily="34" charset="-122"/>
                <a:cs typeface="Calibri" pitchFamily="34" charset="-120"/>
              </a:rPr>
              <a:t>Least privilege — access only where explicitly required, nowhere else.</a:t>
            </a:r>
            <a:endParaRPr lang="en-US" sz="1250" dirty="0"/>
          </a:p>
        </p:txBody>
      </p:sp>
      <p:pic>
        <p:nvPicPr>
          <p:cNvPr id="27" name="Image 9" descr="preencoded.png">    </p:cNvPr>
          <p:cNvPicPr>
            <a:picLocks noChangeAspect="1"/>
          </p:cNvPicPr>
          <p:nvPr/>
        </p:nvPicPr>
        <p:blipFill>
          <a:blip r:embed="rId10"/>
          <a:stretch>
            <a:fillRect/>
          </a:stretch>
        </p:blipFill>
        <p:spPr>
          <a:xfrm>
            <a:off x="6629400" y="5056632"/>
            <a:ext cx="219456" cy="219456"/>
          </a:xfrm>
          <a:prstGeom prst="rect">
            <a:avLst/>
          </a:prstGeom>
        </p:spPr>
      </p:pic>
      <p:sp>
        <p:nvSpPr>
          <p:cNvPr id="28" name="Text 16"/>
          <p:cNvSpPr/>
          <p:nvPr/>
        </p:nvSpPr>
        <p:spPr>
          <a:xfrm>
            <a:off x="6967728" y="4965192"/>
            <a:ext cx="4389120" cy="603504"/>
          </a:xfrm>
          <a:prstGeom prst="rect">
            <a:avLst/>
          </a:prstGeom>
          <a:noFill/>
          <a:ln/>
        </p:spPr>
        <p:txBody>
          <a:bodyPr wrap="square" rtlCol="0" anchor="t"/>
          <a:lstStyle/>
          <a:p>
            <a:pPr indent="0" marL="0">
              <a:lnSpc>
                <a:spcPct val="103000"/>
              </a:lnSpc>
              <a:buNone/>
            </a:pPr>
            <a:r>
              <a:rPr lang="en-US" sz="1250" dirty="0">
                <a:solidFill>
                  <a:srgbClr val="CADCFC"/>
                </a:solidFill>
                <a:latin typeface="Calibri" pitchFamily="34" charset="0"/>
                <a:ea typeface="Calibri" pitchFamily="34" charset="-122"/>
                <a:cs typeface="Calibri" pitchFamily="34" charset="-120"/>
              </a:rPr>
              <a:t>RDP via explicit rights (Remote Desktop Users / GPO), not privilege inheritance.</a:t>
            </a:r>
            <a:endParaRPr lang="en-US" sz="1250" dirty="0"/>
          </a:p>
        </p:txBody>
      </p:sp>
      <p:pic>
        <p:nvPicPr>
          <p:cNvPr id="29" name="Image 10" descr="preencoded.png">    </p:cNvPr>
          <p:cNvPicPr>
            <a:picLocks noChangeAspect="1"/>
          </p:cNvPicPr>
          <p:nvPr/>
        </p:nvPicPr>
        <p:blipFill>
          <a:blip r:embed="rId11"/>
          <a:stretch>
            <a:fillRect/>
          </a:stretch>
        </p:blipFill>
        <p:spPr>
          <a:xfrm>
            <a:off x="6629400" y="5641848"/>
            <a:ext cx="219456" cy="219456"/>
          </a:xfrm>
          <a:prstGeom prst="rect">
            <a:avLst/>
          </a:prstGeom>
        </p:spPr>
      </p:pic>
      <p:sp>
        <p:nvSpPr>
          <p:cNvPr id="30" name="Text 17"/>
          <p:cNvSpPr/>
          <p:nvPr/>
        </p:nvSpPr>
        <p:spPr>
          <a:xfrm>
            <a:off x="6967728" y="5550408"/>
            <a:ext cx="4389120" cy="603504"/>
          </a:xfrm>
          <a:prstGeom prst="rect">
            <a:avLst/>
          </a:prstGeom>
          <a:noFill/>
          <a:ln/>
        </p:spPr>
        <p:txBody>
          <a:bodyPr wrap="square" rtlCol="0" anchor="t"/>
          <a:lstStyle/>
          <a:p>
            <a:pPr indent="0" marL="0">
              <a:lnSpc>
                <a:spcPct val="103000"/>
              </a:lnSpc>
              <a:buNone/>
            </a:pPr>
            <a:r>
              <a:rPr lang="en-US" sz="1250" dirty="0">
                <a:solidFill>
                  <a:srgbClr val="CADCFC"/>
                </a:solidFill>
                <a:latin typeface="Calibri" pitchFamily="34" charset="0"/>
                <a:ea typeface="Calibri" pitchFamily="34" charset="-122"/>
                <a:cs typeface="Calibri" pitchFamily="34" charset="-120"/>
              </a:rPr>
              <a:t>Every logon and privilege use must be auditable; every change reversible.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0FE"/>
        </a:solidFill>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rtlCol="0" anchor="ctr"/>
          <a:lstStyle/>
          <a:p>
            <a:pPr algn="l" indent="0" marL="0">
              <a:buNone/>
            </a:pPr>
            <a:r>
              <a:rPr lang="en-US" sz="1200" b="1" spc="300" kern="0" dirty="0">
                <a:solidFill>
                  <a:srgbClr val="4A6FA5"/>
                </a:solidFill>
                <a:latin typeface="Calibri" pitchFamily="34" charset="0"/>
                <a:ea typeface="Calibri" pitchFamily="34" charset="-122"/>
                <a:cs typeface="Calibri" pitchFamily="34" charset="-120"/>
              </a:rPr>
              <a:t>PROPOSED ACCESS MODEL</a:t>
            </a:r>
            <a:endParaRPr lang="en-US" sz="1200" dirty="0"/>
          </a:p>
        </p:txBody>
      </p:sp>
      <p:sp>
        <p:nvSpPr>
          <p:cNvPr id="3" name="Text 1"/>
          <p:cNvSpPr/>
          <p:nvPr/>
        </p:nvSpPr>
        <p:spPr>
          <a:xfrm>
            <a:off x="548640" y="658368"/>
            <a:ext cx="10515600" cy="822960"/>
          </a:xfrm>
          <a:prstGeom prst="rect">
            <a:avLst/>
          </a:prstGeom>
          <a:noFill/>
          <a:ln/>
        </p:spPr>
        <p:txBody>
          <a:bodyPr wrap="square" rtlCol="0" anchor="ctr"/>
          <a:lstStyle/>
          <a:p>
            <a:pPr algn="l" indent="0" marL="0">
              <a:buNone/>
            </a:pPr>
            <a:r>
              <a:rPr lang="en-US" sz="3200" b="1" dirty="0">
                <a:solidFill>
                  <a:srgbClr val="1E2761"/>
                </a:solidFill>
                <a:latin typeface="Century Schoolbook" pitchFamily="34" charset="0"/>
                <a:ea typeface="Century Schoolbook" pitchFamily="34" charset="-122"/>
                <a:cs typeface="Century Schoolbook" pitchFamily="34" charset="-120"/>
              </a:rPr>
              <a:t>Three layers: identity → role → resource permission</a:t>
            </a:r>
            <a:endParaRPr lang="en-US" sz="3200" dirty="0"/>
          </a:p>
        </p:txBody>
      </p:sp>
      <p:sp>
        <p:nvSpPr>
          <p:cNvPr id="4" name="Text 2"/>
          <p:cNvSpPr/>
          <p:nvPr/>
        </p:nvSpPr>
        <p:spPr>
          <a:xfrm>
            <a:off x="11277295" y="6400800"/>
            <a:ext cx="457200" cy="274320"/>
          </a:xfrm>
          <a:prstGeom prst="rect">
            <a:avLst/>
          </a:prstGeom>
          <a:noFill/>
          <a:ln/>
        </p:spPr>
        <p:txBody>
          <a:bodyPr wrap="square" rtlCol="0" anchor="ctr"/>
          <a:lstStyle/>
          <a:p>
            <a:pPr algn="r" indent="0" marL="0">
              <a:buNone/>
            </a:pPr>
            <a:r>
              <a:rPr lang="en-US" sz="1000" dirty="0">
                <a:solidFill>
                  <a:srgbClr val="8593AC"/>
                </a:solidFill>
                <a:latin typeface="Calibri" pitchFamily="34" charset="0"/>
                <a:ea typeface="Calibri" pitchFamily="34" charset="-122"/>
                <a:cs typeface="Calibri" pitchFamily="34" charset="-120"/>
              </a:rPr>
              <a:t>05</a:t>
            </a:r>
            <a:endParaRPr lang="en-US" sz="1000" dirty="0"/>
          </a:p>
        </p:txBody>
      </p:sp>
      <p:sp>
        <p:nvSpPr>
          <p:cNvPr id="5" name="Text 3"/>
          <p:cNvSpPr/>
          <p:nvPr/>
        </p:nvSpPr>
        <p:spPr>
          <a:xfrm>
            <a:off x="548640" y="6400800"/>
            <a:ext cx="6400800" cy="274320"/>
          </a:xfrm>
          <a:prstGeom prst="rect">
            <a:avLst/>
          </a:prstGeom>
          <a:noFill/>
          <a:ln/>
        </p:spPr>
        <p:txBody>
          <a:bodyPr wrap="square" rtlCol="0" anchor="ctr"/>
          <a:lstStyle/>
          <a:p>
            <a:pPr algn="l" indent="0" marL="0">
              <a:buNone/>
            </a:pPr>
            <a:r>
              <a:rPr lang="en-US" sz="900" dirty="0">
                <a:solidFill>
                  <a:srgbClr val="8593AC"/>
                </a:solidFill>
                <a:latin typeface="Calibri" pitchFamily="34" charset="0"/>
                <a:ea typeface="Calibri" pitchFamily="34" charset="-122"/>
                <a:cs typeface="Calibri" pitchFamily="34" charset="-120"/>
              </a:rPr>
              <a:t>Cross-Forest Administrative Access Model</a:t>
            </a:r>
            <a:endParaRPr lang="en-US" sz="900" dirty="0"/>
          </a:p>
        </p:txBody>
      </p:sp>
      <p:sp>
        <p:nvSpPr>
          <p:cNvPr id="6" name="Shape 4"/>
          <p:cNvSpPr/>
          <p:nvPr/>
        </p:nvSpPr>
        <p:spPr>
          <a:xfrm>
            <a:off x="548640" y="1874520"/>
            <a:ext cx="3429000" cy="3200400"/>
          </a:xfrm>
          <a:prstGeom prst="roundRect">
            <a:avLst>
              <a:gd name="adj" fmla="val 3429"/>
            </a:avLst>
          </a:prstGeom>
          <a:solidFill>
            <a:srgbClr val="FFFFFF"/>
          </a:solidFill>
          <a:ln w="12700">
            <a:solidFill>
              <a:srgbClr val="DCE4F2"/>
            </a:solidFill>
            <a:prstDash val="solid"/>
          </a:ln>
          <a:effectLst>
            <a:outerShdw sx="100000" sy="100000" kx="0" ky="0" algn="bl" rotWithShape="0" blurRad="88900" dist="38100" dir="5400000">
              <a:srgbClr val="8593AC">
                <a:alpha val="28000"/>
              </a:srgbClr>
            </a:outerShdw>
          </a:effectLst>
        </p:spPr>
      </p:sp>
      <p:sp>
        <p:nvSpPr>
          <p:cNvPr id="7" name="Shape 5"/>
          <p:cNvSpPr/>
          <p:nvPr/>
        </p:nvSpPr>
        <p:spPr>
          <a:xfrm>
            <a:off x="548640" y="1874520"/>
            <a:ext cx="3429000" cy="868680"/>
          </a:xfrm>
          <a:prstGeom prst="roundRect">
            <a:avLst>
              <a:gd name="adj" fmla="val 12632"/>
            </a:avLst>
          </a:prstGeom>
          <a:solidFill>
            <a:srgbClr val="1E2761"/>
          </a:solidFill>
          <a:ln/>
        </p:spPr>
      </p:sp>
      <p:sp>
        <p:nvSpPr>
          <p:cNvPr id="8" name="Shape 6"/>
          <p:cNvSpPr/>
          <p:nvPr/>
        </p:nvSpPr>
        <p:spPr>
          <a:xfrm>
            <a:off x="548640" y="2331720"/>
            <a:ext cx="3429000" cy="411480"/>
          </a:xfrm>
          <a:prstGeom prst="rect">
            <a:avLst/>
          </a:prstGeom>
          <a:solidFill>
            <a:srgbClr val="1E2761"/>
          </a:solidFill>
          <a:ln/>
        </p:spPr>
      </p:sp>
      <p:sp>
        <p:nvSpPr>
          <p:cNvPr id="9" name="Shape 7"/>
          <p:cNvSpPr/>
          <p:nvPr/>
        </p:nvSpPr>
        <p:spPr>
          <a:xfrm>
            <a:off x="822960" y="2075688"/>
            <a:ext cx="502920" cy="502920"/>
          </a:xfrm>
          <a:prstGeom prst="ellipse">
            <a:avLst/>
          </a:prstGeom>
          <a:solidFill>
            <a:srgbClr val="FFFFFF"/>
          </a:solidFill>
          <a:ln/>
        </p:spPr>
      </p:sp>
      <p:pic>
        <p:nvPicPr>
          <p:cNvPr id="10" name="Image 0" descr="preencoded.png">    </p:cNvPr>
          <p:cNvPicPr>
            <a:picLocks noChangeAspect="1"/>
          </p:cNvPicPr>
          <p:nvPr/>
        </p:nvPicPr>
        <p:blipFill>
          <a:blip r:embed="rId1"/>
          <a:stretch>
            <a:fillRect/>
          </a:stretch>
        </p:blipFill>
        <p:spPr>
          <a:xfrm>
            <a:off x="943661" y="2196389"/>
            <a:ext cx="261518" cy="261518"/>
          </a:xfrm>
          <a:prstGeom prst="rect">
            <a:avLst/>
          </a:prstGeom>
        </p:spPr>
      </p:pic>
      <p:sp>
        <p:nvSpPr>
          <p:cNvPr id="11" name="Text 8"/>
          <p:cNvSpPr/>
          <p:nvPr/>
        </p:nvSpPr>
        <p:spPr>
          <a:xfrm>
            <a:off x="1463040" y="2075688"/>
            <a:ext cx="2331720" cy="502920"/>
          </a:xfrm>
          <a:prstGeom prst="rect">
            <a:avLst/>
          </a:prstGeom>
          <a:noFill/>
          <a:ln/>
        </p:spPr>
        <p:txBody>
          <a:bodyPr wrap="square" rtlCol="0" anchor="ctr"/>
          <a:lstStyle/>
          <a:p>
            <a:pPr indent="0" marL="0">
              <a:buNone/>
            </a:pPr>
            <a:r>
              <a:rPr lang="en-US" sz="1500" b="1" spc="200" kern="0" dirty="0">
                <a:solidFill>
                  <a:srgbClr val="FFFFFF"/>
                </a:solidFill>
                <a:latin typeface="Calibri" pitchFamily="34" charset="0"/>
                <a:ea typeface="Calibri" pitchFamily="34" charset="-122"/>
                <a:cs typeface="Calibri" pitchFamily="34" charset="-120"/>
              </a:rPr>
              <a:t>1 · IDENTITY</a:t>
            </a:r>
            <a:endParaRPr lang="en-US" sz="1500" dirty="0"/>
          </a:p>
        </p:txBody>
      </p:sp>
      <p:sp>
        <p:nvSpPr>
          <p:cNvPr id="12" name="Text 9"/>
          <p:cNvSpPr/>
          <p:nvPr/>
        </p:nvSpPr>
        <p:spPr>
          <a:xfrm>
            <a:off x="822960" y="2926080"/>
            <a:ext cx="2880360" cy="548640"/>
          </a:xfrm>
          <a:prstGeom prst="rect">
            <a:avLst/>
          </a:prstGeom>
          <a:noFill/>
          <a:ln/>
        </p:spPr>
        <p:txBody>
          <a:bodyPr wrap="square" rtlCol="0" anchor="ctr"/>
          <a:lstStyle/>
          <a:p>
            <a:pPr indent="0" marL="0">
              <a:buNone/>
            </a:pPr>
            <a:r>
              <a:rPr lang="en-US" sz="1700" b="1" dirty="0">
                <a:solidFill>
                  <a:srgbClr val="1E2761"/>
                </a:solidFill>
                <a:latin typeface="Century Schoolbook" pitchFamily="34" charset="0"/>
                <a:ea typeface="Century Schoolbook" pitchFamily="34" charset="-122"/>
                <a:cs typeface="Century Schoolbook" pitchFamily="34" charset="-120"/>
              </a:rPr>
              <a:t>Dedicated admin account</a:t>
            </a:r>
            <a:endParaRPr lang="en-US" sz="1700" dirty="0"/>
          </a:p>
        </p:txBody>
      </p:sp>
      <p:sp>
        <p:nvSpPr>
          <p:cNvPr id="13" name="Text 10"/>
          <p:cNvSpPr/>
          <p:nvPr/>
        </p:nvSpPr>
        <p:spPr>
          <a:xfrm>
            <a:off x="822960" y="3520440"/>
            <a:ext cx="2880360" cy="1417320"/>
          </a:xfrm>
          <a:prstGeom prst="rect">
            <a:avLst/>
          </a:prstGeom>
          <a:noFill/>
          <a:ln/>
        </p:spPr>
        <p:txBody>
          <a:bodyPr wrap="square" rtlCol="0" anchor="t"/>
          <a:lstStyle/>
          <a:p>
            <a:pPr indent="0" marL="0">
              <a:lnSpc>
                <a:spcPct val="112000"/>
              </a:lnSpc>
              <a:buNone/>
            </a:pPr>
            <a:r>
              <a:rPr lang="en-US" sz="1200" dirty="0">
                <a:solidFill>
                  <a:srgbClr val="5B6B8C"/>
                </a:solidFill>
                <a:latin typeface="Calibri" pitchFamily="34" charset="0"/>
                <a:ea typeface="Calibri" pitchFamily="34" charset="-122"/>
                <a:cs typeface="Calibri" pitchFamily="34" charset="-120"/>
              </a:rPr>
              <a:t>A single privileged ID created in the source domain (Domain A). Separate from any daily-use account and governed by a naming standard and admin controls.</a:t>
            </a:r>
            <a:endParaRPr lang="en-US" sz="1200" dirty="0"/>
          </a:p>
        </p:txBody>
      </p:sp>
      <p:pic>
        <p:nvPicPr>
          <p:cNvPr id="14" name="Image 1" descr="preencoded.png">    </p:cNvPr>
          <p:cNvPicPr>
            <a:picLocks noChangeAspect="1"/>
          </p:cNvPicPr>
          <p:nvPr/>
        </p:nvPicPr>
        <p:blipFill>
          <a:blip r:embed="rId2"/>
          <a:stretch>
            <a:fillRect/>
          </a:stretch>
        </p:blipFill>
        <p:spPr>
          <a:xfrm>
            <a:off x="4041648" y="3328416"/>
            <a:ext cx="384048" cy="292608"/>
          </a:xfrm>
          <a:prstGeom prst="rect">
            <a:avLst/>
          </a:prstGeom>
        </p:spPr>
      </p:pic>
      <p:sp>
        <p:nvSpPr>
          <p:cNvPr id="15" name="Shape 11"/>
          <p:cNvSpPr/>
          <p:nvPr/>
        </p:nvSpPr>
        <p:spPr>
          <a:xfrm>
            <a:off x="4480560" y="1874520"/>
            <a:ext cx="3429000" cy="3200400"/>
          </a:xfrm>
          <a:prstGeom prst="roundRect">
            <a:avLst>
              <a:gd name="adj" fmla="val 3429"/>
            </a:avLst>
          </a:prstGeom>
          <a:solidFill>
            <a:srgbClr val="FFFFFF"/>
          </a:solidFill>
          <a:ln w="12700">
            <a:solidFill>
              <a:srgbClr val="DCE4F2"/>
            </a:solidFill>
            <a:prstDash val="solid"/>
          </a:ln>
          <a:effectLst>
            <a:outerShdw sx="100000" sy="100000" kx="0" ky="0" algn="bl" rotWithShape="0" blurRad="88900" dist="38100" dir="5400000">
              <a:srgbClr val="8593AC">
                <a:alpha val="28000"/>
              </a:srgbClr>
            </a:outerShdw>
          </a:effectLst>
        </p:spPr>
      </p:sp>
      <p:sp>
        <p:nvSpPr>
          <p:cNvPr id="16" name="Shape 12"/>
          <p:cNvSpPr/>
          <p:nvPr/>
        </p:nvSpPr>
        <p:spPr>
          <a:xfrm>
            <a:off x="4480560" y="1874520"/>
            <a:ext cx="3429000" cy="868680"/>
          </a:xfrm>
          <a:prstGeom prst="roundRect">
            <a:avLst>
              <a:gd name="adj" fmla="val 12632"/>
            </a:avLst>
          </a:prstGeom>
          <a:solidFill>
            <a:srgbClr val="4A6FA5"/>
          </a:solidFill>
          <a:ln/>
        </p:spPr>
      </p:sp>
      <p:sp>
        <p:nvSpPr>
          <p:cNvPr id="17" name="Shape 13"/>
          <p:cNvSpPr/>
          <p:nvPr/>
        </p:nvSpPr>
        <p:spPr>
          <a:xfrm>
            <a:off x="4480560" y="2331720"/>
            <a:ext cx="3429000" cy="411480"/>
          </a:xfrm>
          <a:prstGeom prst="rect">
            <a:avLst/>
          </a:prstGeom>
          <a:solidFill>
            <a:srgbClr val="4A6FA5"/>
          </a:solidFill>
          <a:ln/>
        </p:spPr>
      </p:sp>
      <p:sp>
        <p:nvSpPr>
          <p:cNvPr id="18" name="Shape 14"/>
          <p:cNvSpPr/>
          <p:nvPr/>
        </p:nvSpPr>
        <p:spPr>
          <a:xfrm>
            <a:off x="4754880" y="2075688"/>
            <a:ext cx="502920" cy="502920"/>
          </a:xfrm>
          <a:prstGeom prst="ellipse">
            <a:avLst/>
          </a:prstGeom>
          <a:solidFill>
            <a:srgbClr val="FFFFFF"/>
          </a:solidFill>
          <a:ln/>
        </p:spPr>
      </p:sp>
      <p:pic>
        <p:nvPicPr>
          <p:cNvPr id="19" name="Image 2" descr="preencoded.png">    </p:cNvPr>
          <p:cNvPicPr>
            <a:picLocks noChangeAspect="1"/>
          </p:cNvPicPr>
          <p:nvPr/>
        </p:nvPicPr>
        <p:blipFill>
          <a:blip r:embed="rId3"/>
          <a:stretch>
            <a:fillRect/>
          </a:stretch>
        </p:blipFill>
        <p:spPr>
          <a:xfrm>
            <a:off x="4875581" y="2196389"/>
            <a:ext cx="261518" cy="261518"/>
          </a:xfrm>
          <a:prstGeom prst="rect">
            <a:avLst/>
          </a:prstGeom>
        </p:spPr>
      </p:pic>
      <p:sp>
        <p:nvSpPr>
          <p:cNvPr id="20" name="Text 15"/>
          <p:cNvSpPr/>
          <p:nvPr/>
        </p:nvSpPr>
        <p:spPr>
          <a:xfrm>
            <a:off x="5394960" y="2075688"/>
            <a:ext cx="2331720" cy="502920"/>
          </a:xfrm>
          <a:prstGeom prst="rect">
            <a:avLst/>
          </a:prstGeom>
          <a:noFill/>
          <a:ln/>
        </p:spPr>
        <p:txBody>
          <a:bodyPr wrap="square" rtlCol="0" anchor="ctr"/>
          <a:lstStyle/>
          <a:p>
            <a:pPr indent="0" marL="0">
              <a:buNone/>
            </a:pPr>
            <a:r>
              <a:rPr lang="en-US" sz="1500" b="1" spc="200" kern="0" dirty="0">
                <a:solidFill>
                  <a:srgbClr val="FFFFFF"/>
                </a:solidFill>
                <a:latin typeface="Calibri" pitchFamily="34" charset="0"/>
                <a:ea typeface="Calibri" pitchFamily="34" charset="-122"/>
                <a:cs typeface="Calibri" pitchFamily="34" charset="-120"/>
              </a:rPr>
              <a:t>2 · ROLE</a:t>
            </a:r>
            <a:endParaRPr lang="en-US" sz="1500" dirty="0"/>
          </a:p>
        </p:txBody>
      </p:sp>
      <p:sp>
        <p:nvSpPr>
          <p:cNvPr id="21" name="Text 16"/>
          <p:cNvSpPr/>
          <p:nvPr/>
        </p:nvSpPr>
        <p:spPr>
          <a:xfrm>
            <a:off x="4754880" y="2926080"/>
            <a:ext cx="2880360" cy="548640"/>
          </a:xfrm>
          <a:prstGeom prst="rect">
            <a:avLst/>
          </a:prstGeom>
          <a:noFill/>
          <a:ln/>
        </p:spPr>
        <p:txBody>
          <a:bodyPr wrap="square" rtlCol="0" anchor="ctr"/>
          <a:lstStyle/>
          <a:p>
            <a:pPr indent="0" marL="0">
              <a:buNone/>
            </a:pPr>
            <a:r>
              <a:rPr lang="en-US" sz="1700" b="1" dirty="0">
                <a:solidFill>
                  <a:srgbClr val="1E2761"/>
                </a:solidFill>
                <a:latin typeface="Century Schoolbook" pitchFamily="34" charset="0"/>
                <a:ea typeface="Century Schoolbook" pitchFamily="34" charset="-122"/>
                <a:cs typeface="Century Schoolbook" pitchFamily="34" charset="-120"/>
              </a:rPr>
              <a:t>Group membership by scope</a:t>
            </a:r>
            <a:endParaRPr lang="en-US" sz="1700" dirty="0"/>
          </a:p>
        </p:txBody>
      </p:sp>
      <p:sp>
        <p:nvSpPr>
          <p:cNvPr id="22" name="Text 17"/>
          <p:cNvSpPr/>
          <p:nvPr/>
        </p:nvSpPr>
        <p:spPr>
          <a:xfrm>
            <a:off x="4754880" y="3520440"/>
            <a:ext cx="2880360" cy="1417320"/>
          </a:xfrm>
          <a:prstGeom prst="rect">
            <a:avLst/>
          </a:prstGeom>
          <a:noFill/>
          <a:ln/>
        </p:spPr>
        <p:txBody>
          <a:bodyPr wrap="square" rtlCol="0" anchor="t"/>
          <a:lstStyle/>
          <a:p>
            <a:pPr indent="0" marL="0">
              <a:lnSpc>
                <a:spcPct val="112000"/>
              </a:lnSpc>
              <a:buNone/>
            </a:pPr>
            <a:r>
              <a:rPr lang="en-US" sz="1200" dirty="0">
                <a:solidFill>
                  <a:srgbClr val="5B6B8C"/>
                </a:solidFill>
                <a:latin typeface="Calibri" pitchFamily="34" charset="0"/>
                <a:ea typeface="Calibri" pitchFamily="34" charset="-122"/>
                <a:cs typeface="Calibri" pitchFamily="34" charset="-120"/>
              </a:rPr>
              <a:t>The account joins a role-based Global Group in its home domain. For same-forest reach, that Global Group nests into a Universal Group (AGUDLP).</a:t>
            </a:r>
            <a:endParaRPr lang="en-US" sz="1200" dirty="0"/>
          </a:p>
        </p:txBody>
      </p:sp>
      <p:pic>
        <p:nvPicPr>
          <p:cNvPr id="23" name="Image 3" descr="preencoded.png">    </p:cNvPr>
          <p:cNvPicPr>
            <a:picLocks noChangeAspect="1"/>
          </p:cNvPicPr>
          <p:nvPr/>
        </p:nvPicPr>
        <p:blipFill>
          <a:blip r:embed="rId4"/>
          <a:stretch>
            <a:fillRect/>
          </a:stretch>
        </p:blipFill>
        <p:spPr>
          <a:xfrm>
            <a:off x="7973568" y="3328416"/>
            <a:ext cx="384048" cy="292608"/>
          </a:xfrm>
          <a:prstGeom prst="rect">
            <a:avLst/>
          </a:prstGeom>
        </p:spPr>
      </p:pic>
      <p:sp>
        <p:nvSpPr>
          <p:cNvPr id="24" name="Shape 18"/>
          <p:cNvSpPr/>
          <p:nvPr/>
        </p:nvSpPr>
        <p:spPr>
          <a:xfrm>
            <a:off x="8412480" y="1874520"/>
            <a:ext cx="3429000" cy="3200400"/>
          </a:xfrm>
          <a:prstGeom prst="roundRect">
            <a:avLst>
              <a:gd name="adj" fmla="val 3429"/>
            </a:avLst>
          </a:prstGeom>
          <a:solidFill>
            <a:srgbClr val="FFFFFF"/>
          </a:solidFill>
          <a:ln w="12700">
            <a:solidFill>
              <a:srgbClr val="DCE4F2"/>
            </a:solidFill>
            <a:prstDash val="solid"/>
          </a:ln>
          <a:effectLst>
            <a:outerShdw sx="100000" sy="100000" kx="0" ky="0" algn="bl" rotWithShape="0" blurRad="88900" dist="38100" dir="5400000">
              <a:srgbClr val="8593AC">
                <a:alpha val="28000"/>
              </a:srgbClr>
            </a:outerShdw>
          </a:effectLst>
        </p:spPr>
      </p:sp>
      <p:sp>
        <p:nvSpPr>
          <p:cNvPr id="25" name="Shape 19"/>
          <p:cNvSpPr/>
          <p:nvPr/>
        </p:nvSpPr>
        <p:spPr>
          <a:xfrm>
            <a:off x="8412480" y="1874520"/>
            <a:ext cx="3429000" cy="868680"/>
          </a:xfrm>
          <a:prstGeom prst="roundRect">
            <a:avLst>
              <a:gd name="adj" fmla="val 12632"/>
            </a:avLst>
          </a:prstGeom>
          <a:solidFill>
            <a:srgbClr val="2E8B6B"/>
          </a:solidFill>
          <a:ln/>
        </p:spPr>
      </p:sp>
      <p:sp>
        <p:nvSpPr>
          <p:cNvPr id="26" name="Shape 20"/>
          <p:cNvSpPr/>
          <p:nvPr/>
        </p:nvSpPr>
        <p:spPr>
          <a:xfrm>
            <a:off x="8412480" y="2331720"/>
            <a:ext cx="3429000" cy="411480"/>
          </a:xfrm>
          <a:prstGeom prst="rect">
            <a:avLst/>
          </a:prstGeom>
          <a:solidFill>
            <a:srgbClr val="2E8B6B"/>
          </a:solidFill>
          <a:ln/>
        </p:spPr>
      </p:sp>
      <p:sp>
        <p:nvSpPr>
          <p:cNvPr id="27" name="Shape 21"/>
          <p:cNvSpPr/>
          <p:nvPr/>
        </p:nvSpPr>
        <p:spPr>
          <a:xfrm>
            <a:off x="8686800" y="2075688"/>
            <a:ext cx="502920" cy="502920"/>
          </a:xfrm>
          <a:prstGeom prst="ellipse">
            <a:avLst/>
          </a:prstGeom>
          <a:solidFill>
            <a:srgbClr val="FFFFFF"/>
          </a:solidFill>
          <a:ln/>
        </p:spPr>
      </p:sp>
      <p:pic>
        <p:nvPicPr>
          <p:cNvPr id="28" name="Image 4" descr="preencoded.png">    </p:cNvPr>
          <p:cNvPicPr>
            <a:picLocks noChangeAspect="1"/>
          </p:cNvPicPr>
          <p:nvPr/>
        </p:nvPicPr>
        <p:blipFill>
          <a:blip r:embed="rId5"/>
          <a:stretch>
            <a:fillRect/>
          </a:stretch>
        </p:blipFill>
        <p:spPr>
          <a:xfrm>
            <a:off x="8807501" y="2196389"/>
            <a:ext cx="261518" cy="261518"/>
          </a:xfrm>
          <a:prstGeom prst="rect">
            <a:avLst/>
          </a:prstGeom>
        </p:spPr>
      </p:pic>
      <p:sp>
        <p:nvSpPr>
          <p:cNvPr id="29" name="Text 22"/>
          <p:cNvSpPr/>
          <p:nvPr/>
        </p:nvSpPr>
        <p:spPr>
          <a:xfrm>
            <a:off x="9326880" y="2075688"/>
            <a:ext cx="2331720" cy="502920"/>
          </a:xfrm>
          <a:prstGeom prst="rect">
            <a:avLst/>
          </a:prstGeom>
          <a:noFill/>
          <a:ln/>
        </p:spPr>
        <p:txBody>
          <a:bodyPr wrap="square" rtlCol="0" anchor="ctr"/>
          <a:lstStyle/>
          <a:p>
            <a:pPr indent="0" marL="0">
              <a:buNone/>
            </a:pPr>
            <a:r>
              <a:rPr lang="en-US" sz="1500" b="1" spc="200" kern="0" dirty="0">
                <a:solidFill>
                  <a:srgbClr val="FFFFFF"/>
                </a:solidFill>
                <a:latin typeface="Calibri" pitchFamily="34" charset="0"/>
                <a:ea typeface="Calibri" pitchFamily="34" charset="-122"/>
                <a:cs typeface="Calibri" pitchFamily="34" charset="-120"/>
              </a:rPr>
              <a:t>3 · RESOURCE</a:t>
            </a:r>
            <a:endParaRPr lang="en-US" sz="1500" dirty="0"/>
          </a:p>
        </p:txBody>
      </p:sp>
      <p:sp>
        <p:nvSpPr>
          <p:cNvPr id="30" name="Text 23"/>
          <p:cNvSpPr/>
          <p:nvPr/>
        </p:nvSpPr>
        <p:spPr>
          <a:xfrm>
            <a:off x="8686800" y="2926080"/>
            <a:ext cx="2880360" cy="548640"/>
          </a:xfrm>
          <a:prstGeom prst="rect">
            <a:avLst/>
          </a:prstGeom>
          <a:noFill/>
          <a:ln/>
        </p:spPr>
        <p:txBody>
          <a:bodyPr wrap="square" rtlCol="0" anchor="ctr"/>
          <a:lstStyle/>
          <a:p>
            <a:pPr indent="0" marL="0">
              <a:buNone/>
            </a:pPr>
            <a:r>
              <a:rPr lang="en-US" sz="1700" b="1" dirty="0">
                <a:solidFill>
                  <a:srgbClr val="1E2761"/>
                </a:solidFill>
                <a:latin typeface="Century Schoolbook" pitchFamily="34" charset="0"/>
                <a:ea typeface="Century Schoolbook" pitchFamily="34" charset="-122"/>
                <a:cs typeface="Century Schoolbook" pitchFamily="34" charset="-120"/>
              </a:rPr>
              <a:t>Permission on the target side</a:t>
            </a:r>
            <a:endParaRPr lang="en-US" sz="1700" dirty="0"/>
          </a:p>
        </p:txBody>
      </p:sp>
      <p:sp>
        <p:nvSpPr>
          <p:cNvPr id="31" name="Text 24"/>
          <p:cNvSpPr/>
          <p:nvPr/>
        </p:nvSpPr>
        <p:spPr>
          <a:xfrm>
            <a:off x="8686800" y="3520440"/>
            <a:ext cx="2880360" cy="1417320"/>
          </a:xfrm>
          <a:prstGeom prst="rect">
            <a:avLst/>
          </a:prstGeom>
          <a:noFill/>
          <a:ln/>
        </p:spPr>
        <p:txBody>
          <a:bodyPr wrap="square" rtlCol="0" anchor="t"/>
          <a:lstStyle/>
          <a:p>
            <a:pPr indent="0" marL="0">
              <a:lnSpc>
                <a:spcPct val="112000"/>
              </a:lnSpc>
              <a:buNone/>
            </a:pPr>
            <a:r>
              <a:rPr lang="en-US" sz="1200" dirty="0">
                <a:solidFill>
                  <a:srgbClr val="5B6B8C"/>
                </a:solidFill>
                <a:latin typeface="Calibri" pitchFamily="34" charset="0"/>
                <a:ea typeface="Calibri" pitchFamily="34" charset="-122"/>
                <a:cs typeface="Calibri" pitchFamily="34" charset="-120"/>
              </a:rPr>
              <a:t>On each target domain / forest, a Domain Local group holds the approved principal and is assigned the actual permission — RDP, delegated admin, or (only if justified) Domain Admin.</a:t>
            </a:r>
            <a:endParaRPr lang="en-US" sz="1200" dirty="0"/>
          </a:p>
        </p:txBody>
      </p:sp>
      <p:sp>
        <p:nvSpPr>
          <p:cNvPr id="32" name="Shape 25"/>
          <p:cNvSpPr/>
          <p:nvPr/>
        </p:nvSpPr>
        <p:spPr>
          <a:xfrm>
            <a:off x="548640" y="5394960"/>
            <a:ext cx="11064240" cy="914400"/>
          </a:xfrm>
          <a:prstGeom prst="roundRect">
            <a:avLst>
              <a:gd name="adj" fmla="val 10000"/>
            </a:avLst>
          </a:prstGeom>
          <a:solidFill>
            <a:srgbClr val="1E2761"/>
          </a:solidFill>
          <a:ln/>
          <a:effectLst>
            <a:outerShdw sx="100000" sy="100000" kx="0" ky="0" algn="bl" rotWithShape="0" blurRad="63500" dist="25400" dir="5400000">
              <a:srgbClr val="A9B4C8">
                <a:alpha val="22000"/>
              </a:srgbClr>
            </a:outerShdw>
          </a:effectLst>
        </p:spPr>
      </p:sp>
      <p:sp>
        <p:nvSpPr>
          <p:cNvPr id="33" name="Shape 26"/>
          <p:cNvSpPr/>
          <p:nvPr/>
        </p:nvSpPr>
        <p:spPr>
          <a:xfrm>
            <a:off x="822960" y="5596128"/>
            <a:ext cx="512064" cy="512064"/>
          </a:xfrm>
          <a:prstGeom prst="roundRect">
            <a:avLst>
              <a:gd name="adj" fmla="val 22000"/>
            </a:avLst>
          </a:prstGeom>
          <a:solidFill>
            <a:srgbClr val="2A3670"/>
          </a:solidFill>
          <a:ln/>
          <a:effectLst>
            <a:outerShdw sx="100000" sy="100000" kx="0" ky="0" algn="bl" rotWithShape="0" blurRad="63500" dist="25400" dir="5400000">
              <a:srgbClr val="A9B4C8">
                <a:alpha val="22000"/>
              </a:srgbClr>
            </a:outerShdw>
          </a:effectLst>
        </p:spPr>
      </p:sp>
      <p:pic>
        <p:nvPicPr>
          <p:cNvPr id="34" name="Image 5" descr="preencoded.png">    </p:cNvPr>
          <p:cNvPicPr>
            <a:picLocks noChangeAspect="1"/>
          </p:cNvPicPr>
          <p:nvPr/>
        </p:nvPicPr>
        <p:blipFill>
          <a:blip r:embed="rId6"/>
          <a:stretch>
            <a:fillRect/>
          </a:stretch>
        </p:blipFill>
        <p:spPr>
          <a:xfrm>
            <a:off x="925373" y="5698541"/>
            <a:ext cx="307238" cy="307238"/>
          </a:xfrm>
          <a:prstGeom prst="rect">
            <a:avLst/>
          </a:prstGeom>
        </p:spPr>
      </p:pic>
      <p:sp>
        <p:nvSpPr>
          <p:cNvPr id="35" name="Text 27"/>
          <p:cNvSpPr/>
          <p:nvPr/>
        </p:nvSpPr>
        <p:spPr>
          <a:xfrm>
            <a:off x="1508760" y="5504688"/>
            <a:ext cx="9921240" cy="713232"/>
          </a:xfrm>
          <a:prstGeom prst="rect">
            <a:avLst/>
          </a:prstGeom>
          <a:noFill/>
          <a:ln/>
        </p:spPr>
        <p:txBody>
          <a:bodyPr wrap="square" rtlCol="0" anchor="ctr"/>
          <a:lstStyle/>
          <a:p>
            <a:pPr indent="0" marL="0">
              <a:lnSpc>
                <a:spcPct val="105000"/>
              </a:lnSpc>
              <a:buNone/>
            </a:pPr>
            <a:r>
              <a:rPr lang="en-US" sz="1400" b="1" dirty="0">
                <a:solidFill>
                  <a:srgbClr val="E8B84B"/>
                </a:solidFill>
                <a:latin typeface="Calibri" pitchFamily="34" charset="0"/>
                <a:ea typeface="Calibri" pitchFamily="34" charset="-122"/>
                <a:cs typeface="Calibri" pitchFamily="34" charset="-120"/>
              </a:rPr>
              <a:t>Golden rule:  </a:t>
            </a:r>
            <a:pPr indent="0" marL="0">
              <a:lnSpc>
                <a:spcPct val="105000"/>
              </a:lnSpc>
              <a:buNone/>
            </a:pPr>
            <a:r>
              <a:rPr lang="en-US" sz="1350" dirty="0">
                <a:solidFill>
                  <a:srgbClr val="CADCFC"/>
                </a:solidFill>
                <a:latin typeface="Calibri" pitchFamily="34" charset="0"/>
                <a:ea typeface="Calibri" pitchFamily="34" charset="-122"/>
                <a:cs typeface="Calibri" pitchFamily="34" charset="-120"/>
              </a:rPr>
              <a:t>collect accounts with Global, span the forest with Universal, and grant permissions with Domain Local on the resource side. The account never changes — only where it is granted does.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rtlCol="0" anchor="ctr"/>
          <a:lstStyle/>
          <a:p>
            <a:pPr algn="l" indent="0" marL="0">
              <a:buNone/>
            </a:pPr>
            <a:r>
              <a:rPr lang="en-US" sz="1200" b="1" spc="300" kern="0" dirty="0">
                <a:solidFill>
                  <a:srgbClr val="4A6FA5"/>
                </a:solidFill>
                <a:latin typeface="Calibri" pitchFamily="34" charset="0"/>
                <a:ea typeface="Calibri" pitchFamily="34" charset="-122"/>
                <a:cs typeface="Calibri" pitchFamily="34" charset="-120"/>
              </a:rPr>
              <a:t>GROUP SCOPE &amp; TRUST MODEL</a:t>
            </a:r>
            <a:endParaRPr lang="en-US" sz="1200" dirty="0"/>
          </a:p>
        </p:txBody>
      </p:sp>
      <p:sp>
        <p:nvSpPr>
          <p:cNvPr id="3" name="Text 1"/>
          <p:cNvSpPr/>
          <p:nvPr/>
        </p:nvSpPr>
        <p:spPr>
          <a:xfrm>
            <a:off x="548640" y="658368"/>
            <a:ext cx="10515600" cy="822960"/>
          </a:xfrm>
          <a:prstGeom prst="rect">
            <a:avLst/>
          </a:prstGeom>
          <a:noFill/>
          <a:ln/>
        </p:spPr>
        <p:txBody>
          <a:bodyPr wrap="square" rtlCol="0" anchor="ctr"/>
          <a:lstStyle/>
          <a:p>
            <a:pPr algn="l" indent="0" marL="0">
              <a:buNone/>
            </a:pPr>
            <a:r>
              <a:rPr lang="en-US" sz="3200" b="1" dirty="0">
                <a:solidFill>
                  <a:srgbClr val="1E2761"/>
                </a:solidFill>
                <a:latin typeface="Century Schoolbook" pitchFamily="34" charset="0"/>
                <a:ea typeface="Century Schoolbook" pitchFamily="34" charset="-122"/>
                <a:cs typeface="Century Schoolbook" pitchFamily="34" charset="-120"/>
              </a:rPr>
              <a:t>Choosing the right pattern for each boundary</a:t>
            </a:r>
            <a:endParaRPr lang="en-US" sz="3200" dirty="0"/>
          </a:p>
        </p:txBody>
      </p:sp>
      <p:sp>
        <p:nvSpPr>
          <p:cNvPr id="4" name="Text 2"/>
          <p:cNvSpPr/>
          <p:nvPr/>
        </p:nvSpPr>
        <p:spPr>
          <a:xfrm>
            <a:off x="11277295" y="6400800"/>
            <a:ext cx="457200" cy="274320"/>
          </a:xfrm>
          <a:prstGeom prst="rect">
            <a:avLst/>
          </a:prstGeom>
          <a:noFill/>
          <a:ln/>
        </p:spPr>
        <p:txBody>
          <a:bodyPr wrap="square" rtlCol="0" anchor="ctr"/>
          <a:lstStyle/>
          <a:p>
            <a:pPr algn="r" indent="0" marL="0">
              <a:buNone/>
            </a:pPr>
            <a:r>
              <a:rPr lang="en-US" sz="1000" dirty="0">
                <a:solidFill>
                  <a:srgbClr val="8593AC"/>
                </a:solidFill>
                <a:latin typeface="Calibri" pitchFamily="34" charset="0"/>
                <a:ea typeface="Calibri" pitchFamily="34" charset="-122"/>
                <a:cs typeface="Calibri" pitchFamily="34" charset="-120"/>
              </a:rPr>
              <a:t>06</a:t>
            </a:r>
            <a:endParaRPr lang="en-US" sz="1000" dirty="0"/>
          </a:p>
        </p:txBody>
      </p:sp>
      <p:sp>
        <p:nvSpPr>
          <p:cNvPr id="5" name="Text 3"/>
          <p:cNvSpPr/>
          <p:nvPr/>
        </p:nvSpPr>
        <p:spPr>
          <a:xfrm>
            <a:off x="548640" y="6400800"/>
            <a:ext cx="6400800" cy="274320"/>
          </a:xfrm>
          <a:prstGeom prst="rect">
            <a:avLst/>
          </a:prstGeom>
          <a:noFill/>
          <a:ln/>
        </p:spPr>
        <p:txBody>
          <a:bodyPr wrap="square" rtlCol="0" anchor="ctr"/>
          <a:lstStyle/>
          <a:p>
            <a:pPr algn="l" indent="0" marL="0">
              <a:buNone/>
            </a:pPr>
            <a:r>
              <a:rPr lang="en-US" sz="900" dirty="0">
                <a:solidFill>
                  <a:srgbClr val="8593AC"/>
                </a:solidFill>
                <a:latin typeface="Calibri" pitchFamily="34" charset="0"/>
                <a:ea typeface="Calibri" pitchFamily="34" charset="-122"/>
                <a:cs typeface="Calibri" pitchFamily="34" charset="-120"/>
              </a:rPr>
              <a:t>Cross-Forest Administrative Access Model</a:t>
            </a:r>
            <a:endParaRPr lang="en-US" sz="900" dirty="0"/>
          </a:p>
        </p:txBody>
      </p:sp>
      <p:sp>
        <p:nvSpPr>
          <p:cNvPr id="6" name="Shape 4"/>
          <p:cNvSpPr/>
          <p:nvPr/>
        </p:nvSpPr>
        <p:spPr>
          <a:xfrm>
            <a:off x="548640" y="1645920"/>
            <a:ext cx="548640" cy="548640"/>
          </a:xfrm>
          <a:prstGeom prst="roundRect">
            <a:avLst>
              <a:gd name="adj" fmla="val 22000"/>
            </a:avLst>
          </a:prstGeom>
          <a:solidFill>
            <a:srgbClr val="E8F0FE"/>
          </a:solidFill>
          <a:ln/>
          <a:effectLst>
            <a:outerShdw sx="100000" sy="100000" kx="0" ky="0" algn="bl" rotWithShape="0" blurRad="63500" dist="25400" dir="5400000">
              <a:srgbClr val="A9B4C8">
                <a:alpha val="22000"/>
              </a:srgbClr>
            </a:outerShdw>
          </a:effectLst>
        </p:spPr>
      </p:sp>
      <p:pic>
        <p:nvPicPr>
          <p:cNvPr id="7" name="Image 0" descr="preencoded.png">    </p:cNvPr>
          <p:cNvPicPr>
            <a:picLocks noChangeAspect="1"/>
          </p:cNvPicPr>
          <p:nvPr/>
        </p:nvPicPr>
        <p:blipFill>
          <a:blip r:embed="rId1"/>
          <a:stretch>
            <a:fillRect/>
          </a:stretch>
        </p:blipFill>
        <p:spPr>
          <a:xfrm>
            <a:off x="658368" y="1755648"/>
            <a:ext cx="329184" cy="329184"/>
          </a:xfrm>
          <a:prstGeom prst="rect">
            <a:avLst/>
          </a:prstGeom>
        </p:spPr>
      </p:pic>
      <p:sp>
        <p:nvSpPr>
          <p:cNvPr id="8" name="Text 5"/>
          <p:cNvSpPr/>
          <p:nvPr/>
        </p:nvSpPr>
        <p:spPr>
          <a:xfrm>
            <a:off x="1234440" y="1609344"/>
            <a:ext cx="4297680" cy="1005840"/>
          </a:xfrm>
          <a:prstGeom prst="rect">
            <a:avLst/>
          </a:prstGeom>
          <a:noFill/>
          <a:ln/>
        </p:spPr>
        <p:txBody>
          <a:bodyPr wrap="square" rtlCol="0" anchor="t"/>
          <a:lstStyle/>
          <a:p>
            <a:pPr indent="0" marL="0">
              <a:lnSpc>
                <a:spcPct val="103000"/>
              </a:lnSpc>
              <a:buNone/>
            </a:pPr>
            <a:r>
              <a:rPr lang="en-US" sz="1300" b="1" dirty="0">
                <a:solidFill>
                  <a:srgbClr val="1E2761"/>
                </a:solidFill>
                <a:latin typeface="Calibri" pitchFamily="34" charset="0"/>
                <a:ea typeface="Calibri" pitchFamily="34" charset="-122"/>
                <a:cs typeface="Calibri" pitchFamily="34" charset="-120"/>
              </a:rPr>
              <a:t>Global Group
</a:t>
            </a:r>
            <a:pPr indent="0" marL="0">
              <a:lnSpc>
                <a:spcPct val="103000"/>
              </a:lnSpc>
              <a:buNone/>
            </a:pPr>
            <a:r>
              <a:rPr lang="en-US" sz="1100" dirty="0">
                <a:solidFill>
                  <a:srgbClr val="5B6B8C"/>
                </a:solidFill>
                <a:latin typeface="Calibri" pitchFamily="34" charset="0"/>
                <a:ea typeface="Calibri" pitchFamily="34" charset="-122"/>
                <a:cs typeface="Calibri" pitchFamily="34" charset="-120"/>
              </a:rPr>
              <a:t>Collects accounts from its OWN domain. The role container — not a cross-forest permission object.</a:t>
            </a:r>
            <a:endParaRPr lang="en-US" sz="1300" dirty="0"/>
          </a:p>
        </p:txBody>
      </p:sp>
      <p:sp>
        <p:nvSpPr>
          <p:cNvPr id="9" name="Shape 6"/>
          <p:cNvSpPr/>
          <p:nvPr/>
        </p:nvSpPr>
        <p:spPr>
          <a:xfrm>
            <a:off x="548640" y="2743200"/>
            <a:ext cx="548640" cy="548640"/>
          </a:xfrm>
          <a:prstGeom prst="roundRect">
            <a:avLst>
              <a:gd name="adj" fmla="val 22000"/>
            </a:avLst>
          </a:prstGeom>
          <a:solidFill>
            <a:srgbClr val="E8F0FE"/>
          </a:solidFill>
          <a:ln/>
          <a:effectLst>
            <a:outerShdw sx="100000" sy="100000" kx="0" ky="0" algn="bl" rotWithShape="0" blurRad="63500" dist="25400" dir="5400000">
              <a:srgbClr val="A9B4C8">
                <a:alpha val="22000"/>
              </a:srgbClr>
            </a:outerShdw>
          </a:effectLst>
        </p:spPr>
      </p:sp>
      <p:pic>
        <p:nvPicPr>
          <p:cNvPr id="10" name="Image 1" descr="preencoded.png">    </p:cNvPr>
          <p:cNvPicPr>
            <a:picLocks noChangeAspect="1"/>
          </p:cNvPicPr>
          <p:nvPr/>
        </p:nvPicPr>
        <p:blipFill>
          <a:blip r:embed="rId2"/>
          <a:stretch>
            <a:fillRect/>
          </a:stretch>
        </p:blipFill>
        <p:spPr>
          <a:xfrm>
            <a:off x="658368" y="2852928"/>
            <a:ext cx="329184" cy="329184"/>
          </a:xfrm>
          <a:prstGeom prst="rect">
            <a:avLst/>
          </a:prstGeom>
        </p:spPr>
      </p:pic>
      <p:sp>
        <p:nvSpPr>
          <p:cNvPr id="11" name="Text 7"/>
          <p:cNvSpPr/>
          <p:nvPr/>
        </p:nvSpPr>
        <p:spPr>
          <a:xfrm>
            <a:off x="1234440" y="2706624"/>
            <a:ext cx="4297680" cy="1005840"/>
          </a:xfrm>
          <a:prstGeom prst="rect">
            <a:avLst/>
          </a:prstGeom>
          <a:noFill/>
          <a:ln/>
        </p:spPr>
        <p:txBody>
          <a:bodyPr wrap="square" rtlCol="0" anchor="t"/>
          <a:lstStyle/>
          <a:p>
            <a:pPr indent="0" marL="0">
              <a:lnSpc>
                <a:spcPct val="103000"/>
              </a:lnSpc>
              <a:buNone/>
            </a:pPr>
            <a:r>
              <a:rPr lang="en-US" sz="1300" b="1" dirty="0">
                <a:solidFill>
                  <a:srgbClr val="1E2761"/>
                </a:solidFill>
                <a:latin typeface="Calibri" pitchFamily="34" charset="0"/>
                <a:ea typeface="Calibri" pitchFamily="34" charset="-122"/>
                <a:cs typeface="Calibri" pitchFamily="34" charset="-120"/>
              </a:rPr>
              <a:t>Universal Group
</a:t>
            </a:r>
            <a:pPr indent="0" marL="0">
              <a:lnSpc>
                <a:spcPct val="103000"/>
              </a:lnSpc>
              <a:buNone/>
            </a:pPr>
            <a:r>
              <a:rPr lang="en-US" sz="1100" dirty="0">
                <a:solidFill>
                  <a:srgbClr val="5B6B8C"/>
                </a:solidFill>
                <a:latin typeface="Calibri" pitchFamily="34" charset="0"/>
                <a:ea typeface="Calibri" pitchFamily="34" charset="-122"/>
                <a:cs typeface="Calibri" pitchFamily="34" charset="-120"/>
              </a:rPr>
              <a:t>Spans multiple domains within the SAME forest. Nest Global groups here for same-forest reach.</a:t>
            </a:r>
            <a:endParaRPr lang="en-US" sz="1300" dirty="0"/>
          </a:p>
        </p:txBody>
      </p:sp>
      <p:sp>
        <p:nvSpPr>
          <p:cNvPr id="12" name="Shape 8"/>
          <p:cNvSpPr/>
          <p:nvPr/>
        </p:nvSpPr>
        <p:spPr>
          <a:xfrm>
            <a:off x="548640" y="3840480"/>
            <a:ext cx="548640" cy="548640"/>
          </a:xfrm>
          <a:prstGeom prst="roundRect">
            <a:avLst>
              <a:gd name="adj" fmla="val 22000"/>
            </a:avLst>
          </a:prstGeom>
          <a:solidFill>
            <a:srgbClr val="E8F0FE"/>
          </a:solidFill>
          <a:ln/>
          <a:effectLst>
            <a:outerShdw sx="100000" sy="100000" kx="0" ky="0" algn="bl" rotWithShape="0" blurRad="63500" dist="25400" dir="5400000">
              <a:srgbClr val="A9B4C8">
                <a:alpha val="22000"/>
              </a:srgbClr>
            </a:outerShdw>
          </a:effectLst>
        </p:spPr>
      </p:sp>
      <p:pic>
        <p:nvPicPr>
          <p:cNvPr id="13" name="Image 2" descr="preencoded.png">    </p:cNvPr>
          <p:cNvPicPr>
            <a:picLocks noChangeAspect="1"/>
          </p:cNvPicPr>
          <p:nvPr/>
        </p:nvPicPr>
        <p:blipFill>
          <a:blip r:embed="rId3"/>
          <a:stretch>
            <a:fillRect/>
          </a:stretch>
        </p:blipFill>
        <p:spPr>
          <a:xfrm>
            <a:off x="658368" y="3950208"/>
            <a:ext cx="329184" cy="329184"/>
          </a:xfrm>
          <a:prstGeom prst="rect">
            <a:avLst/>
          </a:prstGeom>
        </p:spPr>
      </p:pic>
      <p:sp>
        <p:nvSpPr>
          <p:cNvPr id="14" name="Text 9"/>
          <p:cNvSpPr/>
          <p:nvPr/>
        </p:nvSpPr>
        <p:spPr>
          <a:xfrm>
            <a:off x="1234440" y="3803904"/>
            <a:ext cx="4297680" cy="1005840"/>
          </a:xfrm>
          <a:prstGeom prst="rect">
            <a:avLst/>
          </a:prstGeom>
          <a:noFill/>
          <a:ln/>
        </p:spPr>
        <p:txBody>
          <a:bodyPr wrap="square" rtlCol="0" anchor="t"/>
          <a:lstStyle/>
          <a:p>
            <a:pPr indent="0" marL="0">
              <a:lnSpc>
                <a:spcPct val="103000"/>
              </a:lnSpc>
              <a:buNone/>
            </a:pPr>
            <a:r>
              <a:rPr lang="en-US" sz="1300" b="1" dirty="0">
                <a:solidFill>
                  <a:srgbClr val="1E2761"/>
                </a:solidFill>
                <a:latin typeface="Calibri" pitchFamily="34" charset="0"/>
                <a:ea typeface="Calibri" pitchFamily="34" charset="-122"/>
                <a:cs typeface="Calibri" pitchFamily="34" charset="-120"/>
              </a:rPr>
              <a:t>Domain Local Group
</a:t>
            </a:r>
            <a:pPr indent="0" marL="0">
              <a:lnSpc>
                <a:spcPct val="103000"/>
              </a:lnSpc>
              <a:buNone/>
            </a:pPr>
            <a:r>
              <a:rPr lang="en-US" sz="1100" dirty="0">
                <a:solidFill>
                  <a:srgbClr val="5B6B8C"/>
                </a:solidFill>
                <a:latin typeface="Calibri" pitchFamily="34" charset="0"/>
                <a:ea typeface="Calibri" pitchFamily="34" charset="-122"/>
                <a:cs typeface="Calibri" pitchFamily="34" charset="-120"/>
              </a:rPr>
              <a:t>Lives in the resource domain and receives the permission. The correct grant point for cross-forest access.</a:t>
            </a:r>
            <a:endParaRPr lang="en-US" sz="1300" dirty="0"/>
          </a:p>
        </p:txBody>
      </p:sp>
      <p:sp>
        <p:nvSpPr>
          <p:cNvPr id="15" name="Shape 10"/>
          <p:cNvSpPr/>
          <p:nvPr/>
        </p:nvSpPr>
        <p:spPr>
          <a:xfrm>
            <a:off x="548640" y="4937760"/>
            <a:ext cx="548640" cy="548640"/>
          </a:xfrm>
          <a:prstGeom prst="roundRect">
            <a:avLst>
              <a:gd name="adj" fmla="val 22000"/>
            </a:avLst>
          </a:prstGeom>
          <a:solidFill>
            <a:srgbClr val="E8F0FE"/>
          </a:solidFill>
          <a:ln/>
          <a:effectLst>
            <a:outerShdw sx="100000" sy="100000" kx="0" ky="0" algn="bl" rotWithShape="0" blurRad="63500" dist="25400" dir="5400000">
              <a:srgbClr val="A9B4C8">
                <a:alpha val="22000"/>
              </a:srgbClr>
            </a:outerShdw>
          </a:effectLst>
        </p:spPr>
      </p:sp>
      <p:pic>
        <p:nvPicPr>
          <p:cNvPr id="16" name="Image 3" descr="preencoded.png">    </p:cNvPr>
          <p:cNvPicPr>
            <a:picLocks noChangeAspect="1"/>
          </p:cNvPicPr>
          <p:nvPr/>
        </p:nvPicPr>
        <p:blipFill>
          <a:blip r:embed="rId4"/>
          <a:stretch>
            <a:fillRect/>
          </a:stretch>
        </p:blipFill>
        <p:spPr>
          <a:xfrm>
            <a:off x="658368" y="5047488"/>
            <a:ext cx="329184" cy="329184"/>
          </a:xfrm>
          <a:prstGeom prst="rect">
            <a:avLst/>
          </a:prstGeom>
        </p:spPr>
      </p:pic>
      <p:sp>
        <p:nvSpPr>
          <p:cNvPr id="17" name="Text 11"/>
          <p:cNvSpPr/>
          <p:nvPr/>
        </p:nvSpPr>
        <p:spPr>
          <a:xfrm>
            <a:off x="1234440" y="4901184"/>
            <a:ext cx="4297680" cy="1005840"/>
          </a:xfrm>
          <a:prstGeom prst="rect">
            <a:avLst/>
          </a:prstGeom>
          <a:noFill/>
          <a:ln/>
        </p:spPr>
        <p:txBody>
          <a:bodyPr wrap="square" rtlCol="0" anchor="t"/>
          <a:lstStyle/>
          <a:p>
            <a:pPr indent="0" marL="0">
              <a:lnSpc>
                <a:spcPct val="103000"/>
              </a:lnSpc>
              <a:buNone/>
            </a:pPr>
            <a:r>
              <a:rPr lang="en-US" sz="1300" b="1" dirty="0">
                <a:solidFill>
                  <a:srgbClr val="1E2761"/>
                </a:solidFill>
                <a:latin typeface="Calibri" pitchFamily="34" charset="0"/>
                <a:ea typeface="Calibri" pitchFamily="34" charset="-122"/>
                <a:cs typeface="Calibri" pitchFamily="34" charset="-120"/>
              </a:rPr>
              <a:t>Foreign Security Principal
</a:t>
            </a:r>
            <a:pPr indent="0" marL="0">
              <a:lnSpc>
                <a:spcPct val="103000"/>
              </a:lnSpc>
              <a:buNone/>
            </a:pPr>
            <a:r>
              <a:rPr lang="en-US" sz="1100" dirty="0">
                <a:solidFill>
                  <a:srgbClr val="5B6B8C"/>
                </a:solidFill>
                <a:latin typeface="Calibri" pitchFamily="34" charset="0"/>
                <a:ea typeface="Calibri" pitchFamily="34" charset="-122"/>
                <a:cs typeface="Calibri" pitchFamily="34" charset="-120"/>
              </a:rPr>
              <a:t>How a trusted-forest principal is represented when added to a target-side Domain Local group.</a:t>
            </a:r>
            <a:endParaRPr lang="en-US" sz="1300" dirty="0"/>
          </a:p>
        </p:txBody>
      </p:sp>
      <p:sp>
        <p:nvSpPr>
          <p:cNvPr id="18" name="Text 12"/>
          <p:cNvSpPr/>
          <p:nvPr/>
        </p:nvSpPr>
        <p:spPr>
          <a:xfrm>
            <a:off x="5806440" y="1554480"/>
            <a:ext cx="5852160" cy="320040"/>
          </a:xfrm>
          <a:prstGeom prst="rect">
            <a:avLst/>
          </a:prstGeom>
          <a:noFill/>
          <a:ln/>
        </p:spPr>
        <p:txBody>
          <a:bodyPr wrap="square" rtlCol="0" anchor="ctr"/>
          <a:lstStyle/>
          <a:p>
            <a:pPr indent="0" marL="0">
              <a:buNone/>
            </a:pPr>
            <a:r>
              <a:rPr lang="en-US" sz="1250" b="1" spc="200" kern="0" dirty="0">
                <a:solidFill>
                  <a:srgbClr val="4A6FA5"/>
                </a:solidFill>
                <a:latin typeface="Calibri" pitchFamily="34" charset="0"/>
                <a:ea typeface="Calibri" pitchFamily="34" charset="-122"/>
                <a:cs typeface="Calibri" pitchFamily="34" charset="-120"/>
              </a:rPr>
              <a:t>WHICH PATTERN APPLIES WHERE</a:t>
            </a: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806440" y="1965960"/>
          <a:ext cx="5806440" cy="914400"/>
        </p:xfrm>
        <a:graphic>
          <a:graphicData uri="http://schemas.openxmlformats.org/drawingml/2006/table">
            <a:tbl>
              <a:tblPr/>
              <a:tblGrid>
                <a:gridCol w="1417320"/>
                <a:gridCol w="2148840"/>
                <a:gridCol w="1463040"/>
                <a:gridCol w="777240"/>
              </a:tblGrid>
              <a:tr h="36576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Boundary</a:t>
                      </a:r>
                      <a:endParaRPr lang="en-US" sz="1150" dirty="0">
                        <a:latin typeface="Calibri" charset="0"/>
                        <a:ea typeface="Calibri" charset="0"/>
                        <a:cs typeface="Calibri" charset="0"/>
                      </a:endParaRPr>
                    </a:p>
                  </a:txBody>
                  <a:tcPr marL="63500" marR="63500" marT="50800" marB="50800" anchor="ctr">
                    <a:lnL w="12700" cap="flat" cmpd="sng" algn="ctr">
                      <a:solidFill>
                        <a:srgbClr val="D4DCEA"/>
                      </a:solidFill>
                      <a:prstDash val="solid"/>
                      <a:round/>
                      <a:headEnd type="none" w="med" len="med"/>
                      <a:tailEnd type="none" w="med" len="med"/>
                    </a:lnL>
                    <a:lnR w="12700" cap="flat" cmpd="sng" algn="ctr">
                      <a:solidFill>
                        <a:srgbClr val="D4DCEA"/>
                      </a:solidFill>
                      <a:prstDash val="solid"/>
                      <a:round/>
                      <a:headEnd type="none" w="med" len="med"/>
                      <a:tailEnd type="none" w="med" len="med"/>
                    </a:lnR>
                    <a:lnT w="12700" cap="flat" cmpd="sng" algn="ctr">
                      <a:solidFill>
                        <a:srgbClr val="D4DCEA"/>
                      </a:solidFill>
                      <a:prstDash val="solid"/>
                      <a:round/>
                      <a:headEnd type="none" w="med" len="med"/>
                      <a:tailEnd type="none" w="med" len="med"/>
                    </a:lnT>
                    <a:lnB w="12700" cap="flat" cmpd="sng" algn="ctr">
                      <a:solidFill>
                        <a:srgbClr val="D4DCEA"/>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Recommended pattern</a:t>
                      </a:r>
                      <a:endParaRPr lang="en-US" sz="1150" dirty="0">
                        <a:latin typeface="Calibri" charset="0"/>
                        <a:ea typeface="Calibri" charset="0"/>
                        <a:cs typeface="Calibri" charset="0"/>
                      </a:endParaRPr>
                    </a:p>
                  </a:txBody>
                  <a:tcPr marL="63500" marR="63500" marT="50800" marB="50800" anchor="ctr">
                    <a:lnL w="12700" cap="flat" cmpd="sng" algn="ctr">
                      <a:solidFill>
                        <a:srgbClr val="D4DCEA"/>
                      </a:solidFill>
                      <a:prstDash val="solid"/>
                      <a:round/>
                      <a:headEnd type="none" w="med" len="med"/>
                      <a:tailEnd type="none" w="med" len="med"/>
                    </a:lnL>
                    <a:lnR w="12700" cap="flat" cmpd="sng" algn="ctr">
                      <a:solidFill>
                        <a:srgbClr val="D4DCEA"/>
                      </a:solidFill>
                      <a:prstDash val="solid"/>
                      <a:round/>
                      <a:headEnd type="none" w="med" len="med"/>
                      <a:tailEnd type="none" w="med" len="med"/>
                    </a:lnR>
                    <a:lnT w="12700" cap="flat" cmpd="sng" algn="ctr">
                      <a:solidFill>
                        <a:srgbClr val="D4DCEA"/>
                      </a:solidFill>
                      <a:prstDash val="solid"/>
                      <a:round/>
                      <a:headEnd type="none" w="med" len="med"/>
                      <a:tailEnd type="none" w="med" len="med"/>
                    </a:lnT>
                    <a:lnB w="12700" cap="flat" cmpd="sng" algn="ctr">
                      <a:solidFill>
                        <a:srgbClr val="D4DCEA"/>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Trust dependency</a:t>
                      </a:r>
                      <a:endParaRPr lang="en-US" sz="1150" dirty="0">
                        <a:latin typeface="Calibri" charset="0"/>
                        <a:ea typeface="Calibri" charset="0"/>
                        <a:cs typeface="Calibri" charset="0"/>
                      </a:endParaRPr>
                    </a:p>
                  </a:txBody>
                  <a:tcPr marL="63500" marR="63500" marT="50800" marB="50800" anchor="ctr">
                    <a:lnL w="12700" cap="flat" cmpd="sng" algn="ctr">
                      <a:solidFill>
                        <a:srgbClr val="D4DCEA"/>
                      </a:solidFill>
                      <a:prstDash val="solid"/>
                      <a:round/>
                      <a:headEnd type="none" w="med" len="med"/>
                      <a:tailEnd type="none" w="med" len="med"/>
                    </a:lnL>
                    <a:lnR w="12700" cap="flat" cmpd="sng" algn="ctr">
                      <a:solidFill>
                        <a:srgbClr val="D4DCEA"/>
                      </a:solidFill>
                      <a:prstDash val="solid"/>
                      <a:round/>
                      <a:headEnd type="none" w="med" len="med"/>
                      <a:tailEnd type="none" w="med" len="med"/>
                    </a:lnR>
                    <a:lnT w="12700" cap="flat" cmpd="sng" algn="ctr">
                      <a:solidFill>
                        <a:srgbClr val="D4DCEA"/>
                      </a:solidFill>
                      <a:prstDash val="solid"/>
                      <a:round/>
                      <a:headEnd type="none" w="med" len="med"/>
                      <a:tailEnd type="none" w="med" len="med"/>
                    </a:lnT>
                    <a:lnB w="12700" cap="flat" cmpd="sng" algn="ctr">
                      <a:solidFill>
                        <a:srgbClr val="D4DCEA"/>
                      </a:solidFill>
                      <a:prstDash val="solid"/>
                      <a:round/>
                      <a:headEnd type="none" w="med" len="med"/>
                      <a:tailEnd type="none" w="med" len="med"/>
                    </a:lnB>
                    <a:solidFill>
                      <a:srgbClr val="1E2761"/>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Risk</a:t>
                      </a:r>
                      <a:endParaRPr lang="en-US" sz="1150" dirty="0">
                        <a:latin typeface="Calibri" charset="0"/>
                        <a:ea typeface="Calibri" charset="0"/>
                        <a:cs typeface="Calibri" charset="0"/>
                      </a:endParaRPr>
                    </a:p>
                  </a:txBody>
                  <a:tcPr marL="63500" marR="63500" marT="50800" marB="50800" anchor="ctr">
                    <a:lnL w="12700" cap="flat" cmpd="sng" algn="ctr">
                      <a:solidFill>
                        <a:srgbClr val="D4DCEA"/>
                      </a:solidFill>
                      <a:prstDash val="solid"/>
                      <a:round/>
                      <a:headEnd type="none" w="med" len="med"/>
                      <a:tailEnd type="none" w="med" len="med"/>
                    </a:lnL>
                    <a:lnR w="12700" cap="flat" cmpd="sng" algn="ctr">
                      <a:solidFill>
                        <a:srgbClr val="D4DCEA"/>
                      </a:solidFill>
                      <a:prstDash val="solid"/>
                      <a:round/>
                      <a:headEnd type="none" w="med" len="med"/>
                      <a:tailEnd type="none" w="med" len="med"/>
                    </a:lnR>
                    <a:lnT w="12700" cap="flat" cmpd="sng" algn="ctr">
                      <a:solidFill>
                        <a:srgbClr val="D4DCEA"/>
                      </a:solidFill>
                      <a:prstDash val="solid"/>
                      <a:round/>
                      <a:headEnd type="none" w="med" len="med"/>
                      <a:tailEnd type="none" w="med" len="med"/>
                    </a:lnT>
                    <a:lnB w="12700" cap="flat" cmpd="sng" algn="ctr">
                      <a:solidFill>
                        <a:srgbClr val="D4DCEA"/>
                      </a:solidFill>
                      <a:prstDash val="solid"/>
                      <a:round/>
                      <a:headEnd type="none" w="med" len="med"/>
                      <a:tailEnd type="none" w="med" len="med"/>
                    </a:lnB>
                    <a:solidFill>
                      <a:srgbClr val="1E2761"/>
                    </a:solidFill>
                  </a:tcPr>
                </a:tc>
              </a:tr>
              <a:tr h="566928">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Same domain</a:t>
                      </a:r>
                      <a:endParaRPr lang="en-US" sz="1100" dirty="0">
                        <a:latin typeface="Calibri" charset="0"/>
                        <a:ea typeface="Calibri" charset="0"/>
                        <a:cs typeface="Calibri" charset="0"/>
                      </a:endParaRPr>
                    </a:p>
                  </a:txBody>
                  <a:tcPr marL="63500" marR="63500" marT="50800" marB="50800" anchor="ctr">
                    <a:lnL w="12700" cap="flat" cmpd="sng" algn="ctr">
                      <a:solidFill>
                        <a:srgbClr val="D4DCEA"/>
                      </a:solidFill>
                      <a:prstDash val="solid"/>
                      <a:round/>
                      <a:headEnd type="none" w="med" len="med"/>
                      <a:tailEnd type="none" w="med" len="med"/>
                    </a:lnL>
                    <a:lnR w="12700" cap="flat" cmpd="sng" algn="ctr">
                      <a:solidFill>
                        <a:srgbClr val="D4DCEA"/>
                      </a:solidFill>
                      <a:prstDash val="solid"/>
                      <a:round/>
                      <a:headEnd type="none" w="med" len="med"/>
                      <a:tailEnd type="none" w="med" len="med"/>
                    </a:lnR>
                    <a:lnT w="12700" cap="flat" cmpd="sng" algn="ctr">
                      <a:solidFill>
                        <a:srgbClr val="D4DCEA"/>
                      </a:solidFill>
                      <a:prstDash val="solid"/>
                      <a:round/>
                      <a:headEnd type="none" w="med" len="med"/>
                      <a:tailEnd type="none" w="med" len="med"/>
                    </a:lnT>
                    <a:lnB w="12700" cap="flat" cmpd="sng" algn="ctr">
                      <a:solidFill>
                        <a:srgbClr val="D4DCE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E2761"/>
                          </a:solidFill>
                          <a:latin typeface="Calibri" pitchFamily="34" charset="0"/>
                          <a:ea typeface="Calibri" pitchFamily="34" charset="-122"/>
                          <a:cs typeface="Calibri" pitchFamily="34" charset="-120"/>
                        </a:rPr>
                        <a:t>AGDLP</a:t>
                      </a:r>
                      <a:endParaRPr lang="en-US" sz="1100" dirty="0">
                        <a:latin typeface="Calibri" charset="0"/>
                        <a:ea typeface="Calibri" charset="0"/>
                        <a:cs typeface="Calibri" charset="0"/>
                      </a:endParaRPr>
                    </a:p>
                    <a:p>
                      <a:pPr algn="l" indent="0" marL="0">
                        <a:buNone/>
                      </a:pPr>
                      <a:r>
                        <a:rPr lang="en-US" sz="1100" dirty="0">
                          <a:solidFill>
                            <a:srgbClr val="1E2761"/>
                          </a:solidFill>
                          <a:latin typeface="Calibri" pitchFamily="34" charset="0"/>
                          <a:ea typeface="Calibri" pitchFamily="34" charset="-122"/>
                          <a:cs typeface="Calibri" pitchFamily="34" charset="-120"/>
                        </a:rPr>
                        <a:t>(Global → Domain Local)</a:t>
                      </a:r>
                      <a:endParaRPr lang="en-US" sz="1100" dirty="0">
                        <a:latin typeface="Calibri" charset="0"/>
                        <a:ea typeface="Calibri" charset="0"/>
                        <a:cs typeface="Calibri" charset="0"/>
                      </a:endParaRPr>
                    </a:p>
                  </a:txBody>
                  <a:tcPr marL="63500" marR="63500" marT="50800" marB="50800" anchor="ctr">
                    <a:lnL w="12700" cap="flat" cmpd="sng" algn="ctr">
                      <a:solidFill>
                        <a:srgbClr val="D4DCEA"/>
                      </a:solidFill>
                      <a:prstDash val="solid"/>
                      <a:round/>
                      <a:headEnd type="none" w="med" len="med"/>
                      <a:tailEnd type="none" w="med" len="med"/>
                    </a:lnL>
                    <a:lnR w="12700" cap="flat" cmpd="sng" algn="ctr">
                      <a:solidFill>
                        <a:srgbClr val="D4DCEA"/>
                      </a:solidFill>
                      <a:prstDash val="solid"/>
                      <a:round/>
                      <a:headEnd type="none" w="med" len="med"/>
                      <a:tailEnd type="none" w="med" len="med"/>
                    </a:lnR>
                    <a:lnT w="12700" cap="flat" cmpd="sng" algn="ctr">
                      <a:solidFill>
                        <a:srgbClr val="D4DCEA"/>
                      </a:solidFill>
                      <a:prstDash val="solid"/>
                      <a:round/>
                      <a:headEnd type="none" w="med" len="med"/>
                      <a:tailEnd type="none" w="med" len="med"/>
                    </a:lnT>
                    <a:lnB w="12700" cap="flat" cmpd="sng" algn="ctr">
                      <a:solidFill>
                        <a:srgbClr val="D4DCE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E2761"/>
                          </a:solidFill>
                          <a:latin typeface="Calibri" pitchFamily="34" charset="0"/>
                          <a:ea typeface="Calibri" pitchFamily="34" charset="-122"/>
                          <a:cs typeface="Calibri" pitchFamily="34" charset="-120"/>
                        </a:rPr>
                        <a:t>None</a:t>
                      </a:r>
                      <a:endParaRPr lang="en-US" sz="1100" dirty="0">
                        <a:latin typeface="Calibri" charset="0"/>
                        <a:ea typeface="Calibri" charset="0"/>
                        <a:cs typeface="Calibri" charset="0"/>
                      </a:endParaRPr>
                    </a:p>
                  </a:txBody>
                  <a:tcPr marL="63500" marR="63500" marT="50800" marB="50800" anchor="ctr">
                    <a:lnL w="12700" cap="flat" cmpd="sng" algn="ctr">
                      <a:solidFill>
                        <a:srgbClr val="D4DCEA"/>
                      </a:solidFill>
                      <a:prstDash val="solid"/>
                      <a:round/>
                      <a:headEnd type="none" w="med" len="med"/>
                      <a:tailEnd type="none" w="med" len="med"/>
                    </a:lnL>
                    <a:lnR w="12700" cap="flat" cmpd="sng" algn="ctr">
                      <a:solidFill>
                        <a:srgbClr val="D4DCEA"/>
                      </a:solidFill>
                      <a:prstDash val="solid"/>
                      <a:round/>
                      <a:headEnd type="none" w="med" len="med"/>
                      <a:tailEnd type="none" w="med" len="med"/>
                    </a:lnR>
                    <a:lnT w="12700" cap="flat" cmpd="sng" algn="ctr">
                      <a:solidFill>
                        <a:srgbClr val="D4DCEA"/>
                      </a:solidFill>
                      <a:prstDash val="solid"/>
                      <a:round/>
                      <a:headEnd type="none" w="med" len="med"/>
                      <a:tailEnd type="none" w="med" len="med"/>
                    </a:lnT>
                    <a:lnB w="12700" cap="flat" cmpd="sng" algn="ctr">
                      <a:solidFill>
                        <a:srgbClr val="D4DCEA"/>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8B6B"/>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marL="63500" marR="63500" marT="50800" marB="50800" anchor="ctr">
                    <a:lnL w="12700" cap="flat" cmpd="sng" algn="ctr">
                      <a:solidFill>
                        <a:srgbClr val="D4DCEA"/>
                      </a:solidFill>
                      <a:prstDash val="solid"/>
                      <a:round/>
                      <a:headEnd type="none" w="med" len="med"/>
                      <a:tailEnd type="none" w="med" len="med"/>
                    </a:lnL>
                    <a:lnR w="12700" cap="flat" cmpd="sng" algn="ctr">
                      <a:solidFill>
                        <a:srgbClr val="D4DCEA"/>
                      </a:solidFill>
                      <a:prstDash val="solid"/>
                      <a:round/>
                      <a:headEnd type="none" w="med" len="med"/>
                      <a:tailEnd type="none" w="med" len="med"/>
                    </a:lnR>
                    <a:lnT w="12700" cap="flat" cmpd="sng" algn="ctr">
                      <a:solidFill>
                        <a:srgbClr val="D4DCEA"/>
                      </a:solidFill>
                      <a:prstDash val="solid"/>
                      <a:round/>
                      <a:headEnd type="none" w="med" len="med"/>
                      <a:tailEnd type="none" w="med" len="med"/>
                    </a:lnT>
                    <a:lnB w="12700" cap="flat" cmpd="sng" algn="ctr">
                      <a:solidFill>
                        <a:srgbClr val="D4DCEA"/>
                      </a:solidFill>
                      <a:prstDash val="solid"/>
                      <a:round/>
                      <a:headEnd type="none" w="med" len="med"/>
                      <a:tailEnd type="none" w="med" len="med"/>
                    </a:lnB>
                    <a:solidFill>
                      <a:srgbClr val="FFFFFF"/>
                    </a:solidFill>
                  </a:tcPr>
                </a:tc>
              </a:tr>
              <a:tr h="566928">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Child domains,</a:t>
                      </a:r>
                      <a:endParaRPr lang="en-US" sz="1100" dirty="0">
                        <a:latin typeface="Calibri" charset="0"/>
                        <a:ea typeface="Calibri" charset="0"/>
                        <a:cs typeface="Calibri" charset="0"/>
                      </a:endParaRPr>
                    </a:p>
                    <a:p>
                      <a:pPr algn="l" indent="0" marL="0">
                        <a:buNone/>
                      </a:pPr>
                      <a:r>
                        <a:rPr lang="en-US" sz="1100" b="1" dirty="0">
                          <a:solidFill>
                            <a:srgbClr val="1E2761"/>
                          </a:solidFill>
                          <a:latin typeface="Calibri" pitchFamily="34" charset="0"/>
                          <a:ea typeface="Calibri" pitchFamily="34" charset="-122"/>
                          <a:cs typeface="Calibri" pitchFamily="34" charset="-120"/>
                        </a:rPr>
                        <a:t>same forest</a:t>
                      </a:r>
                      <a:endParaRPr lang="en-US" sz="1100" dirty="0">
                        <a:latin typeface="Calibri" charset="0"/>
                        <a:ea typeface="Calibri" charset="0"/>
                        <a:cs typeface="Calibri" charset="0"/>
                      </a:endParaRPr>
                    </a:p>
                  </a:txBody>
                  <a:tcPr marL="63500" marR="63500" marT="50800" marB="50800" anchor="ctr">
                    <a:lnL w="12700" cap="flat" cmpd="sng" algn="ctr">
                      <a:solidFill>
                        <a:srgbClr val="D4DCEA"/>
                      </a:solidFill>
                      <a:prstDash val="solid"/>
                      <a:round/>
                      <a:headEnd type="none" w="med" len="med"/>
                      <a:tailEnd type="none" w="med" len="med"/>
                    </a:lnL>
                    <a:lnR w="12700" cap="flat" cmpd="sng" algn="ctr">
                      <a:solidFill>
                        <a:srgbClr val="D4DCEA"/>
                      </a:solidFill>
                      <a:prstDash val="solid"/>
                      <a:round/>
                      <a:headEnd type="none" w="med" len="med"/>
                      <a:tailEnd type="none" w="med" len="med"/>
                    </a:lnR>
                    <a:lnT w="12700" cap="flat" cmpd="sng" algn="ctr">
                      <a:solidFill>
                        <a:srgbClr val="D4DCEA"/>
                      </a:solidFill>
                      <a:prstDash val="solid"/>
                      <a:round/>
                      <a:headEnd type="none" w="med" len="med"/>
                      <a:tailEnd type="none" w="med" len="med"/>
                    </a:lnT>
                    <a:lnB w="12700" cap="flat" cmpd="sng" algn="ctr">
                      <a:solidFill>
                        <a:srgbClr val="D4DCEA"/>
                      </a:solidFill>
                      <a:prstDash val="solid"/>
                      <a:round/>
                      <a:headEnd type="none" w="med" len="med"/>
                      <a:tailEnd type="none" w="med" len="med"/>
                    </a:lnB>
                    <a:solidFill>
                      <a:srgbClr val="F4F7FC"/>
                    </a:solidFill>
                  </a:tcPr>
                </a:tc>
                <a:tc>
                  <a:txBody>
                    <a:bodyPr/>
                    <a:lstStyle/>
                    <a:p>
                      <a:pPr algn="l" indent="0" marL="0">
                        <a:buNone/>
                      </a:pPr>
                      <a:r>
                        <a:rPr lang="en-US" sz="1100" dirty="0">
                          <a:solidFill>
                            <a:srgbClr val="1E2761"/>
                          </a:solidFill>
                          <a:latin typeface="Calibri" pitchFamily="34" charset="0"/>
                          <a:ea typeface="Calibri" pitchFamily="34" charset="-122"/>
                          <a:cs typeface="Calibri" pitchFamily="34" charset="-120"/>
                        </a:rPr>
                        <a:t>AGUDLP</a:t>
                      </a:r>
                      <a:endParaRPr lang="en-US" sz="1100" dirty="0">
                        <a:latin typeface="Calibri" charset="0"/>
                        <a:ea typeface="Calibri" charset="0"/>
                        <a:cs typeface="Calibri" charset="0"/>
                      </a:endParaRPr>
                    </a:p>
                    <a:p>
                      <a:pPr algn="l" indent="0" marL="0">
                        <a:buNone/>
                      </a:pPr>
                      <a:r>
                        <a:rPr lang="en-US" sz="1100" dirty="0">
                          <a:solidFill>
                            <a:srgbClr val="1E2761"/>
                          </a:solidFill>
                          <a:latin typeface="Calibri" pitchFamily="34" charset="0"/>
                          <a:ea typeface="Calibri" pitchFamily="34" charset="-122"/>
                          <a:cs typeface="Calibri" pitchFamily="34" charset="-120"/>
                        </a:rPr>
                        <a:t>(add Universal)</a:t>
                      </a:r>
                      <a:endParaRPr lang="en-US" sz="1100" dirty="0">
                        <a:latin typeface="Calibri" charset="0"/>
                        <a:ea typeface="Calibri" charset="0"/>
                        <a:cs typeface="Calibri" charset="0"/>
                      </a:endParaRPr>
                    </a:p>
                  </a:txBody>
                  <a:tcPr marL="63500" marR="63500" marT="50800" marB="50800" anchor="ctr">
                    <a:lnL w="12700" cap="flat" cmpd="sng" algn="ctr">
                      <a:solidFill>
                        <a:srgbClr val="D4DCEA"/>
                      </a:solidFill>
                      <a:prstDash val="solid"/>
                      <a:round/>
                      <a:headEnd type="none" w="med" len="med"/>
                      <a:tailEnd type="none" w="med" len="med"/>
                    </a:lnL>
                    <a:lnR w="12700" cap="flat" cmpd="sng" algn="ctr">
                      <a:solidFill>
                        <a:srgbClr val="D4DCEA"/>
                      </a:solidFill>
                      <a:prstDash val="solid"/>
                      <a:round/>
                      <a:headEnd type="none" w="med" len="med"/>
                      <a:tailEnd type="none" w="med" len="med"/>
                    </a:lnR>
                    <a:lnT w="12700" cap="flat" cmpd="sng" algn="ctr">
                      <a:solidFill>
                        <a:srgbClr val="D4DCEA"/>
                      </a:solidFill>
                      <a:prstDash val="solid"/>
                      <a:round/>
                      <a:headEnd type="none" w="med" len="med"/>
                      <a:tailEnd type="none" w="med" len="med"/>
                    </a:lnT>
                    <a:lnB w="12700" cap="flat" cmpd="sng" algn="ctr">
                      <a:solidFill>
                        <a:srgbClr val="D4DCEA"/>
                      </a:solidFill>
                      <a:prstDash val="solid"/>
                      <a:round/>
                      <a:headEnd type="none" w="med" len="med"/>
                      <a:tailEnd type="none" w="med" len="med"/>
                    </a:lnB>
                    <a:solidFill>
                      <a:srgbClr val="F4F7FC"/>
                    </a:solidFill>
                  </a:tcPr>
                </a:tc>
                <a:tc>
                  <a:txBody>
                    <a:bodyPr/>
                    <a:lstStyle/>
                    <a:p>
                      <a:pPr algn="l" indent="0" marL="0">
                        <a:buNone/>
                      </a:pPr>
                      <a:r>
                        <a:rPr lang="en-US" sz="1100" dirty="0">
                          <a:solidFill>
                            <a:srgbClr val="1E2761"/>
                          </a:solidFill>
                          <a:latin typeface="Calibri" pitchFamily="34" charset="0"/>
                          <a:ea typeface="Calibri" pitchFamily="34" charset="-122"/>
                          <a:cs typeface="Calibri" pitchFamily="34" charset="-120"/>
                        </a:rPr>
                        <a:t>Intra-forest</a:t>
                      </a:r>
                      <a:endParaRPr lang="en-US" sz="1100" dirty="0">
                        <a:latin typeface="Calibri" charset="0"/>
                        <a:ea typeface="Calibri" charset="0"/>
                        <a:cs typeface="Calibri" charset="0"/>
                      </a:endParaRPr>
                    </a:p>
                    <a:p>
                      <a:pPr algn="l" indent="0" marL="0">
                        <a:buNone/>
                      </a:pPr>
                      <a:r>
                        <a:rPr lang="en-US" sz="1100" dirty="0">
                          <a:solidFill>
                            <a:srgbClr val="1E2761"/>
                          </a:solidFill>
                          <a:latin typeface="Calibri" pitchFamily="34" charset="0"/>
                          <a:ea typeface="Calibri" pitchFamily="34" charset="-122"/>
                          <a:cs typeface="Calibri" pitchFamily="34" charset="-120"/>
                        </a:rPr>
                        <a:t>(automatic)</a:t>
                      </a:r>
                      <a:endParaRPr lang="en-US" sz="1100" dirty="0">
                        <a:latin typeface="Calibri" charset="0"/>
                        <a:ea typeface="Calibri" charset="0"/>
                        <a:cs typeface="Calibri" charset="0"/>
                      </a:endParaRPr>
                    </a:p>
                  </a:txBody>
                  <a:tcPr marL="63500" marR="63500" marT="50800" marB="50800" anchor="ctr">
                    <a:lnL w="12700" cap="flat" cmpd="sng" algn="ctr">
                      <a:solidFill>
                        <a:srgbClr val="D4DCEA"/>
                      </a:solidFill>
                      <a:prstDash val="solid"/>
                      <a:round/>
                      <a:headEnd type="none" w="med" len="med"/>
                      <a:tailEnd type="none" w="med" len="med"/>
                    </a:lnL>
                    <a:lnR w="12700" cap="flat" cmpd="sng" algn="ctr">
                      <a:solidFill>
                        <a:srgbClr val="D4DCEA"/>
                      </a:solidFill>
                      <a:prstDash val="solid"/>
                      <a:round/>
                      <a:headEnd type="none" w="med" len="med"/>
                      <a:tailEnd type="none" w="med" len="med"/>
                    </a:lnR>
                    <a:lnT w="12700" cap="flat" cmpd="sng" algn="ctr">
                      <a:solidFill>
                        <a:srgbClr val="D4DCEA"/>
                      </a:solidFill>
                      <a:prstDash val="solid"/>
                      <a:round/>
                      <a:headEnd type="none" w="med" len="med"/>
                      <a:tailEnd type="none" w="med" len="med"/>
                    </a:lnT>
                    <a:lnB w="12700" cap="flat" cmpd="sng" algn="ctr">
                      <a:solidFill>
                        <a:srgbClr val="D4DCEA"/>
                      </a:solidFill>
                      <a:prstDash val="solid"/>
                      <a:round/>
                      <a:headEnd type="none" w="med" len="med"/>
                      <a:tailEnd type="none" w="med" len="med"/>
                    </a:lnB>
                    <a:solidFill>
                      <a:srgbClr val="F4F7FC"/>
                    </a:solidFill>
                  </a:tcPr>
                </a:tc>
                <a:tc>
                  <a:txBody>
                    <a:bodyPr/>
                    <a:lstStyle/>
                    <a:p>
                      <a:pPr algn="ctr" indent="0" marL="0">
                        <a:buNone/>
                      </a:pPr>
                      <a:r>
                        <a:rPr lang="en-US" sz="1100" b="1" dirty="0">
                          <a:solidFill>
                            <a:srgbClr val="C8912B"/>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marL="63500" marR="63500" marT="50800" marB="50800" anchor="ctr">
                    <a:lnL w="12700" cap="flat" cmpd="sng" algn="ctr">
                      <a:solidFill>
                        <a:srgbClr val="D4DCEA"/>
                      </a:solidFill>
                      <a:prstDash val="solid"/>
                      <a:round/>
                      <a:headEnd type="none" w="med" len="med"/>
                      <a:tailEnd type="none" w="med" len="med"/>
                    </a:lnL>
                    <a:lnR w="12700" cap="flat" cmpd="sng" algn="ctr">
                      <a:solidFill>
                        <a:srgbClr val="D4DCEA"/>
                      </a:solidFill>
                      <a:prstDash val="solid"/>
                      <a:round/>
                      <a:headEnd type="none" w="med" len="med"/>
                      <a:tailEnd type="none" w="med" len="med"/>
                    </a:lnR>
                    <a:lnT w="12700" cap="flat" cmpd="sng" algn="ctr">
                      <a:solidFill>
                        <a:srgbClr val="D4DCEA"/>
                      </a:solidFill>
                      <a:prstDash val="solid"/>
                      <a:round/>
                      <a:headEnd type="none" w="med" len="med"/>
                      <a:tailEnd type="none" w="med" len="med"/>
                    </a:lnT>
                    <a:lnB w="12700" cap="flat" cmpd="sng" algn="ctr">
                      <a:solidFill>
                        <a:srgbClr val="D4DCEA"/>
                      </a:solidFill>
                      <a:prstDash val="solid"/>
                      <a:round/>
                      <a:headEnd type="none" w="med" len="med"/>
                      <a:tailEnd type="none" w="med" len="med"/>
                    </a:lnB>
                    <a:solidFill>
                      <a:srgbClr val="F4F7FC"/>
                    </a:solidFill>
                  </a:tcPr>
                </a:tc>
              </a:tr>
              <a:tr h="566928">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Separate forest</a:t>
                      </a:r>
                      <a:endParaRPr lang="en-US" sz="1100" dirty="0">
                        <a:latin typeface="Calibri" charset="0"/>
                        <a:ea typeface="Calibri" charset="0"/>
                        <a:cs typeface="Calibri" charset="0"/>
                      </a:endParaRPr>
                    </a:p>
                  </a:txBody>
                  <a:tcPr marL="63500" marR="63500" marT="50800" marB="50800" anchor="ctr">
                    <a:lnL w="12700" cap="flat" cmpd="sng" algn="ctr">
                      <a:solidFill>
                        <a:srgbClr val="D4DCEA"/>
                      </a:solidFill>
                      <a:prstDash val="solid"/>
                      <a:round/>
                      <a:headEnd type="none" w="med" len="med"/>
                      <a:tailEnd type="none" w="med" len="med"/>
                    </a:lnL>
                    <a:lnR w="12700" cap="flat" cmpd="sng" algn="ctr">
                      <a:solidFill>
                        <a:srgbClr val="D4DCEA"/>
                      </a:solidFill>
                      <a:prstDash val="solid"/>
                      <a:round/>
                      <a:headEnd type="none" w="med" len="med"/>
                      <a:tailEnd type="none" w="med" len="med"/>
                    </a:lnR>
                    <a:lnT w="12700" cap="flat" cmpd="sng" algn="ctr">
                      <a:solidFill>
                        <a:srgbClr val="D4DCEA"/>
                      </a:solidFill>
                      <a:prstDash val="solid"/>
                      <a:round/>
                      <a:headEnd type="none" w="med" len="med"/>
                      <a:tailEnd type="none" w="med" len="med"/>
                    </a:lnT>
                    <a:lnB w="12700" cap="flat" cmpd="sng" algn="ctr">
                      <a:solidFill>
                        <a:srgbClr val="D4DCE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E2761"/>
                          </a:solidFill>
                          <a:latin typeface="Calibri" pitchFamily="34" charset="0"/>
                          <a:ea typeface="Calibri" pitchFamily="34" charset="-122"/>
                          <a:cs typeface="Calibri" pitchFamily="34" charset="-120"/>
                        </a:rPr>
                        <a:t>Target-side Domain Local</a:t>
                      </a:r>
                      <a:endParaRPr lang="en-US" sz="1100" dirty="0">
                        <a:latin typeface="Calibri" charset="0"/>
                        <a:ea typeface="Calibri" charset="0"/>
                        <a:cs typeface="Calibri" charset="0"/>
                      </a:endParaRPr>
                    </a:p>
                    <a:p>
                      <a:pPr algn="l" indent="0" marL="0">
                        <a:buNone/>
                      </a:pPr>
                      <a:r>
                        <a:rPr lang="en-US" sz="1100" dirty="0">
                          <a:solidFill>
                            <a:srgbClr val="1E2761"/>
                          </a:solidFill>
                          <a:latin typeface="Calibri" pitchFamily="34" charset="0"/>
                          <a:ea typeface="Calibri" pitchFamily="34" charset="-122"/>
                          <a:cs typeface="Calibri" pitchFamily="34" charset="-120"/>
                        </a:rPr>
                        <a:t>+ foreign principal</a:t>
                      </a:r>
                      <a:endParaRPr lang="en-US" sz="1100" dirty="0">
                        <a:latin typeface="Calibri" charset="0"/>
                        <a:ea typeface="Calibri" charset="0"/>
                        <a:cs typeface="Calibri" charset="0"/>
                      </a:endParaRPr>
                    </a:p>
                  </a:txBody>
                  <a:tcPr marL="63500" marR="63500" marT="50800" marB="50800" anchor="ctr">
                    <a:lnL w="12700" cap="flat" cmpd="sng" algn="ctr">
                      <a:solidFill>
                        <a:srgbClr val="D4DCEA"/>
                      </a:solidFill>
                      <a:prstDash val="solid"/>
                      <a:round/>
                      <a:headEnd type="none" w="med" len="med"/>
                      <a:tailEnd type="none" w="med" len="med"/>
                    </a:lnL>
                    <a:lnR w="12700" cap="flat" cmpd="sng" algn="ctr">
                      <a:solidFill>
                        <a:srgbClr val="D4DCEA"/>
                      </a:solidFill>
                      <a:prstDash val="solid"/>
                      <a:round/>
                      <a:headEnd type="none" w="med" len="med"/>
                      <a:tailEnd type="none" w="med" len="med"/>
                    </a:lnR>
                    <a:lnT w="12700" cap="flat" cmpd="sng" algn="ctr">
                      <a:solidFill>
                        <a:srgbClr val="D4DCEA"/>
                      </a:solidFill>
                      <a:prstDash val="solid"/>
                      <a:round/>
                      <a:headEnd type="none" w="med" len="med"/>
                      <a:tailEnd type="none" w="med" len="med"/>
                    </a:lnT>
                    <a:lnB w="12700" cap="flat" cmpd="sng" algn="ctr">
                      <a:solidFill>
                        <a:srgbClr val="D4DCE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E2761"/>
                          </a:solidFill>
                          <a:latin typeface="Calibri" pitchFamily="34" charset="0"/>
                          <a:ea typeface="Calibri" pitchFamily="34" charset="-122"/>
                          <a:cs typeface="Calibri" pitchFamily="34" charset="-120"/>
                        </a:rPr>
                        <a:t>Forest trust</a:t>
                      </a:r>
                      <a:endParaRPr lang="en-US" sz="1100" dirty="0">
                        <a:latin typeface="Calibri" charset="0"/>
                        <a:ea typeface="Calibri" charset="0"/>
                        <a:cs typeface="Calibri" charset="0"/>
                      </a:endParaRPr>
                    </a:p>
                    <a:p>
                      <a:pPr algn="l" indent="0" marL="0">
                        <a:buNone/>
                      </a:pPr>
                      <a:r>
                        <a:rPr lang="en-US" sz="1100" dirty="0">
                          <a:solidFill>
                            <a:srgbClr val="1E2761"/>
                          </a:solidFill>
                          <a:latin typeface="Calibri" pitchFamily="34" charset="0"/>
                          <a:ea typeface="Calibri" pitchFamily="34" charset="-122"/>
                          <a:cs typeface="Calibri" pitchFamily="34" charset="-120"/>
                        </a:rPr>
                        <a:t>(explicit)</a:t>
                      </a:r>
                      <a:endParaRPr lang="en-US" sz="1100" dirty="0">
                        <a:latin typeface="Calibri" charset="0"/>
                        <a:ea typeface="Calibri" charset="0"/>
                        <a:cs typeface="Calibri" charset="0"/>
                      </a:endParaRPr>
                    </a:p>
                  </a:txBody>
                  <a:tcPr marL="63500" marR="63500" marT="50800" marB="50800" anchor="ctr">
                    <a:lnL w="12700" cap="flat" cmpd="sng" algn="ctr">
                      <a:solidFill>
                        <a:srgbClr val="D4DCEA"/>
                      </a:solidFill>
                      <a:prstDash val="solid"/>
                      <a:round/>
                      <a:headEnd type="none" w="med" len="med"/>
                      <a:tailEnd type="none" w="med" len="med"/>
                    </a:lnL>
                    <a:lnR w="12700" cap="flat" cmpd="sng" algn="ctr">
                      <a:solidFill>
                        <a:srgbClr val="D4DCEA"/>
                      </a:solidFill>
                      <a:prstDash val="solid"/>
                      <a:round/>
                      <a:headEnd type="none" w="med" len="med"/>
                      <a:tailEnd type="none" w="med" len="med"/>
                    </a:lnR>
                    <a:lnT w="12700" cap="flat" cmpd="sng" algn="ctr">
                      <a:solidFill>
                        <a:srgbClr val="D4DCEA"/>
                      </a:solidFill>
                      <a:prstDash val="solid"/>
                      <a:round/>
                      <a:headEnd type="none" w="med" len="med"/>
                      <a:tailEnd type="none" w="med" len="med"/>
                    </a:lnT>
                    <a:lnB w="12700" cap="flat" cmpd="sng" algn="ctr">
                      <a:solidFill>
                        <a:srgbClr val="D4DCEA"/>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C0504D"/>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63500" marR="63500" marT="50800" marB="50800" anchor="ctr">
                    <a:lnL w="12700" cap="flat" cmpd="sng" algn="ctr">
                      <a:solidFill>
                        <a:srgbClr val="D4DCEA"/>
                      </a:solidFill>
                      <a:prstDash val="solid"/>
                      <a:round/>
                      <a:headEnd type="none" w="med" len="med"/>
                      <a:tailEnd type="none" w="med" len="med"/>
                    </a:lnL>
                    <a:lnR w="12700" cap="flat" cmpd="sng" algn="ctr">
                      <a:solidFill>
                        <a:srgbClr val="D4DCEA"/>
                      </a:solidFill>
                      <a:prstDash val="solid"/>
                      <a:round/>
                      <a:headEnd type="none" w="med" len="med"/>
                      <a:tailEnd type="none" w="med" len="med"/>
                    </a:lnR>
                    <a:lnT w="12700" cap="flat" cmpd="sng" algn="ctr">
                      <a:solidFill>
                        <a:srgbClr val="D4DCEA"/>
                      </a:solidFill>
                      <a:prstDash val="solid"/>
                      <a:round/>
                      <a:headEnd type="none" w="med" len="med"/>
                      <a:tailEnd type="none" w="med" len="med"/>
                    </a:lnT>
                    <a:lnB w="12700" cap="flat" cmpd="sng" algn="ctr">
                      <a:solidFill>
                        <a:srgbClr val="D4DCEA"/>
                      </a:solidFill>
                      <a:prstDash val="solid"/>
                      <a:round/>
                      <a:headEnd type="none" w="med" len="med"/>
                      <a:tailEnd type="none" w="med" len="med"/>
                    </a:lnB>
                    <a:solidFill>
                      <a:srgbClr val="FFFFFF"/>
                    </a:solidFill>
                  </a:tcPr>
                </a:tc>
              </a:tr>
            </a:tbl>
          </a:graphicData>
        </a:graphic>
      </p:graphicFrame>
      <p:sp>
        <p:nvSpPr>
          <p:cNvPr id="20" name="Shape 13"/>
          <p:cNvSpPr/>
          <p:nvPr/>
        </p:nvSpPr>
        <p:spPr>
          <a:xfrm>
            <a:off x="5806440" y="4526280"/>
            <a:ext cx="5806440" cy="1600200"/>
          </a:xfrm>
          <a:prstGeom prst="roundRect">
            <a:avLst>
              <a:gd name="adj" fmla="val 5714"/>
            </a:avLst>
          </a:prstGeom>
          <a:solidFill>
            <a:srgbClr val="E8F0FE"/>
          </a:solidFill>
          <a:ln w="12700">
            <a:solidFill>
              <a:srgbClr val="DCE4F2"/>
            </a:solidFill>
            <a:prstDash val="solid"/>
          </a:ln>
        </p:spPr>
      </p:sp>
      <p:sp>
        <p:nvSpPr>
          <p:cNvPr id="21" name="Shape 14"/>
          <p:cNvSpPr/>
          <p:nvPr/>
        </p:nvSpPr>
        <p:spPr>
          <a:xfrm>
            <a:off x="6053328" y="4754880"/>
            <a:ext cx="502920" cy="502920"/>
          </a:xfrm>
          <a:prstGeom prst="roundRect">
            <a:avLst>
              <a:gd name="adj" fmla="val 22000"/>
            </a:avLst>
          </a:prstGeom>
          <a:solidFill>
            <a:srgbClr val="FFFFFF"/>
          </a:solidFill>
          <a:ln/>
          <a:effectLst>
            <a:outerShdw sx="100000" sy="100000" kx="0" ky="0" algn="bl" rotWithShape="0" blurRad="63500" dist="25400" dir="5400000">
              <a:srgbClr val="A9B4C8">
                <a:alpha val="22000"/>
              </a:srgbClr>
            </a:outerShdw>
          </a:effectLst>
        </p:spPr>
      </p:sp>
      <p:pic>
        <p:nvPicPr>
          <p:cNvPr id="22" name="Image 4" descr="preencoded.png">    </p:cNvPr>
          <p:cNvPicPr>
            <a:picLocks noChangeAspect="1"/>
          </p:cNvPicPr>
          <p:nvPr/>
        </p:nvPicPr>
        <p:blipFill>
          <a:blip r:embed="rId5"/>
          <a:stretch>
            <a:fillRect/>
          </a:stretch>
        </p:blipFill>
        <p:spPr>
          <a:xfrm>
            <a:off x="6153912" y="4855464"/>
            <a:ext cx="301752" cy="301752"/>
          </a:xfrm>
          <a:prstGeom prst="rect">
            <a:avLst/>
          </a:prstGeom>
        </p:spPr>
      </p:pic>
      <p:sp>
        <p:nvSpPr>
          <p:cNvPr id="23" name="Text 15"/>
          <p:cNvSpPr/>
          <p:nvPr/>
        </p:nvSpPr>
        <p:spPr>
          <a:xfrm>
            <a:off x="6693408" y="4681728"/>
            <a:ext cx="4709160" cy="1325880"/>
          </a:xfrm>
          <a:prstGeom prst="rect">
            <a:avLst/>
          </a:prstGeom>
          <a:noFill/>
          <a:ln/>
        </p:spPr>
        <p:txBody>
          <a:bodyPr wrap="square" rtlCol="0" anchor="ctr"/>
          <a:lstStyle/>
          <a:p>
            <a:pPr indent="0" marL="0">
              <a:lnSpc>
                <a:spcPct val="106000"/>
              </a:lnSpc>
              <a:buNone/>
            </a:pPr>
            <a:r>
              <a:rPr lang="en-US" sz="1250" b="1" dirty="0">
                <a:solidFill>
                  <a:srgbClr val="1E2761"/>
                </a:solidFill>
                <a:latin typeface="Calibri" pitchFamily="34" charset="0"/>
                <a:ea typeface="Calibri" pitchFamily="34" charset="-122"/>
                <a:cs typeface="Calibri" pitchFamily="34" charset="-120"/>
              </a:rPr>
              <a:t>Cross-forest is different.  </a:t>
            </a:r>
            <a:pPr indent="0" marL="0">
              <a:lnSpc>
                <a:spcPct val="106000"/>
              </a:lnSpc>
              <a:buNone/>
            </a:pPr>
            <a:r>
              <a:rPr lang="en-US" sz="1200" dirty="0">
                <a:solidFill>
                  <a:srgbClr val="5B6B8C"/>
                </a:solidFill>
                <a:latin typeface="Calibri" pitchFamily="34" charset="0"/>
                <a:ea typeface="Calibri" pitchFamily="34" charset="-122"/>
                <a:cs typeface="Calibri" pitchFamily="34" charset="-120"/>
              </a:rPr>
              <a:t>You cannot simply reuse the source Global Group. Create a Domain Local group in the resource forest, add the approved source principal (as a foreign security principal), and assign the permission there. An explicit forest trust of the correct direction must exist first.</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rtlCol="0" anchor="ctr"/>
          <a:lstStyle/>
          <a:p>
            <a:pPr algn="l" indent="0" marL="0">
              <a:buNone/>
            </a:pPr>
            <a:r>
              <a:rPr lang="en-US" sz="1200" b="1" spc="300" kern="0" dirty="0">
                <a:solidFill>
                  <a:srgbClr val="4A6FA5"/>
                </a:solidFill>
                <a:latin typeface="Calibri" pitchFamily="34" charset="0"/>
                <a:ea typeface="Calibri" pitchFamily="34" charset="-122"/>
                <a:cs typeface="Calibri" pitchFamily="34" charset="-120"/>
              </a:rPr>
              <a:t>SYSTEM ARCHITECTURE</a:t>
            </a:r>
            <a:endParaRPr lang="en-US" sz="1200" dirty="0"/>
          </a:p>
        </p:txBody>
      </p:sp>
      <p:sp>
        <p:nvSpPr>
          <p:cNvPr id="3" name="Text 1"/>
          <p:cNvSpPr/>
          <p:nvPr/>
        </p:nvSpPr>
        <p:spPr>
          <a:xfrm>
            <a:off x="548640" y="658368"/>
            <a:ext cx="10515600" cy="822960"/>
          </a:xfrm>
          <a:prstGeom prst="rect">
            <a:avLst/>
          </a:prstGeom>
          <a:noFill/>
          <a:ln/>
        </p:spPr>
        <p:txBody>
          <a:bodyPr wrap="square" rtlCol="0" anchor="ctr"/>
          <a:lstStyle/>
          <a:p>
            <a:pPr algn="l" indent="0" marL="0">
              <a:buNone/>
            </a:pPr>
            <a:r>
              <a:rPr lang="en-US" sz="3200" b="1" dirty="0">
                <a:solidFill>
                  <a:srgbClr val="1E2761"/>
                </a:solidFill>
                <a:latin typeface="Century Schoolbook" pitchFamily="34" charset="0"/>
                <a:ea typeface="Century Schoolbook" pitchFamily="34" charset="-122"/>
                <a:cs typeface="Century Schoolbook" pitchFamily="34" charset="-120"/>
              </a:rPr>
              <a:t>End-to-end access flow across forests</a:t>
            </a:r>
            <a:endParaRPr lang="en-US" sz="3200" dirty="0"/>
          </a:p>
        </p:txBody>
      </p:sp>
      <p:sp>
        <p:nvSpPr>
          <p:cNvPr id="4" name="Text 2"/>
          <p:cNvSpPr/>
          <p:nvPr/>
        </p:nvSpPr>
        <p:spPr>
          <a:xfrm>
            <a:off x="11277295" y="6400800"/>
            <a:ext cx="457200" cy="274320"/>
          </a:xfrm>
          <a:prstGeom prst="rect">
            <a:avLst/>
          </a:prstGeom>
          <a:noFill/>
          <a:ln/>
        </p:spPr>
        <p:txBody>
          <a:bodyPr wrap="square" rtlCol="0" anchor="ctr"/>
          <a:lstStyle/>
          <a:p>
            <a:pPr algn="r" indent="0" marL="0">
              <a:buNone/>
            </a:pPr>
            <a:r>
              <a:rPr lang="en-US" sz="1000" dirty="0">
                <a:solidFill>
                  <a:srgbClr val="8593AC"/>
                </a:solidFill>
                <a:latin typeface="Calibri" pitchFamily="34" charset="0"/>
                <a:ea typeface="Calibri" pitchFamily="34" charset="-122"/>
                <a:cs typeface="Calibri" pitchFamily="34" charset="-120"/>
              </a:rPr>
              <a:t>07</a:t>
            </a:r>
            <a:endParaRPr lang="en-US" sz="1000" dirty="0"/>
          </a:p>
        </p:txBody>
      </p:sp>
      <p:sp>
        <p:nvSpPr>
          <p:cNvPr id="5" name="Text 3"/>
          <p:cNvSpPr/>
          <p:nvPr/>
        </p:nvSpPr>
        <p:spPr>
          <a:xfrm>
            <a:off x="548640" y="6400800"/>
            <a:ext cx="6400800" cy="274320"/>
          </a:xfrm>
          <a:prstGeom prst="rect">
            <a:avLst/>
          </a:prstGeom>
          <a:noFill/>
          <a:ln/>
        </p:spPr>
        <p:txBody>
          <a:bodyPr wrap="square" rtlCol="0" anchor="ctr"/>
          <a:lstStyle/>
          <a:p>
            <a:pPr algn="l" indent="0" marL="0">
              <a:buNone/>
            </a:pPr>
            <a:r>
              <a:rPr lang="en-US" sz="900" dirty="0">
                <a:solidFill>
                  <a:srgbClr val="8593AC"/>
                </a:solidFill>
                <a:latin typeface="Calibri" pitchFamily="34" charset="0"/>
                <a:ea typeface="Calibri" pitchFamily="34" charset="-122"/>
                <a:cs typeface="Calibri" pitchFamily="34" charset="-120"/>
              </a:rPr>
              <a:t>Cross-Forest Administrative Access Model</a:t>
            </a:r>
            <a:endParaRPr lang="en-US" sz="900" dirty="0"/>
          </a:p>
        </p:txBody>
      </p:sp>
      <p:sp>
        <p:nvSpPr>
          <p:cNvPr id="6" name="Shape 4"/>
          <p:cNvSpPr/>
          <p:nvPr/>
        </p:nvSpPr>
        <p:spPr>
          <a:xfrm>
            <a:off x="502920" y="1554480"/>
            <a:ext cx="7360920" cy="4709160"/>
          </a:xfrm>
          <a:prstGeom prst="roundRect">
            <a:avLst>
              <a:gd name="adj" fmla="val 1942"/>
            </a:avLst>
          </a:prstGeom>
          <a:solidFill>
            <a:srgbClr val="F7F9FE"/>
          </a:solidFill>
          <a:ln w="25400">
            <a:solidFill>
              <a:srgbClr val="1E2761"/>
            </a:solidFill>
            <a:prstDash val="dash"/>
          </a:ln>
        </p:spPr>
      </p:sp>
      <p:pic>
        <p:nvPicPr>
          <p:cNvPr id="7" name="Image 0" descr="preencoded.png">    </p:cNvPr>
          <p:cNvPicPr>
            <a:picLocks noChangeAspect="1"/>
          </p:cNvPicPr>
          <p:nvPr/>
        </p:nvPicPr>
        <p:blipFill>
          <a:blip r:embed="rId1"/>
          <a:stretch>
            <a:fillRect/>
          </a:stretch>
        </p:blipFill>
        <p:spPr>
          <a:xfrm>
            <a:off x="667512" y="1700784"/>
            <a:ext cx="365760" cy="365760"/>
          </a:xfrm>
          <a:prstGeom prst="rect">
            <a:avLst/>
          </a:prstGeom>
        </p:spPr>
      </p:pic>
      <p:sp>
        <p:nvSpPr>
          <p:cNvPr id="8" name="Text 5"/>
          <p:cNvSpPr/>
          <p:nvPr/>
        </p:nvSpPr>
        <p:spPr>
          <a:xfrm>
            <a:off x="1069848" y="1682496"/>
            <a:ext cx="2743200" cy="384048"/>
          </a:xfrm>
          <a:prstGeom prst="rect">
            <a:avLst/>
          </a:prstGeom>
          <a:noFill/>
          <a:ln/>
        </p:spPr>
        <p:txBody>
          <a:bodyPr wrap="square" rtlCol="0" anchor="ctr"/>
          <a:lstStyle/>
          <a:p>
            <a:pPr indent="0" marL="0">
              <a:buNone/>
            </a:pPr>
            <a:r>
              <a:rPr lang="en-US" sz="1300" b="1" spc="200" kern="0" dirty="0">
                <a:solidFill>
                  <a:srgbClr val="1E2761"/>
                </a:solidFill>
                <a:latin typeface="Calibri" pitchFamily="34" charset="0"/>
                <a:ea typeface="Calibri" pitchFamily="34" charset="-122"/>
                <a:cs typeface="Calibri" pitchFamily="34" charset="-120"/>
              </a:rPr>
              <a:t>FOREST A</a:t>
            </a:r>
            <a:endParaRPr lang="en-US" sz="1300" dirty="0"/>
          </a:p>
        </p:txBody>
      </p:sp>
      <p:sp>
        <p:nvSpPr>
          <p:cNvPr id="9" name="Shape 6"/>
          <p:cNvSpPr/>
          <p:nvPr/>
        </p:nvSpPr>
        <p:spPr>
          <a:xfrm>
            <a:off x="8092440" y="1554480"/>
            <a:ext cx="3566160" cy="4709160"/>
          </a:xfrm>
          <a:prstGeom prst="roundRect">
            <a:avLst>
              <a:gd name="adj" fmla="val 2564"/>
            </a:avLst>
          </a:prstGeom>
          <a:solidFill>
            <a:srgbClr val="FBF7EE"/>
          </a:solidFill>
          <a:ln w="25400">
            <a:solidFill>
              <a:srgbClr val="C8912B"/>
            </a:solidFill>
            <a:prstDash val="dash"/>
          </a:ln>
        </p:spPr>
      </p:sp>
      <p:pic>
        <p:nvPicPr>
          <p:cNvPr id="10" name="Image 1" descr="preencoded.png">    </p:cNvPr>
          <p:cNvPicPr>
            <a:picLocks noChangeAspect="1"/>
          </p:cNvPicPr>
          <p:nvPr/>
        </p:nvPicPr>
        <p:blipFill>
          <a:blip r:embed="rId2"/>
          <a:stretch>
            <a:fillRect/>
          </a:stretch>
        </p:blipFill>
        <p:spPr>
          <a:xfrm>
            <a:off x="8257032" y="1700784"/>
            <a:ext cx="365760" cy="365760"/>
          </a:xfrm>
          <a:prstGeom prst="rect">
            <a:avLst/>
          </a:prstGeom>
        </p:spPr>
      </p:pic>
      <p:sp>
        <p:nvSpPr>
          <p:cNvPr id="11" name="Text 7"/>
          <p:cNvSpPr/>
          <p:nvPr/>
        </p:nvSpPr>
        <p:spPr>
          <a:xfrm>
            <a:off x="8659368" y="1682496"/>
            <a:ext cx="2743200" cy="384048"/>
          </a:xfrm>
          <a:prstGeom prst="rect">
            <a:avLst/>
          </a:prstGeom>
          <a:noFill/>
          <a:ln/>
        </p:spPr>
        <p:txBody>
          <a:bodyPr wrap="square" rtlCol="0" anchor="ctr"/>
          <a:lstStyle/>
          <a:p>
            <a:pPr indent="0" marL="0">
              <a:buNone/>
            </a:pPr>
            <a:r>
              <a:rPr lang="en-US" sz="1300" b="1" spc="200" kern="0" dirty="0">
                <a:solidFill>
                  <a:srgbClr val="C8912B"/>
                </a:solidFill>
                <a:latin typeface="Calibri" pitchFamily="34" charset="0"/>
                <a:ea typeface="Calibri" pitchFamily="34" charset="-122"/>
                <a:cs typeface="Calibri" pitchFamily="34" charset="-120"/>
              </a:rPr>
              <a:t>FOREST B</a:t>
            </a:r>
            <a:endParaRPr lang="en-US" sz="1300" dirty="0"/>
          </a:p>
        </p:txBody>
      </p:sp>
      <p:sp>
        <p:nvSpPr>
          <p:cNvPr id="12" name="Shape 8"/>
          <p:cNvSpPr/>
          <p:nvPr/>
        </p:nvSpPr>
        <p:spPr>
          <a:xfrm>
            <a:off x="822960" y="2240280"/>
            <a:ext cx="3063240" cy="658368"/>
          </a:xfrm>
          <a:prstGeom prst="roundRect">
            <a:avLst>
              <a:gd name="adj" fmla="val 11111"/>
            </a:avLst>
          </a:prstGeom>
          <a:solidFill>
            <a:srgbClr val="E8F0FE"/>
          </a:solidFill>
          <a:ln w="15875">
            <a:solidFill>
              <a:srgbClr val="4A6FA5"/>
            </a:solidFill>
            <a:prstDash val="solid"/>
          </a:ln>
          <a:effectLst>
            <a:outerShdw sx="100000" sy="100000" kx="0" ky="0" algn="bl" rotWithShape="0" blurRad="63500" dist="25400" dir="5400000">
              <a:srgbClr val="A9B4C8">
                <a:alpha val="22000"/>
              </a:srgbClr>
            </a:outerShdw>
          </a:effectLst>
        </p:spPr>
      </p:sp>
      <p:pic>
        <p:nvPicPr>
          <p:cNvPr id="13" name="Image 2" descr="preencoded.png">    </p:cNvPr>
          <p:cNvPicPr>
            <a:picLocks noChangeAspect="1"/>
          </p:cNvPicPr>
          <p:nvPr/>
        </p:nvPicPr>
        <p:blipFill>
          <a:blip r:embed="rId3"/>
          <a:stretch>
            <a:fillRect/>
          </a:stretch>
        </p:blipFill>
        <p:spPr>
          <a:xfrm>
            <a:off x="932688" y="2404872"/>
            <a:ext cx="329184" cy="329184"/>
          </a:xfrm>
          <a:prstGeom prst="rect">
            <a:avLst/>
          </a:prstGeom>
        </p:spPr>
      </p:pic>
      <p:sp>
        <p:nvSpPr>
          <p:cNvPr id="14" name="Text 9"/>
          <p:cNvSpPr/>
          <p:nvPr/>
        </p:nvSpPr>
        <p:spPr>
          <a:xfrm>
            <a:off x="1335024" y="2240280"/>
            <a:ext cx="2459736" cy="658368"/>
          </a:xfrm>
          <a:prstGeom prst="rect">
            <a:avLst/>
          </a:prstGeom>
          <a:noFill/>
          <a:ln/>
        </p:spPr>
        <p:txBody>
          <a:bodyPr wrap="square" rtlCol="0" anchor="ctr"/>
          <a:lstStyle/>
          <a:p>
            <a:pPr indent="0" marL="0">
              <a:lnSpc>
                <a:spcPct val="98000"/>
              </a:lnSpc>
              <a:buNone/>
            </a:pPr>
            <a:r>
              <a:rPr lang="en-US" sz="1100" b="1" dirty="0">
                <a:solidFill>
                  <a:srgbClr val="1E2761"/>
                </a:solidFill>
                <a:latin typeface="Calibri" pitchFamily="34" charset="0"/>
                <a:ea typeface="Calibri" pitchFamily="34" charset="-122"/>
                <a:cs typeface="Calibri" pitchFamily="34" charset="-120"/>
              </a:rPr>
              <a:t>Admin Account
</a:t>
            </a:r>
            <a:pPr indent="0" marL="0">
              <a:lnSpc>
                <a:spcPct val="98000"/>
              </a:lnSpc>
              <a:buNone/>
            </a:pPr>
            <a:r>
              <a:rPr lang="en-US" sz="900" dirty="0">
                <a:solidFill>
                  <a:srgbClr val="5B6B8C"/>
                </a:solidFill>
                <a:latin typeface="Calibri" pitchFamily="34" charset="0"/>
                <a:ea typeface="Calibri" pitchFamily="34" charset="-122"/>
                <a:cs typeface="Calibri" pitchFamily="34" charset="-120"/>
              </a:rPr>
              <a:t>Dedicated privileged ID · Domain A</a:t>
            </a:r>
            <a:endParaRPr lang="en-US" sz="1100" dirty="0"/>
          </a:p>
        </p:txBody>
      </p:sp>
      <p:sp>
        <p:nvSpPr>
          <p:cNvPr id="15" name="Shape 10"/>
          <p:cNvSpPr/>
          <p:nvPr/>
        </p:nvSpPr>
        <p:spPr>
          <a:xfrm>
            <a:off x="822960" y="3127248"/>
            <a:ext cx="3063240" cy="621792"/>
          </a:xfrm>
          <a:prstGeom prst="roundRect">
            <a:avLst>
              <a:gd name="adj" fmla="val 11765"/>
            </a:avLst>
          </a:prstGeom>
          <a:solidFill>
            <a:srgbClr val="FFFFFF"/>
          </a:solidFill>
          <a:ln w="15875">
            <a:solidFill>
              <a:srgbClr val="4A6FA5"/>
            </a:solidFill>
            <a:prstDash val="solid"/>
          </a:ln>
          <a:effectLst>
            <a:outerShdw sx="100000" sy="100000" kx="0" ky="0" algn="bl" rotWithShape="0" blurRad="63500" dist="25400" dir="5400000">
              <a:srgbClr val="A9B4C8">
                <a:alpha val="22000"/>
              </a:srgbClr>
            </a:outerShdw>
          </a:effectLst>
        </p:spPr>
      </p:sp>
      <p:pic>
        <p:nvPicPr>
          <p:cNvPr id="16" name="Image 3" descr="preencoded.png">    </p:cNvPr>
          <p:cNvPicPr>
            <a:picLocks noChangeAspect="1"/>
          </p:cNvPicPr>
          <p:nvPr/>
        </p:nvPicPr>
        <p:blipFill>
          <a:blip r:embed="rId4"/>
          <a:stretch>
            <a:fillRect/>
          </a:stretch>
        </p:blipFill>
        <p:spPr>
          <a:xfrm>
            <a:off x="932688" y="3273552"/>
            <a:ext cx="329184" cy="329184"/>
          </a:xfrm>
          <a:prstGeom prst="rect">
            <a:avLst/>
          </a:prstGeom>
        </p:spPr>
      </p:pic>
      <p:sp>
        <p:nvSpPr>
          <p:cNvPr id="17" name="Text 11"/>
          <p:cNvSpPr/>
          <p:nvPr/>
        </p:nvSpPr>
        <p:spPr>
          <a:xfrm>
            <a:off x="1335024" y="3127248"/>
            <a:ext cx="2459736" cy="621792"/>
          </a:xfrm>
          <a:prstGeom prst="rect">
            <a:avLst/>
          </a:prstGeom>
          <a:noFill/>
          <a:ln/>
        </p:spPr>
        <p:txBody>
          <a:bodyPr wrap="square" rtlCol="0" anchor="ctr"/>
          <a:lstStyle/>
          <a:p>
            <a:pPr indent="0" marL="0">
              <a:lnSpc>
                <a:spcPct val="98000"/>
              </a:lnSpc>
              <a:buNone/>
            </a:pPr>
            <a:r>
              <a:rPr lang="en-US" sz="1100" b="1" dirty="0">
                <a:solidFill>
                  <a:srgbClr val="1E2761"/>
                </a:solidFill>
                <a:latin typeface="Calibri" pitchFamily="34" charset="0"/>
                <a:ea typeface="Calibri" pitchFamily="34" charset="-122"/>
                <a:cs typeface="Calibri" pitchFamily="34" charset="-120"/>
              </a:rPr>
              <a:t>Global Group (Role)
</a:t>
            </a:r>
            <a:pPr indent="0" marL="0">
              <a:lnSpc>
                <a:spcPct val="98000"/>
              </a:lnSpc>
              <a:buNone/>
            </a:pPr>
            <a:r>
              <a:rPr lang="en-US" sz="900" dirty="0">
                <a:solidFill>
                  <a:srgbClr val="5B6B8C"/>
                </a:solidFill>
                <a:latin typeface="Calibri" pitchFamily="34" charset="0"/>
                <a:ea typeface="Calibri" pitchFamily="34" charset="-122"/>
                <a:cs typeface="Calibri" pitchFamily="34" charset="-120"/>
              </a:rPr>
              <a:t>Domain A — collects the account</a:t>
            </a:r>
            <a:endParaRPr lang="en-US" sz="1100" dirty="0"/>
          </a:p>
        </p:txBody>
      </p:sp>
      <p:sp>
        <p:nvSpPr>
          <p:cNvPr id="18" name="Shape 12"/>
          <p:cNvSpPr/>
          <p:nvPr/>
        </p:nvSpPr>
        <p:spPr>
          <a:xfrm>
            <a:off x="822960" y="3950208"/>
            <a:ext cx="3063240" cy="621792"/>
          </a:xfrm>
          <a:prstGeom prst="roundRect">
            <a:avLst>
              <a:gd name="adj" fmla="val 11765"/>
            </a:avLst>
          </a:prstGeom>
          <a:solidFill>
            <a:srgbClr val="FFFFFF"/>
          </a:solidFill>
          <a:ln w="15875">
            <a:solidFill>
              <a:srgbClr val="2E8B6B"/>
            </a:solidFill>
            <a:prstDash val="solid"/>
          </a:ln>
          <a:effectLst>
            <a:outerShdw sx="100000" sy="100000" kx="0" ky="0" algn="bl" rotWithShape="0" blurRad="63500" dist="25400" dir="5400000">
              <a:srgbClr val="A9B4C8">
                <a:alpha val="22000"/>
              </a:srgbClr>
            </a:outerShdw>
          </a:effectLst>
        </p:spPr>
      </p:sp>
      <p:pic>
        <p:nvPicPr>
          <p:cNvPr id="19" name="Image 4" descr="preencoded.png">    </p:cNvPr>
          <p:cNvPicPr>
            <a:picLocks noChangeAspect="1"/>
          </p:cNvPicPr>
          <p:nvPr/>
        </p:nvPicPr>
        <p:blipFill>
          <a:blip r:embed="rId5"/>
          <a:stretch>
            <a:fillRect/>
          </a:stretch>
        </p:blipFill>
        <p:spPr>
          <a:xfrm>
            <a:off x="932688" y="4096512"/>
            <a:ext cx="329184" cy="329184"/>
          </a:xfrm>
          <a:prstGeom prst="rect">
            <a:avLst/>
          </a:prstGeom>
        </p:spPr>
      </p:pic>
      <p:sp>
        <p:nvSpPr>
          <p:cNvPr id="20" name="Text 13"/>
          <p:cNvSpPr/>
          <p:nvPr/>
        </p:nvSpPr>
        <p:spPr>
          <a:xfrm>
            <a:off x="1335024" y="3950208"/>
            <a:ext cx="2459736" cy="621792"/>
          </a:xfrm>
          <a:prstGeom prst="rect">
            <a:avLst/>
          </a:prstGeom>
          <a:noFill/>
          <a:ln/>
        </p:spPr>
        <p:txBody>
          <a:bodyPr wrap="square" rtlCol="0" anchor="ctr"/>
          <a:lstStyle/>
          <a:p>
            <a:pPr indent="0" marL="0">
              <a:lnSpc>
                <a:spcPct val="98000"/>
              </a:lnSpc>
              <a:buNone/>
            </a:pPr>
            <a:r>
              <a:rPr lang="en-US" sz="1100" b="1" dirty="0">
                <a:solidFill>
                  <a:srgbClr val="1E2761"/>
                </a:solidFill>
                <a:latin typeface="Calibri" pitchFamily="34" charset="0"/>
                <a:ea typeface="Calibri" pitchFamily="34" charset="-122"/>
                <a:cs typeface="Calibri" pitchFamily="34" charset="-120"/>
              </a:rPr>
              <a:t>Universal Group
</a:t>
            </a:r>
            <a:pPr indent="0" marL="0">
              <a:lnSpc>
                <a:spcPct val="98000"/>
              </a:lnSpc>
              <a:buNone/>
            </a:pPr>
            <a:r>
              <a:rPr lang="en-US" sz="900" dirty="0">
                <a:solidFill>
                  <a:srgbClr val="5B6B8C"/>
                </a:solidFill>
                <a:latin typeface="Calibri" pitchFamily="34" charset="0"/>
                <a:ea typeface="Calibri" pitchFamily="34" charset="-122"/>
                <a:cs typeface="Calibri" pitchFamily="34" charset="-120"/>
              </a:rPr>
              <a:t>Spans Forest A (same-forest reach)</a:t>
            </a:r>
            <a:endParaRPr lang="en-US" sz="1100" dirty="0"/>
          </a:p>
        </p:txBody>
      </p:sp>
      <p:sp>
        <p:nvSpPr>
          <p:cNvPr id="21" name="Text 14"/>
          <p:cNvSpPr/>
          <p:nvPr/>
        </p:nvSpPr>
        <p:spPr>
          <a:xfrm>
            <a:off x="822960" y="4681728"/>
            <a:ext cx="3063240" cy="274320"/>
          </a:xfrm>
          <a:prstGeom prst="rect">
            <a:avLst/>
          </a:prstGeom>
          <a:noFill/>
          <a:ln/>
        </p:spPr>
        <p:txBody>
          <a:bodyPr wrap="square" rtlCol="0" anchor="ctr"/>
          <a:lstStyle/>
          <a:p>
            <a:pPr indent="0" marL="0">
              <a:buNone/>
            </a:pPr>
            <a:r>
              <a:rPr lang="en-US" sz="950" i="1" dirty="0">
                <a:solidFill>
                  <a:srgbClr val="8593AC"/>
                </a:solidFill>
                <a:latin typeface="Calibri" pitchFamily="34" charset="0"/>
                <a:ea typeface="Calibri" pitchFamily="34" charset="-122"/>
                <a:cs typeface="Calibri" pitchFamily="34" charset="-120"/>
              </a:rPr>
              <a:t>Domain A  ·  source</a:t>
            </a:r>
            <a:endParaRPr lang="en-US" sz="950" dirty="0"/>
          </a:p>
        </p:txBody>
      </p:sp>
      <p:sp>
        <p:nvSpPr>
          <p:cNvPr id="22" name="Shape 15"/>
          <p:cNvSpPr/>
          <p:nvPr/>
        </p:nvSpPr>
        <p:spPr>
          <a:xfrm>
            <a:off x="4480560" y="2240280"/>
            <a:ext cx="2926080" cy="822960"/>
          </a:xfrm>
          <a:prstGeom prst="roundRect">
            <a:avLst>
              <a:gd name="adj" fmla="val 8889"/>
            </a:avLst>
          </a:prstGeom>
          <a:solidFill>
            <a:srgbClr val="FFFFFF"/>
          </a:solidFill>
          <a:ln w="15875">
            <a:solidFill>
              <a:srgbClr val="8593AC"/>
            </a:solidFill>
            <a:prstDash val="solid"/>
          </a:ln>
          <a:effectLst>
            <a:outerShdw sx="100000" sy="100000" kx="0" ky="0" algn="bl" rotWithShape="0" blurRad="63500" dist="25400" dir="5400000">
              <a:srgbClr val="A9B4C8">
                <a:alpha val="22000"/>
              </a:srgbClr>
            </a:outerShdw>
          </a:effectLst>
        </p:spPr>
      </p:sp>
      <p:pic>
        <p:nvPicPr>
          <p:cNvPr id="23" name="Image 5" descr="preencoded.png">    </p:cNvPr>
          <p:cNvPicPr>
            <a:picLocks noChangeAspect="1"/>
          </p:cNvPicPr>
          <p:nvPr/>
        </p:nvPicPr>
        <p:blipFill>
          <a:blip r:embed="rId6"/>
          <a:stretch>
            <a:fillRect/>
          </a:stretch>
        </p:blipFill>
        <p:spPr>
          <a:xfrm>
            <a:off x="4590288" y="2487168"/>
            <a:ext cx="329184" cy="329184"/>
          </a:xfrm>
          <a:prstGeom prst="rect">
            <a:avLst/>
          </a:prstGeom>
        </p:spPr>
      </p:pic>
      <p:sp>
        <p:nvSpPr>
          <p:cNvPr id="24" name="Text 16"/>
          <p:cNvSpPr/>
          <p:nvPr/>
        </p:nvSpPr>
        <p:spPr>
          <a:xfrm>
            <a:off x="4992624" y="2240280"/>
            <a:ext cx="2322576" cy="822960"/>
          </a:xfrm>
          <a:prstGeom prst="rect">
            <a:avLst/>
          </a:prstGeom>
          <a:noFill/>
          <a:ln/>
        </p:spPr>
        <p:txBody>
          <a:bodyPr wrap="square" rtlCol="0" anchor="ctr"/>
          <a:lstStyle/>
          <a:p>
            <a:pPr indent="0" marL="0">
              <a:lnSpc>
                <a:spcPct val="98000"/>
              </a:lnSpc>
              <a:buNone/>
            </a:pPr>
            <a:r>
              <a:rPr lang="en-US" sz="1100" b="1" dirty="0">
                <a:solidFill>
                  <a:srgbClr val="1E2761"/>
                </a:solidFill>
                <a:latin typeface="Calibri" pitchFamily="34" charset="0"/>
                <a:ea typeface="Calibri" pitchFamily="34" charset="-122"/>
                <a:cs typeface="Calibri" pitchFamily="34" charset="-120"/>
              </a:rPr>
              <a:t>Child Domain A1
</a:t>
            </a:r>
            <a:pPr indent="0" marL="0">
              <a:lnSpc>
                <a:spcPct val="98000"/>
              </a:lnSpc>
              <a:buNone/>
            </a:pPr>
            <a:r>
              <a:rPr lang="en-US" sz="900" dirty="0">
                <a:solidFill>
                  <a:srgbClr val="5B6B8C"/>
                </a:solidFill>
                <a:latin typeface="Calibri" pitchFamily="34" charset="0"/>
                <a:ea typeface="Calibri" pitchFamily="34" charset="-122"/>
                <a:cs typeface="Calibri" pitchFamily="34" charset="-120"/>
              </a:rPr>
              <a:t>Domain Local grp → RDP + delegated admin</a:t>
            </a:r>
            <a:endParaRPr lang="en-US" sz="1100" dirty="0"/>
          </a:p>
        </p:txBody>
      </p:sp>
      <p:sp>
        <p:nvSpPr>
          <p:cNvPr id="25" name="Shape 17"/>
          <p:cNvSpPr/>
          <p:nvPr/>
        </p:nvSpPr>
        <p:spPr>
          <a:xfrm>
            <a:off x="4480560" y="3246120"/>
            <a:ext cx="2926080" cy="822960"/>
          </a:xfrm>
          <a:prstGeom prst="roundRect">
            <a:avLst>
              <a:gd name="adj" fmla="val 8889"/>
            </a:avLst>
          </a:prstGeom>
          <a:solidFill>
            <a:srgbClr val="FFFFFF"/>
          </a:solidFill>
          <a:ln w="15875">
            <a:solidFill>
              <a:srgbClr val="8593AC"/>
            </a:solidFill>
            <a:prstDash val="solid"/>
          </a:ln>
          <a:effectLst>
            <a:outerShdw sx="100000" sy="100000" kx="0" ky="0" algn="bl" rotWithShape="0" blurRad="63500" dist="25400" dir="5400000">
              <a:srgbClr val="A9B4C8">
                <a:alpha val="22000"/>
              </a:srgbClr>
            </a:outerShdw>
          </a:effectLst>
        </p:spPr>
      </p:sp>
      <p:pic>
        <p:nvPicPr>
          <p:cNvPr id="26" name="Image 6" descr="preencoded.png">    </p:cNvPr>
          <p:cNvPicPr>
            <a:picLocks noChangeAspect="1"/>
          </p:cNvPicPr>
          <p:nvPr/>
        </p:nvPicPr>
        <p:blipFill>
          <a:blip r:embed="rId7"/>
          <a:stretch>
            <a:fillRect/>
          </a:stretch>
        </p:blipFill>
        <p:spPr>
          <a:xfrm>
            <a:off x="4590288" y="3493008"/>
            <a:ext cx="329184" cy="329184"/>
          </a:xfrm>
          <a:prstGeom prst="rect">
            <a:avLst/>
          </a:prstGeom>
        </p:spPr>
      </p:pic>
      <p:sp>
        <p:nvSpPr>
          <p:cNvPr id="27" name="Text 18"/>
          <p:cNvSpPr/>
          <p:nvPr/>
        </p:nvSpPr>
        <p:spPr>
          <a:xfrm>
            <a:off x="4992624" y="3246120"/>
            <a:ext cx="2322576" cy="822960"/>
          </a:xfrm>
          <a:prstGeom prst="rect">
            <a:avLst/>
          </a:prstGeom>
          <a:noFill/>
          <a:ln/>
        </p:spPr>
        <p:txBody>
          <a:bodyPr wrap="square" rtlCol="0" anchor="ctr"/>
          <a:lstStyle/>
          <a:p>
            <a:pPr indent="0" marL="0">
              <a:lnSpc>
                <a:spcPct val="98000"/>
              </a:lnSpc>
              <a:buNone/>
            </a:pPr>
            <a:r>
              <a:rPr lang="en-US" sz="1100" b="1" dirty="0">
                <a:solidFill>
                  <a:srgbClr val="1E2761"/>
                </a:solidFill>
                <a:latin typeface="Calibri" pitchFamily="34" charset="0"/>
                <a:ea typeface="Calibri" pitchFamily="34" charset="-122"/>
                <a:cs typeface="Calibri" pitchFamily="34" charset="-120"/>
              </a:rPr>
              <a:t>Child Domain A2
</a:t>
            </a:r>
            <a:pPr indent="0" marL="0">
              <a:lnSpc>
                <a:spcPct val="98000"/>
              </a:lnSpc>
              <a:buNone/>
            </a:pPr>
            <a:r>
              <a:rPr lang="en-US" sz="900" dirty="0">
                <a:solidFill>
                  <a:srgbClr val="5B6B8C"/>
                </a:solidFill>
                <a:latin typeface="Calibri" pitchFamily="34" charset="0"/>
                <a:ea typeface="Calibri" pitchFamily="34" charset="-122"/>
                <a:cs typeface="Calibri" pitchFamily="34" charset="-120"/>
              </a:rPr>
              <a:t>Domain Local grp → RDP (approved hosts)</a:t>
            </a:r>
            <a:endParaRPr lang="en-US" sz="1100" dirty="0"/>
          </a:p>
        </p:txBody>
      </p:sp>
      <p:sp>
        <p:nvSpPr>
          <p:cNvPr id="28" name="Shape 19"/>
          <p:cNvSpPr/>
          <p:nvPr/>
        </p:nvSpPr>
        <p:spPr>
          <a:xfrm>
            <a:off x="4480560" y="4297680"/>
            <a:ext cx="2926080" cy="713232"/>
          </a:xfrm>
          <a:prstGeom prst="roundRect">
            <a:avLst>
              <a:gd name="adj" fmla="val 10256"/>
            </a:avLst>
          </a:prstGeom>
          <a:solidFill>
            <a:srgbClr val="E8F0FE"/>
          </a:solidFill>
          <a:ln w="15875">
            <a:solidFill>
              <a:srgbClr val="4A6FA5"/>
            </a:solidFill>
            <a:prstDash val="solid"/>
          </a:ln>
          <a:effectLst>
            <a:outerShdw sx="100000" sy="100000" kx="0" ky="0" algn="bl" rotWithShape="0" blurRad="63500" dist="25400" dir="5400000">
              <a:srgbClr val="A9B4C8">
                <a:alpha val="22000"/>
              </a:srgbClr>
            </a:outerShdw>
          </a:effectLst>
        </p:spPr>
      </p:sp>
      <p:pic>
        <p:nvPicPr>
          <p:cNvPr id="29" name="Image 7" descr="preencoded.png">    </p:cNvPr>
          <p:cNvPicPr>
            <a:picLocks noChangeAspect="1"/>
          </p:cNvPicPr>
          <p:nvPr/>
        </p:nvPicPr>
        <p:blipFill>
          <a:blip r:embed="rId8"/>
          <a:stretch>
            <a:fillRect/>
          </a:stretch>
        </p:blipFill>
        <p:spPr>
          <a:xfrm>
            <a:off x="4590288" y="4489704"/>
            <a:ext cx="329184" cy="329184"/>
          </a:xfrm>
          <a:prstGeom prst="rect">
            <a:avLst/>
          </a:prstGeom>
        </p:spPr>
      </p:pic>
      <p:sp>
        <p:nvSpPr>
          <p:cNvPr id="30" name="Text 20"/>
          <p:cNvSpPr/>
          <p:nvPr/>
        </p:nvSpPr>
        <p:spPr>
          <a:xfrm>
            <a:off x="4992624" y="4297680"/>
            <a:ext cx="2322576" cy="713232"/>
          </a:xfrm>
          <a:prstGeom prst="rect">
            <a:avLst/>
          </a:prstGeom>
          <a:noFill/>
          <a:ln/>
        </p:spPr>
        <p:txBody>
          <a:bodyPr wrap="square" rtlCol="0" anchor="ctr"/>
          <a:lstStyle/>
          <a:p>
            <a:pPr indent="0" marL="0">
              <a:lnSpc>
                <a:spcPct val="98000"/>
              </a:lnSpc>
              <a:buNone/>
            </a:pPr>
            <a:r>
              <a:rPr lang="en-US" sz="1100" b="1" dirty="0">
                <a:solidFill>
                  <a:srgbClr val="1E2761"/>
                </a:solidFill>
                <a:latin typeface="Calibri" pitchFamily="34" charset="0"/>
                <a:ea typeface="Calibri" pitchFamily="34" charset="-122"/>
                <a:cs typeface="Calibri" pitchFamily="34" charset="-120"/>
              </a:rPr>
              <a:t>Managed Servers
</a:t>
            </a:r>
            <a:pPr indent="0" marL="0">
              <a:lnSpc>
                <a:spcPct val="98000"/>
              </a:lnSpc>
              <a:buNone/>
            </a:pPr>
            <a:r>
              <a:rPr lang="en-US" sz="900" dirty="0">
                <a:solidFill>
                  <a:srgbClr val="5B6B8C"/>
                </a:solidFill>
                <a:latin typeface="Calibri" pitchFamily="34" charset="0"/>
                <a:ea typeface="Calibri" pitchFamily="34" charset="-122"/>
                <a:cs typeface="Calibri" pitchFamily="34" charset="-120"/>
              </a:rPr>
              <a:t>RDP via Remote Desktop Users / GPO</a:t>
            </a:r>
            <a:endParaRPr lang="en-US" sz="1100" dirty="0"/>
          </a:p>
        </p:txBody>
      </p:sp>
      <p:sp>
        <p:nvSpPr>
          <p:cNvPr id="31" name="Shape 21"/>
          <p:cNvSpPr/>
          <p:nvPr/>
        </p:nvSpPr>
        <p:spPr>
          <a:xfrm>
            <a:off x="8348472" y="2240280"/>
            <a:ext cx="3054096" cy="822960"/>
          </a:xfrm>
          <a:prstGeom prst="roundRect">
            <a:avLst>
              <a:gd name="adj" fmla="val 8889"/>
            </a:avLst>
          </a:prstGeom>
          <a:solidFill>
            <a:srgbClr val="FFFFFF"/>
          </a:solidFill>
          <a:ln w="15875">
            <a:solidFill>
              <a:srgbClr val="C8912B"/>
            </a:solidFill>
            <a:prstDash val="solid"/>
          </a:ln>
          <a:effectLst>
            <a:outerShdw sx="100000" sy="100000" kx="0" ky="0" algn="bl" rotWithShape="0" blurRad="63500" dist="25400" dir="5400000">
              <a:srgbClr val="A9B4C8">
                <a:alpha val="22000"/>
              </a:srgbClr>
            </a:outerShdw>
          </a:effectLst>
        </p:spPr>
      </p:sp>
      <p:pic>
        <p:nvPicPr>
          <p:cNvPr id="32" name="Image 8" descr="preencoded.png">    </p:cNvPr>
          <p:cNvPicPr>
            <a:picLocks noChangeAspect="1"/>
          </p:cNvPicPr>
          <p:nvPr/>
        </p:nvPicPr>
        <p:blipFill>
          <a:blip r:embed="rId9"/>
          <a:stretch>
            <a:fillRect/>
          </a:stretch>
        </p:blipFill>
        <p:spPr>
          <a:xfrm>
            <a:off x="8458200" y="2487168"/>
            <a:ext cx="329184" cy="329184"/>
          </a:xfrm>
          <a:prstGeom prst="rect">
            <a:avLst/>
          </a:prstGeom>
        </p:spPr>
      </p:pic>
      <p:sp>
        <p:nvSpPr>
          <p:cNvPr id="33" name="Text 22"/>
          <p:cNvSpPr/>
          <p:nvPr/>
        </p:nvSpPr>
        <p:spPr>
          <a:xfrm>
            <a:off x="8860536" y="2240280"/>
            <a:ext cx="2450592" cy="822960"/>
          </a:xfrm>
          <a:prstGeom prst="rect">
            <a:avLst/>
          </a:prstGeom>
          <a:noFill/>
          <a:ln/>
        </p:spPr>
        <p:txBody>
          <a:bodyPr wrap="square" rtlCol="0" anchor="ctr"/>
          <a:lstStyle/>
          <a:p>
            <a:pPr indent="0" marL="0">
              <a:lnSpc>
                <a:spcPct val="98000"/>
              </a:lnSpc>
              <a:buNone/>
            </a:pPr>
            <a:r>
              <a:rPr lang="en-US" sz="1100" b="1" dirty="0">
                <a:solidFill>
                  <a:srgbClr val="1E2761"/>
                </a:solidFill>
                <a:latin typeface="Calibri" pitchFamily="34" charset="0"/>
                <a:ea typeface="Calibri" pitchFamily="34" charset="-122"/>
                <a:cs typeface="Calibri" pitchFamily="34" charset="-120"/>
              </a:rPr>
              <a:t>Domain B1  ·  resource
</a:t>
            </a:r>
            <a:pPr indent="0" marL="0">
              <a:lnSpc>
                <a:spcPct val="98000"/>
              </a:lnSpc>
              <a:buNone/>
            </a:pPr>
            <a:r>
              <a:rPr lang="en-US" sz="900" dirty="0">
                <a:solidFill>
                  <a:srgbClr val="5B6B8C"/>
                </a:solidFill>
                <a:latin typeface="Calibri" pitchFamily="34" charset="0"/>
                <a:ea typeface="Calibri" pitchFamily="34" charset="-122"/>
                <a:cs typeface="Calibri" pitchFamily="34" charset="-120"/>
              </a:rPr>
              <a:t>Domain Local group (grant point)</a:t>
            </a:r>
            <a:endParaRPr lang="en-US" sz="1100" dirty="0"/>
          </a:p>
        </p:txBody>
      </p:sp>
      <p:sp>
        <p:nvSpPr>
          <p:cNvPr id="34" name="Shape 23"/>
          <p:cNvSpPr/>
          <p:nvPr/>
        </p:nvSpPr>
        <p:spPr>
          <a:xfrm>
            <a:off x="8348472" y="3246120"/>
            <a:ext cx="3054096" cy="749808"/>
          </a:xfrm>
          <a:prstGeom prst="roundRect">
            <a:avLst>
              <a:gd name="adj" fmla="val 9756"/>
            </a:avLst>
          </a:prstGeom>
          <a:solidFill>
            <a:srgbClr val="FBF3DE"/>
          </a:solidFill>
          <a:ln w="15875">
            <a:solidFill>
              <a:srgbClr val="C8912B"/>
            </a:solidFill>
            <a:prstDash val="solid"/>
          </a:ln>
          <a:effectLst>
            <a:outerShdw sx="100000" sy="100000" kx="0" ky="0" algn="bl" rotWithShape="0" blurRad="63500" dist="25400" dir="5400000">
              <a:srgbClr val="A9B4C8">
                <a:alpha val="22000"/>
              </a:srgbClr>
            </a:outerShdw>
          </a:effectLst>
        </p:spPr>
      </p:sp>
      <p:pic>
        <p:nvPicPr>
          <p:cNvPr id="35" name="Image 9" descr="preencoded.png">    </p:cNvPr>
          <p:cNvPicPr>
            <a:picLocks noChangeAspect="1"/>
          </p:cNvPicPr>
          <p:nvPr/>
        </p:nvPicPr>
        <p:blipFill>
          <a:blip r:embed="rId10"/>
          <a:stretch>
            <a:fillRect/>
          </a:stretch>
        </p:blipFill>
        <p:spPr>
          <a:xfrm>
            <a:off x="8458200" y="3456432"/>
            <a:ext cx="329184" cy="329184"/>
          </a:xfrm>
          <a:prstGeom prst="rect">
            <a:avLst/>
          </a:prstGeom>
        </p:spPr>
      </p:pic>
      <p:sp>
        <p:nvSpPr>
          <p:cNvPr id="36" name="Text 24"/>
          <p:cNvSpPr/>
          <p:nvPr/>
        </p:nvSpPr>
        <p:spPr>
          <a:xfrm>
            <a:off x="8860536" y="3246120"/>
            <a:ext cx="2450592" cy="749808"/>
          </a:xfrm>
          <a:prstGeom prst="rect">
            <a:avLst/>
          </a:prstGeom>
          <a:noFill/>
          <a:ln/>
        </p:spPr>
        <p:txBody>
          <a:bodyPr wrap="square" rtlCol="0" anchor="ctr"/>
          <a:lstStyle/>
          <a:p>
            <a:pPr indent="0" marL="0">
              <a:lnSpc>
                <a:spcPct val="98000"/>
              </a:lnSpc>
              <a:buNone/>
            </a:pPr>
            <a:r>
              <a:rPr lang="en-US" sz="1100" b="1" dirty="0">
                <a:solidFill>
                  <a:srgbClr val="1E2761"/>
                </a:solidFill>
                <a:latin typeface="Calibri" pitchFamily="34" charset="0"/>
                <a:ea typeface="Calibri" pitchFamily="34" charset="-122"/>
                <a:cs typeface="Calibri" pitchFamily="34" charset="-120"/>
              </a:rPr>
              <a:t>Foreign Security Principal
</a:t>
            </a:r>
            <a:pPr indent="0" marL="0">
              <a:lnSpc>
                <a:spcPct val="98000"/>
              </a:lnSpc>
              <a:buNone/>
            </a:pPr>
            <a:r>
              <a:rPr lang="en-US" sz="900" dirty="0">
                <a:solidFill>
                  <a:srgbClr val="5B6B8C"/>
                </a:solidFill>
                <a:latin typeface="Calibri" pitchFamily="34" charset="0"/>
                <a:ea typeface="Calibri" pitchFamily="34" charset="-122"/>
                <a:cs typeface="Calibri" pitchFamily="34" charset="-120"/>
              </a:rPr>
              <a:t>Source principal added target-side</a:t>
            </a:r>
            <a:endParaRPr lang="en-US" sz="1100" dirty="0"/>
          </a:p>
        </p:txBody>
      </p:sp>
      <p:sp>
        <p:nvSpPr>
          <p:cNvPr id="37" name="Shape 25"/>
          <p:cNvSpPr/>
          <p:nvPr/>
        </p:nvSpPr>
        <p:spPr>
          <a:xfrm>
            <a:off x="8348472" y="4160520"/>
            <a:ext cx="3054096" cy="822960"/>
          </a:xfrm>
          <a:prstGeom prst="roundRect">
            <a:avLst>
              <a:gd name="adj" fmla="val 8889"/>
            </a:avLst>
          </a:prstGeom>
          <a:solidFill>
            <a:srgbClr val="E8F0FE"/>
          </a:solidFill>
          <a:ln w="15875">
            <a:solidFill>
              <a:srgbClr val="C8912B"/>
            </a:solidFill>
            <a:prstDash val="solid"/>
          </a:ln>
          <a:effectLst>
            <a:outerShdw sx="100000" sy="100000" kx="0" ky="0" algn="bl" rotWithShape="0" blurRad="63500" dist="25400" dir="5400000">
              <a:srgbClr val="A9B4C8">
                <a:alpha val="22000"/>
              </a:srgbClr>
            </a:outerShdw>
          </a:effectLst>
        </p:spPr>
      </p:sp>
      <p:pic>
        <p:nvPicPr>
          <p:cNvPr id="38" name="Image 10" descr="preencoded.png">    </p:cNvPr>
          <p:cNvPicPr>
            <a:picLocks noChangeAspect="1"/>
          </p:cNvPicPr>
          <p:nvPr/>
        </p:nvPicPr>
        <p:blipFill>
          <a:blip r:embed="rId11"/>
          <a:stretch>
            <a:fillRect/>
          </a:stretch>
        </p:blipFill>
        <p:spPr>
          <a:xfrm>
            <a:off x="8458200" y="4407408"/>
            <a:ext cx="329184" cy="329184"/>
          </a:xfrm>
          <a:prstGeom prst="rect">
            <a:avLst/>
          </a:prstGeom>
        </p:spPr>
      </p:pic>
      <p:sp>
        <p:nvSpPr>
          <p:cNvPr id="39" name="Text 26"/>
          <p:cNvSpPr/>
          <p:nvPr/>
        </p:nvSpPr>
        <p:spPr>
          <a:xfrm>
            <a:off x="8860536" y="4160520"/>
            <a:ext cx="2450592" cy="822960"/>
          </a:xfrm>
          <a:prstGeom prst="rect">
            <a:avLst/>
          </a:prstGeom>
          <a:noFill/>
          <a:ln/>
        </p:spPr>
        <p:txBody>
          <a:bodyPr wrap="square" rtlCol="0" anchor="ctr"/>
          <a:lstStyle/>
          <a:p>
            <a:pPr indent="0" marL="0">
              <a:lnSpc>
                <a:spcPct val="98000"/>
              </a:lnSpc>
              <a:buNone/>
            </a:pPr>
            <a:r>
              <a:rPr lang="en-US" sz="1100" b="1" dirty="0">
                <a:solidFill>
                  <a:srgbClr val="1E2761"/>
                </a:solidFill>
                <a:latin typeface="Calibri" pitchFamily="34" charset="0"/>
                <a:ea typeface="Calibri" pitchFamily="34" charset="-122"/>
                <a:cs typeface="Calibri" pitchFamily="34" charset="-120"/>
              </a:rPr>
              <a:t>Forest B Servers
</a:t>
            </a:r>
            <a:pPr indent="0" marL="0">
              <a:lnSpc>
                <a:spcPct val="98000"/>
              </a:lnSpc>
              <a:buNone/>
            </a:pPr>
            <a:r>
              <a:rPr lang="en-US" sz="900" dirty="0">
                <a:solidFill>
                  <a:srgbClr val="5B6B8C"/>
                </a:solidFill>
                <a:latin typeface="Calibri" pitchFamily="34" charset="0"/>
                <a:ea typeface="Calibri" pitchFamily="34" charset="-122"/>
                <a:cs typeface="Calibri" pitchFamily="34" charset="-120"/>
              </a:rPr>
              <a:t>RDP + least-privilege delegated admin</a:t>
            </a:r>
            <a:endParaRPr lang="en-US" sz="1100" dirty="0"/>
          </a:p>
        </p:txBody>
      </p:sp>
      <p:sp>
        <p:nvSpPr>
          <p:cNvPr id="40" name="Shape 27"/>
          <p:cNvSpPr/>
          <p:nvPr/>
        </p:nvSpPr>
        <p:spPr>
          <a:xfrm>
            <a:off x="8348472" y="5166360"/>
            <a:ext cx="3054096" cy="777240"/>
          </a:xfrm>
          <a:prstGeom prst="roundRect">
            <a:avLst>
              <a:gd name="adj" fmla="val 8235"/>
            </a:avLst>
          </a:prstGeom>
          <a:solidFill>
            <a:srgbClr val="FFFFFF"/>
          </a:solidFill>
          <a:ln w="15875">
            <a:solidFill>
              <a:srgbClr val="C0504D"/>
            </a:solidFill>
            <a:prstDash val="solid"/>
          </a:ln>
        </p:spPr>
      </p:sp>
      <p:pic>
        <p:nvPicPr>
          <p:cNvPr id="41" name="Image 11" descr="preencoded.png">    </p:cNvPr>
          <p:cNvPicPr>
            <a:picLocks noChangeAspect="1"/>
          </p:cNvPicPr>
          <p:nvPr/>
        </p:nvPicPr>
        <p:blipFill>
          <a:blip r:embed="rId12"/>
          <a:stretch>
            <a:fillRect/>
          </a:stretch>
        </p:blipFill>
        <p:spPr>
          <a:xfrm>
            <a:off x="8476488" y="5413248"/>
            <a:ext cx="274320" cy="274320"/>
          </a:xfrm>
          <a:prstGeom prst="rect">
            <a:avLst/>
          </a:prstGeom>
        </p:spPr>
      </p:pic>
      <p:sp>
        <p:nvSpPr>
          <p:cNvPr id="42" name="Text 28"/>
          <p:cNvSpPr/>
          <p:nvPr/>
        </p:nvSpPr>
        <p:spPr>
          <a:xfrm>
            <a:off x="8842248" y="5166360"/>
            <a:ext cx="2514600" cy="777240"/>
          </a:xfrm>
          <a:prstGeom prst="rect">
            <a:avLst/>
          </a:prstGeom>
          <a:noFill/>
          <a:ln/>
        </p:spPr>
        <p:txBody>
          <a:bodyPr wrap="square" rtlCol="0" anchor="ctr"/>
          <a:lstStyle/>
          <a:p>
            <a:pPr indent="0" marL="0">
              <a:lnSpc>
                <a:spcPct val="98000"/>
              </a:lnSpc>
              <a:buNone/>
            </a:pPr>
            <a:r>
              <a:rPr lang="en-US" sz="1050" b="1" dirty="0">
                <a:solidFill>
                  <a:srgbClr val="C0504D"/>
                </a:solidFill>
                <a:latin typeface="Calibri" pitchFamily="34" charset="0"/>
                <a:ea typeface="Calibri" pitchFamily="34" charset="-122"/>
                <a:cs typeface="Calibri" pitchFamily="34" charset="-120"/>
              </a:rPr>
              <a:t>Domain Admin
</a:t>
            </a:r>
            <a:pPr indent="0" marL="0">
              <a:lnSpc>
                <a:spcPct val="98000"/>
              </a:lnSpc>
              <a:buNone/>
            </a:pPr>
            <a:r>
              <a:rPr lang="en-US" sz="900" dirty="0">
                <a:solidFill>
                  <a:srgbClr val="5B6B8C"/>
                </a:solidFill>
                <a:latin typeface="Calibri" pitchFamily="34" charset="0"/>
                <a:ea typeface="Calibri" pitchFamily="34" charset="-122"/>
                <a:cs typeface="Calibri" pitchFamily="34" charset="-120"/>
              </a:rPr>
              <a:t>only where governance-approved</a:t>
            </a:r>
            <a:endParaRPr lang="en-US" sz="1050" dirty="0"/>
          </a:p>
        </p:txBody>
      </p:sp>
      <p:sp>
        <p:nvSpPr>
          <p:cNvPr id="43" name="Shape 29"/>
          <p:cNvSpPr/>
          <p:nvPr/>
        </p:nvSpPr>
        <p:spPr>
          <a:xfrm>
            <a:off x="7863840" y="3931920"/>
            <a:ext cx="228600" cy="0"/>
          </a:xfrm>
          <a:prstGeom prst="line">
            <a:avLst/>
          </a:prstGeom>
          <a:noFill/>
          <a:ln w="31750">
            <a:solidFill>
              <a:srgbClr val="C8912B"/>
            </a:solidFill>
            <a:prstDash val="dash"/>
            <a:headEnd type="triangle"/>
            <a:tailEnd type="triangle"/>
          </a:ln>
        </p:spPr>
      </p:sp>
      <p:sp>
        <p:nvSpPr>
          <p:cNvPr id="44" name="Shape 30"/>
          <p:cNvSpPr/>
          <p:nvPr/>
        </p:nvSpPr>
        <p:spPr>
          <a:xfrm>
            <a:off x="7571232" y="3639312"/>
            <a:ext cx="1051560" cy="566928"/>
          </a:xfrm>
          <a:prstGeom prst="roundRect">
            <a:avLst>
              <a:gd name="adj" fmla="val 48387"/>
            </a:avLst>
          </a:prstGeom>
          <a:solidFill>
            <a:srgbClr val="C8912B"/>
          </a:solidFill>
          <a:ln/>
          <a:effectLst>
            <a:outerShdw sx="100000" sy="100000" kx="0" ky="0" algn="bl" rotWithShape="0" blurRad="63500" dist="25400" dir="5400000">
              <a:srgbClr val="A9B4C8">
                <a:alpha val="22000"/>
              </a:srgbClr>
            </a:outerShdw>
          </a:effectLst>
        </p:spPr>
      </p:sp>
      <p:sp>
        <p:nvSpPr>
          <p:cNvPr id="45" name="Text 31"/>
          <p:cNvSpPr/>
          <p:nvPr/>
        </p:nvSpPr>
        <p:spPr>
          <a:xfrm>
            <a:off x="7571232" y="3639312"/>
            <a:ext cx="1051560" cy="566928"/>
          </a:xfrm>
          <a:prstGeom prst="rect">
            <a:avLst/>
          </a:prstGeom>
          <a:noFill/>
          <a:ln/>
        </p:spPr>
        <p:txBody>
          <a:bodyPr wrap="square"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TRUST</a:t>
            </a:r>
            <a:endParaRPr lang="en-US" sz="1000" dirty="0"/>
          </a:p>
        </p:txBody>
      </p:sp>
      <p:sp>
        <p:nvSpPr>
          <p:cNvPr id="46" name="Shape 32"/>
          <p:cNvSpPr/>
          <p:nvPr/>
        </p:nvSpPr>
        <p:spPr>
          <a:xfrm>
            <a:off x="2331720" y="2898648"/>
            <a:ext cx="0" cy="228600"/>
          </a:xfrm>
          <a:prstGeom prst="line">
            <a:avLst/>
          </a:prstGeom>
          <a:noFill/>
          <a:ln w="19050">
            <a:solidFill>
              <a:srgbClr val="4A6FA5"/>
            </a:solidFill>
            <a:prstDash val="solid"/>
            <a:tailEnd type="triangle"/>
          </a:ln>
        </p:spPr>
      </p:sp>
      <p:sp>
        <p:nvSpPr>
          <p:cNvPr id="47" name="Shape 33"/>
          <p:cNvSpPr/>
          <p:nvPr/>
        </p:nvSpPr>
        <p:spPr>
          <a:xfrm>
            <a:off x="2331720" y="3749040"/>
            <a:ext cx="0" cy="201168"/>
          </a:xfrm>
          <a:prstGeom prst="line">
            <a:avLst/>
          </a:prstGeom>
          <a:noFill/>
          <a:ln w="19050">
            <a:solidFill>
              <a:srgbClr val="4A6FA5"/>
            </a:solidFill>
            <a:prstDash val="solid"/>
            <a:tailEnd type="triangle"/>
          </a:ln>
        </p:spPr>
      </p:sp>
      <p:sp>
        <p:nvSpPr>
          <p:cNvPr id="48" name="Shape 34"/>
          <p:cNvSpPr/>
          <p:nvPr/>
        </p:nvSpPr>
        <p:spPr>
          <a:xfrm>
            <a:off x="3886200" y="4261104"/>
            <a:ext cx="566928" cy="-1600200"/>
          </a:xfrm>
          <a:prstGeom prst="line">
            <a:avLst/>
          </a:prstGeom>
          <a:noFill/>
          <a:ln w="19050">
            <a:solidFill>
              <a:srgbClr val="2E8B6B"/>
            </a:solidFill>
            <a:prstDash val="solid"/>
            <a:tailEnd type="triangle"/>
          </a:ln>
        </p:spPr>
      </p:sp>
      <p:sp>
        <p:nvSpPr>
          <p:cNvPr id="49" name="Shape 35"/>
          <p:cNvSpPr/>
          <p:nvPr/>
        </p:nvSpPr>
        <p:spPr>
          <a:xfrm>
            <a:off x="3886200" y="4261104"/>
            <a:ext cx="566928" cy="-603504"/>
          </a:xfrm>
          <a:prstGeom prst="line">
            <a:avLst/>
          </a:prstGeom>
          <a:noFill/>
          <a:ln w="19050">
            <a:solidFill>
              <a:srgbClr val="2E8B6B"/>
            </a:solidFill>
            <a:prstDash val="solid"/>
            <a:tailEnd type="triangle"/>
          </a:ln>
        </p:spPr>
      </p:sp>
      <p:sp>
        <p:nvSpPr>
          <p:cNvPr id="50" name="Shape 36"/>
          <p:cNvSpPr/>
          <p:nvPr/>
        </p:nvSpPr>
        <p:spPr>
          <a:xfrm>
            <a:off x="5943600" y="4069080"/>
            <a:ext cx="0" cy="219456"/>
          </a:xfrm>
          <a:prstGeom prst="line">
            <a:avLst/>
          </a:prstGeom>
          <a:noFill/>
          <a:ln w="19050">
            <a:solidFill>
              <a:srgbClr val="4A6FA5"/>
            </a:solidFill>
            <a:prstDash val="solid"/>
            <a:tailEnd type="triangle"/>
          </a:ln>
        </p:spPr>
      </p:sp>
      <p:sp>
        <p:nvSpPr>
          <p:cNvPr id="51" name="Shape 37"/>
          <p:cNvSpPr/>
          <p:nvPr/>
        </p:nvSpPr>
        <p:spPr>
          <a:xfrm>
            <a:off x="548640" y="6492240"/>
            <a:ext cx="320040" cy="0"/>
          </a:xfrm>
          <a:prstGeom prst="line">
            <a:avLst/>
          </a:prstGeom>
          <a:noFill/>
          <a:ln w="31750">
            <a:solidFill>
              <a:srgbClr val="4A6FA5"/>
            </a:solidFill>
            <a:prstDash val="solid"/>
          </a:ln>
        </p:spPr>
      </p:sp>
      <p:sp>
        <p:nvSpPr>
          <p:cNvPr id="52" name="Text 38"/>
          <p:cNvSpPr/>
          <p:nvPr/>
        </p:nvSpPr>
        <p:spPr>
          <a:xfrm>
            <a:off x="932688" y="6355080"/>
            <a:ext cx="2103120" cy="274320"/>
          </a:xfrm>
          <a:prstGeom prst="rect">
            <a:avLst/>
          </a:prstGeom>
          <a:noFill/>
          <a:ln/>
        </p:spPr>
        <p:txBody>
          <a:bodyPr wrap="square" rtlCol="0" anchor="ctr"/>
          <a:lstStyle/>
          <a:p>
            <a:pPr indent="0" marL="0">
              <a:buNone/>
            </a:pPr>
            <a:r>
              <a:rPr lang="en-US" sz="950" dirty="0">
                <a:solidFill>
                  <a:srgbClr val="5B6B8C"/>
                </a:solidFill>
                <a:latin typeface="Calibri" pitchFamily="34" charset="0"/>
                <a:ea typeface="Calibri" pitchFamily="34" charset="-122"/>
                <a:cs typeface="Calibri" pitchFamily="34" charset="-120"/>
              </a:rPr>
              <a:t>Membership / nesting</a:t>
            </a:r>
            <a:endParaRPr lang="en-US" sz="950" dirty="0"/>
          </a:p>
        </p:txBody>
      </p:sp>
      <p:sp>
        <p:nvSpPr>
          <p:cNvPr id="53" name="Shape 39"/>
          <p:cNvSpPr/>
          <p:nvPr/>
        </p:nvSpPr>
        <p:spPr>
          <a:xfrm>
            <a:off x="2880360" y="6492240"/>
            <a:ext cx="320040" cy="0"/>
          </a:xfrm>
          <a:prstGeom prst="line">
            <a:avLst/>
          </a:prstGeom>
          <a:noFill/>
          <a:ln w="31750">
            <a:solidFill>
              <a:srgbClr val="2E8B6B"/>
            </a:solidFill>
            <a:prstDash val="solid"/>
          </a:ln>
        </p:spPr>
      </p:sp>
      <p:sp>
        <p:nvSpPr>
          <p:cNvPr id="54" name="Text 40"/>
          <p:cNvSpPr/>
          <p:nvPr/>
        </p:nvSpPr>
        <p:spPr>
          <a:xfrm>
            <a:off x="3264408" y="6355080"/>
            <a:ext cx="2103120" cy="274320"/>
          </a:xfrm>
          <a:prstGeom prst="rect">
            <a:avLst/>
          </a:prstGeom>
          <a:noFill/>
          <a:ln/>
        </p:spPr>
        <p:txBody>
          <a:bodyPr wrap="square" rtlCol="0" anchor="ctr"/>
          <a:lstStyle/>
          <a:p>
            <a:pPr indent="0" marL="0">
              <a:buNone/>
            </a:pPr>
            <a:r>
              <a:rPr lang="en-US" sz="950" dirty="0">
                <a:solidFill>
                  <a:srgbClr val="5B6B8C"/>
                </a:solidFill>
                <a:latin typeface="Calibri" pitchFamily="34" charset="0"/>
                <a:ea typeface="Calibri" pitchFamily="34" charset="-122"/>
                <a:cs typeface="Calibri" pitchFamily="34" charset="-120"/>
              </a:rPr>
              <a:t>Same-forest reach</a:t>
            </a:r>
            <a:endParaRPr lang="en-US" sz="950" dirty="0"/>
          </a:p>
        </p:txBody>
      </p:sp>
      <p:sp>
        <p:nvSpPr>
          <p:cNvPr id="55" name="Shape 41"/>
          <p:cNvSpPr/>
          <p:nvPr/>
        </p:nvSpPr>
        <p:spPr>
          <a:xfrm>
            <a:off x="5212080" y="6492240"/>
            <a:ext cx="320040" cy="0"/>
          </a:xfrm>
          <a:prstGeom prst="line">
            <a:avLst/>
          </a:prstGeom>
          <a:noFill/>
          <a:ln w="31750">
            <a:solidFill>
              <a:srgbClr val="C8912B"/>
            </a:solidFill>
            <a:prstDash val="solid"/>
          </a:ln>
        </p:spPr>
      </p:sp>
      <p:sp>
        <p:nvSpPr>
          <p:cNvPr id="56" name="Text 42"/>
          <p:cNvSpPr/>
          <p:nvPr/>
        </p:nvSpPr>
        <p:spPr>
          <a:xfrm>
            <a:off x="5596128" y="6355080"/>
            <a:ext cx="2103120" cy="274320"/>
          </a:xfrm>
          <a:prstGeom prst="rect">
            <a:avLst/>
          </a:prstGeom>
          <a:noFill/>
          <a:ln/>
        </p:spPr>
        <p:txBody>
          <a:bodyPr wrap="square" rtlCol="0" anchor="ctr"/>
          <a:lstStyle/>
          <a:p>
            <a:pPr indent="0" marL="0">
              <a:buNone/>
            </a:pPr>
            <a:r>
              <a:rPr lang="en-US" sz="950" dirty="0">
                <a:solidFill>
                  <a:srgbClr val="5B6B8C"/>
                </a:solidFill>
                <a:latin typeface="Calibri" pitchFamily="34" charset="0"/>
                <a:ea typeface="Calibri" pitchFamily="34" charset="-122"/>
                <a:cs typeface="Calibri" pitchFamily="34" charset="-120"/>
              </a:rPr>
              <a:t>Trust boundary</a:t>
            </a:r>
            <a:endParaRPr lang="en-US" sz="950" dirty="0"/>
          </a:p>
        </p:txBody>
      </p:sp>
      <p:sp>
        <p:nvSpPr>
          <p:cNvPr id="57" name="Shape 43"/>
          <p:cNvSpPr/>
          <p:nvPr/>
        </p:nvSpPr>
        <p:spPr>
          <a:xfrm>
            <a:off x="7543800" y="6492240"/>
            <a:ext cx="320040" cy="0"/>
          </a:xfrm>
          <a:prstGeom prst="line">
            <a:avLst/>
          </a:prstGeom>
          <a:noFill/>
          <a:ln w="31750">
            <a:solidFill>
              <a:srgbClr val="C0504D"/>
            </a:solidFill>
            <a:prstDash val="solid"/>
          </a:ln>
        </p:spPr>
      </p:sp>
      <p:sp>
        <p:nvSpPr>
          <p:cNvPr id="58" name="Text 44"/>
          <p:cNvSpPr/>
          <p:nvPr/>
        </p:nvSpPr>
        <p:spPr>
          <a:xfrm>
            <a:off x="7927848" y="6355080"/>
            <a:ext cx="2103120" cy="274320"/>
          </a:xfrm>
          <a:prstGeom prst="rect">
            <a:avLst/>
          </a:prstGeom>
          <a:noFill/>
          <a:ln/>
        </p:spPr>
        <p:txBody>
          <a:bodyPr wrap="square" rtlCol="0" anchor="ctr"/>
          <a:lstStyle/>
          <a:p>
            <a:pPr indent="0" marL="0">
              <a:buNone/>
            </a:pPr>
            <a:r>
              <a:rPr lang="en-US" sz="950" dirty="0">
                <a:solidFill>
                  <a:srgbClr val="5B6B8C"/>
                </a:solidFill>
                <a:latin typeface="Calibri" pitchFamily="34" charset="0"/>
                <a:ea typeface="Calibri" pitchFamily="34" charset="-122"/>
                <a:cs typeface="Calibri" pitchFamily="34" charset="-120"/>
              </a:rPr>
              <a:t>Guarded privilege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rtlCol="0" anchor="ctr"/>
          <a:lstStyle/>
          <a:p>
            <a:pPr algn="l" indent="0" marL="0">
              <a:buNone/>
            </a:pPr>
            <a:r>
              <a:rPr lang="en-US" sz="1200" b="1" spc="300" kern="0" dirty="0">
                <a:solidFill>
                  <a:srgbClr val="4A6FA5"/>
                </a:solidFill>
                <a:latin typeface="Calibri" pitchFamily="34" charset="0"/>
                <a:ea typeface="Calibri" pitchFamily="34" charset="-122"/>
                <a:cs typeface="Calibri" pitchFamily="34" charset="-120"/>
              </a:rPr>
              <a:t>DELIVERABLE A</a:t>
            </a:r>
            <a:endParaRPr lang="en-US" sz="1200" dirty="0"/>
          </a:p>
        </p:txBody>
      </p:sp>
      <p:sp>
        <p:nvSpPr>
          <p:cNvPr id="3" name="Text 1"/>
          <p:cNvSpPr/>
          <p:nvPr/>
        </p:nvSpPr>
        <p:spPr>
          <a:xfrm>
            <a:off x="548640" y="658368"/>
            <a:ext cx="10515600" cy="822960"/>
          </a:xfrm>
          <a:prstGeom prst="rect">
            <a:avLst/>
          </a:prstGeom>
          <a:noFill/>
          <a:ln/>
        </p:spPr>
        <p:txBody>
          <a:bodyPr wrap="square" rtlCol="0" anchor="ctr"/>
          <a:lstStyle/>
          <a:p>
            <a:pPr algn="l" indent="0" marL="0">
              <a:buNone/>
            </a:pPr>
            <a:r>
              <a:rPr lang="en-US" sz="3200" b="1" dirty="0">
                <a:solidFill>
                  <a:srgbClr val="1E2761"/>
                </a:solidFill>
                <a:latin typeface="Century Schoolbook" pitchFamily="34" charset="0"/>
                <a:ea typeface="Century Schoolbook" pitchFamily="34" charset="-122"/>
                <a:cs typeface="Century Schoolbook" pitchFamily="34" charset="-120"/>
              </a:rPr>
              <a:t>Pre-requisite checklist</a:t>
            </a:r>
            <a:endParaRPr lang="en-US" sz="3200" dirty="0"/>
          </a:p>
        </p:txBody>
      </p:sp>
      <p:sp>
        <p:nvSpPr>
          <p:cNvPr id="4" name="Text 2"/>
          <p:cNvSpPr/>
          <p:nvPr/>
        </p:nvSpPr>
        <p:spPr>
          <a:xfrm>
            <a:off x="11277295" y="6400800"/>
            <a:ext cx="457200" cy="274320"/>
          </a:xfrm>
          <a:prstGeom prst="rect">
            <a:avLst/>
          </a:prstGeom>
          <a:noFill/>
          <a:ln/>
        </p:spPr>
        <p:txBody>
          <a:bodyPr wrap="square" rtlCol="0" anchor="ctr"/>
          <a:lstStyle/>
          <a:p>
            <a:pPr algn="r" indent="0" marL="0">
              <a:buNone/>
            </a:pPr>
            <a:r>
              <a:rPr lang="en-US" sz="1000" dirty="0">
                <a:solidFill>
                  <a:srgbClr val="8593AC"/>
                </a:solidFill>
                <a:latin typeface="Calibri" pitchFamily="34" charset="0"/>
                <a:ea typeface="Calibri" pitchFamily="34" charset="-122"/>
                <a:cs typeface="Calibri" pitchFamily="34" charset="-120"/>
              </a:rPr>
              <a:t>08</a:t>
            </a:r>
            <a:endParaRPr lang="en-US" sz="1000" dirty="0"/>
          </a:p>
        </p:txBody>
      </p:sp>
      <p:sp>
        <p:nvSpPr>
          <p:cNvPr id="5" name="Text 3"/>
          <p:cNvSpPr/>
          <p:nvPr/>
        </p:nvSpPr>
        <p:spPr>
          <a:xfrm>
            <a:off x="548640" y="6400800"/>
            <a:ext cx="6400800" cy="274320"/>
          </a:xfrm>
          <a:prstGeom prst="rect">
            <a:avLst/>
          </a:prstGeom>
          <a:noFill/>
          <a:ln/>
        </p:spPr>
        <p:txBody>
          <a:bodyPr wrap="square" rtlCol="0" anchor="ctr"/>
          <a:lstStyle/>
          <a:p>
            <a:pPr algn="l" indent="0" marL="0">
              <a:buNone/>
            </a:pPr>
            <a:r>
              <a:rPr lang="en-US" sz="900" dirty="0">
                <a:solidFill>
                  <a:srgbClr val="8593AC"/>
                </a:solidFill>
                <a:latin typeface="Calibri" pitchFamily="34" charset="0"/>
                <a:ea typeface="Calibri" pitchFamily="34" charset="-122"/>
                <a:cs typeface="Calibri" pitchFamily="34" charset="-120"/>
              </a:rPr>
              <a:t>Cross-Forest Administrative Access Model</a:t>
            </a:r>
            <a:endParaRPr lang="en-US" sz="900" dirty="0"/>
          </a:p>
        </p:txBody>
      </p:sp>
      <p:sp>
        <p:nvSpPr>
          <p:cNvPr id="6" name="Shape 4"/>
          <p:cNvSpPr/>
          <p:nvPr/>
        </p:nvSpPr>
        <p:spPr>
          <a:xfrm>
            <a:off x="10881360" y="457200"/>
            <a:ext cx="749808" cy="749808"/>
          </a:xfrm>
          <a:prstGeom prst="roundRect">
            <a:avLst>
              <a:gd name="adj" fmla="val 22000"/>
            </a:avLst>
          </a:prstGeom>
          <a:solidFill>
            <a:srgbClr val="E8F0FE"/>
          </a:solidFill>
          <a:ln/>
          <a:effectLst>
            <a:outerShdw sx="100000" sy="100000" kx="0" ky="0" algn="bl" rotWithShape="0" blurRad="63500" dist="25400" dir="5400000">
              <a:srgbClr val="A9B4C8">
                <a:alpha val="22000"/>
              </a:srgbClr>
            </a:outerShdw>
          </a:effectLst>
        </p:spPr>
      </p:sp>
      <p:pic>
        <p:nvPicPr>
          <p:cNvPr id="7" name="Image 0" descr="preencoded.png">    </p:cNvPr>
          <p:cNvPicPr>
            <a:picLocks noChangeAspect="1"/>
          </p:cNvPicPr>
          <p:nvPr/>
        </p:nvPicPr>
        <p:blipFill>
          <a:blip r:embed="rId1"/>
          <a:stretch>
            <a:fillRect/>
          </a:stretch>
        </p:blipFill>
        <p:spPr>
          <a:xfrm>
            <a:off x="11031322" y="607162"/>
            <a:ext cx="449885" cy="449885"/>
          </a:xfrm>
          <a:prstGeom prst="rect">
            <a:avLst/>
          </a:prstGeom>
        </p:spPr>
      </p:pic>
      <p:sp>
        <p:nvSpPr>
          <p:cNvPr id="8" name="Shape 5"/>
          <p:cNvSpPr/>
          <p:nvPr/>
        </p:nvSpPr>
        <p:spPr>
          <a:xfrm>
            <a:off x="548640" y="1691640"/>
            <a:ext cx="5486400" cy="749808"/>
          </a:xfrm>
          <a:prstGeom prst="roundRect">
            <a:avLst>
              <a:gd name="adj" fmla="val 9756"/>
            </a:avLst>
          </a:prstGeom>
          <a:solidFill>
            <a:srgbClr val="F4F7FC"/>
          </a:solidFill>
          <a:ln w="12700">
            <a:solidFill>
              <a:srgbClr val="DCE4F2"/>
            </a:solidFill>
            <a:prstDash val="solid"/>
          </a:ln>
        </p:spPr>
      </p:sp>
      <p:sp>
        <p:nvSpPr>
          <p:cNvPr id="9" name="Shape 6"/>
          <p:cNvSpPr/>
          <p:nvPr/>
        </p:nvSpPr>
        <p:spPr>
          <a:xfrm>
            <a:off x="694944" y="1819656"/>
            <a:ext cx="475488" cy="475488"/>
          </a:xfrm>
          <a:prstGeom prst="roundRect">
            <a:avLst>
              <a:gd name="adj" fmla="val 22000"/>
            </a:avLst>
          </a:prstGeom>
          <a:solidFill>
            <a:srgbClr val="FFFFFF"/>
          </a:solidFill>
          <a:ln/>
          <a:effectLst>
            <a:outerShdw sx="100000" sy="100000" kx="0" ky="0" algn="bl" rotWithShape="0" blurRad="63500" dist="25400" dir="5400000">
              <a:srgbClr val="A9B4C8">
                <a:alpha val="22000"/>
              </a:srgbClr>
            </a:outerShdw>
          </a:effectLst>
        </p:spPr>
      </p:sp>
      <p:pic>
        <p:nvPicPr>
          <p:cNvPr id="10" name="Image 1" descr="preencoded.png">    </p:cNvPr>
          <p:cNvPicPr>
            <a:picLocks noChangeAspect="1"/>
          </p:cNvPicPr>
          <p:nvPr/>
        </p:nvPicPr>
        <p:blipFill>
          <a:blip r:embed="rId2"/>
          <a:stretch>
            <a:fillRect/>
          </a:stretch>
        </p:blipFill>
        <p:spPr>
          <a:xfrm>
            <a:off x="790042" y="1914754"/>
            <a:ext cx="285293" cy="285293"/>
          </a:xfrm>
          <a:prstGeom prst="rect">
            <a:avLst/>
          </a:prstGeom>
        </p:spPr>
      </p:pic>
      <p:sp>
        <p:nvSpPr>
          <p:cNvPr id="11" name="Text 7"/>
          <p:cNvSpPr/>
          <p:nvPr/>
        </p:nvSpPr>
        <p:spPr>
          <a:xfrm>
            <a:off x="1298448" y="1709928"/>
            <a:ext cx="4251960" cy="713232"/>
          </a:xfrm>
          <a:prstGeom prst="rect">
            <a:avLst/>
          </a:prstGeom>
          <a:noFill/>
          <a:ln/>
        </p:spPr>
        <p:txBody>
          <a:bodyPr wrap="square" rtlCol="0" anchor="ctr"/>
          <a:lstStyle/>
          <a:p>
            <a:pPr indent="0" marL="0">
              <a:lnSpc>
                <a:spcPct val="100000"/>
              </a:lnSpc>
              <a:buNone/>
            </a:pPr>
            <a:r>
              <a:rPr lang="en-US" sz="1250" b="1" dirty="0">
                <a:solidFill>
                  <a:srgbClr val="1E2761"/>
                </a:solidFill>
                <a:latin typeface="Calibri" pitchFamily="34" charset="0"/>
                <a:ea typeface="Calibri" pitchFamily="34" charset="-122"/>
                <a:cs typeface="Calibri" pitchFamily="34" charset="-120"/>
              </a:rPr>
              <a:t>Forest trust confirmed
</a:t>
            </a:r>
            <a:pPr indent="0" marL="0">
              <a:lnSpc>
                <a:spcPct val="100000"/>
              </a:lnSpc>
              <a:buNone/>
            </a:pPr>
            <a:r>
              <a:rPr lang="en-US" sz="1050" dirty="0">
                <a:solidFill>
                  <a:srgbClr val="5B6B8C"/>
                </a:solidFill>
                <a:latin typeface="Calibri" pitchFamily="34" charset="0"/>
                <a:ea typeface="Calibri" pitchFamily="34" charset="-122"/>
                <a:cs typeface="Calibri" pitchFamily="34" charset="-120"/>
              </a:rPr>
              <a:t>Trust exists with the correct direction for the access required.</a:t>
            </a:r>
            <a:endParaRPr lang="en-US" sz="1250" dirty="0"/>
          </a:p>
        </p:txBody>
      </p:sp>
      <p:sp>
        <p:nvSpPr>
          <p:cNvPr id="12" name="Shape 8"/>
          <p:cNvSpPr/>
          <p:nvPr/>
        </p:nvSpPr>
        <p:spPr>
          <a:xfrm>
            <a:off x="5650992" y="1938528"/>
            <a:ext cx="256032" cy="256032"/>
          </a:xfrm>
          <a:prstGeom prst="roundRect">
            <a:avLst>
              <a:gd name="adj" fmla="val 17857"/>
            </a:avLst>
          </a:prstGeom>
          <a:solidFill>
            <a:srgbClr val="FFFFFF"/>
          </a:solidFill>
          <a:ln w="15875">
            <a:solidFill>
              <a:srgbClr val="4A6FA5"/>
            </a:solidFill>
            <a:prstDash val="solid"/>
          </a:ln>
        </p:spPr>
      </p:sp>
      <p:sp>
        <p:nvSpPr>
          <p:cNvPr id="13" name="Shape 9"/>
          <p:cNvSpPr/>
          <p:nvPr/>
        </p:nvSpPr>
        <p:spPr>
          <a:xfrm>
            <a:off x="548640" y="2587752"/>
            <a:ext cx="5486400" cy="749808"/>
          </a:xfrm>
          <a:prstGeom prst="roundRect">
            <a:avLst>
              <a:gd name="adj" fmla="val 9756"/>
            </a:avLst>
          </a:prstGeom>
          <a:solidFill>
            <a:srgbClr val="F4F7FC"/>
          </a:solidFill>
          <a:ln w="12700">
            <a:solidFill>
              <a:srgbClr val="DCE4F2"/>
            </a:solidFill>
            <a:prstDash val="solid"/>
          </a:ln>
        </p:spPr>
      </p:sp>
      <p:sp>
        <p:nvSpPr>
          <p:cNvPr id="14" name="Shape 10"/>
          <p:cNvSpPr/>
          <p:nvPr/>
        </p:nvSpPr>
        <p:spPr>
          <a:xfrm>
            <a:off x="694944" y="2715768"/>
            <a:ext cx="475488" cy="475488"/>
          </a:xfrm>
          <a:prstGeom prst="roundRect">
            <a:avLst>
              <a:gd name="adj" fmla="val 22000"/>
            </a:avLst>
          </a:prstGeom>
          <a:solidFill>
            <a:srgbClr val="FFFFFF"/>
          </a:solidFill>
          <a:ln/>
          <a:effectLst>
            <a:outerShdw sx="100000" sy="100000" kx="0" ky="0" algn="bl" rotWithShape="0" blurRad="63500" dist="25400" dir="5400000">
              <a:srgbClr val="A9B4C8">
                <a:alpha val="22000"/>
              </a:srgbClr>
            </a:outerShdw>
          </a:effectLst>
        </p:spPr>
      </p:sp>
      <p:pic>
        <p:nvPicPr>
          <p:cNvPr id="15" name="Image 2" descr="preencoded.png">    </p:cNvPr>
          <p:cNvPicPr>
            <a:picLocks noChangeAspect="1"/>
          </p:cNvPicPr>
          <p:nvPr/>
        </p:nvPicPr>
        <p:blipFill>
          <a:blip r:embed="rId3"/>
          <a:stretch>
            <a:fillRect/>
          </a:stretch>
        </p:blipFill>
        <p:spPr>
          <a:xfrm>
            <a:off x="790042" y="2810866"/>
            <a:ext cx="285293" cy="285293"/>
          </a:xfrm>
          <a:prstGeom prst="rect">
            <a:avLst/>
          </a:prstGeom>
        </p:spPr>
      </p:pic>
      <p:sp>
        <p:nvSpPr>
          <p:cNvPr id="16" name="Text 11"/>
          <p:cNvSpPr/>
          <p:nvPr/>
        </p:nvSpPr>
        <p:spPr>
          <a:xfrm>
            <a:off x="1298448" y="2606040"/>
            <a:ext cx="4251960" cy="713232"/>
          </a:xfrm>
          <a:prstGeom prst="rect">
            <a:avLst/>
          </a:prstGeom>
          <a:noFill/>
          <a:ln/>
        </p:spPr>
        <p:txBody>
          <a:bodyPr wrap="square" rtlCol="0" anchor="ctr"/>
          <a:lstStyle/>
          <a:p>
            <a:pPr indent="0" marL="0">
              <a:lnSpc>
                <a:spcPct val="100000"/>
              </a:lnSpc>
              <a:buNone/>
            </a:pPr>
            <a:r>
              <a:rPr lang="en-US" sz="1250" b="1" dirty="0">
                <a:solidFill>
                  <a:srgbClr val="1E2761"/>
                </a:solidFill>
                <a:latin typeface="Calibri" pitchFamily="34" charset="0"/>
                <a:ea typeface="Calibri" pitchFamily="34" charset="-122"/>
                <a:cs typeface="Calibri" pitchFamily="34" charset="-120"/>
              </a:rPr>
              <a:t>Name resolution working
</a:t>
            </a:r>
            <a:pPr indent="0" marL="0">
              <a:lnSpc>
                <a:spcPct val="100000"/>
              </a:lnSpc>
              <a:buNone/>
            </a:pPr>
            <a:r>
              <a:rPr lang="en-US" sz="1050" dirty="0">
                <a:solidFill>
                  <a:srgbClr val="5B6B8C"/>
                </a:solidFill>
                <a:latin typeface="Calibri" pitchFamily="34" charset="0"/>
                <a:ea typeface="Calibri" pitchFamily="34" charset="-122"/>
                <a:cs typeface="Calibri" pitchFamily="34" charset="-120"/>
              </a:rPr>
              <a:t>DNS resolves across all forests and domains involved.</a:t>
            </a:r>
            <a:endParaRPr lang="en-US" sz="1250" dirty="0"/>
          </a:p>
        </p:txBody>
      </p:sp>
      <p:sp>
        <p:nvSpPr>
          <p:cNvPr id="17" name="Shape 12"/>
          <p:cNvSpPr/>
          <p:nvPr/>
        </p:nvSpPr>
        <p:spPr>
          <a:xfrm>
            <a:off x="5650992" y="2834640"/>
            <a:ext cx="256032" cy="256032"/>
          </a:xfrm>
          <a:prstGeom prst="roundRect">
            <a:avLst>
              <a:gd name="adj" fmla="val 17857"/>
            </a:avLst>
          </a:prstGeom>
          <a:solidFill>
            <a:srgbClr val="FFFFFF"/>
          </a:solidFill>
          <a:ln w="15875">
            <a:solidFill>
              <a:srgbClr val="4A6FA5"/>
            </a:solidFill>
            <a:prstDash val="solid"/>
          </a:ln>
        </p:spPr>
      </p:sp>
      <p:sp>
        <p:nvSpPr>
          <p:cNvPr id="18" name="Shape 13"/>
          <p:cNvSpPr/>
          <p:nvPr/>
        </p:nvSpPr>
        <p:spPr>
          <a:xfrm>
            <a:off x="548640" y="3483864"/>
            <a:ext cx="5486400" cy="749808"/>
          </a:xfrm>
          <a:prstGeom prst="roundRect">
            <a:avLst>
              <a:gd name="adj" fmla="val 9756"/>
            </a:avLst>
          </a:prstGeom>
          <a:solidFill>
            <a:srgbClr val="F4F7FC"/>
          </a:solidFill>
          <a:ln w="12700">
            <a:solidFill>
              <a:srgbClr val="DCE4F2"/>
            </a:solidFill>
            <a:prstDash val="solid"/>
          </a:ln>
        </p:spPr>
      </p:sp>
      <p:sp>
        <p:nvSpPr>
          <p:cNvPr id="19" name="Shape 14"/>
          <p:cNvSpPr/>
          <p:nvPr/>
        </p:nvSpPr>
        <p:spPr>
          <a:xfrm>
            <a:off x="694944" y="3611880"/>
            <a:ext cx="475488" cy="475488"/>
          </a:xfrm>
          <a:prstGeom prst="roundRect">
            <a:avLst>
              <a:gd name="adj" fmla="val 22000"/>
            </a:avLst>
          </a:prstGeom>
          <a:solidFill>
            <a:srgbClr val="FFFFFF"/>
          </a:solidFill>
          <a:ln/>
          <a:effectLst>
            <a:outerShdw sx="100000" sy="100000" kx="0" ky="0" algn="bl" rotWithShape="0" blurRad="63500" dist="25400" dir="5400000">
              <a:srgbClr val="A9B4C8">
                <a:alpha val="22000"/>
              </a:srgbClr>
            </a:outerShdw>
          </a:effectLst>
        </p:spPr>
      </p:sp>
      <p:pic>
        <p:nvPicPr>
          <p:cNvPr id="20" name="Image 3" descr="preencoded.png">    </p:cNvPr>
          <p:cNvPicPr>
            <a:picLocks noChangeAspect="1"/>
          </p:cNvPicPr>
          <p:nvPr/>
        </p:nvPicPr>
        <p:blipFill>
          <a:blip r:embed="rId4"/>
          <a:stretch>
            <a:fillRect/>
          </a:stretch>
        </p:blipFill>
        <p:spPr>
          <a:xfrm>
            <a:off x="790042" y="3706978"/>
            <a:ext cx="285293" cy="285293"/>
          </a:xfrm>
          <a:prstGeom prst="rect">
            <a:avLst/>
          </a:prstGeom>
        </p:spPr>
      </p:pic>
      <p:sp>
        <p:nvSpPr>
          <p:cNvPr id="21" name="Text 15"/>
          <p:cNvSpPr/>
          <p:nvPr/>
        </p:nvSpPr>
        <p:spPr>
          <a:xfrm>
            <a:off x="1298448" y="3502152"/>
            <a:ext cx="4251960" cy="713232"/>
          </a:xfrm>
          <a:prstGeom prst="rect">
            <a:avLst/>
          </a:prstGeom>
          <a:noFill/>
          <a:ln/>
        </p:spPr>
        <p:txBody>
          <a:bodyPr wrap="square" rtlCol="0" anchor="ctr"/>
          <a:lstStyle/>
          <a:p>
            <a:pPr indent="0" marL="0">
              <a:lnSpc>
                <a:spcPct val="100000"/>
              </a:lnSpc>
              <a:buNone/>
            </a:pPr>
            <a:r>
              <a:rPr lang="en-US" sz="1250" b="1" dirty="0">
                <a:solidFill>
                  <a:srgbClr val="1E2761"/>
                </a:solidFill>
                <a:latin typeface="Calibri" pitchFamily="34" charset="0"/>
                <a:ea typeface="Calibri" pitchFamily="34" charset="-122"/>
                <a:cs typeface="Calibri" pitchFamily="34" charset="-120"/>
              </a:rPr>
              <a:t>Network connectivity validated
</a:t>
            </a:r>
            <a:pPr indent="0" marL="0">
              <a:lnSpc>
                <a:spcPct val="100000"/>
              </a:lnSpc>
              <a:buNone/>
            </a:pPr>
            <a:r>
              <a:rPr lang="en-US" sz="1050" dirty="0">
                <a:solidFill>
                  <a:srgbClr val="5B6B8C"/>
                </a:solidFill>
                <a:latin typeface="Calibri" pitchFamily="34" charset="0"/>
                <a:ea typeface="Calibri" pitchFamily="34" charset="-122"/>
                <a:cs typeface="Calibri" pitchFamily="34" charset="-120"/>
              </a:rPr>
              <a:t>Jump hosts ↔ domain controllers ↔ managed servers reachable.</a:t>
            </a:r>
            <a:endParaRPr lang="en-US" sz="1250" dirty="0"/>
          </a:p>
        </p:txBody>
      </p:sp>
      <p:sp>
        <p:nvSpPr>
          <p:cNvPr id="22" name="Shape 16"/>
          <p:cNvSpPr/>
          <p:nvPr/>
        </p:nvSpPr>
        <p:spPr>
          <a:xfrm>
            <a:off x="5650992" y="3730752"/>
            <a:ext cx="256032" cy="256032"/>
          </a:xfrm>
          <a:prstGeom prst="roundRect">
            <a:avLst>
              <a:gd name="adj" fmla="val 17857"/>
            </a:avLst>
          </a:prstGeom>
          <a:solidFill>
            <a:srgbClr val="FFFFFF"/>
          </a:solidFill>
          <a:ln w="15875">
            <a:solidFill>
              <a:srgbClr val="4A6FA5"/>
            </a:solidFill>
            <a:prstDash val="solid"/>
          </a:ln>
        </p:spPr>
      </p:sp>
      <p:sp>
        <p:nvSpPr>
          <p:cNvPr id="23" name="Shape 17"/>
          <p:cNvSpPr/>
          <p:nvPr/>
        </p:nvSpPr>
        <p:spPr>
          <a:xfrm>
            <a:off x="548640" y="4379976"/>
            <a:ext cx="5486400" cy="749808"/>
          </a:xfrm>
          <a:prstGeom prst="roundRect">
            <a:avLst>
              <a:gd name="adj" fmla="val 9756"/>
            </a:avLst>
          </a:prstGeom>
          <a:solidFill>
            <a:srgbClr val="F4F7FC"/>
          </a:solidFill>
          <a:ln w="12700">
            <a:solidFill>
              <a:srgbClr val="DCE4F2"/>
            </a:solidFill>
            <a:prstDash val="solid"/>
          </a:ln>
        </p:spPr>
      </p:sp>
      <p:sp>
        <p:nvSpPr>
          <p:cNvPr id="24" name="Shape 18"/>
          <p:cNvSpPr/>
          <p:nvPr/>
        </p:nvSpPr>
        <p:spPr>
          <a:xfrm>
            <a:off x="694944" y="4507992"/>
            <a:ext cx="475488" cy="475488"/>
          </a:xfrm>
          <a:prstGeom prst="roundRect">
            <a:avLst>
              <a:gd name="adj" fmla="val 22000"/>
            </a:avLst>
          </a:prstGeom>
          <a:solidFill>
            <a:srgbClr val="FFFFFF"/>
          </a:solidFill>
          <a:ln/>
          <a:effectLst>
            <a:outerShdw sx="100000" sy="100000" kx="0" ky="0" algn="bl" rotWithShape="0" blurRad="63500" dist="25400" dir="5400000">
              <a:srgbClr val="A9B4C8">
                <a:alpha val="22000"/>
              </a:srgbClr>
            </a:outerShdw>
          </a:effectLst>
        </p:spPr>
      </p:sp>
      <p:pic>
        <p:nvPicPr>
          <p:cNvPr id="25" name="Image 4" descr="preencoded.png">    </p:cNvPr>
          <p:cNvPicPr>
            <a:picLocks noChangeAspect="1"/>
          </p:cNvPicPr>
          <p:nvPr/>
        </p:nvPicPr>
        <p:blipFill>
          <a:blip r:embed="rId5"/>
          <a:stretch>
            <a:fillRect/>
          </a:stretch>
        </p:blipFill>
        <p:spPr>
          <a:xfrm>
            <a:off x="790042" y="4603090"/>
            <a:ext cx="285293" cy="285293"/>
          </a:xfrm>
          <a:prstGeom prst="rect">
            <a:avLst/>
          </a:prstGeom>
        </p:spPr>
      </p:pic>
      <p:sp>
        <p:nvSpPr>
          <p:cNvPr id="26" name="Text 19"/>
          <p:cNvSpPr/>
          <p:nvPr/>
        </p:nvSpPr>
        <p:spPr>
          <a:xfrm>
            <a:off x="1298448" y="4398264"/>
            <a:ext cx="4251960" cy="713232"/>
          </a:xfrm>
          <a:prstGeom prst="rect">
            <a:avLst/>
          </a:prstGeom>
          <a:noFill/>
          <a:ln/>
        </p:spPr>
        <p:txBody>
          <a:bodyPr wrap="square" rtlCol="0" anchor="ctr"/>
          <a:lstStyle/>
          <a:p>
            <a:pPr indent="0" marL="0">
              <a:lnSpc>
                <a:spcPct val="100000"/>
              </a:lnSpc>
              <a:buNone/>
            </a:pPr>
            <a:r>
              <a:rPr lang="en-US" sz="1250" b="1" dirty="0">
                <a:solidFill>
                  <a:srgbClr val="1E2761"/>
                </a:solidFill>
                <a:latin typeface="Calibri" pitchFamily="34" charset="0"/>
                <a:ea typeface="Calibri" pitchFamily="34" charset="-122"/>
                <a:cs typeface="Calibri" pitchFamily="34" charset="-120"/>
              </a:rPr>
              <a:t>Time synchronisation healthy
</a:t>
            </a:r>
            <a:pPr indent="0" marL="0">
              <a:lnSpc>
                <a:spcPct val="100000"/>
              </a:lnSpc>
              <a:buNone/>
            </a:pPr>
            <a:r>
              <a:rPr lang="en-US" sz="1050" dirty="0">
                <a:solidFill>
                  <a:srgbClr val="5B6B8C"/>
                </a:solidFill>
                <a:latin typeface="Calibri" pitchFamily="34" charset="0"/>
                <a:ea typeface="Calibri" pitchFamily="34" charset="-122"/>
                <a:cs typeface="Calibri" pitchFamily="34" charset="-120"/>
              </a:rPr>
              <a:t>Kerberos-safe time skew across all domains.</a:t>
            </a:r>
            <a:endParaRPr lang="en-US" sz="1250" dirty="0"/>
          </a:p>
        </p:txBody>
      </p:sp>
      <p:sp>
        <p:nvSpPr>
          <p:cNvPr id="27" name="Shape 20"/>
          <p:cNvSpPr/>
          <p:nvPr/>
        </p:nvSpPr>
        <p:spPr>
          <a:xfrm>
            <a:off x="5650992" y="4626864"/>
            <a:ext cx="256032" cy="256032"/>
          </a:xfrm>
          <a:prstGeom prst="roundRect">
            <a:avLst>
              <a:gd name="adj" fmla="val 17857"/>
            </a:avLst>
          </a:prstGeom>
          <a:solidFill>
            <a:srgbClr val="FFFFFF"/>
          </a:solidFill>
          <a:ln w="15875">
            <a:solidFill>
              <a:srgbClr val="4A6FA5"/>
            </a:solidFill>
            <a:prstDash val="solid"/>
          </a:ln>
        </p:spPr>
      </p:sp>
      <p:sp>
        <p:nvSpPr>
          <p:cNvPr id="28" name="Shape 21"/>
          <p:cNvSpPr/>
          <p:nvPr/>
        </p:nvSpPr>
        <p:spPr>
          <a:xfrm>
            <a:off x="548640" y="5276088"/>
            <a:ext cx="5486400" cy="749808"/>
          </a:xfrm>
          <a:prstGeom prst="roundRect">
            <a:avLst>
              <a:gd name="adj" fmla="val 9756"/>
            </a:avLst>
          </a:prstGeom>
          <a:solidFill>
            <a:srgbClr val="F4F7FC"/>
          </a:solidFill>
          <a:ln w="12700">
            <a:solidFill>
              <a:srgbClr val="DCE4F2"/>
            </a:solidFill>
            <a:prstDash val="solid"/>
          </a:ln>
        </p:spPr>
      </p:sp>
      <p:sp>
        <p:nvSpPr>
          <p:cNvPr id="29" name="Shape 22"/>
          <p:cNvSpPr/>
          <p:nvPr/>
        </p:nvSpPr>
        <p:spPr>
          <a:xfrm>
            <a:off x="694944" y="5404104"/>
            <a:ext cx="475488" cy="475488"/>
          </a:xfrm>
          <a:prstGeom prst="roundRect">
            <a:avLst>
              <a:gd name="adj" fmla="val 22000"/>
            </a:avLst>
          </a:prstGeom>
          <a:solidFill>
            <a:srgbClr val="FFFFFF"/>
          </a:solidFill>
          <a:ln/>
          <a:effectLst>
            <a:outerShdw sx="100000" sy="100000" kx="0" ky="0" algn="bl" rotWithShape="0" blurRad="63500" dist="25400" dir="5400000">
              <a:srgbClr val="A9B4C8">
                <a:alpha val="22000"/>
              </a:srgbClr>
            </a:outerShdw>
          </a:effectLst>
        </p:spPr>
      </p:sp>
      <p:pic>
        <p:nvPicPr>
          <p:cNvPr id="30" name="Image 5" descr="preencoded.png">    </p:cNvPr>
          <p:cNvPicPr>
            <a:picLocks noChangeAspect="1"/>
          </p:cNvPicPr>
          <p:nvPr/>
        </p:nvPicPr>
        <p:blipFill>
          <a:blip r:embed="rId6"/>
          <a:stretch>
            <a:fillRect/>
          </a:stretch>
        </p:blipFill>
        <p:spPr>
          <a:xfrm>
            <a:off x="790042" y="5499202"/>
            <a:ext cx="285293" cy="285293"/>
          </a:xfrm>
          <a:prstGeom prst="rect">
            <a:avLst/>
          </a:prstGeom>
        </p:spPr>
      </p:pic>
      <p:sp>
        <p:nvSpPr>
          <p:cNvPr id="31" name="Text 23"/>
          <p:cNvSpPr/>
          <p:nvPr/>
        </p:nvSpPr>
        <p:spPr>
          <a:xfrm>
            <a:off x="1298448" y="5294376"/>
            <a:ext cx="4251960" cy="713232"/>
          </a:xfrm>
          <a:prstGeom prst="rect">
            <a:avLst/>
          </a:prstGeom>
          <a:noFill/>
          <a:ln/>
        </p:spPr>
        <p:txBody>
          <a:bodyPr wrap="square" rtlCol="0" anchor="ctr"/>
          <a:lstStyle/>
          <a:p>
            <a:pPr indent="0" marL="0">
              <a:lnSpc>
                <a:spcPct val="100000"/>
              </a:lnSpc>
              <a:buNone/>
            </a:pPr>
            <a:r>
              <a:rPr lang="en-US" sz="1250" b="1" dirty="0">
                <a:solidFill>
                  <a:srgbClr val="1E2761"/>
                </a:solidFill>
                <a:latin typeface="Calibri" pitchFamily="34" charset="0"/>
                <a:ea typeface="Calibri" pitchFamily="34" charset="-122"/>
                <a:cs typeface="Calibri" pitchFamily="34" charset="-120"/>
              </a:rPr>
              <a:t>AD admin permissions approved
</a:t>
            </a:r>
            <a:pPr indent="0" marL="0">
              <a:lnSpc>
                <a:spcPct val="100000"/>
              </a:lnSpc>
              <a:buNone/>
            </a:pPr>
            <a:r>
              <a:rPr lang="en-US" sz="1050" dirty="0">
                <a:solidFill>
                  <a:srgbClr val="5B6B8C"/>
                </a:solidFill>
                <a:latin typeface="Calibri" pitchFamily="34" charset="0"/>
                <a:ea typeface="Calibri" pitchFamily="34" charset="-122"/>
                <a:cs typeface="Calibri" pitchFamily="34" charset="-120"/>
              </a:rPr>
              <a:t>Required delegated rights signed off for the change.</a:t>
            </a:r>
            <a:endParaRPr lang="en-US" sz="1250" dirty="0"/>
          </a:p>
        </p:txBody>
      </p:sp>
      <p:sp>
        <p:nvSpPr>
          <p:cNvPr id="32" name="Shape 24"/>
          <p:cNvSpPr/>
          <p:nvPr/>
        </p:nvSpPr>
        <p:spPr>
          <a:xfrm>
            <a:off x="5650992" y="5522976"/>
            <a:ext cx="256032" cy="256032"/>
          </a:xfrm>
          <a:prstGeom prst="roundRect">
            <a:avLst>
              <a:gd name="adj" fmla="val 17857"/>
            </a:avLst>
          </a:prstGeom>
          <a:solidFill>
            <a:srgbClr val="FFFFFF"/>
          </a:solidFill>
          <a:ln w="15875">
            <a:solidFill>
              <a:srgbClr val="4A6FA5"/>
            </a:solidFill>
            <a:prstDash val="solid"/>
          </a:ln>
        </p:spPr>
      </p:sp>
      <p:sp>
        <p:nvSpPr>
          <p:cNvPr id="33" name="Shape 25"/>
          <p:cNvSpPr/>
          <p:nvPr/>
        </p:nvSpPr>
        <p:spPr>
          <a:xfrm>
            <a:off x="6537960" y="1691640"/>
            <a:ext cx="5486400" cy="749808"/>
          </a:xfrm>
          <a:prstGeom prst="roundRect">
            <a:avLst>
              <a:gd name="adj" fmla="val 9756"/>
            </a:avLst>
          </a:prstGeom>
          <a:solidFill>
            <a:srgbClr val="F4F7FC"/>
          </a:solidFill>
          <a:ln w="12700">
            <a:solidFill>
              <a:srgbClr val="DCE4F2"/>
            </a:solidFill>
            <a:prstDash val="solid"/>
          </a:ln>
        </p:spPr>
      </p:sp>
      <p:sp>
        <p:nvSpPr>
          <p:cNvPr id="34" name="Shape 26"/>
          <p:cNvSpPr/>
          <p:nvPr/>
        </p:nvSpPr>
        <p:spPr>
          <a:xfrm>
            <a:off x="6684264" y="1819656"/>
            <a:ext cx="475488" cy="475488"/>
          </a:xfrm>
          <a:prstGeom prst="roundRect">
            <a:avLst>
              <a:gd name="adj" fmla="val 22000"/>
            </a:avLst>
          </a:prstGeom>
          <a:solidFill>
            <a:srgbClr val="FFFFFF"/>
          </a:solidFill>
          <a:ln/>
          <a:effectLst>
            <a:outerShdw sx="100000" sy="100000" kx="0" ky="0" algn="bl" rotWithShape="0" blurRad="63500" dist="25400" dir="5400000">
              <a:srgbClr val="A9B4C8">
                <a:alpha val="22000"/>
              </a:srgbClr>
            </a:outerShdw>
          </a:effectLst>
        </p:spPr>
      </p:sp>
      <p:pic>
        <p:nvPicPr>
          <p:cNvPr id="35" name="Image 6" descr="preencoded.png">    </p:cNvPr>
          <p:cNvPicPr>
            <a:picLocks noChangeAspect="1"/>
          </p:cNvPicPr>
          <p:nvPr/>
        </p:nvPicPr>
        <p:blipFill>
          <a:blip r:embed="rId7"/>
          <a:stretch>
            <a:fillRect/>
          </a:stretch>
        </p:blipFill>
        <p:spPr>
          <a:xfrm>
            <a:off x="6779362" y="1914754"/>
            <a:ext cx="285293" cy="285293"/>
          </a:xfrm>
          <a:prstGeom prst="rect">
            <a:avLst/>
          </a:prstGeom>
        </p:spPr>
      </p:pic>
      <p:sp>
        <p:nvSpPr>
          <p:cNvPr id="36" name="Text 27"/>
          <p:cNvSpPr/>
          <p:nvPr/>
        </p:nvSpPr>
        <p:spPr>
          <a:xfrm>
            <a:off x="7287768" y="1709928"/>
            <a:ext cx="4251960" cy="713232"/>
          </a:xfrm>
          <a:prstGeom prst="rect">
            <a:avLst/>
          </a:prstGeom>
          <a:noFill/>
          <a:ln/>
        </p:spPr>
        <p:txBody>
          <a:bodyPr wrap="square" rtlCol="0" anchor="ctr"/>
          <a:lstStyle/>
          <a:p>
            <a:pPr indent="0" marL="0">
              <a:lnSpc>
                <a:spcPct val="100000"/>
              </a:lnSpc>
              <a:buNone/>
            </a:pPr>
            <a:r>
              <a:rPr lang="en-US" sz="1250" b="1" dirty="0">
                <a:solidFill>
                  <a:srgbClr val="1E2761"/>
                </a:solidFill>
                <a:latin typeface="Calibri" pitchFamily="34" charset="0"/>
                <a:ea typeface="Calibri" pitchFamily="34" charset="-122"/>
                <a:cs typeface="Calibri" pitchFamily="34" charset="-120"/>
              </a:rPr>
              <a:t>GPO change window approved
</a:t>
            </a:r>
            <a:pPr indent="0" marL="0">
              <a:lnSpc>
                <a:spcPct val="100000"/>
              </a:lnSpc>
              <a:buNone/>
            </a:pPr>
            <a:r>
              <a:rPr lang="en-US" sz="1050" dirty="0">
                <a:solidFill>
                  <a:srgbClr val="5B6B8C"/>
                </a:solidFill>
                <a:latin typeface="Calibri" pitchFamily="34" charset="0"/>
                <a:ea typeface="Calibri" pitchFamily="34" charset="-122"/>
                <a:cs typeface="Calibri" pitchFamily="34" charset="-120"/>
              </a:rPr>
              <a:t>Maintenance window secured for policy updates.</a:t>
            </a:r>
            <a:endParaRPr lang="en-US" sz="1250" dirty="0"/>
          </a:p>
        </p:txBody>
      </p:sp>
      <p:sp>
        <p:nvSpPr>
          <p:cNvPr id="37" name="Shape 28"/>
          <p:cNvSpPr/>
          <p:nvPr/>
        </p:nvSpPr>
        <p:spPr>
          <a:xfrm>
            <a:off x="11640312" y="1938528"/>
            <a:ext cx="256032" cy="256032"/>
          </a:xfrm>
          <a:prstGeom prst="roundRect">
            <a:avLst>
              <a:gd name="adj" fmla="val 17857"/>
            </a:avLst>
          </a:prstGeom>
          <a:solidFill>
            <a:srgbClr val="FFFFFF"/>
          </a:solidFill>
          <a:ln w="15875">
            <a:solidFill>
              <a:srgbClr val="4A6FA5"/>
            </a:solidFill>
            <a:prstDash val="solid"/>
          </a:ln>
        </p:spPr>
      </p:sp>
      <p:sp>
        <p:nvSpPr>
          <p:cNvPr id="38" name="Shape 29"/>
          <p:cNvSpPr/>
          <p:nvPr/>
        </p:nvSpPr>
        <p:spPr>
          <a:xfrm>
            <a:off x="6537960" y="2587752"/>
            <a:ext cx="5486400" cy="749808"/>
          </a:xfrm>
          <a:prstGeom prst="roundRect">
            <a:avLst>
              <a:gd name="adj" fmla="val 9756"/>
            </a:avLst>
          </a:prstGeom>
          <a:solidFill>
            <a:srgbClr val="F4F7FC"/>
          </a:solidFill>
          <a:ln w="12700">
            <a:solidFill>
              <a:srgbClr val="DCE4F2"/>
            </a:solidFill>
            <a:prstDash val="solid"/>
          </a:ln>
        </p:spPr>
      </p:sp>
      <p:sp>
        <p:nvSpPr>
          <p:cNvPr id="39" name="Shape 30"/>
          <p:cNvSpPr/>
          <p:nvPr/>
        </p:nvSpPr>
        <p:spPr>
          <a:xfrm>
            <a:off x="6684264" y="2715768"/>
            <a:ext cx="475488" cy="475488"/>
          </a:xfrm>
          <a:prstGeom prst="roundRect">
            <a:avLst>
              <a:gd name="adj" fmla="val 22000"/>
            </a:avLst>
          </a:prstGeom>
          <a:solidFill>
            <a:srgbClr val="FFFFFF"/>
          </a:solidFill>
          <a:ln/>
          <a:effectLst>
            <a:outerShdw sx="100000" sy="100000" kx="0" ky="0" algn="bl" rotWithShape="0" blurRad="63500" dist="25400" dir="5400000">
              <a:srgbClr val="A9B4C8">
                <a:alpha val="22000"/>
              </a:srgbClr>
            </a:outerShdw>
          </a:effectLst>
        </p:spPr>
      </p:sp>
      <p:pic>
        <p:nvPicPr>
          <p:cNvPr id="40" name="Image 7" descr="preencoded.png">    </p:cNvPr>
          <p:cNvPicPr>
            <a:picLocks noChangeAspect="1"/>
          </p:cNvPicPr>
          <p:nvPr/>
        </p:nvPicPr>
        <p:blipFill>
          <a:blip r:embed="rId8"/>
          <a:stretch>
            <a:fillRect/>
          </a:stretch>
        </p:blipFill>
        <p:spPr>
          <a:xfrm>
            <a:off x="6779362" y="2810866"/>
            <a:ext cx="285293" cy="285293"/>
          </a:xfrm>
          <a:prstGeom prst="rect">
            <a:avLst/>
          </a:prstGeom>
        </p:spPr>
      </p:pic>
      <p:sp>
        <p:nvSpPr>
          <p:cNvPr id="41" name="Text 31"/>
          <p:cNvSpPr/>
          <p:nvPr/>
        </p:nvSpPr>
        <p:spPr>
          <a:xfrm>
            <a:off x="7287768" y="2606040"/>
            <a:ext cx="4251960" cy="713232"/>
          </a:xfrm>
          <a:prstGeom prst="rect">
            <a:avLst/>
          </a:prstGeom>
          <a:noFill/>
          <a:ln/>
        </p:spPr>
        <p:txBody>
          <a:bodyPr wrap="square" rtlCol="0" anchor="ctr"/>
          <a:lstStyle/>
          <a:p>
            <a:pPr indent="0" marL="0">
              <a:lnSpc>
                <a:spcPct val="100000"/>
              </a:lnSpc>
              <a:buNone/>
            </a:pPr>
            <a:r>
              <a:rPr lang="en-US" sz="1250" b="1" dirty="0">
                <a:solidFill>
                  <a:srgbClr val="1E2761"/>
                </a:solidFill>
                <a:latin typeface="Calibri" pitchFamily="34" charset="0"/>
                <a:ea typeface="Calibri" pitchFamily="34" charset="-122"/>
                <a:cs typeface="Calibri" pitchFamily="34" charset="-120"/>
              </a:rPr>
              <a:t>Security approval completed
</a:t>
            </a:r>
            <a:pPr indent="0" marL="0">
              <a:lnSpc>
                <a:spcPct val="100000"/>
              </a:lnSpc>
              <a:buNone/>
            </a:pPr>
            <a:r>
              <a:rPr lang="en-US" sz="1050" dirty="0">
                <a:solidFill>
                  <a:srgbClr val="5B6B8C"/>
                </a:solidFill>
                <a:latin typeface="Calibri" pitchFamily="34" charset="0"/>
                <a:ea typeface="Calibri" pitchFamily="34" charset="-122"/>
                <a:cs typeface="Calibri" pitchFamily="34" charset="-120"/>
              </a:rPr>
              <a:t>Privileged-access model reviewed and accepted by governance.</a:t>
            </a:r>
            <a:endParaRPr lang="en-US" sz="1250" dirty="0"/>
          </a:p>
        </p:txBody>
      </p:sp>
      <p:sp>
        <p:nvSpPr>
          <p:cNvPr id="42" name="Shape 32"/>
          <p:cNvSpPr/>
          <p:nvPr/>
        </p:nvSpPr>
        <p:spPr>
          <a:xfrm>
            <a:off x="11640312" y="2834640"/>
            <a:ext cx="256032" cy="256032"/>
          </a:xfrm>
          <a:prstGeom prst="roundRect">
            <a:avLst>
              <a:gd name="adj" fmla="val 17857"/>
            </a:avLst>
          </a:prstGeom>
          <a:solidFill>
            <a:srgbClr val="FFFFFF"/>
          </a:solidFill>
          <a:ln w="15875">
            <a:solidFill>
              <a:srgbClr val="4A6FA5"/>
            </a:solidFill>
            <a:prstDash val="solid"/>
          </a:ln>
        </p:spPr>
      </p:sp>
      <p:sp>
        <p:nvSpPr>
          <p:cNvPr id="43" name="Shape 33"/>
          <p:cNvSpPr/>
          <p:nvPr/>
        </p:nvSpPr>
        <p:spPr>
          <a:xfrm>
            <a:off x="6537960" y="3483864"/>
            <a:ext cx="5486400" cy="749808"/>
          </a:xfrm>
          <a:prstGeom prst="roundRect">
            <a:avLst>
              <a:gd name="adj" fmla="val 9756"/>
            </a:avLst>
          </a:prstGeom>
          <a:solidFill>
            <a:srgbClr val="F4F7FC"/>
          </a:solidFill>
          <a:ln w="12700">
            <a:solidFill>
              <a:srgbClr val="DCE4F2"/>
            </a:solidFill>
            <a:prstDash val="solid"/>
          </a:ln>
        </p:spPr>
      </p:sp>
      <p:sp>
        <p:nvSpPr>
          <p:cNvPr id="44" name="Shape 34"/>
          <p:cNvSpPr/>
          <p:nvPr/>
        </p:nvSpPr>
        <p:spPr>
          <a:xfrm>
            <a:off x="6684264" y="3611880"/>
            <a:ext cx="475488" cy="475488"/>
          </a:xfrm>
          <a:prstGeom prst="roundRect">
            <a:avLst>
              <a:gd name="adj" fmla="val 22000"/>
            </a:avLst>
          </a:prstGeom>
          <a:solidFill>
            <a:srgbClr val="FFFFFF"/>
          </a:solidFill>
          <a:ln/>
          <a:effectLst>
            <a:outerShdw sx="100000" sy="100000" kx="0" ky="0" algn="bl" rotWithShape="0" blurRad="63500" dist="25400" dir="5400000">
              <a:srgbClr val="A9B4C8">
                <a:alpha val="22000"/>
              </a:srgbClr>
            </a:outerShdw>
          </a:effectLst>
        </p:spPr>
      </p:sp>
      <p:pic>
        <p:nvPicPr>
          <p:cNvPr id="45" name="Image 8" descr="preencoded.png">    </p:cNvPr>
          <p:cNvPicPr>
            <a:picLocks noChangeAspect="1"/>
          </p:cNvPicPr>
          <p:nvPr/>
        </p:nvPicPr>
        <p:blipFill>
          <a:blip r:embed="rId9"/>
          <a:stretch>
            <a:fillRect/>
          </a:stretch>
        </p:blipFill>
        <p:spPr>
          <a:xfrm>
            <a:off x="6779362" y="3706978"/>
            <a:ext cx="285293" cy="285293"/>
          </a:xfrm>
          <a:prstGeom prst="rect">
            <a:avLst/>
          </a:prstGeom>
        </p:spPr>
      </p:pic>
      <p:sp>
        <p:nvSpPr>
          <p:cNvPr id="46" name="Text 35"/>
          <p:cNvSpPr/>
          <p:nvPr/>
        </p:nvSpPr>
        <p:spPr>
          <a:xfrm>
            <a:off x="7287768" y="3502152"/>
            <a:ext cx="4251960" cy="713232"/>
          </a:xfrm>
          <a:prstGeom prst="rect">
            <a:avLst/>
          </a:prstGeom>
          <a:noFill/>
          <a:ln/>
        </p:spPr>
        <p:txBody>
          <a:bodyPr wrap="square" rtlCol="0" anchor="ctr"/>
          <a:lstStyle/>
          <a:p>
            <a:pPr indent="0" marL="0">
              <a:lnSpc>
                <a:spcPct val="100000"/>
              </a:lnSpc>
              <a:buNone/>
            </a:pPr>
            <a:r>
              <a:rPr lang="en-US" sz="1250" b="1" dirty="0">
                <a:solidFill>
                  <a:srgbClr val="1E2761"/>
                </a:solidFill>
                <a:latin typeface="Calibri" pitchFamily="34" charset="0"/>
                <a:ea typeface="Calibri" pitchFamily="34" charset="-122"/>
                <a:cs typeface="Calibri" pitchFamily="34" charset="-120"/>
              </a:rPr>
              <a:t>Admin naming standard defined
</a:t>
            </a:r>
            <a:pPr indent="0" marL="0">
              <a:lnSpc>
                <a:spcPct val="100000"/>
              </a:lnSpc>
              <a:buNone/>
            </a:pPr>
            <a:r>
              <a:rPr lang="en-US" sz="1050" dirty="0">
                <a:solidFill>
                  <a:srgbClr val="5B6B8C"/>
                </a:solidFill>
                <a:latin typeface="Calibri" pitchFamily="34" charset="0"/>
                <a:ea typeface="Calibri" pitchFamily="34" charset="-122"/>
                <a:cs typeface="Calibri" pitchFamily="34" charset="-120"/>
              </a:rPr>
              <a:t>Separate privileged-account naming convention agreed.</a:t>
            </a:r>
            <a:endParaRPr lang="en-US" sz="1250" dirty="0"/>
          </a:p>
        </p:txBody>
      </p:sp>
      <p:sp>
        <p:nvSpPr>
          <p:cNvPr id="47" name="Shape 36"/>
          <p:cNvSpPr/>
          <p:nvPr/>
        </p:nvSpPr>
        <p:spPr>
          <a:xfrm>
            <a:off x="11640312" y="3730752"/>
            <a:ext cx="256032" cy="256032"/>
          </a:xfrm>
          <a:prstGeom prst="roundRect">
            <a:avLst>
              <a:gd name="adj" fmla="val 17857"/>
            </a:avLst>
          </a:prstGeom>
          <a:solidFill>
            <a:srgbClr val="FFFFFF"/>
          </a:solidFill>
          <a:ln w="15875">
            <a:solidFill>
              <a:srgbClr val="4A6FA5"/>
            </a:solidFill>
            <a:prstDash val="solid"/>
          </a:ln>
        </p:spPr>
      </p:sp>
      <p:sp>
        <p:nvSpPr>
          <p:cNvPr id="48" name="Shape 37"/>
          <p:cNvSpPr/>
          <p:nvPr/>
        </p:nvSpPr>
        <p:spPr>
          <a:xfrm>
            <a:off x="6537960" y="4379976"/>
            <a:ext cx="5486400" cy="749808"/>
          </a:xfrm>
          <a:prstGeom prst="roundRect">
            <a:avLst>
              <a:gd name="adj" fmla="val 9756"/>
            </a:avLst>
          </a:prstGeom>
          <a:solidFill>
            <a:srgbClr val="F4F7FC"/>
          </a:solidFill>
          <a:ln w="12700">
            <a:solidFill>
              <a:srgbClr val="DCE4F2"/>
            </a:solidFill>
            <a:prstDash val="solid"/>
          </a:ln>
        </p:spPr>
      </p:sp>
      <p:sp>
        <p:nvSpPr>
          <p:cNvPr id="49" name="Shape 38"/>
          <p:cNvSpPr/>
          <p:nvPr/>
        </p:nvSpPr>
        <p:spPr>
          <a:xfrm>
            <a:off x="6684264" y="4507992"/>
            <a:ext cx="475488" cy="475488"/>
          </a:xfrm>
          <a:prstGeom prst="roundRect">
            <a:avLst>
              <a:gd name="adj" fmla="val 22000"/>
            </a:avLst>
          </a:prstGeom>
          <a:solidFill>
            <a:srgbClr val="FFFFFF"/>
          </a:solidFill>
          <a:ln/>
          <a:effectLst>
            <a:outerShdw sx="100000" sy="100000" kx="0" ky="0" algn="bl" rotWithShape="0" blurRad="63500" dist="25400" dir="5400000">
              <a:srgbClr val="A9B4C8">
                <a:alpha val="22000"/>
              </a:srgbClr>
            </a:outerShdw>
          </a:effectLst>
        </p:spPr>
      </p:sp>
      <p:pic>
        <p:nvPicPr>
          <p:cNvPr id="50" name="Image 9" descr="preencoded.png">    </p:cNvPr>
          <p:cNvPicPr>
            <a:picLocks noChangeAspect="1"/>
          </p:cNvPicPr>
          <p:nvPr/>
        </p:nvPicPr>
        <p:blipFill>
          <a:blip r:embed="rId10"/>
          <a:stretch>
            <a:fillRect/>
          </a:stretch>
        </p:blipFill>
        <p:spPr>
          <a:xfrm>
            <a:off x="6779362" y="4603090"/>
            <a:ext cx="285293" cy="285293"/>
          </a:xfrm>
          <a:prstGeom prst="rect">
            <a:avLst/>
          </a:prstGeom>
        </p:spPr>
      </p:pic>
      <p:sp>
        <p:nvSpPr>
          <p:cNvPr id="51" name="Text 39"/>
          <p:cNvSpPr/>
          <p:nvPr/>
        </p:nvSpPr>
        <p:spPr>
          <a:xfrm>
            <a:off x="7287768" y="4398264"/>
            <a:ext cx="4251960" cy="713232"/>
          </a:xfrm>
          <a:prstGeom prst="rect">
            <a:avLst/>
          </a:prstGeom>
          <a:noFill/>
          <a:ln/>
        </p:spPr>
        <p:txBody>
          <a:bodyPr wrap="square" rtlCol="0" anchor="ctr"/>
          <a:lstStyle/>
          <a:p>
            <a:pPr indent="0" marL="0">
              <a:lnSpc>
                <a:spcPct val="100000"/>
              </a:lnSpc>
              <a:buNone/>
            </a:pPr>
            <a:r>
              <a:rPr lang="en-US" sz="1250" b="1" dirty="0">
                <a:solidFill>
                  <a:srgbClr val="1E2761"/>
                </a:solidFill>
                <a:latin typeface="Calibri" pitchFamily="34" charset="0"/>
                <a:ea typeface="Calibri" pitchFamily="34" charset="-122"/>
                <a:cs typeface="Calibri" pitchFamily="34" charset="-120"/>
              </a:rPr>
              <a:t>Target servers identified
</a:t>
            </a:r>
            <a:pPr indent="0" marL="0">
              <a:lnSpc>
                <a:spcPct val="100000"/>
              </a:lnSpc>
              <a:buNone/>
            </a:pPr>
            <a:r>
              <a:rPr lang="en-US" sz="1050" dirty="0">
                <a:solidFill>
                  <a:srgbClr val="5B6B8C"/>
                </a:solidFill>
                <a:latin typeface="Calibri" pitchFamily="34" charset="0"/>
                <a:ea typeface="Calibri" pitchFamily="34" charset="-122"/>
                <a:cs typeface="Calibri" pitchFamily="34" charset="-120"/>
              </a:rPr>
              <a:t>Exact hosts requiring RDP access enumerated.</a:t>
            </a:r>
            <a:endParaRPr lang="en-US" sz="1250" dirty="0"/>
          </a:p>
        </p:txBody>
      </p:sp>
      <p:sp>
        <p:nvSpPr>
          <p:cNvPr id="52" name="Shape 40"/>
          <p:cNvSpPr/>
          <p:nvPr/>
        </p:nvSpPr>
        <p:spPr>
          <a:xfrm>
            <a:off x="11640312" y="4626864"/>
            <a:ext cx="256032" cy="256032"/>
          </a:xfrm>
          <a:prstGeom prst="roundRect">
            <a:avLst>
              <a:gd name="adj" fmla="val 17857"/>
            </a:avLst>
          </a:prstGeom>
          <a:solidFill>
            <a:srgbClr val="FFFFFF"/>
          </a:solidFill>
          <a:ln w="15875">
            <a:solidFill>
              <a:srgbClr val="4A6FA5"/>
            </a:solidFill>
            <a:prstDash val="solid"/>
          </a:ln>
        </p:spPr>
      </p:sp>
      <p:sp>
        <p:nvSpPr>
          <p:cNvPr id="53" name="Shape 41"/>
          <p:cNvSpPr/>
          <p:nvPr/>
        </p:nvSpPr>
        <p:spPr>
          <a:xfrm>
            <a:off x="6537960" y="5276088"/>
            <a:ext cx="5486400" cy="749808"/>
          </a:xfrm>
          <a:prstGeom prst="roundRect">
            <a:avLst>
              <a:gd name="adj" fmla="val 9756"/>
            </a:avLst>
          </a:prstGeom>
          <a:solidFill>
            <a:srgbClr val="F4F7FC"/>
          </a:solidFill>
          <a:ln w="12700">
            <a:solidFill>
              <a:srgbClr val="DCE4F2"/>
            </a:solidFill>
            <a:prstDash val="solid"/>
          </a:ln>
        </p:spPr>
      </p:sp>
      <p:sp>
        <p:nvSpPr>
          <p:cNvPr id="54" name="Shape 42"/>
          <p:cNvSpPr/>
          <p:nvPr/>
        </p:nvSpPr>
        <p:spPr>
          <a:xfrm>
            <a:off x="6684264" y="5404104"/>
            <a:ext cx="475488" cy="475488"/>
          </a:xfrm>
          <a:prstGeom prst="roundRect">
            <a:avLst>
              <a:gd name="adj" fmla="val 22000"/>
            </a:avLst>
          </a:prstGeom>
          <a:solidFill>
            <a:srgbClr val="FFFFFF"/>
          </a:solidFill>
          <a:ln/>
          <a:effectLst>
            <a:outerShdw sx="100000" sy="100000" kx="0" ky="0" algn="bl" rotWithShape="0" blurRad="63500" dist="25400" dir="5400000">
              <a:srgbClr val="A9B4C8">
                <a:alpha val="22000"/>
              </a:srgbClr>
            </a:outerShdw>
          </a:effectLst>
        </p:spPr>
      </p:sp>
      <p:pic>
        <p:nvPicPr>
          <p:cNvPr id="55" name="Image 10" descr="preencoded.png">    </p:cNvPr>
          <p:cNvPicPr>
            <a:picLocks noChangeAspect="1"/>
          </p:cNvPicPr>
          <p:nvPr/>
        </p:nvPicPr>
        <p:blipFill>
          <a:blip r:embed="rId11"/>
          <a:stretch>
            <a:fillRect/>
          </a:stretch>
        </p:blipFill>
        <p:spPr>
          <a:xfrm>
            <a:off x="6779362" y="5499202"/>
            <a:ext cx="285293" cy="285293"/>
          </a:xfrm>
          <a:prstGeom prst="rect">
            <a:avLst/>
          </a:prstGeom>
        </p:spPr>
      </p:pic>
      <p:sp>
        <p:nvSpPr>
          <p:cNvPr id="56" name="Text 43"/>
          <p:cNvSpPr/>
          <p:nvPr/>
        </p:nvSpPr>
        <p:spPr>
          <a:xfrm>
            <a:off x="7287768" y="5294376"/>
            <a:ext cx="4251960" cy="713232"/>
          </a:xfrm>
          <a:prstGeom prst="rect">
            <a:avLst/>
          </a:prstGeom>
          <a:noFill/>
          <a:ln/>
        </p:spPr>
        <p:txBody>
          <a:bodyPr wrap="square" rtlCol="0" anchor="ctr"/>
          <a:lstStyle/>
          <a:p>
            <a:pPr indent="0" marL="0">
              <a:lnSpc>
                <a:spcPct val="100000"/>
              </a:lnSpc>
              <a:buNone/>
            </a:pPr>
            <a:r>
              <a:rPr lang="en-US" sz="1250" b="1" dirty="0">
                <a:solidFill>
                  <a:srgbClr val="1E2761"/>
                </a:solidFill>
                <a:latin typeface="Calibri" pitchFamily="34" charset="0"/>
                <a:ea typeface="Calibri" pitchFamily="34" charset="-122"/>
                <a:cs typeface="Calibri" pitchFamily="34" charset="-120"/>
              </a:rPr>
              <a:t>Target domains scoped
</a:t>
            </a:r>
            <a:pPr indent="0" marL="0">
              <a:lnSpc>
                <a:spcPct val="100000"/>
              </a:lnSpc>
              <a:buNone/>
            </a:pPr>
            <a:r>
              <a:rPr lang="en-US" sz="1050" dirty="0">
                <a:solidFill>
                  <a:srgbClr val="5B6B8C"/>
                </a:solidFill>
                <a:latin typeface="Calibri" pitchFamily="34" charset="0"/>
                <a:ea typeface="Calibri" pitchFamily="34" charset="-122"/>
                <a:cs typeface="Calibri" pitchFamily="34" charset="-120"/>
              </a:rPr>
              <a:t>Domains in delegated-admin scope confirmed.</a:t>
            </a:r>
            <a:endParaRPr lang="en-US" sz="1250" dirty="0"/>
          </a:p>
        </p:txBody>
      </p:sp>
      <p:sp>
        <p:nvSpPr>
          <p:cNvPr id="57" name="Shape 44"/>
          <p:cNvSpPr/>
          <p:nvPr/>
        </p:nvSpPr>
        <p:spPr>
          <a:xfrm>
            <a:off x="11640312" y="5522976"/>
            <a:ext cx="256032" cy="256032"/>
          </a:xfrm>
          <a:prstGeom prst="roundRect">
            <a:avLst>
              <a:gd name="adj" fmla="val 17857"/>
            </a:avLst>
          </a:prstGeom>
          <a:solidFill>
            <a:srgbClr val="FFFFFF"/>
          </a:solidFill>
          <a:ln w="15875">
            <a:solidFill>
              <a:srgbClr val="4A6FA5"/>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F0FE"/>
        </a:solidFill>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rtlCol="0" anchor="ctr"/>
          <a:lstStyle/>
          <a:p>
            <a:pPr algn="l" indent="0" marL="0">
              <a:buNone/>
            </a:pPr>
            <a:r>
              <a:rPr lang="en-US" sz="1200" b="1" spc="300" kern="0" dirty="0">
                <a:solidFill>
                  <a:srgbClr val="4A6FA5"/>
                </a:solidFill>
                <a:latin typeface="Calibri" pitchFamily="34" charset="0"/>
                <a:ea typeface="Calibri" pitchFamily="34" charset="-122"/>
                <a:cs typeface="Calibri" pitchFamily="34" charset="-120"/>
              </a:rPr>
              <a:t>DELIVERABLE B</a:t>
            </a:r>
            <a:endParaRPr lang="en-US" sz="1200" dirty="0"/>
          </a:p>
        </p:txBody>
      </p:sp>
      <p:sp>
        <p:nvSpPr>
          <p:cNvPr id="3" name="Text 1"/>
          <p:cNvSpPr/>
          <p:nvPr/>
        </p:nvSpPr>
        <p:spPr>
          <a:xfrm>
            <a:off x="548640" y="658368"/>
            <a:ext cx="10515600" cy="822960"/>
          </a:xfrm>
          <a:prstGeom prst="rect">
            <a:avLst/>
          </a:prstGeom>
          <a:noFill/>
          <a:ln/>
        </p:spPr>
        <p:txBody>
          <a:bodyPr wrap="square" rtlCol="0" anchor="ctr"/>
          <a:lstStyle/>
          <a:p>
            <a:pPr algn="l" indent="0" marL="0">
              <a:buNone/>
            </a:pPr>
            <a:r>
              <a:rPr lang="en-US" sz="3200" b="1" dirty="0">
                <a:solidFill>
                  <a:srgbClr val="1E2761"/>
                </a:solidFill>
                <a:latin typeface="Century Schoolbook" pitchFamily="34" charset="0"/>
                <a:ea typeface="Century Schoolbook" pitchFamily="34" charset="-122"/>
                <a:cs typeface="Century Schoolbook" pitchFamily="34" charset="-120"/>
              </a:rPr>
              <a:t>Implementation checklist</a:t>
            </a:r>
            <a:endParaRPr lang="en-US" sz="3200" dirty="0"/>
          </a:p>
        </p:txBody>
      </p:sp>
      <p:sp>
        <p:nvSpPr>
          <p:cNvPr id="4" name="Text 2"/>
          <p:cNvSpPr/>
          <p:nvPr/>
        </p:nvSpPr>
        <p:spPr>
          <a:xfrm>
            <a:off x="11277295" y="6400800"/>
            <a:ext cx="457200" cy="274320"/>
          </a:xfrm>
          <a:prstGeom prst="rect">
            <a:avLst/>
          </a:prstGeom>
          <a:noFill/>
          <a:ln/>
        </p:spPr>
        <p:txBody>
          <a:bodyPr wrap="square" rtlCol="0" anchor="ctr"/>
          <a:lstStyle/>
          <a:p>
            <a:pPr algn="r" indent="0" marL="0">
              <a:buNone/>
            </a:pPr>
            <a:r>
              <a:rPr lang="en-US" sz="1000" dirty="0">
                <a:solidFill>
                  <a:srgbClr val="8593AC"/>
                </a:solidFill>
                <a:latin typeface="Calibri" pitchFamily="34" charset="0"/>
                <a:ea typeface="Calibri" pitchFamily="34" charset="-122"/>
                <a:cs typeface="Calibri" pitchFamily="34" charset="-120"/>
              </a:rPr>
              <a:t>09</a:t>
            </a:r>
            <a:endParaRPr lang="en-US" sz="1000" dirty="0"/>
          </a:p>
        </p:txBody>
      </p:sp>
      <p:sp>
        <p:nvSpPr>
          <p:cNvPr id="5" name="Text 3"/>
          <p:cNvSpPr/>
          <p:nvPr/>
        </p:nvSpPr>
        <p:spPr>
          <a:xfrm>
            <a:off x="548640" y="6400800"/>
            <a:ext cx="6400800" cy="274320"/>
          </a:xfrm>
          <a:prstGeom prst="rect">
            <a:avLst/>
          </a:prstGeom>
          <a:noFill/>
          <a:ln/>
        </p:spPr>
        <p:txBody>
          <a:bodyPr wrap="square" rtlCol="0" anchor="ctr"/>
          <a:lstStyle/>
          <a:p>
            <a:pPr algn="l" indent="0" marL="0">
              <a:buNone/>
            </a:pPr>
            <a:r>
              <a:rPr lang="en-US" sz="900" dirty="0">
                <a:solidFill>
                  <a:srgbClr val="8593AC"/>
                </a:solidFill>
                <a:latin typeface="Calibri" pitchFamily="34" charset="0"/>
                <a:ea typeface="Calibri" pitchFamily="34" charset="-122"/>
                <a:cs typeface="Calibri" pitchFamily="34" charset="-120"/>
              </a:rPr>
              <a:t>Cross-Forest Administrative Access Model</a:t>
            </a:r>
            <a:endParaRPr lang="en-US" sz="900" dirty="0"/>
          </a:p>
        </p:txBody>
      </p:sp>
      <p:sp>
        <p:nvSpPr>
          <p:cNvPr id="6" name="Shape 4"/>
          <p:cNvSpPr/>
          <p:nvPr/>
        </p:nvSpPr>
        <p:spPr>
          <a:xfrm>
            <a:off x="10881360" y="457200"/>
            <a:ext cx="749808" cy="749808"/>
          </a:xfrm>
          <a:prstGeom prst="roundRect">
            <a:avLst>
              <a:gd name="adj" fmla="val 22000"/>
            </a:avLst>
          </a:prstGeom>
          <a:solidFill>
            <a:srgbClr val="FFFFFF"/>
          </a:solidFill>
          <a:ln/>
          <a:effectLst>
            <a:outerShdw sx="100000" sy="100000" kx="0" ky="0" algn="bl" rotWithShape="0" blurRad="63500" dist="25400" dir="5400000">
              <a:srgbClr val="A9B4C8">
                <a:alpha val="22000"/>
              </a:srgbClr>
            </a:outerShdw>
          </a:effectLst>
        </p:spPr>
      </p:sp>
      <p:pic>
        <p:nvPicPr>
          <p:cNvPr id="7" name="Image 0" descr="preencoded.png">    </p:cNvPr>
          <p:cNvPicPr>
            <a:picLocks noChangeAspect="1"/>
          </p:cNvPicPr>
          <p:nvPr/>
        </p:nvPicPr>
        <p:blipFill>
          <a:blip r:embed="rId1"/>
          <a:stretch>
            <a:fillRect/>
          </a:stretch>
        </p:blipFill>
        <p:spPr>
          <a:xfrm>
            <a:off x="11031322" y="607162"/>
            <a:ext cx="449885" cy="449885"/>
          </a:xfrm>
          <a:prstGeom prst="rect">
            <a:avLst/>
          </a:prstGeom>
        </p:spPr>
      </p:pic>
      <p:sp>
        <p:nvSpPr>
          <p:cNvPr id="8" name="Shape 5"/>
          <p:cNvSpPr/>
          <p:nvPr/>
        </p:nvSpPr>
        <p:spPr>
          <a:xfrm>
            <a:off x="548640" y="1645920"/>
            <a:ext cx="5440680" cy="749808"/>
          </a:xfrm>
          <a:prstGeom prst="roundRect">
            <a:avLst>
              <a:gd name="adj" fmla="val 9756"/>
            </a:avLst>
          </a:prstGeom>
          <a:solidFill>
            <a:srgbClr val="FFFFFF"/>
          </a:solidFill>
          <a:ln w="12700">
            <a:solidFill>
              <a:srgbClr val="DCE4F2"/>
            </a:solidFill>
            <a:prstDash val="solid"/>
          </a:ln>
          <a:effectLst>
            <a:outerShdw sx="100000" sy="100000" kx="0" ky="0" algn="bl" rotWithShape="0" blurRad="63500" dist="25400" dir="5400000">
              <a:srgbClr val="A9B4C8">
                <a:alpha val="22000"/>
              </a:srgbClr>
            </a:outerShdw>
          </a:effectLst>
        </p:spPr>
      </p:sp>
      <p:sp>
        <p:nvSpPr>
          <p:cNvPr id="9" name="Shape 6"/>
          <p:cNvSpPr/>
          <p:nvPr/>
        </p:nvSpPr>
        <p:spPr>
          <a:xfrm>
            <a:off x="694944" y="1801368"/>
            <a:ext cx="438912" cy="438912"/>
          </a:xfrm>
          <a:prstGeom prst="ellipse">
            <a:avLst/>
          </a:prstGeom>
          <a:solidFill>
            <a:srgbClr val="1E2761"/>
          </a:solidFill>
          <a:ln/>
        </p:spPr>
      </p:sp>
      <p:sp>
        <p:nvSpPr>
          <p:cNvPr id="10" name="Text 7"/>
          <p:cNvSpPr/>
          <p:nvPr/>
        </p:nvSpPr>
        <p:spPr>
          <a:xfrm>
            <a:off x="694944" y="1801368"/>
            <a:ext cx="438912" cy="438912"/>
          </a:xfrm>
          <a:prstGeom prst="rect">
            <a:avLst/>
          </a:prstGeom>
          <a:noFill/>
          <a:ln/>
        </p:spPr>
        <p:txBody>
          <a:bodyPr wrap="square" rtlCol="0" anchor="ctr"/>
          <a:lstStyle/>
          <a:p>
            <a:pPr algn="ctr" indent="0" marL="0">
              <a:buNone/>
            </a:pPr>
            <a:r>
              <a:rPr lang="en-US" sz="1600" b="1" dirty="0">
                <a:solidFill>
                  <a:srgbClr val="FFFFFF"/>
                </a:solidFill>
                <a:latin typeface="Century Schoolbook" pitchFamily="34" charset="0"/>
                <a:ea typeface="Century Schoolbook" pitchFamily="34" charset="-122"/>
                <a:cs typeface="Century Schoolbook" pitchFamily="34" charset="-120"/>
              </a:rPr>
              <a:t>1</a:t>
            </a:r>
            <a:endParaRPr lang="en-US" sz="1600" dirty="0"/>
          </a:p>
        </p:txBody>
      </p:sp>
      <p:sp>
        <p:nvSpPr>
          <p:cNvPr id="11" name="Text 8"/>
          <p:cNvSpPr/>
          <p:nvPr/>
        </p:nvSpPr>
        <p:spPr>
          <a:xfrm>
            <a:off x="1261872" y="1664208"/>
            <a:ext cx="4572000" cy="713232"/>
          </a:xfrm>
          <a:prstGeom prst="rect">
            <a:avLst/>
          </a:prstGeom>
          <a:noFill/>
          <a:ln/>
        </p:spPr>
        <p:txBody>
          <a:bodyPr wrap="square" rtlCol="0" anchor="ctr"/>
          <a:lstStyle/>
          <a:p>
            <a:pPr indent="0" marL="0">
              <a:lnSpc>
                <a:spcPct val="100000"/>
              </a:lnSpc>
              <a:buNone/>
            </a:pPr>
            <a:r>
              <a:rPr lang="en-US" sz="1150" dirty="0">
                <a:solidFill>
                  <a:srgbClr val="1E2761"/>
                </a:solidFill>
                <a:latin typeface="Calibri" pitchFamily="34" charset="0"/>
                <a:ea typeface="Calibri" pitchFamily="34" charset="-122"/>
                <a:cs typeface="Calibri" pitchFamily="34" charset="-120"/>
              </a:rPr>
              <a:t>Create dedicated privileged admin account in the source domain.</a:t>
            </a:r>
            <a:endParaRPr lang="en-US" sz="1150" dirty="0"/>
          </a:p>
        </p:txBody>
      </p:sp>
      <p:sp>
        <p:nvSpPr>
          <p:cNvPr id="12" name="Shape 9"/>
          <p:cNvSpPr/>
          <p:nvPr/>
        </p:nvSpPr>
        <p:spPr>
          <a:xfrm>
            <a:off x="548640" y="2542032"/>
            <a:ext cx="5440680" cy="749808"/>
          </a:xfrm>
          <a:prstGeom prst="roundRect">
            <a:avLst>
              <a:gd name="adj" fmla="val 9756"/>
            </a:avLst>
          </a:prstGeom>
          <a:solidFill>
            <a:srgbClr val="FFFFFF"/>
          </a:solidFill>
          <a:ln w="12700">
            <a:solidFill>
              <a:srgbClr val="DCE4F2"/>
            </a:solidFill>
            <a:prstDash val="solid"/>
          </a:ln>
          <a:effectLst>
            <a:outerShdw sx="100000" sy="100000" kx="0" ky="0" algn="bl" rotWithShape="0" blurRad="63500" dist="25400" dir="5400000">
              <a:srgbClr val="A9B4C8">
                <a:alpha val="22000"/>
              </a:srgbClr>
            </a:outerShdw>
          </a:effectLst>
        </p:spPr>
      </p:sp>
      <p:sp>
        <p:nvSpPr>
          <p:cNvPr id="13" name="Shape 10"/>
          <p:cNvSpPr/>
          <p:nvPr/>
        </p:nvSpPr>
        <p:spPr>
          <a:xfrm>
            <a:off x="694944" y="2697480"/>
            <a:ext cx="438912" cy="438912"/>
          </a:xfrm>
          <a:prstGeom prst="ellipse">
            <a:avLst/>
          </a:prstGeom>
          <a:solidFill>
            <a:srgbClr val="1E2761"/>
          </a:solidFill>
          <a:ln/>
        </p:spPr>
      </p:sp>
      <p:sp>
        <p:nvSpPr>
          <p:cNvPr id="14" name="Text 11"/>
          <p:cNvSpPr/>
          <p:nvPr/>
        </p:nvSpPr>
        <p:spPr>
          <a:xfrm>
            <a:off x="694944" y="2697480"/>
            <a:ext cx="438912" cy="438912"/>
          </a:xfrm>
          <a:prstGeom prst="rect">
            <a:avLst/>
          </a:prstGeom>
          <a:noFill/>
          <a:ln/>
        </p:spPr>
        <p:txBody>
          <a:bodyPr wrap="square" rtlCol="0" anchor="ctr"/>
          <a:lstStyle/>
          <a:p>
            <a:pPr algn="ctr" indent="0" marL="0">
              <a:buNone/>
            </a:pPr>
            <a:r>
              <a:rPr lang="en-US" sz="1600" b="1" dirty="0">
                <a:solidFill>
                  <a:srgbClr val="FFFFFF"/>
                </a:solidFill>
                <a:latin typeface="Century Schoolbook" pitchFamily="34" charset="0"/>
                <a:ea typeface="Century Schoolbook" pitchFamily="34" charset="-122"/>
                <a:cs typeface="Century Schoolbook" pitchFamily="34" charset="-120"/>
              </a:rPr>
              <a:t>2</a:t>
            </a:r>
            <a:endParaRPr lang="en-US" sz="1600" dirty="0"/>
          </a:p>
        </p:txBody>
      </p:sp>
      <p:sp>
        <p:nvSpPr>
          <p:cNvPr id="15" name="Text 12"/>
          <p:cNvSpPr/>
          <p:nvPr/>
        </p:nvSpPr>
        <p:spPr>
          <a:xfrm>
            <a:off x="1261872" y="2560320"/>
            <a:ext cx="4572000" cy="713232"/>
          </a:xfrm>
          <a:prstGeom prst="rect">
            <a:avLst/>
          </a:prstGeom>
          <a:noFill/>
          <a:ln/>
        </p:spPr>
        <p:txBody>
          <a:bodyPr wrap="square" rtlCol="0" anchor="ctr"/>
          <a:lstStyle/>
          <a:p>
            <a:pPr indent="0" marL="0">
              <a:lnSpc>
                <a:spcPct val="100000"/>
              </a:lnSpc>
              <a:buNone/>
            </a:pPr>
            <a:r>
              <a:rPr lang="en-US" sz="1150" dirty="0">
                <a:solidFill>
                  <a:srgbClr val="1E2761"/>
                </a:solidFill>
                <a:latin typeface="Calibri" pitchFamily="34" charset="0"/>
                <a:ea typeface="Calibri" pitchFamily="34" charset="-122"/>
                <a:cs typeface="Calibri" pitchFamily="34" charset="-120"/>
              </a:rPr>
              <a:t>Apply naming convention and admin-account controls (separation from daily use).</a:t>
            </a:r>
            <a:endParaRPr lang="en-US" sz="1150" dirty="0"/>
          </a:p>
        </p:txBody>
      </p:sp>
      <p:sp>
        <p:nvSpPr>
          <p:cNvPr id="16" name="Shape 13"/>
          <p:cNvSpPr/>
          <p:nvPr/>
        </p:nvSpPr>
        <p:spPr>
          <a:xfrm>
            <a:off x="548640" y="3438144"/>
            <a:ext cx="5440680" cy="749808"/>
          </a:xfrm>
          <a:prstGeom prst="roundRect">
            <a:avLst>
              <a:gd name="adj" fmla="val 9756"/>
            </a:avLst>
          </a:prstGeom>
          <a:solidFill>
            <a:srgbClr val="FFFFFF"/>
          </a:solidFill>
          <a:ln w="12700">
            <a:solidFill>
              <a:srgbClr val="DCE4F2"/>
            </a:solidFill>
            <a:prstDash val="solid"/>
          </a:ln>
          <a:effectLst>
            <a:outerShdw sx="100000" sy="100000" kx="0" ky="0" algn="bl" rotWithShape="0" blurRad="63500" dist="25400" dir="5400000">
              <a:srgbClr val="A9B4C8">
                <a:alpha val="22000"/>
              </a:srgbClr>
            </a:outerShdw>
          </a:effectLst>
        </p:spPr>
      </p:sp>
      <p:sp>
        <p:nvSpPr>
          <p:cNvPr id="17" name="Shape 14"/>
          <p:cNvSpPr/>
          <p:nvPr/>
        </p:nvSpPr>
        <p:spPr>
          <a:xfrm>
            <a:off x="694944" y="3593592"/>
            <a:ext cx="438912" cy="438912"/>
          </a:xfrm>
          <a:prstGeom prst="ellipse">
            <a:avLst/>
          </a:prstGeom>
          <a:solidFill>
            <a:srgbClr val="1E2761"/>
          </a:solidFill>
          <a:ln/>
        </p:spPr>
      </p:sp>
      <p:sp>
        <p:nvSpPr>
          <p:cNvPr id="18" name="Text 15"/>
          <p:cNvSpPr/>
          <p:nvPr/>
        </p:nvSpPr>
        <p:spPr>
          <a:xfrm>
            <a:off x="694944" y="3593592"/>
            <a:ext cx="438912" cy="438912"/>
          </a:xfrm>
          <a:prstGeom prst="rect">
            <a:avLst/>
          </a:prstGeom>
          <a:noFill/>
          <a:ln/>
        </p:spPr>
        <p:txBody>
          <a:bodyPr wrap="square" rtlCol="0" anchor="ctr"/>
          <a:lstStyle/>
          <a:p>
            <a:pPr algn="ctr" indent="0" marL="0">
              <a:buNone/>
            </a:pPr>
            <a:r>
              <a:rPr lang="en-US" sz="1600" b="1" dirty="0">
                <a:solidFill>
                  <a:srgbClr val="FFFFFF"/>
                </a:solidFill>
                <a:latin typeface="Century Schoolbook" pitchFamily="34" charset="0"/>
                <a:ea typeface="Century Schoolbook" pitchFamily="34" charset="-122"/>
                <a:cs typeface="Century Schoolbook" pitchFamily="34" charset="-120"/>
              </a:rPr>
              <a:t>3</a:t>
            </a:r>
            <a:endParaRPr lang="en-US" sz="1600" dirty="0"/>
          </a:p>
        </p:txBody>
      </p:sp>
      <p:sp>
        <p:nvSpPr>
          <p:cNvPr id="19" name="Text 16"/>
          <p:cNvSpPr/>
          <p:nvPr/>
        </p:nvSpPr>
        <p:spPr>
          <a:xfrm>
            <a:off x="1261872" y="3456432"/>
            <a:ext cx="4572000" cy="713232"/>
          </a:xfrm>
          <a:prstGeom prst="rect">
            <a:avLst/>
          </a:prstGeom>
          <a:noFill/>
          <a:ln/>
        </p:spPr>
        <p:txBody>
          <a:bodyPr wrap="square" rtlCol="0" anchor="ctr"/>
          <a:lstStyle/>
          <a:p>
            <a:pPr indent="0" marL="0">
              <a:lnSpc>
                <a:spcPct val="100000"/>
              </a:lnSpc>
              <a:buNone/>
            </a:pPr>
            <a:r>
              <a:rPr lang="en-US" sz="1150" dirty="0">
                <a:solidFill>
                  <a:srgbClr val="1E2761"/>
                </a:solidFill>
                <a:latin typeface="Calibri" pitchFamily="34" charset="0"/>
                <a:ea typeface="Calibri" pitchFamily="34" charset="-122"/>
                <a:cs typeface="Calibri" pitchFamily="34" charset="-120"/>
              </a:rPr>
              <a:t>Create the source-domain role Global Group.</a:t>
            </a:r>
            <a:endParaRPr lang="en-US" sz="1150" dirty="0"/>
          </a:p>
        </p:txBody>
      </p:sp>
      <p:sp>
        <p:nvSpPr>
          <p:cNvPr id="20" name="Shape 17"/>
          <p:cNvSpPr/>
          <p:nvPr/>
        </p:nvSpPr>
        <p:spPr>
          <a:xfrm>
            <a:off x="548640" y="4334256"/>
            <a:ext cx="5440680" cy="749808"/>
          </a:xfrm>
          <a:prstGeom prst="roundRect">
            <a:avLst>
              <a:gd name="adj" fmla="val 9756"/>
            </a:avLst>
          </a:prstGeom>
          <a:solidFill>
            <a:srgbClr val="FFFFFF"/>
          </a:solidFill>
          <a:ln w="12700">
            <a:solidFill>
              <a:srgbClr val="DCE4F2"/>
            </a:solidFill>
            <a:prstDash val="solid"/>
          </a:ln>
          <a:effectLst>
            <a:outerShdw sx="100000" sy="100000" kx="0" ky="0" algn="bl" rotWithShape="0" blurRad="63500" dist="25400" dir="5400000">
              <a:srgbClr val="A9B4C8">
                <a:alpha val="22000"/>
              </a:srgbClr>
            </a:outerShdw>
          </a:effectLst>
        </p:spPr>
      </p:sp>
      <p:sp>
        <p:nvSpPr>
          <p:cNvPr id="21" name="Shape 18"/>
          <p:cNvSpPr/>
          <p:nvPr/>
        </p:nvSpPr>
        <p:spPr>
          <a:xfrm>
            <a:off x="694944" y="4489704"/>
            <a:ext cx="438912" cy="438912"/>
          </a:xfrm>
          <a:prstGeom prst="ellipse">
            <a:avLst/>
          </a:prstGeom>
          <a:solidFill>
            <a:srgbClr val="1E2761"/>
          </a:solidFill>
          <a:ln/>
        </p:spPr>
      </p:sp>
      <p:sp>
        <p:nvSpPr>
          <p:cNvPr id="22" name="Text 19"/>
          <p:cNvSpPr/>
          <p:nvPr/>
        </p:nvSpPr>
        <p:spPr>
          <a:xfrm>
            <a:off x="694944" y="4489704"/>
            <a:ext cx="438912" cy="438912"/>
          </a:xfrm>
          <a:prstGeom prst="rect">
            <a:avLst/>
          </a:prstGeom>
          <a:noFill/>
          <a:ln/>
        </p:spPr>
        <p:txBody>
          <a:bodyPr wrap="square" rtlCol="0" anchor="ctr"/>
          <a:lstStyle/>
          <a:p>
            <a:pPr algn="ctr" indent="0" marL="0">
              <a:buNone/>
            </a:pPr>
            <a:r>
              <a:rPr lang="en-US" sz="1600" b="1" dirty="0">
                <a:solidFill>
                  <a:srgbClr val="FFFFFF"/>
                </a:solidFill>
                <a:latin typeface="Century Schoolbook" pitchFamily="34" charset="0"/>
                <a:ea typeface="Century Schoolbook" pitchFamily="34" charset="-122"/>
                <a:cs typeface="Century Schoolbook" pitchFamily="34" charset="-120"/>
              </a:rPr>
              <a:t>4</a:t>
            </a:r>
            <a:endParaRPr lang="en-US" sz="1600" dirty="0"/>
          </a:p>
        </p:txBody>
      </p:sp>
      <p:sp>
        <p:nvSpPr>
          <p:cNvPr id="23" name="Text 20"/>
          <p:cNvSpPr/>
          <p:nvPr/>
        </p:nvSpPr>
        <p:spPr>
          <a:xfrm>
            <a:off x="1261872" y="4352544"/>
            <a:ext cx="4572000" cy="713232"/>
          </a:xfrm>
          <a:prstGeom prst="rect">
            <a:avLst/>
          </a:prstGeom>
          <a:noFill/>
          <a:ln/>
        </p:spPr>
        <p:txBody>
          <a:bodyPr wrap="square" rtlCol="0" anchor="ctr"/>
          <a:lstStyle/>
          <a:p>
            <a:pPr indent="0" marL="0">
              <a:lnSpc>
                <a:spcPct val="100000"/>
              </a:lnSpc>
              <a:buNone/>
            </a:pPr>
            <a:r>
              <a:rPr lang="en-US" sz="1150" dirty="0">
                <a:solidFill>
                  <a:srgbClr val="1E2761"/>
                </a:solidFill>
                <a:latin typeface="Calibri" pitchFamily="34" charset="0"/>
                <a:ea typeface="Calibri" pitchFamily="34" charset="-122"/>
                <a:cs typeface="Calibri" pitchFamily="34" charset="-120"/>
              </a:rPr>
              <a:t>Add the admin account to the source Global Group.</a:t>
            </a:r>
            <a:endParaRPr lang="en-US" sz="1150" dirty="0"/>
          </a:p>
        </p:txBody>
      </p:sp>
      <p:sp>
        <p:nvSpPr>
          <p:cNvPr id="24" name="Shape 21"/>
          <p:cNvSpPr/>
          <p:nvPr/>
        </p:nvSpPr>
        <p:spPr>
          <a:xfrm>
            <a:off x="548640" y="5230368"/>
            <a:ext cx="5440680" cy="749808"/>
          </a:xfrm>
          <a:prstGeom prst="roundRect">
            <a:avLst>
              <a:gd name="adj" fmla="val 9756"/>
            </a:avLst>
          </a:prstGeom>
          <a:solidFill>
            <a:srgbClr val="FFFFFF"/>
          </a:solidFill>
          <a:ln w="12700">
            <a:solidFill>
              <a:srgbClr val="DCE4F2"/>
            </a:solidFill>
            <a:prstDash val="solid"/>
          </a:ln>
          <a:effectLst>
            <a:outerShdw sx="100000" sy="100000" kx="0" ky="0" algn="bl" rotWithShape="0" blurRad="63500" dist="25400" dir="5400000">
              <a:srgbClr val="A9B4C8">
                <a:alpha val="22000"/>
              </a:srgbClr>
            </a:outerShdw>
          </a:effectLst>
        </p:spPr>
      </p:sp>
      <p:sp>
        <p:nvSpPr>
          <p:cNvPr id="25" name="Shape 22"/>
          <p:cNvSpPr/>
          <p:nvPr/>
        </p:nvSpPr>
        <p:spPr>
          <a:xfrm>
            <a:off x="694944" y="5385816"/>
            <a:ext cx="438912" cy="438912"/>
          </a:xfrm>
          <a:prstGeom prst="ellipse">
            <a:avLst/>
          </a:prstGeom>
          <a:solidFill>
            <a:srgbClr val="1E2761"/>
          </a:solidFill>
          <a:ln/>
        </p:spPr>
      </p:sp>
      <p:sp>
        <p:nvSpPr>
          <p:cNvPr id="26" name="Text 23"/>
          <p:cNvSpPr/>
          <p:nvPr/>
        </p:nvSpPr>
        <p:spPr>
          <a:xfrm>
            <a:off x="694944" y="5385816"/>
            <a:ext cx="438912" cy="438912"/>
          </a:xfrm>
          <a:prstGeom prst="rect">
            <a:avLst/>
          </a:prstGeom>
          <a:noFill/>
          <a:ln/>
        </p:spPr>
        <p:txBody>
          <a:bodyPr wrap="square" rtlCol="0" anchor="ctr"/>
          <a:lstStyle/>
          <a:p>
            <a:pPr algn="ctr" indent="0" marL="0">
              <a:buNone/>
            </a:pPr>
            <a:r>
              <a:rPr lang="en-US" sz="1600" b="1" dirty="0">
                <a:solidFill>
                  <a:srgbClr val="FFFFFF"/>
                </a:solidFill>
                <a:latin typeface="Century Schoolbook" pitchFamily="34" charset="0"/>
                <a:ea typeface="Century Schoolbook" pitchFamily="34" charset="-122"/>
                <a:cs typeface="Century Schoolbook" pitchFamily="34" charset="-120"/>
              </a:rPr>
              <a:t>5</a:t>
            </a:r>
            <a:endParaRPr lang="en-US" sz="1600" dirty="0"/>
          </a:p>
        </p:txBody>
      </p:sp>
      <p:sp>
        <p:nvSpPr>
          <p:cNvPr id="27" name="Text 24"/>
          <p:cNvSpPr/>
          <p:nvPr/>
        </p:nvSpPr>
        <p:spPr>
          <a:xfrm>
            <a:off x="1261872" y="5248656"/>
            <a:ext cx="4572000" cy="713232"/>
          </a:xfrm>
          <a:prstGeom prst="rect">
            <a:avLst/>
          </a:prstGeom>
          <a:noFill/>
          <a:ln/>
        </p:spPr>
        <p:txBody>
          <a:bodyPr wrap="square" rtlCol="0" anchor="ctr"/>
          <a:lstStyle/>
          <a:p>
            <a:pPr indent="0" marL="0">
              <a:lnSpc>
                <a:spcPct val="100000"/>
              </a:lnSpc>
              <a:buNone/>
            </a:pPr>
            <a:r>
              <a:rPr lang="en-US" sz="1150" dirty="0">
                <a:solidFill>
                  <a:srgbClr val="1E2761"/>
                </a:solidFill>
                <a:latin typeface="Calibri" pitchFamily="34" charset="0"/>
                <a:ea typeface="Calibri" pitchFamily="34" charset="-122"/>
                <a:cs typeface="Calibri" pitchFamily="34" charset="-120"/>
              </a:rPr>
              <a:t>For same-forest multi-domain reach, create/use a Universal Group and nest the Global Group into it.</a:t>
            </a:r>
            <a:endParaRPr lang="en-US" sz="1150" dirty="0"/>
          </a:p>
        </p:txBody>
      </p:sp>
      <p:sp>
        <p:nvSpPr>
          <p:cNvPr id="28" name="Shape 25"/>
          <p:cNvSpPr/>
          <p:nvPr/>
        </p:nvSpPr>
        <p:spPr>
          <a:xfrm>
            <a:off x="6492240" y="1645920"/>
            <a:ext cx="5440680" cy="749808"/>
          </a:xfrm>
          <a:prstGeom prst="roundRect">
            <a:avLst>
              <a:gd name="adj" fmla="val 9756"/>
            </a:avLst>
          </a:prstGeom>
          <a:solidFill>
            <a:srgbClr val="FFFFFF"/>
          </a:solidFill>
          <a:ln w="12700">
            <a:solidFill>
              <a:srgbClr val="DCE4F2"/>
            </a:solidFill>
            <a:prstDash val="solid"/>
          </a:ln>
          <a:effectLst>
            <a:outerShdw sx="100000" sy="100000" kx="0" ky="0" algn="bl" rotWithShape="0" blurRad="63500" dist="25400" dir="5400000">
              <a:srgbClr val="A9B4C8">
                <a:alpha val="22000"/>
              </a:srgbClr>
            </a:outerShdw>
          </a:effectLst>
        </p:spPr>
      </p:sp>
      <p:sp>
        <p:nvSpPr>
          <p:cNvPr id="29" name="Shape 26"/>
          <p:cNvSpPr/>
          <p:nvPr/>
        </p:nvSpPr>
        <p:spPr>
          <a:xfrm>
            <a:off x="6638544" y="1801368"/>
            <a:ext cx="438912" cy="438912"/>
          </a:xfrm>
          <a:prstGeom prst="ellipse">
            <a:avLst/>
          </a:prstGeom>
          <a:solidFill>
            <a:srgbClr val="1E2761"/>
          </a:solidFill>
          <a:ln/>
        </p:spPr>
      </p:sp>
      <p:sp>
        <p:nvSpPr>
          <p:cNvPr id="30" name="Text 27"/>
          <p:cNvSpPr/>
          <p:nvPr/>
        </p:nvSpPr>
        <p:spPr>
          <a:xfrm>
            <a:off x="6638544" y="1801368"/>
            <a:ext cx="438912" cy="438912"/>
          </a:xfrm>
          <a:prstGeom prst="rect">
            <a:avLst/>
          </a:prstGeom>
          <a:noFill/>
          <a:ln/>
        </p:spPr>
        <p:txBody>
          <a:bodyPr wrap="square" rtlCol="0" anchor="ctr"/>
          <a:lstStyle/>
          <a:p>
            <a:pPr algn="ctr" indent="0" marL="0">
              <a:buNone/>
            </a:pPr>
            <a:r>
              <a:rPr lang="en-US" sz="1600" b="1" dirty="0">
                <a:solidFill>
                  <a:srgbClr val="FFFFFF"/>
                </a:solidFill>
                <a:latin typeface="Century Schoolbook" pitchFamily="34" charset="0"/>
                <a:ea typeface="Century Schoolbook" pitchFamily="34" charset="-122"/>
                <a:cs typeface="Century Schoolbook" pitchFamily="34" charset="-120"/>
              </a:rPr>
              <a:t>6</a:t>
            </a:r>
            <a:endParaRPr lang="en-US" sz="1600" dirty="0"/>
          </a:p>
        </p:txBody>
      </p:sp>
      <p:sp>
        <p:nvSpPr>
          <p:cNvPr id="31" name="Text 28"/>
          <p:cNvSpPr/>
          <p:nvPr/>
        </p:nvSpPr>
        <p:spPr>
          <a:xfrm>
            <a:off x="7205472" y="1664208"/>
            <a:ext cx="4572000" cy="713232"/>
          </a:xfrm>
          <a:prstGeom prst="rect">
            <a:avLst/>
          </a:prstGeom>
          <a:noFill/>
          <a:ln/>
        </p:spPr>
        <p:txBody>
          <a:bodyPr wrap="square" rtlCol="0" anchor="ctr"/>
          <a:lstStyle/>
          <a:p>
            <a:pPr indent="0" marL="0">
              <a:lnSpc>
                <a:spcPct val="100000"/>
              </a:lnSpc>
              <a:buNone/>
            </a:pPr>
            <a:r>
              <a:rPr lang="en-US" sz="1150" dirty="0">
                <a:solidFill>
                  <a:srgbClr val="1E2761"/>
                </a:solidFill>
                <a:latin typeface="Calibri" pitchFamily="34" charset="0"/>
                <a:ea typeface="Calibri" pitchFamily="34" charset="-122"/>
                <a:cs typeface="Calibri" pitchFamily="34" charset="-120"/>
              </a:rPr>
              <a:t>In each target child domain / resource forest, create a Domain Local group for the required permission set.</a:t>
            </a:r>
            <a:endParaRPr lang="en-US" sz="1150" dirty="0"/>
          </a:p>
        </p:txBody>
      </p:sp>
      <p:sp>
        <p:nvSpPr>
          <p:cNvPr id="32" name="Shape 29"/>
          <p:cNvSpPr/>
          <p:nvPr/>
        </p:nvSpPr>
        <p:spPr>
          <a:xfrm>
            <a:off x="6492240" y="2542032"/>
            <a:ext cx="5440680" cy="749808"/>
          </a:xfrm>
          <a:prstGeom prst="roundRect">
            <a:avLst>
              <a:gd name="adj" fmla="val 9756"/>
            </a:avLst>
          </a:prstGeom>
          <a:solidFill>
            <a:srgbClr val="FFFFFF"/>
          </a:solidFill>
          <a:ln w="12700">
            <a:solidFill>
              <a:srgbClr val="DCE4F2"/>
            </a:solidFill>
            <a:prstDash val="solid"/>
          </a:ln>
          <a:effectLst>
            <a:outerShdw sx="100000" sy="100000" kx="0" ky="0" algn="bl" rotWithShape="0" blurRad="63500" dist="25400" dir="5400000">
              <a:srgbClr val="A9B4C8">
                <a:alpha val="22000"/>
              </a:srgbClr>
            </a:outerShdw>
          </a:effectLst>
        </p:spPr>
      </p:sp>
      <p:sp>
        <p:nvSpPr>
          <p:cNvPr id="33" name="Shape 30"/>
          <p:cNvSpPr/>
          <p:nvPr/>
        </p:nvSpPr>
        <p:spPr>
          <a:xfrm>
            <a:off x="6638544" y="2697480"/>
            <a:ext cx="438912" cy="438912"/>
          </a:xfrm>
          <a:prstGeom prst="ellipse">
            <a:avLst/>
          </a:prstGeom>
          <a:solidFill>
            <a:srgbClr val="1E2761"/>
          </a:solidFill>
          <a:ln/>
        </p:spPr>
      </p:sp>
      <p:sp>
        <p:nvSpPr>
          <p:cNvPr id="34" name="Text 31"/>
          <p:cNvSpPr/>
          <p:nvPr/>
        </p:nvSpPr>
        <p:spPr>
          <a:xfrm>
            <a:off x="6638544" y="2697480"/>
            <a:ext cx="438912" cy="438912"/>
          </a:xfrm>
          <a:prstGeom prst="rect">
            <a:avLst/>
          </a:prstGeom>
          <a:noFill/>
          <a:ln/>
        </p:spPr>
        <p:txBody>
          <a:bodyPr wrap="square" rtlCol="0" anchor="ctr"/>
          <a:lstStyle/>
          <a:p>
            <a:pPr algn="ctr" indent="0" marL="0">
              <a:buNone/>
            </a:pPr>
            <a:r>
              <a:rPr lang="en-US" sz="1600" b="1" dirty="0">
                <a:solidFill>
                  <a:srgbClr val="FFFFFF"/>
                </a:solidFill>
                <a:latin typeface="Century Schoolbook" pitchFamily="34" charset="0"/>
                <a:ea typeface="Century Schoolbook" pitchFamily="34" charset="-122"/>
                <a:cs typeface="Century Schoolbook" pitchFamily="34" charset="-120"/>
              </a:rPr>
              <a:t>7</a:t>
            </a:r>
            <a:endParaRPr lang="en-US" sz="1600" dirty="0"/>
          </a:p>
        </p:txBody>
      </p:sp>
      <p:sp>
        <p:nvSpPr>
          <p:cNvPr id="35" name="Text 32"/>
          <p:cNvSpPr/>
          <p:nvPr/>
        </p:nvSpPr>
        <p:spPr>
          <a:xfrm>
            <a:off x="7205472" y="2560320"/>
            <a:ext cx="4572000" cy="713232"/>
          </a:xfrm>
          <a:prstGeom prst="rect">
            <a:avLst/>
          </a:prstGeom>
          <a:noFill/>
          <a:ln/>
        </p:spPr>
        <p:txBody>
          <a:bodyPr wrap="square" rtlCol="0" anchor="ctr"/>
          <a:lstStyle/>
          <a:p>
            <a:pPr indent="0" marL="0">
              <a:lnSpc>
                <a:spcPct val="100000"/>
              </a:lnSpc>
              <a:buNone/>
            </a:pPr>
            <a:r>
              <a:rPr lang="en-US" sz="1150" dirty="0">
                <a:solidFill>
                  <a:srgbClr val="1E2761"/>
                </a:solidFill>
                <a:latin typeface="Calibri" pitchFamily="34" charset="0"/>
                <a:ea typeface="Calibri" pitchFamily="34" charset="-122"/>
                <a:cs typeface="Calibri" pitchFamily="34" charset="-120"/>
              </a:rPr>
              <a:t>Add the source Universal Group or approved trusted principal into each target Domain Local group per trust &amp; scope design.</a:t>
            </a:r>
            <a:endParaRPr lang="en-US" sz="1150" dirty="0"/>
          </a:p>
        </p:txBody>
      </p:sp>
      <p:sp>
        <p:nvSpPr>
          <p:cNvPr id="36" name="Shape 33"/>
          <p:cNvSpPr/>
          <p:nvPr/>
        </p:nvSpPr>
        <p:spPr>
          <a:xfrm>
            <a:off x="6492240" y="3438144"/>
            <a:ext cx="5440680" cy="749808"/>
          </a:xfrm>
          <a:prstGeom prst="roundRect">
            <a:avLst>
              <a:gd name="adj" fmla="val 9756"/>
            </a:avLst>
          </a:prstGeom>
          <a:solidFill>
            <a:srgbClr val="FFFFFF"/>
          </a:solidFill>
          <a:ln w="12700">
            <a:solidFill>
              <a:srgbClr val="DCE4F2"/>
            </a:solidFill>
            <a:prstDash val="solid"/>
          </a:ln>
          <a:effectLst>
            <a:outerShdw sx="100000" sy="100000" kx="0" ky="0" algn="bl" rotWithShape="0" blurRad="63500" dist="25400" dir="5400000">
              <a:srgbClr val="A9B4C8">
                <a:alpha val="22000"/>
              </a:srgbClr>
            </a:outerShdw>
          </a:effectLst>
        </p:spPr>
      </p:sp>
      <p:sp>
        <p:nvSpPr>
          <p:cNvPr id="37" name="Shape 34"/>
          <p:cNvSpPr/>
          <p:nvPr/>
        </p:nvSpPr>
        <p:spPr>
          <a:xfrm>
            <a:off x="6638544" y="3593592"/>
            <a:ext cx="438912" cy="438912"/>
          </a:xfrm>
          <a:prstGeom prst="ellipse">
            <a:avLst/>
          </a:prstGeom>
          <a:solidFill>
            <a:srgbClr val="1E2761"/>
          </a:solidFill>
          <a:ln/>
        </p:spPr>
      </p:sp>
      <p:sp>
        <p:nvSpPr>
          <p:cNvPr id="38" name="Text 35"/>
          <p:cNvSpPr/>
          <p:nvPr/>
        </p:nvSpPr>
        <p:spPr>
          <a:xfrm>
            <a:off x="6638544" y="3593592"/>
            <a:ext cx="438912" cy="438912"/>
          </a:xfrm>
          <a:prstGeom prst="rect">
            <a:avLst/>
          </a:prstGeom>
          <a:noFill/>
          <a:ln/>
        </p:spPr>
        <p:txBody>
          <a:bodyPr wrap="square" rtlCol="0" anchor="ctr"/>
          <a:lstStyle/>
          <a:p>
            <a:pPr algn="ctr" indent="0" marL="0">
              <a:buNone/>
            </a:pPr>
            <a:r>
              <a:rPr lang="en-US" sz="1600" b="1" dirty="0">
                <a:solidFill>
                  <a:srgbClr val="FFFFFF"/>
                </a:solidFill>
                <a:latin typeface="Century Schoolbook" pitchFamily="34" charset="0"/>
                <a:ea typeface="Century Schoolbook" pitchFamily="34" charset="-122"/>
                <a:cs typeface="Century Schoolbook" pitchFamily="34" charset="-120"/>
              </a:rPr>
              <a:t>8</a:t>
            </a:r>
            <a:endParaRPr lang="en-US" sz="1600" dirty="0"/>
          </a:p>
        </p:txBody>
      </p:sp>
      <p:sp>
        <p:nvSpPr>
          <p:cNvPr id="39" name="Text 36"/>
          <p:cNvSpPr/>
          <p:nvPr/>
        </p:nvSpPr>
        <p:spPr>
          <a:xfrm>
            <a:off x="7205472" y="3456432"/>
            <a:ext cx="4572000" cy="713232"/>
          </a:xfrm>
          <a:prstGeom prst="rect">
            <a:avLst/>
          </a:prstGeom>
          <a:noFill/>
          <a:ln/>
        </p:spPr>
        <p:txBody>
          <a:bodyPr wrap="square" rtlCol="0" anchor="ctr"/>
          <a:lstStyle/>
          <a:p>
            <a:pPr indent="0" marL="0">
              <a:lnSpc>
                <a:spcPct val="100000"/>
              </a:lnSpc>
              <a:buNone/>
            </a:pPr>
            <a:r>
              <a:rPr lang="en-US" sz="1150" dirty="0">
                <a:solidFill>
                  <a:srgbClr val="1E2761"/>
                </a:solidFill>
                <a:latin typeface="Calibri" pitchFamily="34" charset="0"/>
                <a:ea typeface="Calibri" pitchFamily="34" charset="-122"/>
                <a:cs typeface="Calibri" pitchFamily="34" charset="-120"/>
              </a:rPr>
              <a:t>Assign each Domain Local group to RDP rights, delegated/local admin, or Domain Admin only where justified &amp; approved.</a:t>
            </a:r>
            <a:endParaRPr lang="en-US" sz="1150" dirty="0"/>
          </a:p>
        </p:txBody>
      </p:sp>
      <p:sp>
        <p:nvSpPr>
          <p:cNvPr id="40" name="Shape 37"/>
          <p:cNvSpPr/>
          <p:nvPr/>
        </p:nvSpPr>
        <p:spPr>
          <a:xfrm>
            <a:off x="6492240" y="4334256"/>
            <a:ext cx="5440680" cy="749808"/>
          </a:xfrm>
          <a:prstGeom prst="roundRect">
            <a:avLst>
              <a:gd name="adj" fmla="val 9756"/>
            </a:avLst>
          </a:prstGeom>
          <a:solidFill>
            <a:srgbClr val="FFFFFF"/>
          </a:solidFill>
          <a:ln w="12700">
            <a:solidFill>
              <a:srgbClr val="DCE4F2"/>
            </a:solidFill>
            <a:prstDash val="solid"/>
          </a:ln>
          <a:effectLst>
            <a:outerShdw sx="100000" sy="100000" kx="0" ky="0" algn="bl" rotWithShape="0" blurRad="63500" dist="25400" dir="5400000">
              <a:srgbClr val="A9B4C8">
                <a:alpha val="22000"/>
              </a:srgbClr>
            </a:outerShdw>
          </a:effectLst>
        </p:spPr>
      </p:sp>
      <p:sp>
        <p:nvSpPr>
          <p:cNvPr id="41" name="Shape 38"/>
          <p:cNvSpPr/>
          <p:nvPr/>
        </p:nvSpPr>
        <p:spPr>
          <a:xfrm>
            <a:off x="6638544" y="4489704"/>
            <a:ext cx="438912" cy="438912"/>
          </a:xfrm>
          <a:prstGeom prst="ellipse">
            <a:avLst/>
          </a:prstGeom>
          <a:solidFill>
            <a:srgbClr val="4A6FA5"/>
          </a:solidFill>
          <a:ln/>
        </p:spPr>
      </p:sp>
      <p:sp>
        <p:nvSpPr>
          <p:cNvPr id="42" name="Text 39"/>
          <p:cNvSpPr/>
          <p:nvPr/>
        </p:nvSpPr>
        <p:spPr>
          <a:xfrm>
            <a:off x="6638544" y="4489704"/>
            <a:ext cx="438912" cy="438912"/>
          </a:xfrm>
          <a:prstGeom prst="rect">
            <a:avLst/>
          </a:prstGeom>
          <a:noFill/>
          <a:ln/>
        </p:spPr>
        <p:txBody>
          <a:bodyPr wrap="square" rtlCol="0" anchor="ctr"/>
          <a:lstStyle/>
          <a:p>
            <a:pPr algn="ctr" indent="0" marL="0">
              <a:buNone/>
            </a:pPr>
            <a:r>
              <a:rPr lang="en-US" sz="1600" b="1" dirty="0">
                <a:solidFill>
                  <a:srgbClr val="FFFFFF"/>
                </a:solidFill>
                <a:latin typeface="Century Schoolbook" pitchFamily="34" charset="0"/>
                <a:ea typeface="Century Schoolbook" pitchFamily="34" charset="-122"/>
                <a:cs typeface="Century Schoolbook" pitchFamily="34" charset="-120"/>
              </a:rPr>
              <a:t>9</a:t>
            </a:r>
            <a:endParaRPr lang="en-US" sz="1600" dirty="0"/>
          </a:p>
        </p:txBody>
      </p:sp>
      <p:sp>
        <p:nvSpPr>
          <p:cNvPr id="43" name="Text 40"/>
          <p:cNvSpPr/>
          <p:nvPr/>
        </p:nvSpPr>
        <p:spPr>
          <a:xfrm>
            <a:off x="7205472" y="4352544"/>
            <a:ext cx="4572000" cy="713232"/>
          </a:xfrm>
          <a:prstGeom prst="rect">
            <a:avLst/>
          </a:prstGeom>
          <a:noFill/>
          <a:ln/>
        </p:spPr>
        <p:txBody>
          <a:bodyPr wrap="square" rtlCol="0" anchor="ctr"/>
          <a:lstStyle/>
          <a:p>
            <a:pPr indent="0" marL="0">
              <a:lnSpc>
                <a:spcPct val="100000"/>
              </a:lnSpc>
              <a:buNone/>
            </a:pPr>
            <a:r>
              <a:rPr lang="en-US" sz="1150" dirty="0">
                <a:solidFill>
                  <a:srgbClr val="1E2761"/>
                </a:solidFill>
                <a:latin typeface="Calibri" pitchFamily="34" charset="0"/>
                <a:ea typeface="Calibri" pitchFamily="34" charset="-122"/>
                <a:cs typeface="Calibri" pitchFamily="34" charset="-120"/>
              </a:rPr>
              <a:t>Apply or update GPOs as required (e.g. Allow log on through Remote Desktop Services).</a:t>
            </a:r>
            <a:endParaRPr lang="en-US" sz="1150" dirty="0"/>
          </a:p>
        </p:txBody>
      </p:sp>
      <p:sp>
        <p:nvSpPr>
          <p:cNvPr id="44" name="Shape 41"/>
          <p:cNvSpPr/>
          <p:nvPr/>
        </p:nvSpPr>
        <p:spPr>
          <a:xfrm>
            <a:off x="6492240" y="5230368"/>
            <a:ext cx="5440680" cy="749808"/>
          </a:xfrm>
          <a:prstGeom prst="roundRect">
            <a:avLst>
              <a:gd name="adj" fmla="val 9756"/>
            </a:avLst>
          </a:prstGeom>
          <a:solidFill>
            <a:srgbClr val="FFFFFF"/>
          </a:solidFill>
          <a:ln w="12700">
            <a:solidFill>
              <a:srgbClr val="DCE4F2"/>
            </a:solidFill>
            <a:prstDash val="solid"/>
          </a:ln>
          <a:effectLst>
            <a:outerShdw sx="100000" sy="100000" kx="0" ky="0" algn="bl" rotWithShape="0" blurRad="63500" dist="25400" dir="5400000">
              <a:srgbClr val="A9B4C8">
                <a:alpha val="22000"/>
              </a:srgbClr>
            </a:outerShdw>
          </a:effectLst>
        </p:spPr>
      </p:sp>
      <p:sp>
        <p:nvSpPr>
          <p:cNvPr id="45" name="Shape 42"/>
          <p:cNvSpPr/>
          <p:nvPr/>
        </p:nvSpPr>
        <p:spPr>
          <a:xfrm>
            <a:off x="6638544" y="5385816"/>
            <a:ext cx="438912" cy="438912"/>
          </a:xfrm>
          <a:prstGeom prst="ellipse">
            <a:avLst/>
          </a:prstGeom>
          <a:solidFill>
            <a:srgbClr val="4A6FA5"/>
          </a:solidFill>
          <a:ln/>
        </p:spPr>
      </p:sp>
      <p:sp>
        <p:nvSpPr>
          <p:cNvPr id="46" name="Text 43"/>
          <p:cNvSpPr/>
          <p:nvPr/>
        </p:nvSpPr>
        <p:spPr>
          <a:xfrm>
            <a:off x="6638544" y="5385816"/>
            <a:ext cx="438912" cy="438912"/>
          </a:xfrm>
          <a:prstGeom prst="rect">
            <a:avLst/>
          </a:prstGeom>
          <a:noFill/>
          <a:ln/>
        </p:spPr>
        <p:txBody>
          <a:bodyPr wrap="square" rtlCol="0" anchor="ctr"/>
          <a:lstStyle/>
          <a:p>
            <a:pPr algn="ctr" indent="0" marL="0">
              <a:buNone/>
            </a:pPr>
            <a:r>
              <a:rPr lang="en-US" sz="1600" b="1" dirty="0">
                <a:solidFill>
                  <a:srgbClr val="FFFFFF"/>
                </a:solidFill>
                <a:latin typeface="Century Schoolbook" pitchFamily="34" charset="0"/>
                <a:ea typeface="Century Schoolbook" pitchFamily="34" charset="-122"/>
                <a:cs typeface="Century Schoolbook" pitchFamily="34" charset="-120"/>
              </a:rPr>
              <a:t>10</a:t>
            </a:r>
            <a:endParaRPr lang="en-US" sz="1600" dirty="0"/>
          </a:p>
        </p:txBody>
      </p:sp>
      <p:sp>
        <p:nvSpPr>
          <p:cNvPr id="47" name="Text 44"/>
          <p:cNvSpPr/>
          <p:nvPr/>
        </p:nvSpPr>
        <p:spPr>
          <a:xfrm>
            <a:off x="7205472" y="5248656"/>
            <a:ext cx="4572000" cy="713232"/>
          </a:xfrm>
          <a:prstGeom prst="rect">
            <a:avLst/>
          </a:prstGeom>
          <a:noFill/>
          <a:ln/>
        </p:spPr>
        <p:txBody>
          <a:bodyPr wrap="square" rtlCol="0" anchor="ctr"/>
          <a:lstStyle/>
          <a:p>
            <a:pPr indent="0" marL="0">
              <a:lnSpc>
                <a:spcPct val="100000"/>
              </a:lnSpc>
              <a:buNone/>
            </a:pPr>
            <a:r>
              <a:rPr lang="en-US" sz="1150" dirty="0">
                <a:solidFill>
                  <a:srgbClr val="1E2761"/>
                </a:solidFill>
                <a:latin typeface="Calibri" pitchFamily="34" charset="0"/>
                <a:ea typeface="Calibri" pitchFamily="34" charset="-122"/>
                <a:cs typeface="Calibri" pitchFamily="34" charset="-120"/>
              </a:rPr>
              <a:t>Document rollback steps for every change made.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rtlCol="0" anchor="ctr"/>
          <a:lstStyle/>
          <a:p>
            <a:pPr algn="l" indent="0" marL="0">
              <a:buNone/>
            </a:pPr>
            <a:r>
              <a:rPr lang="en-US" sz="1200" b="1" spc="300" kern="0" dirty="0">
                <a:solidFill>
                  <a:srgbClr val="4A6FA5"/>
                </a:solidFill>
                <a:latin typeface="Calibri" pitchFamily="34" charset="0"/>
                <a:ea typeface="Calibri" pitchFamily="34" charset="-122"/>
                <a:cs typeface="Calibri" pitchFamily="34" charset="-120"/>
              </a:rPr>
              <a:t>DELIVERABLE C</a:t>
            </a:r>
            <a:endParaRPr lang="en-US" sz="1200" dirty="0"/>
          </a:p>
        </p:txBody>
      </p:sp>
      <p:sp>
        <p:nvSpPr>
          <p:cNvPr id="3" name="Text 1"/>
          <p:cNvSpPr/>
          <p:nvPr/>
        </p:nvSpPr>
        <p:spPr>
          <a:xfrm>
            <a:off x="548640" y="658368"/>
            <a:ext cx="10515600" cy="822960"/>
          </a:xfrm>
          <a:prstGeom prst="rect">
            <a:avLst/>
          </a:prstGeom>
          <a:noFill/>
          <a:ln/>
        </p:spPr>
        <p:txBody>
          <a:bodyPr wrap="square" rtlCol="0" anchor="ctr"/>
          <a:lstStyle/>
          <a:p>
            <a:pPr algn="l" indent="0" marL="0">
              <a:buNone/>
            </a:pPr>
            <a:r>
              <a:rPr lang="en-US" sz="3200" b="1" dirty="0">
                <a:solidFill>
                  <a:srgbClr val="1E2761"/>
                </a:solidFill>
                <a:latin typeface="Century Schoolbook" pitchFamily="34" charset="0"/>
                <a:ea typeface="Century Schoolbook" pitchFamily="34" charset="-122"/>
                <a:cs typeface="Century Schoolbook" pitchFamily="34" charset="-120"/>
              </a:rPr>
              <a:t>Verification checklist &amp; test cases</a:t>
            </a:r>
            <a:endParaRPr lang="en-US" sz="3200" dirty="0"/>
          </a:p>
        </p:txBody>
      </p:sp>
      <p:sp>
        <p:nvSpPr>
          <p:cNvPr id="4" name="Text 2"/>
          <p:cNvSpPr/>
          <p:nvPr/>
        </p:nvSpPr>
        <p:spPr>
          <a:xfrm>
            <a:off x="11277295" y="6400800"/>
            <a:ext cx="457200" cy="274320"/>
          </a:xfrm>
          <a:prstGeom prst="rect">
            <a:avLst/>
          </a:prstGeom>
          <a:noFill/>
          <a:ln/>
        </p:spPr>
        <p:txBody>
          <a:bodyPr wrap="square" rtlCol="0" anchor="ctr"/>
          <a:lstStyle/>
          <a:p>
            <a:pPr algn="r" indent="0" marL="0">
              <a:buNone/>
            </a:pPr>
            <a:r>
              <a:rPr lang="en-US" sz="1000" dirty="0">
                <a:solidFill>
                  <a:srgbClr val="8593AC"/>
                </a:solidFill>
                <a:latin typeface="Calibri" pitchFamily="34" charset="0"/>
                <a:ea typeface="Calibri" pitchFamily="34" charset="-122"/>
                <a:cs typeface="Calibri" pitchFamily="34" charset="-120"/>
              </a:rPr>
              <a:t>10</a:t>
            </a:r>
            <a:endParaRPr lang="en-US" sz="1000" dirty="0"/>
          </a:p>
        </p:txBody>
      </p:sp>
      <p:sp>
        <p:nvSpPr>
          <p:cNvPr id="5" name="Text 3"/>
          <p:cNvSpPr/>
          <p:nvPr/>
        </p:nvSpPr>
        <p:spPr>
          <a:xfrm>
            <a:off x="548640" y="6400800"/>
            <a:ext cx="6400800" cy="274320"/>
          </a:xfrm>
          <a:prstGeom prst="rect">
            <a:avLst/>
          </a:prstGeom>
          <a:noFill/>
          <a:ln/>
        </p:spPr>
        <p:txBody>
          <a:bodyPr wrap="square" rtlCol="0" anchor="ctr"/>
          <a:lstStyle/>
          <a:p>
            <a:pPr algn="l" indent="0" marL="0">
              <a:buNone/>
            </a:pPr>
            <a:r>
              <a:rPr lang="en-US" sz="900" dirty="0">
                <a:solidFill>
                  <a:srgbClr val="8593AC"/>
                </a:solidFill>
                <a:latin typeface="Calibri" pitchFamily="34" charset="0"/>
                <a:ea typeface="Calibri" pitchFamily="34" charset="-122"/>
                <a:cs typeface="Calibri" pitchFamily="34" charset="-120"/>
              </a:rPr>
              <a:t>Cross-Forest Administrative Access Model</a:t>
            </a:r>
            <a:endParaRPr lang="en-US" sz="900" dirty="0"/>
          </a:p>
        </p:txBody>
      </p:sp>
      <p:sp>
        <p:nvSpPr>
          <p:cNvPr id="6" name="Shape 4"/>
          <p:cNvSpPr/>
          <p:nvPr/>
        </p:nvSpPr>
        <p:spPr>
          <a:xfrm>
            <a:off x="10881360" y="457200"/>
            <a:ext cx="749808" cy="749808"/>
          </a:xfrm>
          <a:prstGeom prst="roundRect">
            <a:avLst>
              <a:gd name="adj" fmla="val 22000"/>
            </a:avLst>
          </a:prstGeom>
          <a:solidFill>
            <a:srgbClr val="E8F0FE"/>
          </a:solidFill>
          <a:ln/>
          <a:effectLst>
            <a:outerShdw sx="100000" sy="100000" kx="0" ky="0" algn="bl" rotWithShape="0" blurRad="63500" dist="25400" dir="5400000">
              <a:srgbClr val="A9B4C8">
                <a:alpha val="22000"/>
              </a:srgbClr>
            </a:outerShdw>
          </a:effectLst>
        </p:spPr>
      </p:sp>
      <p:pic>
        <p:nvPicPr>
          <p:cNvPr id="7" name="Image 0" descr="preencoded.png">    </p:cNvPr>
          <p:cNvPicPr>
            <a:picLocks noChangeAspect="1"/>
          </p:cNvPicPr>
          <p:nvPr/>
        </p:nvPicPr>
        <p:blipFill>
          <a:blip r:embed="rId1"/>
          <a:stretch>
            <a:fillRect/>
          </a:stretch>
        </p:blipFill>
        <p:spPr>
          <a:xfrm>
            <a:off x="11031322" y="607162"/>
            <a:ext cx="449885" cy="449885"/>
          </a:xfrm>
          <a:prstGeom prst="rect">
            <a:avLst/>
          </a:prstGeom>
        </p:spPr>
      </p:pic>
      <p:sp>
        <p:nvSpPr>
          <p:cNvPr id="8" name="Text 5"/>
          <p:cNvSpPr/>
          <p:nvPr/>
        </p:nvSpPr>
        <p:spPr>
          <a:xfrm>
            <a:off x="548640" y="1600200"/>
            <a:ext cx="5029200" cy="320040"/>
          </a:xfrm>
          <a:prstGeom prst="rect">
            <a:avLst/>
          </a:prstGeom>
          <a:noFill/>
          <a:ln/>
        </p:spPr>
        <p:txBody>
          <a:bodyPr wrap="square" rtlCol="0" anchor="ctr"/>
          <a:lstStyle/>
          <a:p>
            <a:pPr indent="0" marL="0">
              <a:buNone/>
            </a:pPr>
            <a:r>
              <a:rPr lang="en-US" sz="1250" b="1" spc="200" kern="0" dirty="0">
                <a:solidFill>
                  <a:srgbClr val="4A6FA5"/>
                </a:solidFill>
                <a:latin typeface="Calibri" pitchFamily="34" charset="0"/>
                <a:ea typeface="Calibri" pitchFamily="34" charset="-122"/>
                <a:cs typeface="Calibri" pitchFamily="34" charset="-120"/>
              </a:rPr>
              <a:t>VERIFICATION CHECKLIST</a:t>
            </a:r>
            <a:endParaRPr lang="en-US" sz="1250" dirty="0"/>
          </a:p>
        </p:txBody>
      </p:sp>
      <p:sp>
        <p:nvSpPr>
          <p:cNvPr id="9" name="Shape 6"/>
          <p:cNvSpPr/>
          <p:nvPr/>
        </p:nvSpPr>
        <p:spPr>
          <a:xfrm>
            <a:off x="566928" y="2029968"/>
            <a:ext cx="256032" cy="256032"/>
          </a:xfrm>
          <a:prstGeom prst="roundRect">
            <a:avLst>
              <a:gd name="adj" fmla="val 17857"/>
            </a:avLst>
          </a:prstGeom>
          <a:solidFill>
            <a:srgbClr val="2E8B6B"/>
          </a:solidFill>
          <a:ln/>
        </p:spPr>
      </p:sp>
      <p:pic>
        <p:nvPicPr>
          <p:cNvPr id="10" name="Image 1" descr="preencoded.png">    </p:cNvPr>
          <p:cNvPicPr>
            <a:picLocks noChangeAspect="1"/>
          </p:cNvPicPr>
          <p:nvPr/>
        </p:nvPicPr>
        <p:blipFill>
          <a:blip r:embed="rId2"/>
          <a:stretch>
            <a:fillRect/>
          </a:stretch>
        </p:blipFill>
        <p:spPr>
          <a:xfrm>
            <a:off x="603504" y="2066544"/>
            <a:ext cx="182880" cy="182880"/>
          </a:xfrm>
          <a:prstGeom prst="rect">
            <a:avLst/>
          </a:prstGeom>
        </p:spPr>
      </p:pic>
      <p:sp>
        <p:nvSpPr>
          <p:cNvPr id="11" name="Text 7"/>
          <p:cNvSpPr/>
          <p:nvPr/>
        </p:nvSpPr>
        <p:spPr>
          <a:xfrm>
            <a:off x="932688" y="1956816"/>
            <a:ext cx="4754880" cy="548640"/>
          </a:xfrm>
          <a:prstGeom prst="rect">
            <a:avLst/>
          </a:prstGeom>
          <a:noFill/>
          <a:ln/>
        </p:spPr>
        <p:txBody>
          <a:bodyPr wrap="square" rtlCol="0" anchor="t"/>
          <a:lstStyle/>
          <a:p>
            <a:pPr indent="0" marL="0">
              <a:lnSpc>
                <a:spcPct val="103000"/>
              </a:lnSpc>
              <a:buNone/>
            </a:pPr>
            <a:r>
              <a:rPr lang="en-US" sz="1200" dirty="0">
                <a:solidFill>
                  <a:srgbClr val="1E2761"/>
                </a:solidFill>
                <a:latin typeface="Calibri" pitchFamily="34" charset="0"/>
                <a:ea typeface="Calibri" pitchFamily="34" charset="-122"/>
                <a:cs typeface="Calibri" pitchFamily="34" charset="-120"/>
              </a:rPr>
              <a:t>Admin account exists; disabled from normal interactive use if policy requires.</a:t>
            </a:r>
            <a:endParaRPr lang="en-US" sz="1200" dirty="0"/>
          </a:p>
        </p:txBody>
      </p:sp>
      <p:sp>
        <p:nvSpPr>
          <p:cNvPr id="12" name="Shape 8"/>
          <p:cNvSpPr/>
          <p:nvPr/>
        </p:nvSpPr>
        <p:spPr>
          <a:xfrm>
            <a:off x="566928" y="2633472"/>
            <a:ext cx="256032" cy="256032"/>
          </a:xfrm>
          <a:prstGeom prst="roundRect">
            <a:avLst>
              <a:gd name="adj" fmla="val 17857"/>
            </a:avLst>
          </a:prstGeom>
          <a:solidFill>
            <a:srgbClr val="2E8B6B"/>
          </a:solidFill>
          <a:ln/>
        </p:spPr>
      </p:sp>
      <p:pic>
        <p:nvPicPr>
          <p:cNvPr id="13" name="Image 2" descr="preencoded.png">    </p:cNvPr>
          <p:cNvPicPr>
            <a:picLocks noChangeAspect="1"/>
          </p:cNvPicPr>
          <p:nvPr/>
        </p:nvPicPr>
        <p:blipFill>
          <a:blip r:embed="rId3"/>
          <a:stretch>
            <a:fillRect/>
          </a:stretch>
        </p:blipFill>
        <p:spPr>
          <a:xfrm>
            <a:off x="603504" y="2670048"/>
            <a:ext cx="182880" cy="182880"/>
          </a:xfrm>
          <a:prstGeom prst="rect">
            <a:avLst/>
          </a:prstGeom>
        </p:spPr>
      </p:pic>
      <p:sp>
        <p:nvSpPr>
          <p:cNvPr id="14" name="Text 9"/>
          <p:cNvSpPr/>
          <p:nvPr/>
        </p:nvSpPr>
        <p:spPr>
          <a:xfrm>
            <a:off x="932688" y="2560320"/>
            <a:ext cx="4754880" cy="548640"/>
          </a:xfrm>
          <a:prstGeom prst="rect">
            <a:avLst/>
          </a:prstGeom>
          <a:noFill/>
          <a:ln/>
        </p:spPr>
        <p:txBody>
          <a:bodyPr wrap="square" rtlCol="0" anchor="t"/>
          <a:lstStyle/>
          <a:p>
            <a:pPr indent="0" marL="0">
              <a:lnSpc>
                <a:spcPct val="103000"/>
              </a:lnSpc>
              <a:buNone/>
            </a:pPr>
            <a:r>
              <a:rPr lang="en-US" sz="1200" dirty="0">
                <a:solidFill>
                  <a:srgbClr val="1E2761"/>
                </a:solidFill>
                <a:latin typeface="Calibri" pitchFamily="34" charset="0"/>
                <a:ea typeface="Calibri" pitchFamily="34" charset="-122"/>
                <a:cs typeface="Calibri" pitchFamily="34" charset="-120"/>
              </a:rPr>
              <a:t>Group memberships replicate successfully across DCs.</a:t>
            </a:r>
            <a:endParaRPr lang="en-US" sz="1200" dirty="0"/>
          </a:p>
        </p:txBody>
      </p:sp>
      <p:sp>
        <p:nvSpPr>
          <p:cNvPr id="15" name="Shape 10"/>
          <p:cNvSpPr/>
          <p:nvPr/>
        </p:nvSpPr>
        <p:spPr>
          <a:xfrm>
            <a:off x="566928" y="3236976"/>
            <a:ext cx="256032" cy="256032"/>
          </a:xfrm>
          <a:prstGeom prst="roundRect">
            <a:avLst>
              <a:gd name="adj" fmla="val 17857"/>
            </a:avLst>
          </a:prstGeom>
          <a:solidFill>
            <a:srgbClr val="2E8B6B"/>
          </a:solidFill>
          <a:ln/>
        </p:spPr>
      </p:sp>
      <p:pic>
        <p:nvPicPr>
          <p:cNvPr id="16" name="Image 3" descr="preencoded.png">    </p:cNvPr>
          <p:cNvPicPr>
            <a:picLocks noChangeAspect="1"/>
          </p:cNvPicPr>
          <p:nvPr/>
        </p:nvPicPr>
        <p:blipFill>
          <a:blip r:embed="rId4"/>
          <a:stretch>
            <a:fillRect/>
          </a:stretch>
        </p:blipFill>
        <p:spPr>
          <a:xfrm>
            <a:off x="603504" y="3273552"/>
            <a:ext cx="182880" cy="182880"/>
          </a:xfrm>
          <a:prstGeom prst="rect">
            <a:avLst/>
          </a:prstGeom>
        </p:spPr>
      </p:pic>
      <p:sp>
        <p:nvSpPr>
          <p:cNvPr id="17" name="Text 11"/>
          <p:cNvSpPr/>
          <p:nvPr/>
        </p:nvSpPr>
        <p:spPr>
          <a:xfrm>
            <a:off x="932688" y="3163824"/>
            <a:ext cx="4754880" cy="548640"/>
          </a:xfrm>
          <a:prstGeom prst="rect">
            <a:avLst/>
          </a:prstGeom>
          <a:noFill/>
          <a:ln/>
        </p:spPr>
        <p:txBody>
          <a:bodyPr wrap="square" rtlCol="0" anchor="t"/>
          <a:lstStyle/>
          <a:p>
            <a:pPr indent="0" marL="0">
              <a:lnSpc>
                <a:spcPct val="103000"/>
              </a:lnSpc>
              <a:buNone/>
            </a:pPr>
            <a:r>
              <a:rPr lang="en-US" sz="1200" dirty="0">
                <a:solidFill>
                  <a:srgbClr val="1E2761"/>
                </a:solidFill>
                <a:latin typeface="Calibri" pitchFamily="34" charset="0"/>
                <a:ea typeface="Calibri" pitchFamily="34" charset="-122"/>
                <a:cs typeface="Calibri" pitchFamily="34" charset="-120"/>
              </a:rPr>
              <a:t>Trust path &amp; object resolution work across domains / forests.</a:t>
            </a:r>
            <a:endParaRPr lang="en-US" sz="1200" dirty="0"/>
          </a:p>
        </p:txBody>
      </p:sp>
      <p:sp>
        <p:nvSpPr>
          <p:cNvPr id="18" name="Shape 12"/>
          <p:cNvSpPr/>
          <p:nvPr/>
        </p:nvSpPr>
        <p:spPr>
          <a:xfrm>
            <a:off x="566928" y="3840480"/>
            <a:ext cx="256032" cy="256032"/>
          </a:xfrm>
          <a:prstGeom prst="roundRect">
            <a:avLst>
              <a:gd name="adj" fmla="val 17857"/>
            </a:avLst>
          </a:prstGeom>
          <a:solidFill>
            <a:srgbClr val="2E8B6B"/>
          </a:solidFill>
          <a:ln/>
        </p:spPr>
      </p:sp>
      <p:pic>
        <p:nvPicPr>
          <p:cNvPr id="19" name="Image 4" descr="preencoded.png">    </p:cNvPr>
          <p:cNvPicPr>
            <a:picLocks noChangeAspect="1"/>
          </p:cNvPicPr>
          <p:nvPr/>
        </p:nvPicPr>
        <p:blipFill>
          <a:blip r:embed="rId5"/>
          <a:stretch>
            <a:fillRect/>
          </a:stretch>
        </p:blipFill>
        <p:spPr>
          <a:xfrm>
            <a:off x="603504" y="3877056"/>
            <a:ext cx="182880" cy="182880"/>
          </a:xfrm>
          <a:prstGeom prst="rect">
            <a:avLst/>
          </a:prstGeom>
        </p:spPr>
      </p:pic>
      <p:sp>
        <p:nvSpPr>
          <p:cNvPr id="20" name="Text 13"/>
          <p:cNvSpPr/>
          <p:nvPr/>
        </p:nvSpPr>
        <p:spPr>
          <a:xfrm>
            <a:off x="932688" y="3767328"/>
            <a:ext cx="4754880" cy="548640"/>
          </a:xfrm>
          <a:prstGeom prst="rect">
            <a:avLst/>
          </a:prstGeom>
          <a:noFill/>
          <a:ln/>
        </p:spPr>
        <p:txBody>
          <a:bodyPr wrap="square" rtlCol="0" anchor="t"/>
          <a:lstStyle/>
          <a:p>
            <a:pPr indent="0" marL="0">
              <a:lnSpc>
                <a:spcPct val="103000"/>
              </a:lnSpc>
              <a:buNone/>
            </a:pPr>
            <a:r>
              <a:rPr lang="en-US" sz="1200" dirty="0">
                <a:solidFill>
                  <a:srgbClr val="1E2761"/>
                </a:solidFill>
                <a:latin typeface="Calibri" pitchFamily="34" charset="0"/>
                <a:ea typeface="Calibri" pitchFamily="34" charset="-122"/>
                <a:cs typeface="Calibri" pitchFamily="34" charset="-120"/>
              </a:rPr>
              <a:t>Delegated admin tasks succeed exactly as designed.</a:t>
            </a:r>
            <a:endParaRPr lang="en-US" sz="1200" dirty="0"/>
          </a:p>
        </p:txBody>
      </p:sp>
      <p:sp>
        <p:nvSpPr>
          <p:cNvPr id="21" name="Shape 14"/>
          <p:cNvSpPr/>
          <p:nvPr/>
        </p:nvSpPr>
        <p:spPr>
          <a:xfrm>
            <a:off x="566928" y="4443984"/>
            <a:ext cx="256032" cy="256032"/>
          </a:xfrm>
          <a:prstGeom prst="roundRect">
            <a:avLst>
              <a:gd name="adj" fmla="val 17857"/>
            </a:avLst>
          </a:prstGeom>
          <a:solidFill>
            <a:srgbClr val="2E8B6B"/>
          </a:solidFill>
          <a:ln/>
        </p:spPr>
      </p:sp>
      <p:pic>
        <p:nvPicPr>
          <p:cNvPr id="22" name="Image 5" descr="preencoded.png">    </p:cNvPr>
          <p:cNvPicPr>
            <a:picLocks noChangeAspect="1"/>
          </p:cNvPicPr>
          <p:nvPr/>
        </p:nvPicPr>
        <p:blipFill>
          <a:blip r:embed="rId6"/>
          <a:stretch>
            <a:fillRect/>
          </a:stretch>
        </p:blipFill>
        <p:spPr>
          <a:xfrm>
            <a:off x="603504" y="4480560"/>
            <a:ext cx="182880" cy="182880"/>
          </a:xfrm>
          <a:prstGeom prst="rect">
            <a:avLst/>
          </a:prstGeom>
        </p:spPr>
      </p:pic>
      <p:sp>
        <p:nvSpPr>
          <p:cNvPr id="23" name="Text 15"/>
          <p:cNvSpPr/>
          <p:nvPr/>
        </p:nvSpPr>
        <p:spPr>
          <a:xfrm>
            <a:off x="932688" y="4370832"/>
            <a:ext cx="4754880" cy="548640"/>
          </a:xfrm>
          <a:prstGeom prst="rect">
            <a:avLst/>
          </a:prstGeom>
          <a:noFill/>
          <a:ln/>
        </p:spPr>
        <p:txBody>
          <a:bodyPr wrap="square" rtlCol="0" anchor="t"/>
          <a:lstStyle/>
          <a:p>
            <a:pPr indent="0" marL="0">
              <a:lnSpc>
                <a:spcPct val="103000"/>
              </a:lnSpc>
              <a:buNone/>
            </a:pPr>
            <a:r>
              <a:rPr lang="en-US" sz="1200" dirty="0">
                <a:solidFill>
                  <a:srgbClr val="1E2761"/>
                </a:solidFill>
                <a:latin typeface="Calibri" pitchFamily="34" charset="0"/>
                <a:ea typeface="Calibri" pitchFamily="34" charset="-122"/>
                <a:cs typeface="Calibri" pitchFamily="34" charset="-120"/>
              </a:rPr>
              <a:t>Audit logs capture logon and privilege use.</a:t>
            </a:r>
            <a:endParaRPr lang="en-US" sz="1200" dirty="0"/>
          </a:p>
        </p:txBody>
      </p:sp>
      <p:sp>
        <p:nvSpPr>
          <p:cNvPr id="24" name="Shape 16"/>
          <p:cNvSpPr/>
          <p:nvPr/>
        </p:nvSpPr>
        <p:spPr>
          <a:xfrm>
            <a:off x="566928" y="5047488"/>
            <a:ext cx="256032" cy="256032"/>
          </a:xfrm>
          <a:prstGeom prst="roundRect">
            <a:avLst>
              <a:gd name="adj" fmla="val 17857"/>
            </a:avLst>
          </a:prstGeom>
          <a:solidFill>
            <a:srgbClr val="2E8B6B"/>
          </a:solidFill>
          <a:ln/>
        </p:spPr>
      </p:sp>
      <p:pic>
        <p:nvPicPr>
          <p:cNvPr id="25" name="Image 6" descr="preencoded.png">    </p:cNvPr>
          <p:cNvPicPr>
            <a:picLocks noChangeAspect="1"/>
          </p:cNvPicPr>
          <p:nvPr/>
        </p:nvPicPr>
        <p:blipFill>
          <a:blip r:embed="rId7"/>
          <a:stretch>
            <a:fillRect/>
          </a:stretch>
        </p:blipFill>
        <p:spPr>
          <a:xfrm>
            <a:off x="603504" y="5084064"/>
            <a:ext cx="182880" cy="182880"/>
          </a:xfrm>
          <a:prstGeom prst="rect">
            <a:avLst/>
          </a:prstGeom>
        </p:spPr>
      </p:pic>
      <p:sp>
        <p:nvSpPr>
          <p:cNvPr id="26" name="Text 17"/>
          <p:cNvSpPr/>
          <p:nvPr/>
        </p:nvSpPr>
        <p:spPr>
          <a:xfrm>
            <a:off x="932688" y="4974336"/>
            <a:ext cx="4754880" cy="548640"/>
          </a:xfrm>
          <a:prstGeom prst="rect">
            <a:avLst/>
          </a:prstGeom>
          <a:noFill/>
          <a:ln/>
        </p:spPr>
        <p:txBody>
          <a:bodyPr wrap="square" rtlCol="0" anchor="t"/>
          <a:lstStyle/>
          <a:p>
            <a:pPr indent="0" marL="0">
              <a:lnSpc>
                <a:spcPct val="103000"/>
              </a:lnSpc>
              <a:buNone/>
            </a:pPr>
            <a:r>
              <a:rPr lang="en-US" sz="1200" dirty="0">
                <a:solidFill>
                  <a:srgbClr val="1E2761"/>
                </a:solidFill>
                <a:latin typeface="Calibri" pitchFamily="34" charset="0"/>
                <a:ea typeface="Calibri" pitchFamily="34" charset="-122"/>
                <a:cs typeface="Calibri" pitchFamily="34" charset="-120"/>
              </a:rPr>
              <a:t>No excessive privileged memberships were introduced; least privilege intact.</a:t>
            </a:r>
            <a:endParaRPr lang="en-US" sz="1200" dirty="0"/>
          </a:p>
        </p:txBody>
      </p:sp>
      <p:sp>
        <p:nvSpPr>
          <p:cNvPr id="27" name="Text 18"/>
          <p:cNvSpPr/>
          <p:nvPr/>
        </p:nvSpPr>
        <p:spPr>
          <a:xfrm>
            <a:off x="5943600" y="1600200"/>
            <a:ext cx="5669280" cy="320040"/>
          </a:xfrm>
          <a:prstGeom prst="rect">
            <a:avLst/>
          </a:prstGeom>
          <a:noFill/>
          <a:ln/>
        </p:spPr>
        <p:txBody>
          <a:bodyPr wrap="square" rtlCol="0" anchor="ctr"/>
          <a:lstStyle/>
          <a:p>
            <a:pPr indent="0" marL="0">
              <a:buNone/>
            </a:pPr>
            <a:r>
              <a:rPr lang="en-US" sz="1250" b="1" spc="200" kern="0" dirty="0">
                <a:solidFill>
                  <a:srgbClr val="4A6FA5"/>
                </a:solidFill>
                <a:latin typeface="Calibri" pitchFamily="34" charset="0"/>
                <a:ea typeface="Calibri" pitchFamily="34" charset="-122"/>
                <a:cs typeface="Calibri" pitchFamily="34" charset="-120"/>
              </a:rPr>
              <a:t>ACCESS TEST CASES</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943600" y="1965960"/>
          <a:ext cx="5669280" cy="914400"/>
        </p:xfrm>
        <a:graphic>
          <a:graphicData uri="http://schemas.openxmlformats.org/drawingml/2006/table">
            <a:tbl>
              <a:tblPr/>
              <a:tblGrid>
                <a:gridCol w="2240280"/>
                <a:gridCol w="2148840"/>
                <a:gridCol w="1280160"/>
              </a:tblGrid>
              <a:tr h="384048">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Test</a:t>
                      </a:r>
                      <a:endParaRPr lang="en-US" sz="1100" dirty="0">
                        <a:latin typeface="Calibri" charset="0"/>
                        <a:ea typeface="Calibri" charset="0"/>
                        <a:cs typeface="Calibri" charset="0"/>
                      </a:endParaRPr>
                    </a:p>
                  </a:txBody>
                  <a:tcPr marL="63500" marR="63500" marT="50800" marB="50800" anchor="ctr">
                    <a:lnL w="12700" cap="flat" cmpd="sng" algn="ctr">
                      <a:solidFill>
                        <a:srgbClr val="D4DCEA"/>
                      </a:solidFill>
                      <a:prstDash val="solid"/>
                      <a:round/>
                      <a:headEnd type="none" w="med" len="med"/>
                      <a:tailEnd type="none" w="med" len="med"/>
                    </a:lnL>
                    <a:lnR w="12700" cap="flat" cmpd="sng" algn="ctr">
                      <a:solidFill>
                        <a:srgbClr val="D4DCEA"/>
                      </a:solidFill>
                      <a:prstDash val="solid"/>
                      <a:round/>
                      <a:headEnd type="none" w="med" len="med"/>
                      <a:tailEnd type="none" w="med" len="med"/>
                    </a:lnR>
                    <a:lnT w="12700" cap="flat" cmpd="sng" algn="ctr">
                      <a:solidFill>
                        <a:srgbClr val="D4DCEA"/>
                      </a:solidFill>
                      <a:prstDash val="solid"/>
                      <a:round/>
                      <a:headEnd type="none" w="med" len="med"/>
                      <a:tailEnd type="none" w="med" len="med"/>
                    </a:lnT>
                    <a:lnB w="12700" cap="flat" cmpd="sng" algn="ctr">
                      <a:solidFill>
                        <a:srgbClr val="D4DCEA"/>
                      </a:solidFill>
                      <a:prstDash val="solid"/>
                      <a:round/>
                      <a:headEnd type="none" w="med" len="med"/>
                      <a:tailEnd type="none" w="med" len="med"/>
                    </a:lnB>
                    <a:solidFill>
                      <a:srgbClr val="1E2761"/>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Target</a:t>
                      </a:r>
                      <a:endParaRPr lang="en-US" sz="1100" dirty="0">
                        <a:latin typeface="Calibri" charset="0"/>
                        <a:ea typeface="Calibri" charset="0"/>
                        <a:cs typeface="Calibri" charset="0"/>
                      </a:endParaRPr>
                    </a:p>
                  </a:txBody>
                  <a:tcPr marL="63500" marR="63500" marT="50800" marB="50800" anchor="ctr">
                    <a:lnL w="12700" cap="flat" cmpd="sng" algn="ctr">
                      <a:solidFill>
                        <a:srgbClr val="D4DCEA"/>
                      </a:solidFill>
                      <a:prstDash val="solid"/>
                      <a:round/>
                      <a:headEnd type="none" w="med" len="med"/>
                      <a:tailEnd type="none" w="med" len="med"/>
                    </a:lnL>
                    <a:lnR w="12700" cap="flat" cmpd="sng" algn="ctr">
                      <a:solidFill>
                        <a:srgbClr val="D4DCEA"/>
                      </a:solidFill>
                      <a:prstDash val="solid"/>
                      <a:round/>
                      <a:headEnd type="none" w="med" len="med"/>
                      <a:tailEnd type="none" w="med" len="med"/>
                    </a:lnR>
                    <a:lnT w="12700" cap="flat" cmpd="sng" algn="ctr">
                      <a:solidFill>
                        <a:srgbClr val="D4DCEA"/>
                      </a:solidFill>
                      <a:prstDash val="solid"/>
                      <a:round/>
                      <a:headEnd type="none" w="med" len="med"/>
                      <a:tailEnd type="none" w="med" len="med"/>
                    </a:lnT>
                    <a:lnB w="12700" cap="flat" cmpd="sng" algn="ctr">
                      <a:solidFill>
                        <a:srgbClr val="D4DCEA"/>
                      </a:solidFill>
                      <a:prstDash val="solid"/>
                      <a:round/>
                      <a:headEnd type="none" w="med" len="med"/>
                      <a:tailEnd type="none" w="med" len="med"/>
                    </a:lnB>
                    <a:solidFill>
                      <a:srgbClr val="1E2761"/>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Expected</a:t>
                      </a:r>
                      <a:endParaRPr lang="en-US" sz="1100" dirty="0">
                        <a:latin typeface="Calibri" charset="0"/>
                        <a:ea typeface="Calibri" charset="0"/>
                        <a:cs typeface="Calibri" charset="0"/>
                      </a:endParaRPr>
                    </a:p>
                  </a:txBody>
                  <a:tcPr marL="63500" marR="63500" marT="50800" marB="50800" anchor="ctr">
                    <a:lnL w="12700" cap="flat" cmpd="sng" algn="ctr">
                      <a:solidFill>
                        <a:srgbClr val="D4DCEA"/>
                      </a:solidFill>
                      <a:prstDash val="solid"/>
                      <a:round/>
                      <a:headEnd type="none" w="med" len="med"/>
                      <a:tailEnd type="none" w="med" len="med"/>
                    </a:lnL>
                    <a:lnR w="12700" cap="flat" cmpd="sng" algn="ctr">
                      <a:solidFill>
                        <a:srgbClr val="D4DCEA"/>
                      </a:solidFill>
                      <a:prstDash val="solid"/>
                      <a:round/>
                      <a:headEnd type="none" w="med" len="med"/>
                      <a:tailEnd type="none" w="med" len="med"/>
                    </a:lnR>
                    <a:lnT w="12700" cap="flat" cmpd="sng" algn="ctr">
                      <a:solidFill>
                        <a:srgbClr val="D4DCEA"/>
                      </a:solidFill>
                      <a:prstDash val="solid"/>
                      <a:round/>
                      <a:headEnd type="none" w="med" len="med"/>
                      <a:tailEnd type="none" w="med" len="med"/>
                    </a:lnT>
                    <a:lnB w="12700" cap="flat" cmpd="sng" algn="ctr">
                      <a:solidFill>
                        <a:srgbClr val="D4DCEA"/>
                      </a:solidFill>
                      <a:prstDash val="solid"/>
                      <a:round/>
                      <a:headEnd type="none" w="med" len="med"/>
                      <a:tailEnd type="none" w="med" len="med"/>
                    </a:lnB>
                    <a:solidFill>
                      <a:srgbClr val="1E2761"/>
                    </a:solidFill>
                  </a:tcPr>
                </a:tc>
              </a:tr>
              <a:tr h="457200">
                <a:tc>
                  <a:txBody>
                    <a:bodyPr/>
                    <a:lstStyle/>
                    <a:p>
                      <a:pPr algn="l" indent="0" marL="0">
                        <a:buNone/>
                      </a:pPr>
                      <a:r>
                        <a:rPr lang="en-US" sz="1100" dirty="0">
                          <a:solidFill>
                            <a:srgbClr val="1E2761"/>
                          </a:solidFill>
                          <a:latin typeface="Calibri" pitchFamily="34" charset="0"/>
                          <a:ea typeface="Calibri" pitchFamily="34" charset="-122"/>
                          <a:cs typeface="Calibri" pitchFamily="34" charset="-120"/>
                        </a:rPr>
                        <a:t>RDP to approved server</a:t>
                      </a:r>
                      <a:endParaRPr lang="en-US" sz="1100" dirty="0">
                        <a:latin typeface="Calibri" charset="0"/>
                        <a:ea typeface="Calibri" charset="0"/>
                        <a:cs typeface="Calibri" charset="0"/>
                      </a:endParaRPr>
                    </a:p>
                  </a:txBody>
                  <a:tcPr marL="63500" marR="63500" marT="50800" marB="50800" anchor="ctr">
                    <a:lnL w="12700" cap="flat" cmpd="sng" algn="ctr">
                      <a:solidFill>
                        <a:srgbClr val="D4DCEA"/>
                      </a:solidFill>
                      <a:prstDash val="solid"/>
                      <a:round/>
                      <a:headEnd type="none" w="med" len="med"/>
                      <a:tailEnd type="none" w="med" len="med"/>
                    </a:lnL>
                    <a:lnR w="12700" cap="flat" cmpd="sng" algn="ctr">
                      <a:solidFill>
                        <a:srgbClr val="D4DCEA"/>
                      </a:solidFill>
                      <a:prstDash val="solid"/>
                      <a:round/>
                      <a:headEnd type="none" w="med" len="med"/>
                      <a:tailEnd type="none" w="med" len="med"/>
                    </a:lnR>
                    <a:lnT w="12700" cap="flat" cmpd="sng" algn="ctr">
                      <a:solidFill>
                        <a:srgbClr val="D4DCEA"/>
                      </a:solidFill>
                      <a:prstDash val="solid"/>
                      <a:round/>
                      <a:headEnd type="none" w="med" len="med"/>
                      <a:tailEnd type="none" w="med" len="med"/>
                    </a:lnT>
                    <a:lnB w="12700" cap="flat" cmpd="sng" algn="ctr">
                      <a:solidFill>
                        <a:srgbClr val="D4DCE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E2761"/>
                          </a:solidFill>
                          <a:latin typeface="Calibri" pitchFamily="34" charset="0"/>
                          <a:ea typeface="Calibri" pitchFamily="34" charset="-122"/>
                          <a:cs typeface="Calibri" pitchFamily="34" charset="-120"/>
                        </a:rPr>
                        <a:t>Child Domain A1 host</a:t>
                      </a:r>
                      <a:endParaRPr lang="en-US" sz="1100" dirty="0">
                        <a:latin typeface="Calibri" charset="0"/>
                        <a:ea typeface="Calibri" charset="0"/>
                        <a:cs typeface="Calibri" charset="0"/>
                      </a:endParaRPr>
                    </a:p>
                  </a:txBody>
                  <a:tcPr marL="63500" marR="63500" marT="50800" marB="50800" anchor="ctr">
                    <a:lnL w="12700" cap="flat" cmpd="sng" algn="ctr">
                      <a:solidFill>
                        <a:srgbClr val="D4DCEA"/>
                      </a:solidFill>
                      <a:prstDash val="solid"/>
                      <a:round/>
                      <a:headEnd type="none" w="med" len="med"/>
                      <a:tailEnd type="none" w="med" len="med"/>
                    </a:lnL>
                    <a:lnR w="12700" cap="flat" cmpd="sng" algn="ctr">
                      <a:solidFill>
                        <a:srgbClr val="D4DCEA"/>
                      </a:solidFill>
                      <a:prstDash val="solid"/>
                      <a:round/>
                      <a:headEnd type="none" w="med" len="med"/>
                      <a:tailEnd type="none" w="med" len="med"/>
                    </a:lnR>
                    <a:lnT w="12700" cap="flat" cmpd="sng" algn="ctr">
                      <a:solidFill>
                        <a:srgbClr val="D4DCEA"/>
                      </a:solidFill>
                      <a:prstDash val="solid"/>
                      <a:round/>
                      <a:headEnd type="none" w="med" len="med"/>
                      <a:tailEnd type="none" w="med" len="med"/>
                    </a:lnT>
                    <a:lnB w="12700" cap="flat" cmpd="sng" algn="ctr">
                      <a:solidFill>
                        <a:srgbClr val="D4DCEA"/>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8B6B"/>
                          </a:solidFill>
                          <a:latin typeface="Calibri" pitchFamily="34" charset="0"/>
                          <a:ea typeface="Calibri" pitchFamily="34" charset="-122"/>
                          <a:cs typeface="Calibri" pitchFamily="34" charset="-120"/>
                        </a:rPr>
                        <a:t>ALLOW</a:t>
                      </a:r>
                      <a:endParaRPr lang="en-US" sz="1100" dirty="0">
                        <a:latin typeface="Calibri" charset="0"/>
                        <a:ea typeface="Calibri" charset="0"/>
                        <a:cs typeface="Calibri" charset="0"/>
                      </a:endParaRPr>
                    </a:p>
                  </a:txBody>
                  <a:tcPr marL="63500" marR="63500" marT="50800" marB="50800" anchor="ctr">
                    <a:lnL w="12700" cap="flat" cmpd="sng" algn="ctr">
                      <a:solidFill>
                        <a:srgbClr val="D4DCEA"/>
                      </a:solidFill>
                      <a:prstDash val="solid"/>
                      <a:round/>
                      <a:headEnd type="none" w="med" len="med"/>
                      <a:tailEnd type="none" w="med" len="med"/>
                    </a:lnL>
                    <a:lnR w="12700" cap="flat" cmpd="sng" algn="ctr">
                      <a:solidFill>
                        <a:srgbClr val="D4DCEA"/>
                      </a:solidFill>
                      <a:prstDash val="solid"/>
                      <a:round/>
                      <a:headEnd type="none" w="med" len="med"/>
                      <a:tailEnd type="none" w="med" len="med"/>
                    </a:lnR>
                    <a:lnT w="12700" cap="flat" cmpd="sng" algn="ctr">
                      <a:solidFill>
                        <a:srgbClr val="D4DCEA"/>
                      </a:solidFill>
                      <a:prstDash val="solid"/>
                      <a:round/>
                      <a:headEnd type="none" w="med" len="med"/>
                      <a:tailEnd type="none" w="med" len="med"/>
                    </a:lnT>
                    <a:lnB w="12700" cap="flat" cmpd="sng" algn="ctr">
                      <a:solidFill>
                        <a:srgbClr val="D4DCEA"/>
                      </a:solidFill>
                      <a:prstDash val="solid"/>
                      <a:round/>
                      <a:headEnd type="none" w="med" len="med"/>
                      <a:tailEnd type="none" w="med" len="med"/>
                    </a:lnB>
                    <a:solidFill>
                      <a:srgbClr val="FFFFFF"/>
                    </a:solidFill>
                  </a:tcPr>
                </a:tc>
              </a:tr>
              <a:tr h="457200">
                <a:tc>
                  <a:txBody>
                    <a:bodyPr/>
                    <a:lstStyle/>
                    <a:p>
                      <a:pPr algn="l" indent="0" marL="0">
                        <a:buNone/>
                      </a:pPr>
                      <a:r>
                        <a:rPr lang="en-US" sz="1100" dirty="0">
                          <a:solidFill>
                            <a:srgbClr val="1E2761"/>
                          </a:solidFill>
                          <a:latin typeface="Calibri" pitchFamily="34" charset="0"/>
                          <a:ea typeface="Calibri" pitchFamily="34" charset="-122"/>
                          <a:cs typeface="Calibri" pitchFamily="34" charset="-120"/>
                        </a:rPr>
                        <a:t>RDP to approved server</a:t>
                      </a:r>
                      <a:endParaRPr lang="en-US" sz="1100" dirty="0">
                        <a:latin typeface="Calibri" charset="0"/>
                        <a:ea typeface="Calibri" charset="0"/>
                        <a:cs typeface="Calibri" charset="0"/>
                      </a:endParaRPr>
                    </a:p>
                  </a:txBody>
                  <a:tcPr marL="63500" marR="63500" marT="50800" marB="50800" anchor="ctr">
                    <a:lnL w="12700" cap="flat" cmpd="sng" algn="ctr">
                      <a:solidFill>
                        <a:srgbClr val="D4DCEA"/>
                      </a:solidFill>
                      <a:prstDash val="solid"/>
                      <a:round/>
                      <a:headEnd type="none" w="med" len="med"/>
                      <a:tailEnd type="none" w="med" len="med"/>
                    </a:lnL>
                    <a:lnR w="12700" cap="flat" cmpd="sng" algn="ctr">
                      <a:solidFill>
                        <a:srgbClr val="D4DCEA"/>
                      </a:solidFill>
                      <a:prstDash val="solid"/>
                      <a:round/>
                      <a:headEnd type="none" w="med" len="med"/>
                      <a:tailEnd type="none" w="med" len="med"/>
                    </a:lnR>
                    <a:lnT w="12700" cap="flat" cmpd="sng" algn="ctr">
                      <a:solidFill>
                        <a:srgbClr val="D4DCEA"/>
                      </a:solidFill>
                      <a:prstDash val="solid"/>
                      <a:round/>
                      <a:headEnd type="none" w="med" len="med"/>
                      <a:tailEnd type="none" w="med" len="med"/>
                    </a:lnT>
                    <a:lnB w="12700" cap="flat" cmpd="sng" algn="ctr">
                      <a:solidFill>
                        <a:srgbClr val="D4DCEA"/>
                      </a:solidFill>
                      <a:prstDash val="solid"/>
                      <a:round/>
                      <a:headEnd type="none" w="med" len="med"/>
                      <a:tailEnd type="none" w="med" len="med"/>
                    </a:lnB>
                    <a:solidFill>
                      <a:srgbClr val="F4F7FC"/>
                    </a:solidFill>
                  </a:tcPr>
                </a:tc>
                <a:tc>
                  <a:txBody>
                    <a:bodyPr/>
                    <a:lstStyle/>
                    <a:p>
                      <a:pPr algn="l" indent="0" marL="0">
                        <a:buNone/>
                      </a:pPr>
                      <a:r>
                        <a:rPr lang="en-US" sz="1100" dirty="0">
                          <a:solidFill>
                            <a:srgbClr val="1E2761"/>
                          </a:solidFill>
                          <a:latin typeface="Calibri" pitchFamily="34" charset="0"/>
                          <a:ea typeface="Calibri" pitchFamily="34" charset="-122"/>
                          <a:cs typeface="Calibri" pitchFamily="34" charset="-120"/>
                        </a:rPr>
                        <a:t>Forest B resource host</a:t>
                      </a:r>
                      <a:endParaRPr lang="en-US" sz="1100" dirty="0">
                        <a:latin typeface="Calibri" charset="0"/>
                        <a:ea typeface="Calibri" charset="0"/>
                        <a:cs typeface="Calibri" charset="0"/>
                      </a:endParaRPr>
                    </a:p>
                  </a:txBody>
                  <a:tcPr marL="63500" marR="63500" marT="50800" marB="50800" anchor="ctr">
                    <a:lnL w="12700" cap="flat" cmpd="sng" algn="ctr">
                      <a:solidFill>
                        <a:srgbClr val="D4DCEA"/>
                      </a:solidFill>
                      <a:prstDash val="solid"/>
                      <a:round/>
                      <a:headEnd type="none" w="med" len="med"/>
                      <a:tailEnd type="none" w="med" len="med"/>
                    </a:lnL>
                    <a:lnR w="12700" cap="flat" cmpd="sng" algn="ctr">
                      <a:solidFill>
                        <a:srgbClr val="D4DCEA"/>
                      </a:solidFill>
                      <a:prstDash val="solid"/>
                      <a:round/>
                      <a:headEnd type="none" w="med" len="med"/>
                      <a:tailEnd type="none" w="med" len="med"/>
                    </a:lnR>
                    <a:lnT w="12700" cap="flat" cmpd="sng" algn="ctr">
                      <a:solidFill>
                        <a:srgbClr val="D4DCEA"/>
                      </a:solidFill>
                      <a:prstDash val="solid"/>
                      <a:round/>
                      <a:headEnd type="none" w="med" len="med"/>
                      <a:tailEnd type="none" w="med" len="med"/>
                    </a:lnT>
                    <a:lnB w="12700" cap="flat" cmpd="sng" algn="ctr">
                      <a:solidFill>
                        <a:srgbClr val="D4DCEA"/>
                      </a:solidFill>
                      <a:prstDash val="solid"/>
                      <a:round/>
                      <a:headEnd type="none" w="med" len="med"/>
                      <a:tailEnd type="none" w="med" len="med"/>
                    </a:lnB>
                    <a:solidFill>
                      <a:srgbClr val="F4F7FC"/>
                    </a:solidFill>
                  </a:tcPr>
                </a:tc>
                <a:tc>
                  <a:txBody>
                    <a:bodyPr/>
                    <a:lstStyle/>
                    <a:p>
                      <a:pPr algn="ctr" indent="0" marL="0">
                        <a:buNone/>
                      </a:pPr>
                      <a:r>
                        <a:rPr lang="en-US" sz="1100" b="1" dirty="0">
                          <a:solidFill>
                            <a:srgbClr val="2E8B6B"/>
                          </a:solidFill>
                          <a:latin typeface="Calibri" pitchFamily="34" charset="0"/>
                          <a:ea typeface="Calibri" pitchFamily="34" charset="-122"/>
                          <a:cs typeface="Calibri" pitchFamily="34" charset="-120"/>
                        </a:rPr>
                        <a:t>ALLOW</a:t>
                      </a:r>
                      <a:endParaRPr lang="en-US" sz="1100" dirty="0">
                        <a:latin typeface="Calibri" charset="0"/>
                        <a:ea typeface="Calibri" charset="0"/>
                        <a:cs typeface="Calibri" charset="0"/>
                      </a:endParaRPr>
                    </a:p>
                  </a:txBody>
                  <a:tcPr marL="63500" marR="63500" marT="50800" marB="50800" anchor="ctr">
                    <a:lnL w="12700" cap="flat" cmpd="sng" algn="ctr">
                      <a:solidFill>
                        <a:srgbClr val="D4DCEA"/>
                      </a:solidFill>
                      <a:prstDash val="solid"/>
                      <a:round/>
                      <a:headEnd type="none" w="med" len="med"/>
                      <a:tailEnd type="none" w="med" len="med"/>
                    </a:lnL>
                    <a:lnR w="12700" cap="flat" cmpd="sng" algn="ctr">
                      <a:solidFill>
                        <a:srgbClr val="D4DCEA"/>
                      </a:solidFill>
                      <a:prstDash val="solid"/>
                      <a:round/>
                      <a:headEnd type="none" w="med" len="med"/>
                      <a:tailEnd type="none" w="med" len="med"/>
                    </a:lnR>
                    <a:lnT w="12700" cap="flat" cmpd="sng" algn="ctr">
                      <a:solidFill>
                        <a:srgbClr val="D4DCEA"/>
                      </a:solidFill>
                      <a:prstDash val="solid"/>
                      <a:round/>
                      <a:headEnd type="none" w="med" len="med"/>
                      <a:tailEnd type="none" w="med" len="med"/>
                    </a:lnT>
                    <a:lnB w="12700" cap="flat" cmpd="sng" algn="ctr">
                      <a:solidFill>
                        <a:srgbClr val="D4DCEA"/>
                      </a:solidFill>
                      <a:prstDash val="solid"/>
                      <a:round/>
                      <a:headEnd type="none" w="med" len="med"/>
                      <a:tailEnd type="none" w="med" len="med"/>
                    </a:lnB>
                    <a:solidFill>
                      <a:srgbClr val="F4F7FC"/>
                    </a:solidFill>
                  </a:tcPr>
                </a:tc>
              </a:tr>
              <a:tr h="457200">
                <a:tc>
                  <a:txBody>
                    <a:bodyPr/>
                    <a:lstStyle/>
                    <a:p>
                      <a:pPr algn="l" indent="0" marL="0">
                        <a:buNone/>
                      </a:pPr>
                      <a:r>
                        <a:rPr lang="en-US" sz="1100" dirty="0">
                          <a:solidFill>
                            <a:srgbClr val="1E2761"/>
                          </a:solidFill>
                          <a:latin typeface="Calibri" pitchFamily="34" charset="0"/>
                          <a:ea typeface="Calibri" pitchFamily="34" charset="-122"/>
                          <a:cs typeface="Calibri" pitchFamily="34" charset="-120"/>
                        </a:rPr>
                        <a:t>RDP to out-of-scope server</a:t>
                      </a:r>
                      <a:endParaRPr lang="en-US" sz="1100" dirty="0">
                        <a:latin typeface="Calibri" charset="0"/>
                        <a:ea typeface="Calibri" charset="0"/>
                        <a:cs typeface="Calibri" charset="0"/>
                      </a:endParaRPr>
                    </a:p>
                  </a:txBody>
                  <a:tcPr marL="63500" marR="63500" marT="50800" marB="50800" anchor="ctr">
                    <a:lnL w="12700" cap="flat" cmpd="sng" algn="ctr">
                      <a:solidFill>
                        <a:srgbClr val="D4DCEA"/>
                      </a:solidFill>
                      <a:prstDash val="solid"/>
                      <a:round/>
                      <a:headEnd type="none" w="med" len="med"/>
                      <a:tailEnd type="none" w="med" len="med"/>
                    </a:lnL>
                    <a:lnR w="12700" cap="flat" cmpd="sng" algn="ctr">
                      <a:solidFill>
                        <a:srgbClr val="D4DCEA"/>
                      </a:solidFill>
                      <a:prstDash val="solid"/>
                      <a:round/>
                      <a:headEnd type="none" w="med" len="med"/>
                      <a:tailEnd type="none" w="med" len="med"/>
                    </a:lnR>
                    <a:lnT w="12700" cap="flat" cmpd="sng" algn="ctr">
                      <a:solidFill>
                        <a:srgbClr val="D4DCEA"/>
                      </a:solidFill>
                      <a:prstDash val="solid"/>
                      <a:round/>
                      <a:headEnd type="none" w="med" len="med"/>
                      <a:tailEnd type="none" w="med" len="med"/>
                    </a:lnT>
                    <a:lnB w="12700" cap="flat" cmpd="sng" algn="ctr">
                      <a:solidFill>
                        <a:srgbClr val="D4DCE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E2761"/>
                          </a:solidFill>
                          <a:latin typeface="Calibri" pitchFamily="34" charset="0"/>
                          <a:ea typeface="Calibri" pitchFamily="34" charset="-122"/>
                          <a:cs typeface="Calibri" pitchFamily="34" charset="-120"/>
                        </a:rPr>
                        <a:t>Any unlisted host</a:t>
                      </a:r>
                      <a:endParaRPr lang="en-US" sz="1100" dirty="0">
                        <a:latin typeface="Calibri" charset="0"/>
                        <a:ea typeface="Calibri" charset="0"/>
                        <a:cs typeface="Calibri" charset="0"/>
                      </a:endParaRPr>
                    </a:p>
                  </a:txBody>
                  <a:tcPr marL="63500" marR="63500" marT="50800" marB="50800" anchor="ctr">
                    <a:lnL w="12700" cap="flat" cmpd="sng" algn="ctr">
                      <a:solidFill>
                        <a:srgbClr val="D4DCEA"/>
                      </a:solidFill>
                      <a:prstDash val="solid"/>
                      <a:round/>
                      <a:headEnd type="none" w="med" len="med"/>
                      <a:tailEnd type="none" w="med" len="med"/>
                    </a:lnL>
                    <a:lnR w="12700" cap="flat" cmpd="sng" algn="ctr">
                      <a:solidFill>
                        <a:srgbClr val="D4DCEA"/>
                      </a:solidFill>
                      <a:prstDash val="solid"/>
                      <a:round/>
                      <a:headEnd type="none" w="med" len="med"/>
                      <a:tailEnd type="none" w="med" len="med"/>
                    </a:lnR>
                    <a:lnT w="12700" cap="flat" cmpd="sng" algn="ctr">
                      <a:solidFill>
                        <a:srgbClr val="D4DCEA"/>
                      </a:solidFill>
                      <a:prstDash val="solid"/>
                      <a:round/>
                      <a:headEnd type="none" w="med" len="med"/>
                      <a:tailEnd type="none" w="med" len="med"/>
                    </a:lnT>
                    <a:lnB w="12700" cap="flat" cmpd="sng" algn="ctr">
                      <a:solidFill>
                        <a:srgbClr val="D4DCEA"/>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C0504D"/>
                          </a:solidFill>
                          <a:latin typeface="Calibri" pitchFamily="34" charset="0"/>
                          <a:ea typeface="Calibri" pitchFamily="34" charset="-122"/>
                          <a:cs typeface="Calibri" pitchFamily="34" charset="-120"/>
                        </a:rPr>
                        <a:t>DENY</a:t>
                      </a:r>
                      <a:endParaRPr lang="en-US" sz="1100" dirty="0">
                        <a:latin typeface="Calibri" charset="0"/>
                        <a:ea typeface="Calibri" charset="0"/>
                        <a:cs typeface="Calibri" charset="0"/>
                      </a:endParaRPr>
                    </a:p>
                  </a:txBody>
                  <a:tcPr marL="63500" marR="63500" marT="50800" marB="50800" anchor="ctr">
                    <a:lnL w="12700" cap="flat" cmpd="sng" algn="ctr">
                      <a:solidFill>
                        <a:srgbClr val="D4DCEA"/>
                      </a:solidFill>
                      <a:prstDash val="solid"/>
                      <a:round/>
                      <a:headEnd type="none" w="med" len="med"/>
                      <a:tailEnd type="none" w="med" len="med"/>
                    </a:lnL>
                    <a:lnR w="12700" cap="flat" cmpd="sng" algn="ctr">
                      <a:solidFill>
                        <a:srgbClr val="D4DCEA"/>
                      </a:solidFill>
                      <a:prstDash val="solid"/>
                      <a:round/>
                      <a:headEnd type="none" w="med" len="med"/>
                      <a:tailEnd type="none" w="med" len="med"/>
                    </a:lnR>
                    <a:lnT w="12700" cap="flat" cmpd="sng" algn="ctr">
                      <a:solidFill>
                        <a:srgbClr val="D4DCEA"/>
                      </a:solidFill>
                      <a:prstDash val="solid"/>
                      <a:round/>
                      <a:headEnd type="none" w="med" len="med"/>
                      <a:tailEnd type="none" w="med" len="med"/>
                    </a:lnT>
                    <a:lnB w="12700" cap="flat" cmpd="sng" algn="ctr">
                      <a:solidFill>
                        <a:srgbClr val="D4DCEA"/>
                      </a:solidFill>
                      <a:prstDash val="solid"/>
                      <a:round/>
                      <a:headEnd type="none" w="med" len="med"/>
                      <a:tailEnd type="none" w="med" len="med"/>
                    </a:lnB>
                    <a:solidFill>
                      <a:srgbClr val="FFFFFF"/>
                    </a:solidFill>
                  </a:tcPr>
                </a:tc>
              </a:tr>
              <a:tr h="457200">
                <a:tc>
                  <a:txBody>
                    <a:bodyPr/>
                    <a:lstStyle/>
                    <a:p>
                      <a:pPr algn="l" indent="0" marL="0">
                        <a:buNone/>
                      </a:pPr>
                      <a:r>
                        <a:rPr lang="en-US" sz="1100" dirty="0">
                          <a:solidFill>
                            <a:srgbClr val="1E2761"/>
                          </a:solidFill>
                          <a:latin typeface="Calibri" pitchFamily="34" charset="0"/>
                          <a:ea typeface="Calibri" pitchFamily="34" charset="-122"/>
                          <a:cs typeface="Calibri" pitchFamily="34" charset="-120"/>
                        </a:rPr>
                        <a:t>Delegated admin task</a:t>
                      </a:r>
                      <a:endParaRPr lang="en-US" sz="1100" dirty="0">
                        <a:latin typeface="Calibri" charset="0"/>
                        <a:ea typeface="Calibri" charset="0"/>
                        <a:cs typeface="Calibri" charset="0"/>
                      </a:endParaRPr>
                    </a:p>
                  </a:txBody>
                  <a:tcPr marL="63500" marR="63500" marT="50800" marB="50800" anchor="ctr">
                    <a:lnL w="12700" cap="flat" cmpd="sng" algn="ctr">
                      <a:solidFill>
                        <a:srgbClr val="D4DCEA"/>
                      </a:solidFill>
                      <a:prstDash val="solid"/>
                      <a:round/>
                      <a:headEnd type="none" w="med" len="med"/>
                      <a:tailEnd type="none" w="med" len="med"/>
                    </a:lnL>
                    <a:lnR w="12700" cap="flat" cmpd="sng" algn="ctr">
                      <a:solidFill>
                        <a:srgbClr val="D4DCEA"/>
                      </a:solidFill>
                      <a:prstDash val="solid"/>
                      <a:round/>
                      <a:headEnd type="none" w="med" len="med"/>
                      <a:tailEnd type="none" w="med" len="med"/>
                    </a:lnR>
                    <a:lnT w="12700" cap="flat" cmpd="sng" algn="ctr">
                      <a:solidFill>
                        <a:srgbClr val="D4DCEA"/>
                      </a:solidFill>
                      <a:prstDash val="solid"/>
                      <a:round/>
                      <a:headEnd type="none" w="med" len="med"/>
                      <a:tailEnd type="none" w="med" len="med"/>
                    </a:lnT>
                    <a:lnB w="12700" cap="flat" cmpd="sng" algn="ctr">
                      <a:solidFill>
                        <a:srgbClr val="D4DCEA"/>
                      </a:solidFill>
                      <a:prstDash val="solid"/>
                      <a:round/>
                      <a:headEnd type="none" w="med" len="med"/>
                      <a:tailEnd type="none" w="med" len="med"/>
                    </a:lnB>
                    <a:solidFill>
                      <a:srgbClr val="F4F7FC"/>
                    </a:solidFill>
                  </a:tcPr>
                </a:tc>
                <a:tc>
                  <a:txBody>
                    <a:bodyPr/>
                    <a:lstStyle/>
                    <a:p>
                      <a:pPr algn="l" indent="0" marL="0">
                        <a:buNone/>
                      </a:pPr>
                      <a:r>
                        <a:rPr lang="en-US" sz="1100" dirty="0">
                          <a:solidFill>
                            <a:srgbClr val="1E2761"/>
                          </a:solidFill>
                          <a:latin typeface="Calibri" pitchFamily="34" charset="0"/>
                          <a:ea typeface="Calibri" pitchFamily="34" charset="-122"/>
                          <a:cs typeface="Calibri" pitchFamily="34" charset="-120"/>
                        </a:rPr>
                        <a:t>In-scope domain</a:t>
                      </a:r>
                      <a:endParaRPr lang="en-US" sz="1100" dirty="0">
                        <a:latin typeface="Calibri" charset="0"/>
                        <a:ea typeface="Calibri" charset="0"/>
                        <a:cs typeface="Calibri" charset="0"/>
                      </a:endParaRPr>
                    </a:p>
                  </a:txBody>
                  <a:tcPr marL="63500" marR="63500" marT="50800" marB="50800" anchor="ctr">
                    <a:lnL w="12700" cap="flat" cmpd="sng" algn="ctr">
                      <a:solidFill>
                        <a:srgbClr val="D4DCEA"/>
                      </a:solidFill>
                      <a:prstDash val="solid"/>
                      <a:round/>
                      <a:headEnd type="none" w="med" len="med"/>
                      <a:tailEnd type="none" w="med" len="med"/>
                    </a:lnL>
                    <a:lnR w="12700" cap="flat" cmpd="sng" algn="ctr">
                      <a:solidFill>
                        <a:srgbClr val="D4DCEA"/>
                      </a:solidFill>
                      <a:prstDash val="solid"/>
                      <a:round/>
                      <a:headEnd type="none" w="med" len="med"/>
                      <a:tailEnd type="none" w="med" len="med"/>
                    </a:lnR>
                    <a:lnT w="12700" cap="flat" cmpd="sng" algn="ctr">
                      <a:solidFill>
                        <a:srgbClr val="D4DCEA"/>
                      </a:solidFill>
                      <a:prstDash val="solid"/>
                      <a:round/>
                      <a:headEnd type="none" w="med" len="med"/>
                      <a:tailEnd type="none" w="med" len="med"/>
                    </a:lnT>
                    <a:lnB w="12700" cap="flat" cmpd="sng" algn="ctr">
                      <a:solidFill>
                        <a:srgbClr val="D4DCEA"/>
                      </a:solidFill>
                      <a:prstDash val="solid"/>
                      <a:round/>
                      <a:headEnd type="none" w="med" len="med"/>
                      <a:tailEnd type="none" w="med" len="med"/>
                    </a:lnB>
                    <a:solidFill>
                      <a:srgbClr val="F4F7FC"/>
                    </a:solidFill>
                  </a:tcPr>
                </a:tc>
                <a:tc>
                  <a:txBody>
                    <a:bodyPr/>
                    <a:lstStyle/>
                    <a:p>
                      <a:pPr algn="ctr" indent="0" marL="0">
                        <a:buNone/>
                      </a:pPr>
                      <a:r>
                        <a:rPr lang="en-US" sz="1100" b="1" dirty="0">
                          <a:solidFill>
                            <a:srgbClr val="2E8B6B"/>
                          </a:solidFill>
                          <a:latin typeface="Calibri" pitchFamily="34" charset="0"/>
                          <a:ea typeface="Calibri" pitchFamily="34" charset="-122"/>
                          <a:cs typeface="Calibri" pitchFamily="34" charset="-120"/>
                        </a:rPr>
                        <a:t>SUCCEED</a:t>
                      </a:r>
                      <a:endParaRPr lang="en-US" sz="1100" dirty="0">
                        <a:latin typeface="Calibri" charset="0"/>
                        <a:ea typeface="Calibri" charset="0"/>
                        <a:cs typeface="Calibri" charset="0"/>
                      </a:endParaRPr>
                    </a:p>
                  </a:txBody>
                  <a:tcPr marL="63500" marR="63500" marT="50800" marB="50800" anchor="ctr">
                    <a:lnL w="12700" cap="flat" cmpd="sng" algn="ctr">
                      <a:solidFill>
                        <a:srgbClr val="D4DCEA"/>
                      </a:solidFill>
                      <a:prstDash val="solid"/>
                      <a:round/>
                      <a:headEnd type="none" w="med" len="med"/>
                      <a:tailEnd type="none" w="med" len="med"/>
                    </a:lnL>
                    <a:lnR w="12700" cap="flat" cmpd="sng" algn="ctr">
                      <a:solidFill>
                        <a:srgbClr val="D4DCEA"/>
                      </a:solidFill>
                      <a:prstDash val="solid"/>
                      <a:round/>
                      <a:headEnd type="none" w="med" len="med"/>
                      <a:tailEnd type="none" w="med" len="med"/>
                    </a:lnR>
                    <a:lnT w="12700" cap="flat" cmpd="sng" algn="ctr">
                      <a:solidFill>
                        <a:srgbClr val="D4DCEA"/>
                      </a:solidFill>
                      <a:prstDash val="solid"/>
                      <a:round/>
                      <a:headEnd type="none" w="med" len="med"/>
                      <a:tailEnd type="none" w="med" len="med"/>
                    </a:lnT>
                    <a:lnB w="12700" cap="flat" cmpd="sng" algn="ctr">
                      <a:solidFill>
                        <a:srgbClr val="D4DCEA"/>
                      </a:solidFill>
                      <a:prstDash val="solid"/>
                      <a:round/>
                      <a:headEnd type="none" w="med" len="med"/>
                      <a:tailEnd type="none" w="med" len="med"/>
                    </a:lnB>
                    <a:solidFill>
                      <a:srgbClr val="F4F7FC"/>
                    </a:solidFill>
                  </a:tcPr>
                </a:tc>
              </a:tr>
              <a:tr h="457200">
                <a:tc>
                  <a:txBody>
                    <a:bodyPr/>
                    <a:lstStyle/>
                    <a:p>
                      <a:pPr algn="l" indent="0" marL="0">
                        <a:buNone/>
                      </a:pPr>
                      <a:r>
                        <a:rPr lang="en-US" sz="1100" dirty="0">
                          <a:solidFill>
                            <a:srgbClr val="1E2761"/>
                          </a:solidFill>
                          <a:latin typeface="Calibri" pitchFamily="34" charset="0"/>
                          <a:ea typeface="Calibri" pitchFamily="34" charset="-122"/>
                          <a:cs typeface="Calibri" pitchFamily="34" charset="-120"/>
                        </a:rPr>
                        <a:t>Domain Admin action</a:t>
                      </a:r>
                      <a:endParaRPr lang="en-US" sz="1100" dirty="0">
                        <a:latin typeface="Calibri" charset="0"/>
                        <a:ea typeface="Calibri" charset="0"/>
                        <a:cs typeface="Calibri" charset="0"/>
                      </a:endParaRPr>
                    </a:p>
                  </a:txBody>
                  <a:tcPr marL="63500" marR="63500" marT="50800" marB="50800" anchor="ctr">
                    <a:lnL w="12700" cap="flat" cmpd="sng" algn="ctr">
                      <a:solidFill>
                        <a:srgbClr val="D4DCEA"/>
                      </a:solidFill>
                      <a:prstDash val="solid"/>
                      <a:round/>
                      <a:headEnd type="none" w="med" len="med"/>
                      <a:tailEnd type="none" w="med" len="med"/>
                    </a:lnL>
                    <a:lnR w="12700" cap="flat" cmpd="sng" algn="ctr">
                      <a:solidFill>
                        <a:srgbClr val="D4DCEA"/>
                      </a:solidFill>
                      <a:prstDash val="solid"/>
                      <a:round/>
                      <a:headEnd type="none" w="med" len="med"/>
                      <a:tailEnd type="none" w="med" len="med"/>
                    </a:lnR>
                    <a:lnT w="12700" cap="flat" cmpd="sng" algn="ctr">
                      <a:solidFill>
                        <a:srgbClr val="D4DCEA"/>
                      </a:solidFill>
                      <a:prstDash val="solid"/>
                      <a:round/>
                      <a:headEnd type="none" w="med" len="med"/>
                      <a:tailEnd type="none" w="med" len="med"/>
                    </a:lnT>
                    <a:lnB w="12700" cap="flat" cmpd="sng" algn="ctr">
                      <a:solidFill>
                        <a:srgbClr val="D4DCE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E2761"/>
                          </a:solidFill>
                          <a:latin typeface="Calibri" pitchFamily="34" charset="0"/>
                          <a:ea typeface="Calibri" pitchFamily="34" charset="-122"/>
                          <a:cs typeface="Calibri" pitchFamily="34" charset="-120"/>
                        </a:rPr>
                        <a:t>Non-approved domain</a:t>
                      </a:r>
                      <a:endParaRPr lang="en-US" sz="1100" dirty="0">
                        <a:latin typeface="Calibri" charset="0"/>
                        <a:ea typeface="Calibri" charset="0"/>
                        <a:cs typeface="Calibri" charset="0"/>
                      </a:endParaRPr>
                    </a:p>
                  </a:txBody>
                  <a:tcPr marL="63500" marR="63500" marT="50800" marB="50800" anchor="ctr">
                    <a:lnL w="12700" cap="flat" cmpd="sng" algn="ctr">
                      <a:solidFill>
                        <a:srgbClr val="D4DCEA"/>
                      </a:solidFill>
                      <a:prstDash val="solid"/>
                      <a:round/>
                      <a:headEnd type="none" w="med" len="med"/>
                      <a:tailEnd type="none" w="med" len="med"/>
                    </a:lnL>
                    <a:lnR w="12700" cap="flat" cmpd="sng" algn="ctr">
                      <a:solidFill>
                        <a:srgbClr val="D4DCEA"/>
                      </a:solidFill>
                      <a:prstDash val="solid"/>
                      <a:round/>
                      <a:headEnd type="none" w="med" len="med"/>
                      <a:tailEnd type="none" w="med" len="med"/>
                    </a:lnR>
                    <a:lnT w="12700" cap="flat" cmpd="sng" algn="ctr">
                      <a:solidFill>
                        <a:srgbClr val="D4DCEA"/>
                      </a:solidFill>
                      <a:prstDash val="solid"/>
                      <a:round/>
                      <a:headEnd type="none" w="med" len="med"/>
                      <a:tailEnd type="none" w="med" len="med"/>
                    </a:lnT>
                    <a:lnB w="12700" cap="flat" cmpd="sng" algn="ctr">
                      <a:solidFill>
                        <a:srgbClr val="D4DCEA"/>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C0504D"/>
                          </a:solidFill>
                          <a:latin typeface="Calibri" pitchFamily="34" charset="0"/>
                          <a:ea typeface="Calibri" pitchFamily="34" charset="-122"/>
                          <a:cs typeface="Calibri" pitchFamily="34" charset="-120"/>
                        </a:rPr>
                        <a:t>DENY</a:t>
                      </a:r>
                      <a:endParaRPr lang="en-US" sz="1100" dirty="0">
                        <a:latin typeface="Calibri" charset="0"/>
                        <a:ea typeface="Calibri" charset="0"/>
                        <a:cs typeface="Calibri" charset="0"/>
                      </a:endParaRPr>
                    </a:p>
                  </a:txBody>
                  <a:tcPr marL="63500" marR="63500" marT="50800" marB="50800" anchor="ctr">
                    <a:lnL w="12700" cap="flat" cmpd="sng" algn="ctr">
                      <a:solidFill>
                        <a:srgbClr val="D4DCEA"/>
                      </a:solidFill>
                      <a:prstDash val="solid"/>
                      <a:round/>
                      <a:headEnd type="none" w="med" len="med"/>
                      <a:tailEnd type="none" w="med" len="med"/>
                    </a:lnL>
                    <a:lnR w="12700" cap="flat" cmpd="sng" algn="ctr">
                      <a:solidFill>
                        <a:srgbClr val="D4DCEA"/>
                      </a:solidFill>
                      <a:prstDash val="solid"/>
                      <a:round/>
                      <a:headEnd type="none" w="med" len="med"/>
                      <a:tailEnd type="none" w="med" len="med"/>
                    </a:lnR>
                    <a:lnT w="12700" cap="flat" cmpd="sng" algn="ctr">
                      <a:solidFill>
                        <a:srgbClr val="D4DCEA"/>
                      </a:solidFill>
                      <a:prstDash val="solid"/>
                      <a:round/>
                      <a:headEnd type="none" w="med" len="med"/>
                      <a:tailEnd type="none" w="med" len="med"/>
                    </a:lnT>
                    <a:lnB w="12700" cap="flat" cmpd="sng" algn="ctr">
                      <a:solidFill>
                        <a:srgbClr val="D4DCEA"/>
                      </a:solidFill>
                      <a:prstDash val="solid"/>
                      <a:round/>
                      <a:headEnd type="none" w="med" len="med"/>
                      <a:tailEnd type="none" w="med" len="med"/>
                    </a:lnB>
                    <a:solidFill>
                      <a:srgbClr val="FFFFFF"/>
                    </a:solidFill>
                  </a:tcPr>
                </a:tc>
              </a:tr>
              <a:tr h="457200">
                <a:tc>
                  <a:txBody>
                    <a:bodyPr/>
                    <a:lstStyle/>
                    <a:p>
                      <a:pPr algn="l" indent="0" marL="0">
                        <a:buNone/>
                      </a:pPr>
                      <a:r>
                        <a:rPr lang="en-US" sz="1100" dirty="0">
                          <a:solidFill>
                            <a:srgbClr val="1E2761"/>
                          </a:solidFill>
                          <a:latin typeface="Calibri" pitchFamily="34" charset="0"/>
                          <a:ea typeface="Calibri" pitchFamily="34" charset="-122"/>
                          <a:cs typeface="Calibri" pitchFamily="34" charset="-120"/>
                        </a:rPr>
                        <a:t>Logon &amp; privilege use</a:t>
                      </a:r>
                      <a:endParaRPr lang="en-US" sz="1100" dirty="0">
                        <a:latin typeface="Calibri" charset="0"/>
                        <a:ea typeface="Calibri" charset="0"/>
                        <a:cs typeface="Calibri" charset="0"/>
                      </a:endParaRPr>
                    </a:p>
                  </a:txBody>
                  <a:tcPr marL="63500" marR="63500" marT="50800" marB="50800" anchor="ctr">
                    <a:lnL w="12700" cap="flat" cmpd="sng" algn="ctr">
                      <a:solidFill>
                        <a:srgbClr val="D4DCEA"/>
                      </a:solidFill>
                      <a:prstDash val="solid"/>
                      <a:round/>
                      <a:headEnd type="none" w="med" len="med"/>
                      <a:tailEnd type="none" w="med" len="med"/>
                    </a:lnL>
                    <a:lnR w="12700" cap="flat" cmpd="sng" algn="ctr">
                      <a:solidFill>
                        <a:srgbClr val="D4DCEA"/>
                      </a:solidFill>
                      <a:prstDash val="solid"/>
                      <a:round/>
                      <a:headEnd type="none" w="med" len="med"/>
                      <a:tailEnd type="none" w="med" len="med"/>
                    </a:lnR>
                    <a:lnT w="12700" cap="flat" cmpd="sng" algn="ctr">
                      <a:solidFill>
                        <a:srgbClr val="D4DCEA"/>
                      </a:solidFill>
                      <a:prstDash val="solid"/>
                      <a:round/>
                      <a:headEnd type="none" w="med" len="med"/>
                      <a:tailEnd type="none" w="med" len="med"/>
                    </a:lnT>
                    <a:lnB w="12700" cap="flat" cmpd="sng" algn="ctr">
                      <a:solidFill>
                        <a:srgbClr val="D4DCEA"/>
                      </a:solidFill>
                      <a:prstDash val="solid"/>
                      <a:round/>
                      <a:headEnd type="none" w="med" len="med"/>
                      <a:tailEnd type="none" w="med" len="med"/>
                    </a:lnB>
                    <a:solidFill>
                      <a:srgbClr val="F4F7FC"/>
                    </a:solidFill>
                  </a:tcPr>
                </a:tc>
                <a:tc>
                  <a:txBody>
                    <a:bodyPr/>
                    <a:lstStyle/>
                    <a:p>
                      <a:pPr algn="l" indent="0" marL="0">
                        <a:buNone/>
                      </a:pPr>
                      <a:r>
                        <a:rPr lang="en-US" sz="1100" dirty="0">
                          <a:solidFill>
                            <a:srgbClr val="1E2761"/>
                          </a:solidFill>
                          <a:latin typeface="Calibri" pitchFamily="34" charset="0"/>
                          <a:ea typeface="Calibri" pitchFamily="34" charset="-122"/>
                          <a:cs typeface="Calibri" pitchFamily="34" charset="-120"/>
                        </a:rPr>
                        <a:t>Any target</a:t>
                      </a:r>
                      <a:endParaRPr lang="en-US" sz="1100" dirty="0">
                        <a:latin typeface="Calibri" charset="0"/>
                        <a:ea typeface="Calibri" charset="0"/>
                        <a:cs typeface="Calibri" charset="0"/>
                      </a:endParaRPr>
                    </a:p>
                  </a:txBody>
                  <a:tcPr marL="63500" marR="63500" marT="50800" marB="50800" anchor="ctr">
                    <a:lnL w="12700" cap="flat" cmpd="sng" algn="ctr">
                      <a:solidFill>
                        <a:srgbClr val="D4DCEA"/>
                      </a:solidFill>
                      <a:prstDash val="solid"/>
                      <a:round/>
                      <a:headEnd type="none" w="med" len="med"/>
                      <a:tailEnd type="none" w="med" len="med"/>
                    </a:lnL>
                    <a:lnR w="12700" cap="flat" cmpd="sng" algn="ctr">
                      <a:solidFill>
                        <a:srgbClr val="D4DCEA"/>
                      </a:solidFill>
                      <a:prstDash val="solid"/>
                      <a:round/>
                      <a:headEnd type="none" w="med" len="med"/>
                      <a:tailEnd type="none" w="med" len="med"/>
                    </a:lnR>
                    <a:lnT w="12700" cap="flat" cmpd="sng" algn="ctr">
                      <a:solidFill>
                        <a:srgbClr val="D4DCEA"/>
                      </a:solidFill>
                      <a:prstDash val="solid"/>
                      <a:round/>
                      <a:headEnd type="none" w="med" len="med"/>
                      <a:tailEnd type="none" w="med" len="med"/>
                    </a:lnT>
                    <a:lnB w="12700" cap="flat" cmpd="sng" algn="ctr">
                      <a:solidFill>
                        <a:srgbClr val="D4DCEA"/>
                      </a:solidFill>
                      <a:prstDash val="solid"/>
                      <a:round/>
                      <a:headEnd type="none" w="med" len="med"/>
                      <a:tailEnd type="none" w="med" len="med"/>
                    </a:lnB>
                    <a:solidFill>
                      <a:srgbClr val="F4F7FC"/>
                    </a:solidFill>
                  </a:tcPr>
                </a:tc>
                <a:tc>
                  <a:txBody>
                    <a:bodyPr/>
                    <a:lstStyle/>
                    <a:p>
                      <a:pPr algn="ctr" indent="0" marL="0">
                        <a:buNone/>
                      </a:pPr>
                      <a:r>
                        <a:rPr lang="en-US" sz="1100" b="1" dirty="0">
                          <a:solidFill>
                            <a:srgbClr val="4A6FA5"/>
                          </a:solidFill>
                          <a:latin typeface="Calibri" pitchFamily="34" charset="0"/>
                          <a:ea typeface="Calibri" pitchFamily="34" charset="-122"/>
                          <a:cs typeface="Calibri" pitchFamily="34" charset="-120"/>
                        </a:rPr>
                        <a:t>AUDITED</a:t>
                      </a:r>
                      <a:endParaRPr lang="en-US" sz="1100" dirty="0">
                        <a:latin typeface="Calibri" charset="0"/>
                        <a:ea typeface="Calibri" charset="0"/>
                        <a:cs typeface="Calibri" charset="0"/>
                      </a:endParaRPr>
                    </a:p>
                  </a:txBody>
                  <a:tcPr marL="63500" marR="63500" marT="50800" marB="50800" anchor="ctr">
                    <a:lnL w="12700" cap="flat" cmpd="sng" algn="ctr">
                      <a:solidFill>
                        <a:srgbClr val="D4DCEA"/>
                      </a:solidFill>
                      <a:prstDash val="solid"/>
                      <a:round/>
                      <a:headEnd type="none" w="med" len="med"/>
                      <a:tailEnd type="none" w="med" len="med"/>
                    </a:lnL>
                    <a:lnR w="12700" cap="flat" cmpd="sng" algn="ctr">
                      <a:solidFill>
                        <a:srgbClr val="D4DCEA"/>
                      </a:solidFill>
                      <a:prstDash val="solid"/>
                      <a:round/>
                      <a:headEnd type="none" w="med" len="med"/>
                      <a:tailEnd type="none" w="med" len="med"/>
                    </a:lnR>
                    <a:lnT w="12700" cap="flat" cmpd="sng" algn="ctr">
                      <a:solidFill>
                        <a:srgbClr val="D4DCEA"/>
                      </a:solidFill>
                      <a:prstDash val="solid"/>
                      <a:round/>
                      <a:headEnd type="none" w="med" len="med"/>
                      <a:tailEnd type="none" w="med" len="med"/>
                    </a:lnT>
                    <a:lnB w="12700" cap="flat" cmpd="sng" algn="ctr">
                      <a:solidFill>
                        <a:srgbClr val="D4DCEA"/>
                      </a:solidFill>
                      <a:prstDash val="solid"/>
                      <a:round/>
                      <a:headEnd type="none" w="med" len="med"/>
                      <a:tailEnd type="none" w="med" len="med"/>
                    </a:lnB>
                    <a:solidFill>
                      <a:srgbClr val="F4F7FC"/>
                    </a:solidFill>
                  </a:tcPr>
                </a:tc>
              </a:tr>
            </a:tbl>
          </a:graphicData>
        </a:graphic>
      </p:graphicFrame>
      <p:sp>
        <p:nvSpPr>
          <p:cNvPr id="29" name="Shape 19"/>
          <p:cNvSpPr/>
          <p:nvPr/>
        </p:nvSpPr>
        <p:spPr>
          <a:xfrm>
            <a:off x="5943600" y="5440680"/>
            <a:ext cx="5669280" cy="868680"/>
          </a:xfrm>
          <a:prstGeom prst="roundRect">
            <a:avLst>
              <a:gd name="adj" fmla="val 10526"/>
            </a:avLst>
          </a:prstGeom>
          <a:solidFill>
            <a:srgbClr val="1E2761"/>
          </a:solidFill>
          <a:ln/>
          <a:effectLst>
            <a:outerShdw sx="100000" sy="100000" kx="0" ky="0" algn="bl" rotWithShape="0" blurRad="63500" dist="25400" dir="5400000">
              <a:srgbClr val="A9B4C8">
                <a:alpha val="22000"/>
              </a:srgbClr>
            </a:outerShdw>
          </a:effectLst>
        </p:spPr>
      </p:sp>
      <p:sp>
        <p:nvSpPr>
          <p:cNvPr id="30" name="Shape 20"/>
          <p:cNvSpPr/>
          <p:nvPr/>
        </p:nvSpPr>
        <p:spPr>
          <a:xfrm>
            <a:off x="6172200" y="5614416"/>
            <a:ext cx="512064" cy="512064"/>
          </a:xfrm>
          <a:prstGeom prst="roundRect">
            <a:avLst>
              <a:gd name="adj" fmla="val 22000"/>
            </a:avLst>
          </a:prstGeom>
          <a:solidFill>
            <a:srgbClr val="2A3670"/>
          </a:solidFill>
          <a:ln/>
          <a:effectLst>
            <a:outerShdw sx="100000" sy="100000" kx="0" ky="0" algn="bl" rotWithShape="0" blurRad="63500" dist="25400" dir="5400000">
              <a:srgbClr val="A9B4C8">
                <a:alpha val="22000"/>
              </a:srgbClr>
            </a:outerShdw>
          </a:effectLst>
        </p:spPr>
      </p:sp>
      <p:pic>
        <p:nvPicPr>
          <p:cNvPr id="31" name="Image 7" descr="preencoded.png">    </p:cNvPr>
          <p:cNvPicPr>
            <a:picLocks noChangeAspect="1"/>
          </p:cNvPicPr>
          <p:nvPr/>
        </p:nvPicPr>
        <p:blipFill>
          <a:blip r:embed="rId8"/>
          <a:stretch>
            <a:fillRect/>
          </a:stretch>
        </p:blipFill>
        <p:spPr>
          <a:xfrm>
            <a:off x="6274613" y="5716829"/>
            <a:ext cx="307238" cy="307238"/>
          </a:xfrm>
          <a:prstGeom prst="rect">
            <a:avLst/>
          </a:prstGeom>
        </p:spPr>
      </p:pic>
      <p:sp>
        <p:nvSpPr>
          <p:cNvPr id="32" name="Text 21"/>
          <p:cNvSpPr/>
          <p:nvPr/>
        </p:nvSpPr>
        <p:spPr>
          <a:xfrm>
            <a:off x="6858000" y="5532120"/>
            <a:ext cx="4572000" cy="685800"/>
          </a:xfrm>
          <a:prstGeom prst="rect">
            <a:avLst/>
          </a:prstGeom>
          <a:noFill/>
          <a:ln/>
        </p:spPr>
        <p:txBody>
          <a:bodyPr wrap="square" rtlCol="0" anchor="ctr"/>
          <a:lstStyle/>
          <a:p>
            <a:pPr indent="0" marL="0">
              <a:lnSpc>
                <a:spcPct val="105000"/>
              </a:lnSpc>
              <a:buNone/>
            </a:pPr>
            <a:r>
              <a:rPr lang="en-US" sz="1250" b="1" dirty="0">
                <a:solidFill>
                  <a:srgbClr val="E8B84B"/>
                </a:solidFill>
                <a:latin typeface="Calibri" pitchFamily="34" charset="0"/>
                <a:ea typeface="Calibri" pitchFamily="34" charset="-122"/>
                <a:cs typeface="Calibri" pitchFamily="34" charset="-120"/>
              </a:rPr>
              <a:t>Pass criteria:  </a:t>
            </a:r>
            <a:pPr indent="0" marL="0">
              <a:lnSpc>
                <a:spcPct val="105000"/>
              </a:lnSpc>
              <a:buNone/>
            </a:pPr>
            <a:r>
              <a:rPr lang="en-US" sz="1200" dirty="0">
                <a:solidFill>
                  <a:srgbClr val="CADCFC"/>
                </a:solidFill>
                <a:latin typeface="Calibri" pitchFamily="34" charset="0"/>
                <a:ea typeface="Calibri" pitchFamily="34" charset="-122"/>
                <a:cs typeface="Calibri" pitchFamily="34" charset="-120"/>
              </a:rPr>
              <a:t>approved targets allow, everything else denies, and every attempt is captured in the audit trail.</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rtlCol="0" anchor="ctr"/>
          <a:lstStyle/>
          <a:p>
            <a:pPr algn="l" indent="0" marL="0">
              <a:buNone/>
            </a:pPr>
            <a:r>
              <a:rPr lang="en-US" sz="1200" b="1" spc="300" kern="0" dirty="0">
                <a:solidFill>
                  <a:srgbClr val="4A6FA5"/>
                </a:solidFill>
                <a:latin typeface="Calibri" pitchFamily="34" charset="0"/>
                <a:ea typeface="Calibri" pitchFamily="34" charset="-122"/>
                <a:cs typeface="Calibri" pitchFamily="34" charset="-120"/>
              </a:rPr>
              <a:t>SECURITY</a:t>
            </a:r>
            <a:endParaRPr lang="en-US" sz="1200" dirty="0"/>
          </a:p>
        </p:txBody>
      </p:sp>
      <p:sp>
        <p:nvSpPr>
          <p:cNvPr id="3" name="Text 1"/>
          <p:cNvSpPr/>
          <p:nvPr/>
        </p:nvSpPr>
        <p:spPr>
          <a:xfrm>
            <a:off x="548640" y="658368"/>
            <a:ext cx="10515600" cy="822960"/>
          </a:xfrm>
          <a:prstGeom prst="rect">
            <a:avLst/>
          </a:prstGeom>
          <a:noFill/>
          <a:ln/>
        </p:spPr>
        <p:txBody>
          <a:bodyPr wrap="square" rtlCol="0" anchor="ctr"/>
          <a:lstStyle/>
          <a:p>
            <a:pPr algn="l" indent="0" marL="0">
              <a:buNone/>
            </a:pPr>
            <a:r>
              <a:rPr lang="en-US" sz="3200" b="1" dirty="0">
                <a:solidFill>
                  <a:srgbClr val="1E2761"/>
                </a:solidFill>
                <a:latin typeface="Century Schoolbook" pitchFamily="34" charset="0"/>
                <a:ea typeface="Century Schoolbook" pitchFamily="34" charset="-122"/>
                <a:cs typeface="Century Schoolbook" pitchFamily="34" charset="-120"/>
              </a:rPr>
              <a:t>Risks and the controls that contain them</a:t>
            </a:r>
            <a:endParaRPr lang="en-US" sz="3200" dirty="0"/>
          </a:p>
        </p:txBody>
      </p:sp>
      <p:sp>
        <p:nvSpPr>
          <p:cNvPr id="4" name="Text 2"/>
          <p:cNvSpPr/>
          <p:nvPr/>
        </p:nvSpPr>
        <p:spPr>
          <a:xfrm>
            <a:off x="11277295" y="6400800"/>
            <a:ext cx="457200" cy="274320"/>
          </a:xfrm>
          <a:prstGeom prst="rect">
            <a:avLst/>
          </a:prstGeom>
          <a:noFill/>
          <a:ln/>
        </p:spPr>
        <p:txBody>
          <a:bodyPr wrap="square" rtlCol="0" anchor="ctr"/>
          <a:lstStyle/>
          <a:p>
            <a:pPr algn="r" indent="0" marL="0">
              <a:buNone/>
            </a:pPr>
            <a:r>
              <a:rPr lang="en-US" sz="1000" dirty="0">
                <a:solidFill>
                  <a:srgbClr val="8593AC"/>
                </a:solidFill>
                <a:latin typeface="Calibri" pitchFamily="34" charset="0"/>
                <a:ea typeface="Calibri" pitchFamily="34" charset="-122"/>
                <a:cs typeface="Calibri" pitchFamily="34" charset="-120"/>
              </a:rPr>
              <a:t>11</a:t>
            </a:r>
            <a:endParaRPr lang="en-US" sz="1000" dirty="0"/>
          </a:p>
        </p:txBody>
      </p:sp>
      <p:sp>
        <p:nvSpPr>
          <p:cNvPr id="5" name="Text 3"/>
          <p:cNvSpPr/>
          <p:nvPr/>
        </p:nvSpPr>
        <p:spPr>
          <a:xfrm>
            <a:off x="548640" y="6400800"/>
            <a:ext cx="6400800" cy="274320"/>
          </a:xfrm>
          <a:prstGeom prst="rect">
            <a:avLst/>
          </a:prstGeom>
          <a:noFill/>
          <a:ln/>
        </p:spPr>
        <p:txBody>
          <a:bodyPr wrap="square" rtlCol="0" anchor="ctr"/>
          <a:lstStyle/>
          <a:p>
            <a:pPr algn="l" indent="0" marL="0">
              <a:buNone/>
            </a:pPr>
            <a:r>
              <a:rPr lang="en-US" sz="900" dirty="0">
                <a:solidFill>
                  <a:srgbClr val="8593AC"/>
                </a:solidFill>
                <a:latin typeface="Calibri" pitchFamily="34" charset="0"/>
                <a:ea typeface="Calibri" pitchFamily="34" charset="-122"/>
                <a:cs typeface="Calibri" pitchFamily="34" charset="-120"/>
              </a:rPr>
              <a:t>Cross-Forest Administrative Access Model</a:t>
            </a:r>
            <a:endParaRPr lang="en-US" sz="900" dirty="0"/>
          </a:p>
        </p:txBody>
      </p:sp>
      <p:sp>
        <p:nvSpPr>
          <p:cNvPr id="6" name="Shape 4"/>
          <p:cNvSpPr/>
          <p:nvPr/>
        </p:nvSpPr>
        <p:spPr>
          <a:xfrm>
            <a:off x="548640" y="1691640"/>
            <a:ext cx="3566160" cy="2084832"/>
          </a:xfrm>
          <a:prstGeom prst="roundRect">
            <a:avLst>
              <a:gd name="adj" fmla="val 4386"/>
            </a:avLst>
          </a:prstGeom>
          <a:solidFill>
            <a:srgbClr val="F4F7FC"/>
          </a:solidFill>
          <a:ln w="12700">
            <a:solidFill>
              <a:srgbClr val="DCE4F2"/>
            </a:solidFill>
            <a:prstDash val="solid"/>
          </a:ln>
          <a:effectLst>
            <a:outerShdw sx="100000" sy="100000" kx="0" ky="0" algn="bl" rotWithShape="0" blurRad="63500" dist="25400" dir="5400000">
              <a:srgbClr val="A9B4C8">
                <a:alpha val="22000"/>
              </a:srgbClr>
            </a:outerShdw>
          </a:effectLst>
        </p:spPr>
      </p:sp>
      <p:pic>
        <p:nvPicPr>
          <p:cNvPr id="7" name="Image 0" descr="preencoded.png">    </p:cNvPr>
          <p:cNvPicPr>
            <a:picLocks noChangeAspect="1"/>
          </p:cNvPicPr>
          <p:nvPr/>
        </p:nvPicPr>
        <p:blipFill>
          <a:blip r:embed="rId1"/>
          <a:stretch>
            <a:fillRect/>
          </a:stretch>
        </p:blipFill>
        <p:spPr>
          <a:xfrm>
            <a:off x="804672" y="1947672"/>
            <a:ext cx="310896" cy="310896"/>
          </a:xfrm>
          <a:prstGeom prst="rect">
            <a:avLst/>
          </a:prstGeom>
        </p:spPr>
      </p:pic>
      <p:sp>
        <p:nvSpPr>
          <p:cNvPr id="8" name="Text 5"/>
          <p:cNvSpPr/>
          <p:nvPr/>
        </p:nvSpPr>
        <p:spPr>
          <a:xfrm>
            <a:off x="1207008" y="1911096"/>
            <a:ext cx="1371600" cy="274320"/>
          </a:xfrm>
          <a:prstGeom prst="rect">
            <a:avLst/>
          </a:prstGeom>
          <a:noFill/>
          <a:ln/>
        </p:spPr>
        <p:txBody>
          <a:bodyPr wrap="square" rtlCol="0" anchor="ctr"/>
          <a:lstStyle/>
          <a:p>
            <a:pPr indent="0" marL="0">
              <a:buNone/>
            </a:pPr>
            <a:r>
              <a:rPr lang="en-US" sz="950" b="1" spc="200" kern="0" dirty="0">
                <a:solidFill>
                  <a:srgbClr val="C8912B"/>
                </a:solidFill>
                <a:latin typeface="Calibri" pitchFamily="34" charset="0"/>
                <a:ea typeface="Calibri" pitchFamily="34" charset="-122"/>
                <a:cs typeface="Calibri" pitchFamily="34" charset="-120"/>
              </a:rPr>
              <a:t>RISK</a:t>
            </a:r>
            <a:endParaRPr lang="en-US" sz="950" dirty="0"/>
          </a:p>
        </p:txBody>
      </p:sp>
      <p:sp>
        <p:nvSpPr>
          <p:cNvPr id="9" name="Text 6"/>
          <p:cNvSpPr/>
          <p:nvPr/>
        </p:nvSpPr>
        <p:spPr>
          <a:xfrm>
            <a:off x="804672" y="2240280"/>
            <a:ext cx="3054096" cy="36576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Over-privileged access</a:t>
            </a:r>
            <a:endParaRPr lang="en-US" sz="1350" dirty="0"/>
          </a:p>
        </p:txBody>
      </p:sp>
      <p:sp>
        <p:nvSpPr>
          <p:cNvPr id="10" name="Shape 7"/>
          <p:cNvSpPr/>
          <p:nvPr/>
        </p:nvSpPr>
        <p:spPr>
          <a:xfrm>
            <a:off x="804672" y="2743200"/>
            <a:ext cx="457200" cy="457200"/>
          </a:xfrm>
          <a:prstGeom prst="roundRect">
            <a:avLst>
              <a:gd name="adj" fmla="val 22000"/>
            </a:avLst>
          </a:prstGeom>
          <a:solidFill>
            <a:srgbClr val="1E2761"/>
          </a:solidFill>
          <a:ln/>
          <a:effectLst>
            <a:outerShdw sx="100000" sy="100000" kx="0" ky="0" algn="bl" rotWithShape="0" blurRad="63500" dist="25400" dir="5400000">
              <a:srgbClr val="A9B4C8">
                <a:alpha val="22000"/>
              </a:srgbClr>
            </a:outerShdw>
          </a:effectLst>
        </p:spPr>
      </p:sp>
      <p:pic>
        <p:nvPicPr>
          <p:cNvPr id="11" name="Image 1" descr="preencoded.png">    </p:cNvPr>
          <p:cNvPicPr>
            <a:picLocks noChangeAspect="1"/>
          </p:cNvPicPr>
          <p:nvPr/>
        </p:nvPicPr>
        <p:blipFill>
          <a:blip r:embed="rId2"/>
          <a:stretch>
            <a:fillRect/>
          </a:stretch>
        </p:blipFill>
        <p:spPr>
          <a:xfrm>
            <a:off x="896112" y="2834640"/>
            <a:ext cx="274320" cy="274320"/>
          </a:xfrm>
          <a:prstGeom prst="rect">
            <a:avLst/>
          </a:prstGeom>
        </p:spPr>
      </p:pic>
      <p:sp>
        <p:nvSpPr>
          <p:cNvPr id="12" name="Text 8"/>
          <p:cNvSpPr/>
          <p:nvPr/>
        </p:nvSpPr>
        <p:spPr>
          <a:xfrm>
            <a:off x="1371600" y="2734056"/>
            <a:ext cx="2514600" cy="457200"/>
          </a:xfrm>
          <a:prstGeom prst="rect">
            <a:avLst/>
          </a:prstGeom>
          <a:noFill/>
          <a:ln/>
        </p:spPr>
        <p:txBody>
          <a:bodyPr wrap="square" rtlCol="0" anchor="ctr"/>
          <a:lstStyle/>
          <a:p>
            <a:pPr indent="0" marL="0">
              <a:buNone/>
            </a:pPr>
            <a:r>
              <a:rPr lang="en-US" sz="1200" b="1" dirty="0">
                <a:solidFill>
                  <a:srgbClr val="2E8B6B"/>
                </a:solidFill>
                <a:latin typeface="Calibri" pitchFamily="34" charset="0"/>
                <a:ea typeface="Calibri" pitchFamily="34" charset="-122"/>
                <a:cs typeface="Calibri" pitchFamily="34" charset="-120"/>
              </a:rPr>
              <a:t>Least-privilege scope</a:t>
            </a:r>
            <a:endParaRPr lang="en-US" sz="1200" dirty="0"/>
          </a:p>
        </p:txBody>
      </p:sp>
      <p:sp>
        <p:nvSpPr>
          <p:cNvPr id="13" name="Text 9"/>
          <p:cNvSpPr/>
          <p:nvPr/>
        </p:nvSpPr>
        <p:spPr>
          <a:xfrm>
            <a:off x="804672" y="3227832"/>
            <a:ext cx="3054096" cy="502920"/>
          </a:xfrm>
          <a:prstGeom prst="rect">
            <a:avLst/>
          </a:prstGeom>
          <a:noFill/>
          <a:ln/>
        </p:spPr>
        <p:txBody>
          <a:bodyPr wrap="square" rtlCol="0" anchor="t"/>
          <a:lstStyle/>
          <a:p>
            <a:pPr indent="0" marL="0">
              <a:lnSpc>
                <a:spcPct val="102000"/>
              </a:lnSpc>
              <a:buNone/>
            </a:pPr>
            <a:r>
              <a:rPr lang="en-US" sz="1050" dirty="0">
                <a:solidFill>
                  <a:srgbClr val="5B6B8C"/>
                </a:solidFill>
                <a:latin typeface="Calibri" pitchFamily="34" charset="0"/>
                <a:ea typeface="Calibri" pitchFamily="34" charset="-122"/>
                <a:cs typeface="Calibri" pitchFamily="34" charset="-120"/>
              </a:rPr>
              <a:t>Grant only on required targets via Domain Local groups; no blanket Domain Admin.</a:t>
            </a:r>
            <a:endParaRPr lang="en-US" sz="1050" dirty="0"/>
          </a:p>
        </p:txBody>
      </p:sp>
      <p:sp>
        <p:nvSpPr>
          <p:cNvPr id="14" name="Shape 10"/>
          <p:cNvSpPr/>
          <p:nvPr/>
        </p:nvSpPr>
        <p:spPr>
          <a:xfrm>
            <a:off x="4297680" y="1691640"/>
            <a:ext cx="3566160" cy="2084832"/>
          </a:xfrm>
          <a:prstGeom prst="roundRect">
            <a:avLst>
              <a:gd name="adj" fmla="val 4386"/>
            </a:avLst>
          </a:prstGeom>
          <a:solidFill>
            <a:srgbClr val="F4F7FC"/>
          </a:solidFill>
          <a:ln w="12700">
            <a:solidFill>
              <a:srgbClr val="DCE4F2"/>
            </a:solidFill>
            <a:prstDash val="solid"/>
          </a:ln>
          <a:effectLst>
            <a:outerShdw sx="100000" sy="100000" kx="0" ky="0" algn="bl" rotWithShape="0" blurRad="63500" dist="25400" dir="5400000">
              <a:srgbClr val="A9B4C8">
                <a:alpha val="22000"/>
              </a:srgbClr>
            </a:outerShdw>
          </a:effectLst>
        </p:spPr>
      </p:sp>
      <p:pic>
        <p:nvPicPr>
          <p:cNvPr id="15" name="Image 2" descr="preencoded.png">    </p:cNvPr>
          <p:cNvPicPr>
            <a:picLocks noChangeAspect="1"/>
          </p:cNvPicPr>
          <p:nvPr/>
        </p:nvPicPr>
        <p:blipFill>
          <a:blip r:embed="rId3"/>
          <a:stretch>
            <a:fillRect/>
          </a:stretch>
        </p:blipFill>
        <p:spPr>
          <a:xfrm>
            <a:off x="4553712" y="1947672"/>
            <a:ext cx="310896" cy="310896"/>
          </a:xfrm>
          <a:prstGeom prst="rect">
            <a:avLst/>
          </a:prstGeom>
        </p:spPr>
      </p:pic>
      <p:sp>
        <p:nvSpPr>
          <p:cNvPr id="16" name="Text 11"/>
          <p:cNvSpPr/>
          <p:nvPr/>
        </p:nvSpPr>
        <p:spPr>
          <a:xfrm>
            <a:off x="4956048" y="1911096"/>
            <a:ext cx="1371600" cy="274320"/>
          </a:xfrm>
          <a:prstGeom prst="rect">
            <a:avLst/>
          </a:prstGeom>
          <a:noFill/>
          <a:ln/>
        </p:spPr>
        <p:txBody>
          <a:bodyPr wrap="square" rtlCol="0" anchor="ctr"/>
          <a:lstStyle/>
          <a:p>
            <a:pPr indent="0" marL="0">
              <a:buNone/>
            </a:pPr>
            <a:r>
              <a:rPr lang="en-US" sz="950" b="1" spc="200" kern="0" dirty="0">
                <a:solidFill>
                  <a:srgbClr val="C8912B"/>
                </a:solidFill>
                <a:latin typeface="Calibri" pitchFamily="34" charset="0"/>
                <a:ea typeface="Calibri" pitchFamily="34" charset="-122"/>
                <a:cs typeface="Calibri" pitchFamily="34" charset="-120"/>
              </a:rPr>
              <a:t>RISK</a:t>
            </a:r>
            <a:endParaRPr lang="en-US" sz="950" dirty="0"/>
          </a:p>
        </p:txBody>
      </p:sp>
      <p:sp>
        <p:nvSpPr>
          <p:cNvPr id="17" name="Text 12"/>
          <p:cNvSpPr/>
          <p:nvPr/>
        </p:nvSpPr>
        <p:spPr>
          <a:xfrm>
            <a:off x="4553712" y="2240280"/>
            <a:ext cx="3054096" cy="36576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Privileged credential abuse</a:t>
            </a:r>
            <a:endParaRPr lang="en-US" sz="1350" dirty="0"/>
          </a:p>
        </p:txBody>
      </p:sp>
      <p:sp>
        <p:nvSpPr>
          <p:cNvPr id="18" name="Shape 13"/>
          <p:cNvSpPr/>
          <p:nvPr/>
        </p:nvSpPr>
        <p:spPr>
          <a:xfrm>
            <a:off x="4553712" y="2743200"/>
            <a:ext cx="457200" cy="457200"/>
          </a:xfrm>
          <a:prstGeom prst="roundRect">
            <a:avLst>
              <a:gd name="adj" fmla="val 22000"/>
            </a:avLst>
          </a:prstGeom>
          <a:solidFill>
            <a:srgbClr val="1E2761"/>
          </a:solidFill>
          <a:ln/>
          <a:effectLst>
            <a:outerShdw sx="100000" sy="100000" kx="0" ky="0" algn="bl" rotWithShape="0" blurRad="63500" dist="25400" dir="5400000">
              <a:srgbClr val="A9B4C8">
                <a:alpha val="22000"/>
              </a:srgbClr>
            </a:outerShdw>
          </a:effectLst>
        </p:spPr>
      </p:sp>
      <p:pic>
        <p:nvPicPr>
          <p:cNvPr id="19" name="Image 3" descr="preencoded.png">    </p:cNvPr>
          <p:cNvPicPr>
            <a:picLocks noChangeAspect="1"/>
          </p:cNvPicPr>
          <p:nvPr/>
        </p:nvPicPr>
        <p:blipFill>
          <a:blip r:embed="rId4"/>
          <a:stretch>
            <a:fillRect/>
          </a:stretch>
        </p:blipFill>
        <p:spPr>
          <a:xfrm>
            <a:off x="4645152" y="2834640"/>
            <a:ext cx="274320" cy="274320"/>
          </a:xfrm>
          <a:prstGeom prst="rect">
            <a:avLst/>
          </a:prstGeom>
        </p:spPr>
      </p:pic>
      <p:sp>
        <p:nvSpPr>
          <p:cNvPr id="20" name="Text 14"/>
          <p:cNvSpPr/>
          <p:nvPr/>
        </p:nvSpPr>
        <p:spPr>
          <a:xfrm>
            <a:off x="5120640" y="2734056"/>
            <a:ext cx="2514600" cy="457200"/>
          </a:xfrm>
          <a:prstGeom prst="rect">
            <a:avLst/>
          </a:prstGeom>
          <a:noFill/>
          <a:ln/>
        </p:spPr>
        <p:txBody>
          <a:bodyPr wrap="square" rtlCol="0" anchor="ctr"/>
          <a:lstStyle/>
          <a:p>
            <a:pPr indent="0" marL="0">
              <a:buNone/>
            </a:pPr>
            <a:r>
              <a:rPr lang="en-US" sz="1200" b="1" dirty="0">
                <a:solidFill>
                  <a:srgbClr val="2E8B6B"/>
                </a:solidFill>
                <a:latin typeface="Calibri" pitchFamily="34" charset="0"/>
                <a:ea typeface="Calibri" pitchFamily="34" charset="-122"/>
                <a:cs typeface="Calibri" pitchFamily="34" charset="-120"/>
              </a:rPr>
              <a:t>Identity separation</a:t>
            </a:r>
            <a:endParaRPr lang="en-US" sz="1200" dirty="0"/>
          </a:p>
        </p:txBody>
      </p:sp>
      <p:sp>
        <p:nvSpPr>
          <p:cNvPr id="21" name="Text 15"/>
          <p:cNvSpPr/>
          <p:nvPr/>
        </p:nvSpPr>
        <p:spPr>
          <a:xfrm>
            <a:off x="4553712" y="3227832"/>
            <a:ext cx="3054096" cy="502920"/>
          </a:xfrm>
          <a:prstGeom prst="rect">
            <a:avLst/>
          </a:prstGeom>
          <a:noFill/>
          <a:ln/>
        </p:spPr>
        <p:txBody>
          <a:bodyPr wrap="square" rtlCol="0" anchor="t"/>
          <a:lstStyle/>
          <a:p>
            <a:pPr indent="0" marL="0">
              <a:lnSpc>
                <a:spcPct val="102000"/>
              </a:lnSpc>
              <a:buNone/>
            </a:pPr>
            <a:r>
              <a:rPr lang="en-US" sz="1050" dirty="0">
                <a:solidFill>
                  <a:srgbClr val="5B6B8C"/>
                </a:solidFill>
                <a:latin typeface="Calibri" pitchFamily="34" charset="0"/>
                <a:ea typeface="Calibri" pitchFamily="34" charset="-122"/>
                <a:cs typeface="Calibri" pitchFamily="34" charset="-120"/>
              </a:rPr>
              <a:t>Dedicated admin account, separate from daily use, under a naming standard &amp; controls.</a:t>
            </a:r>
            <a:endParaRPr lang="en-US" sz="1050" dirty="0"/>
          </a:p>
        </p:txBody>
      </p:sp>
      <p:sp>
        <p:nvSpPr>
          <p:cNvPr id="22" name="Shape 16"/>
          <p:cNvSpPr/>
          <p:nvPr/>
        </p:nvSpPr>
        <p:spPr>
          <a:xfrm>
            <a:off x="8046720" y="1691640"/>
            <a:ext cx="3566160" cy="2084832"/>
          </a:xfrm>
          <a:prstGeom prst="roundRect">
            <a:avLst>
              <a:gd name="adj" fmla="val 4386"/>
            </a:avLst>
          </a:prstGeom>
          <a:solidFill>
            <a:srgbClr val="F4F7FC"/>
          </a:solidFill>
          <a:ln w="12700">
            <a:solidFill>
              <a:srgbClr val="DCE4F2"/>
            </a:solidFill>
            <a:prstDash val="solid"/>
          </a:ln>
          <a:effectLst>
            <a:outerShdw sx="100000" sy="100000" kx="0" ky="0" algn="bl" rotWithShape="0" blurRad="63500" dist="25400" dir="5400000">
              <a:srgbClr val="A9B4C8">
                <a:alpha val="22000"/>
              </a:srgbClr>
            </a:outerShdw>
          </a:effectLst>
        </p:spPr>
      </p:sp>
      <p:pic>
        <p:nvPicPr>
          <p:cNvPr id="23" name="Image 4" descr="preencoded.png">    </p:cNvPr>
          <p:cNvPicPr>
            <a:picLocks noChangeAspect="1"/>
          </p:cNvPicPr>
          <p:nvPr/>
        </p:nvPicPr>
        <p:blipFill>
          <a:blip r:embed="rId5"/>
          <a:stretch>
            <a:fillRect/>
          </a:stretch>
        </p:blipFill>
        <p:spPr>
          <a:xfrm>
            <a:off x="8302752" y="1947672"/>
            <a:ext cx="310896" cy="310896"/>
          </a:xfrm>
          <a:prstGeom prst="rect">
            <a:avLst/>
          </a:prstGeom>
        </p:spPr>
      </p:pic>
      <p:sp>
        <p:nvSpPr>
          <p:cNvPr id="24" name="Text 17"/>
          <p:cNvSpPr/>
          <p:nvPr/>
        </p:nvSpPr>
        <p:spPr>
          <a:xfrm>
            <a:off x="8705088" y="1911096"/>
            <a:ext cx="1371600" cy="274320"/>
          </a:xfrm>
          <a:prstGeom prst="rect">
            <a:avLst/>
          </a:prstGeom>
          <a:noFill/>
          <a:ln/>
        </p:spPr>
        <p:txBody>
          <a:bodyPr wrap="square" rtlCol="0" anchor="ctr"/>
          <a:lstStyle/>
          <a:p>
            <a:pPr indent="0" marL="0">
              <a:buNone/>
            </a:pPr>
            <a:r>
              <a:rPr lang="en-US" sz="950" b="1" spc="200" kern="0" dirty="0">
                <a:solidFill>
                  <a:srgbClr val="C8912B"/>
                </a:solidFill>
                <a:latin typeface="Calibri" pitchFamily="34" charset="0"/>
                <a:ea typeface="Calibri" pitchFamily="34" charset="-122"/>
                <a:cs typeface="Calibri" pitchFamily="34" charset="-120"/>
              </a:rPr>
              <a:t>RISK</a:t>
            </a:r>
            <a:endParaRPr lang="en-US" sz="950" dirty="0"/>
          </a:p>
        </p:txBody>
      </p:sp>
      <p:sp>
        <p:nvSpPr>
          <p:cNvPr id="25" name="Text 18"/>
          <p:cNvSpPr/>
          <p:nvPr/>
        </p:nvSpPr>
        <p:spPr>
          <a:xfrm>
            <a:off x="8302752" y="2240280"/>
            <a:ext cx="3054096" cy="36576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Cross-forest mis-grant</a:t>
            </a:r>
            <a:endParaRPr lang="en-US" sz="1350" dirty="0"/>
          </a:p>
        </p:txBody>
      </p:sp>
      <p:sp>
        <p:nvSpPr>
          <p:cNvPr id="26" name="Shape 19"/>
          <p:cNvSpPr/>
          <p:nvPr/>
        </p:nvSpPr>
        <p:spPr>
          <a:xfrm>
            <a:off x="8302752" y="2743200"/>
            <a:ext cx="457200" cy="457200"/>
          </a:xfrm>
          <a:prstGeom prst="roundRect">
            <a:avLst>
              <a:gd name="adj" fmla="val 22000"/>
            </a:avLst>
          </a:prstGeom>
          <a:solidFill>
            <a:srgbClr val="1E2761"/>
          </a:solidFill>
          <a:ln/>
          <a:effectLst>
            <a:outerShdw sx="100000" sy="100000" kx="0" ky="0" algn="bl" rotWithShape="0" blurRad="63500" dist="25400" dir="5400000">
              <a:srgbClr val="A9B4C8">
                <a:alpha val="22000"/>
              </a:srgbClr>
            </a:outerShdw>
          </a:effectLst>
        </p:spPr>
      </p:sp>
      <p:pic>
        <p:nvPicPr>
          <p:cNvPr id="27" name="Image 5" descr="preencoded.png">    </p:cNvPr>
          <p:cNvPicPr>
            <a:picLocks noChangeAspect="1"/>
          </p:cNvPicPr>
          <p:nvPr/>
        </p:nvPicPr>
        <p:blipFill>
          <a:blip r:embed="rId6"/>
          <a:stretch>
            <a:fillRect/>
          </a:stretch>
        </p:blipFill>
        <p:spPr>
          <a:xfrm>
            <a:off x="8394192" y="2834640"/>
            <a:ext cx="274320" cy="274320"/>
          </a:xfrm>
          <a:prstGeom prst="rect">
            <a:avLst/>
          </a:prstGeom>
        </p:spPr>
      </p:pic>
      <p:sp>
        <p:nvSpPr>
          <p:cNvPr id="28" name="Text 20"/>
          <p:cNvSpPr/>
          <p:nvPr/>
        </p:nvSpPr>
        <p:spPr>
          <a:xfrm>
            <a:off x="8869680" y="2734056"/>
            <a:ext cx="2514600" cy="457200"/>
          </a:xfrm>
          <a:prstGeom prst="rect">
            <a:avLst/>
          </a:prstGeom>
          <a:noFill/>
          <a:ln/>
        </p:spPr>
        <p:txBody>
          <a:bodyPr wrap="square" rtlCol="0" anchor="ctr"/>
          <a:lstStyle/>
          <a:p>
            <a:pPr indent="0" marL="0">
              <a:buNone/>
            </a:pPr>
            <a:r>
              <a:rPr lang="en-US" sz="1200" b="1" dirty="0">
                <a:solidFill>
                  <a:srgbClr val="2E8B6B"/>
                </a:solidFill>
                <a:latin typeface="Calibri" pitchFamily="34" charset="0"/>
                <a:ea typeface="Calibri" pitchFamily="34" charset="-122"/>
                <a:cs typeface="Calibri" pitchFamily="34" charset="-120"/>
              </a:rPr>
              <a:t>Target-side design</a:t>
            </a:r>
            <a:endParaRPr lang="en-US" sz="1200" dirty="0"/>
          </a:p>
        </p:txBody>
      </p:sp>
      <p:sp>
        <p:nvSpPr>
          <p:cNvPr id="29" name="Text 21"/>
          <p:cNvSpPr/>
          <p:nvPr/>
        </p:nvSpPr>
        <p:spPr>
          <a:xfrm>
            <a:off x="8302752" y="3227832"/>
            <a:ext cx="3054096" cy="502920"/>
          </a:xfrm>
          <a:prstGeom prst="rect">
            <a:avLst/>
          </a:prstGeom>
          <a:noFill/>
          <a:ln/>
        </p:spPr>
        <p:txBody>
          <a:bodyPr wrap="square" rtlCol="0" anchor="t"/>
          <a:lstStyle/>
          <a:p>
            <a:pPr indent="0" marL="0">
              <a:lnSpc>
                <a:spcPct val="102000"/>
              </a:lnSpc>
              <a:buNone/>
            </a:pPr>
            <a:r>
              <a:rPr lang="en-US" sz="1050" dirty="0">
                <a:solidFill>
                  <a:srgbClr val="5B6B8C"/>
                </a:solidFill>
                <a:latin typeface="Calibri" pitchFamily="34" charset="0"/>
                <a:ea typeface="Calibri" pitchFamily="34" charset="-122"/>
                <a:cs typeface="Calibri" pitchFamily="34" charset="-120"/>
              </a:rPr>
              <a:t>Foreign principals granted through resource-side Domain Local groups on an explicit trust.</a:t>
            </a:r>
            <a:endParaRPr lang="en-US" sz="1050" dirty="0"/>
          </a:p>
        </p:txBody>
      </p:sp>
      <p:sp>
        <p:nvSpPr>
          <p:cNvPr id="30" name="Shape 22"/>
          <p:cNvSpPr/>
          <p:nvPr/>
        </p:nvSpPr>
        <p:spPr>
          <a:xfrm>
            <a:off x="548640" y="3959352"/>
            <a:ext cx="3566160" cy="2084832"/>
          </a:xfrm>
          <a:prstGeom prst="roundRect">
            <a:avLst>
              <a:gd name="adj" fmla="val 4386"/>
            </a:avLst>
          </a:prstGeom>
          <a:solidFill>
            <a:srgbClr val="F4F7FC"/>
          </a:solidFill>
          <a:ln w="12700">
            <a:solidFill>
              <a:srgbClr val="DCE4F2"/>
            </a:solidFill>
            <a:prstDash val="solid"/>
          </a:ln>
          <a:effectLst>
            <a:outerShdw sx="100000" sy="100000" kx="0" ky="0" algn="bl" rotWithShape="0" blurRad="63500" dist="25400" dir="5400000">
              <a:srgbClr val="A9B4C8">
                <a:alpha val="22000"/>
              </a:srgbClr>
            </a:outerShdw>
          </a:effectLst>
        </p:spPr>
      </p:sp>
      <p:pic>
        <p:nvPicPr>
          <p:cNvPr id="31" name="Image 6" descr="preencoded.png">    </p:cNvPr>
          <p:cNvPicPr>
            <a:picLocks noChangeAspect="1"/>
          </p:cNvPicPr>
          <p:nvPr/>
        </p:nvPicPr>
        <p:blipFill>
          <a:blip r:embed="rId7"/>
          <a:stretch>
            <a:fillRect/>
          </a:stretch>
        </p:blipFill>
        <p:spPr>
          <a:xfrm>
            <a:off x="804672" y="4215384"/>
            <a:ext cx="310896" cy="310896"/>
          </a:xfrm>
          <a:prstGeom prst="rect">
            <a:avLst/>
          </a:prstGeom>
        </p:spPr>
      </p:pic>
      <p:sp>
        <p:nvSpPr>
          <p:cNvPr id="32" name="Text 23"/>
          <p:cNvSpPr/>
          <p:nvPr/>
        </p:nvSpPr>
        <p:spPr>
          <a:xfrm>
            <a:off x="1207008" y="4178808"/>
            <a:ext cx="1371600" cy="274320"/>
          </a:xfrm>
          <a:prstGeom prst="rect">
            <a:avLst/>
          </a:prstGeom>
          <a:noFill/>
          <a:ln/>
        </p:spPr>
        <p:txBody>
          <a:bodyPr wrap="square" rtlCol="0" anchor="ctr"/>
          <a:lstStyle/>
          <a:p>
            <a:pPr indent="0" marL="0">
              <a:buNone/>
            </a:pPr>
            <a:r>
              <a:rPr lang="en-US" sz="950" b="1" spc="200" kern="0" dirty="0">
                <a:solidFill>
                  <a:srgbClr val="C8912B"/>
                </a:solidFill>
                <a:latin typeface="Calibri" pitchFamily="34" charset="0"/>
                <a:ea typeface="Calibri" pitchFamily="34" charset="-122"/>
                <a:cs typeface="Calibri" pitchFamily="34" charset="-120"/>
              </a:rPr>
              <a:t>RISK</a:t>
            </a:r>
            <a:endParaRPr lang="en-US" sz="950" dirty="0"/>
          </a:p>
        </p:txBody>
      </p:sp>
      <p:sp>
        <p:nvSpPr>
          <p:cNvPr id="33" name="Text 24"/>
          <p:cNvSpPr/>
          <p:nvPr/>
        </p:nvSpPr>
        <p:spPr>
          <a:xfrm>
            <a:off x="804672" y="4507992"/>
            <a:ext cx="3054096" cy="36576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Uncontrolled RDP</a:t>
            </a:r>
            <a:endParaRPr lang="en-US" sz="1350" dirty="0"/>
          </a:p>
        </p:txBody>
      </p:sp>
      <p:sp>
        <p:nvSpPr>
          <p:cNvPr id="34" name="Shape 25"/>
          <p:cNvSpPr/>
          <p:nvPr/>
        </p:nvSpPr>
        <p:spPr>
          <a:xfrm>
            <a:off x="804672" y="5010912"/>
            <a:ext cx="457200" cy="457200"/>
          </a:xfrm>
          <a:prstGeom prst="roundRect">
            <a:avLst>
              <a:gd name="adj" fmla="val 22000"/>
            </a:avLst>
          </a:prstGeom>
          <a:solidFill>
            <a:srgbClr val="1E2761"/>
          </a:solidFill>
          <a:ln/>
          <a:effectLst>
            <a:outerShdw sx="100000" sy="100000" kx="0" ky="0" algn="bl" rotWithShape="0" blurRad="63500" dist="25400" dir="5400000">
              <a:srgbClr val="A9B4C8">
                <a:alpha val="22000"/>
              </a:srgbClr>
            </a:outerShdw>
          </a:effectLst>
        </p:spPr>
      </p:sp>
      <p:pic>
        <p:nvPicPr>
          <p:cNvPr id="35" name="Image 7" descr="preencoded.png">    </p:cNvPr>
          <p:cNvPicPr>
            <a:picLocks noChangeAspect="1"/>
          </p:cNvPicPr>
          <p:nvPr/>
        </p:nvPicPr>
        <p:blipFill>
          <a:blip r:embed="rId8"/>
          <a:stretch>
            <a:fillRect/>
          </a:stretch>
        </p:blipFill>
        <p:spPr>
          <a:xfrm>
            <a:off x="896112" y="5102352"/>
            <a:ext cx="274320" cy="274320"/>
          </a:xfrm>
          <a:prstGeom prst="rect">
            <a:avLst/>
          </a:prstGeom>
        </p:spPr>
      </p:pic>
      <p:sp>
        <p:nvSpPr>
          <p:cNvPr id="36" name="Text 26"/>
          <p:cNvSpPr/>
          <p:nvPr/>
        </p:nvSpPr>
        <p:spPr>
          <a:xfrm>
            <a:off x="1371600" y="5001768"/>
            <a:ext cx="2514600" cy="457200"/>
          </a:xfrm>
          <a:prstGeom prst="rect">
            <a:avLst/>
          </a:prstGeom>
          <a:noFill/>
          <a:ln/>
        </p:spPr>
        <p:txBody>
          <a:bodyPr wrap="square" rtlCol="0" anchor="ctr"/>
          <a:lstStyle/>
          <a:p>
            <a:pPr indent="0" marL="0">
              <a:buNone/>
            </a:pPr>
            <a:r>
              <a:rPr lang="en-US" sz="1200" b="1" dirty="0">
                <a:solidFill>
                  <a:srgbClr val="2E8B6B"/>
                </a:solidFill>
                <a:latin typeface="Calibri" pitchFamily="34" charset="0"/>
                <a:ea typeface="Calibri" pitchFamily="34" charset="-122"/>
                <a:cs typeface="Calibri" pitchFamily="34" charset="-120"/>
              </a:rPr>
              <a:t>Explicit authorisation</a:t>
            </a:r>
            <a:endParaRPr lang="en-US" sz="1200" dirty="0"/>
          </a:p>
        </p:txBody>
      </p:sp>
      <p:sp>
        <p:nvSpPr>
          <p:cNvPr id="37" name="Text 27"/>
          <p:cNvSpPr/>
          <p:nvPr/>
        </p:nvSpPr>
        <p:spPr>
          <a:xfrm>
            <a:off x="804672" y="5495544"/>
            <a:ext cx="3054096" cy="502920"/>
          </a:xfrm>
          <a:prstGeom prst="rect">
            <a:avLst/>
          </a:prstGeom>
          <a:noFill/>
          <a:ln/>
        </p:spPr>
        <p:txBody>
          <a:bodyPr wrap="square" rtlCol="0" anchor="t"/>
          <a:lstStyle/>
          <a:p>
            <a:pPr indent="0" marL="0">
              <a:lnSpc>
                <a:spcPct val="102000"/>
              </a:lnSpc>
              <a:buNone/>
            </a:pPr>
            <a:r>
              <a:rPr lang="en-US" sz="1050" dirty="0">
                <a:solidFill>
                  <a:srgbClr val="5B6B8C"/>
                </a:solidFill>
                <a:latin typeface="Calibri" pitchFamily="34" charset="0"/>
                <a:ea typeface="Calibri" pitchFamily="34" charset="-122"/>
                <a:cs typeface="Calibri" pitchFamily="34" charset="-120"/>
              </a:rPr>
              <a:t>RDP via Remote Desktop Users / GPO on approved hosts only — not privilege inheritance.</a:t>
            </a:r>
            <a:endParaRPr lang="en-US" sz="1050" dirty="0"/>
          </a:p>
        </p:txBody>
      </p:sp>
      <p:sp>
        <p:nvSpPr>
          <p:cNvPr id="38" name="Shape 28"/>
          <p:cNvSpPr/>
          <p:nvPr/>
        </p:nvSpPr>
        <p:spPr>
          <a:xfrm>
            <a:off x="4297680" y="3959352"/>
            <a:ext cx="3566160" cy="2084832"/>
          </a:xfrm>
          <a:prstGeom prst="roundRect">
            <a:avLst>
              <a:gd name="adj" fmla="val 4386"/>
            </a:avLst>
          </a:prstGeom>
          <a:solidFill>
            <a:srgbClr val="F4F7FC"/>
          </a:solidFill>
          <a:ln w="12700">
            <a:solidFill>
              <a:srgbClr val="DCE4F2"/>
            </a:solidFill>
            <a:prstDash val="solid"/>
          </a:ln>
          <a:effectLst>
            <a:outerShdw sx="100000" sy="100000" kx="0" ky="0" algn="bl" rotWithShape="0" blurRad="63500" dist="25400" dir="5400000">
              <a:srgbClr val="A9B4C8">
                <a:alpha val="22000"/>
              </a:srgbClr>
            </a:outerShdw>
          </a:effectLst>
        </p:spPr>
      </p:sp>
      <p:pic>
        <p:nvPicPr>
          <p:cNvPr id="39" name="Image 8" descr="preencoded.png">    </p:cNvPr>
          <p:cNvPicPr>
            <a:picLocks noChangeAspect="1"/>
          </p:cNvPicPr>
          <p:nvPr/>
        </p:nvPicPr>
        <p:blipFill>
          <a:blip r:embed="rId9"/>
          <a:stretch>
            <a:fillRect/>
          </a:stretch>
        </p:blipFill>
        <p:spPr>
          <a:xfrm>
            <a:off x="4553712" y="4215384"/>
            <a:ext cx="310896" cy="310896"/>
          </a:xfrm>
          <a:prstGeom prst="rect">
            <a:avLst/>
          </a:prstGeom>
        </p:spPr>
      </p:pic>
      <p:sp>
        <p:nvSpPr>
          <p:cNvPr id="40" name="Text 29"/>
          <p:cNvSpPr/>
          <p:nvPr/>
        </p:nvSpPr>
        <p:spPr>
          <a:xfrm>
            <a:off x="4956048" y="4178808"/>
            <a:ext cx="1371600" cy="274320"/>
          </a:xfrm>
          <a:prstGeom prst="rect">
            <a:avLst/>
          </a:prstGeom>
          <a:noFill/>
          <a:ln/>
        </p:spPr>
        <p:txBody>
          <a:bodyPr wrap="square" rtlCol="0" anchor="ctr"/>
          <a:lstStyle/>
          <a:p>
            <a:pPr indent="0" marL="0">
              <a:buNone/>
            </a:pPr>
            <a:r>
              <a:rPr lang="en-US" sz="950" b="1" spc="200" kern="0" dirty="0">
                <a:solidFill>
                  <a:srgbClr val="C8912B"/>
                </a:solidFill>
                <a:latin typeface="Calibri" pitchFamily="34" charset="0"/>
                <a:ea typeface="Calibri" pitchFamily="34" charset="-122"/>
                <a:cs typeface="Calibri" pitchFamily="34" charset="-120"/>
              </a:rPr>
              <a:t>RISK</a:t>
            </a:r>
            <a:endParaRPr lang="en-US" sz="950" dirty="0"/>
          </a:p>
        </p:txBody>
      </p:sp>
      <p:sp>
        <p:nvSpPr>
          <p:cNvPr id="41" name="Text 30"/>
          <p:cNvSpPr/>
          <p:nvPr/>
        </p:nvSpPr>
        <p:spPr>
          <a:xfrm>
            <a:off x="4553712" y="4507992"/>
            <a:ext cx="3054096" cy="36576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Undetected misuse</a:t>
            </a:r>
            <a:endParaRPr lang="en-US" sz="1350" dirty="0"/>
          </a:p>
        </p:txBody>
      </p:sp>
      <p:sp>
        <p:nvSpPr>
          <p:cNvPr id="42" name="Shape 31"/>
          <p:cNvSpPr/>
          <p:nvPr/>
        </p:nvSpPr>
        <p:spPr>
          <a:xfrm>
            <a:off x="4553712" y="5010912"/>
            <a:ext cx="457200" cy="457200"/>
          </a:xfrm>
          <a:prstGeom prst="roundRect">
            <a:avLst>
              <a:gd name="adj" fmla="val 22000"/>
            </a:avLst>
          </a:prstGeom>
          <a:solidFill>
            <a:srgbClr val="1E2761"/>
          </a:solidFill>
          <a:ln/>
          <a:effectLst>
            <a:outerShdw sx="100000" sy="100000" kx="0" ky="0" algn="bl" rotWithShape="0" blurRad="63500" dist="25400" dir="5400000">
              <a:srgbClr val="A9B4C8">
                <a:alpha val="22000"/>
              </a:srgbClr>
            </a:outerShdw>
          </a:effectLst>
        </p:spPr>
      </p:sp>
      <p:pic>
        <p:nvPicPr>
          <p:cNvPr id="43" name="Image 9" descr="preencoded.png">    </p:cNvPr>
          <p:cNvPicPr>
            <a:picLocks noChangeAspect="1"/>
          </p:cNvPicPr>
          <p:nvPr/>
        </p:nvPicPr>
        <p:blipFill>
          <a:blip r:embed="rId10"/>
          <a:stretch>
            <a:fillRect/>
          </a:stretch>
        </p:blipFill>
        <p:spPr>
          <a:xfrm>
            <a:off x="4645152" y="5102352"/>
            <a:ext cx="274320" cy="274320"/>
          </a:xfrm>
          <a:prstGeom prst="rect">
            <a:avLst/>
          </a:prstGeom>
        </p:spPr>
      </p:pic>
      <p:sp>
        <p:nvSpPr>
          <p:cNvPr id="44" name="Text 32"/>
          <p:cNvSpPr/>
          <p:nvPr/>
        </p:nvSpPr>
        <p:spPr>
          <a:xfrm>
            <a:off x="5120640" y="5001768"/>
            <a:ext cx="2514600" cy="457200"/>
          </a:xfrm>
          <a:prstGeom prst="rect">
            <a:avLst/>
          </a:prstGeom>
          <a:noFill/>
          <a:ln/>
        </p:spPr>
        <p:txBody>
          <a:bodyPr wrap="square" rtlCol="0" anchor="ctr"/>
          <a:lstStyle/>
          <a:p>
            <a:pPr indent="0" marL="0">
              <a:buNone/>
            </a:pPr>
            <a:r>
              <a:rPr lang="en-US" sz="1200" b="1" dirty="0">
                <a:solidFill>
                  <a:srgbClr val="2E8B6B"/>
                </a:solidFill>
                <a:latin typeface="Calibri" pitchFamily="34" charset="0"/>
                <a:ea typeface="Calibri" pitchFamily="34" charset="-122"/>
                <a:cs typeface="Calibri" pitchFamily="34" charset="-120"/>
              </a:rPr>
              <a:t>Auditing &amp; review</a:t>
            </a:r>
            <a:endParaRPr lang="en-US" sz="1200" dirty="0"/>
          </a:p>
        </p:txBody>
      </p:sp>
      <p:sp>
        <p:nvSpPr>
          <p:cNvPr id="45" name="Text 33"/>
          <p:cNvSpPr/>
          <p:nvPr/>
        </p:nvSpPr>
        <p:spPr>
          <a:xfrm>
            <a:off x="4553712" y="5495544"/>
            <a:ext cx="3054096" cy="502920"/>
          </a:xfrm>
          <a:prstGeom prst="rect">
            <a:avLst/>
          </a:prstGeom>
          <a:noFill/>
          <a:ln/>
        </p:spPr>
        <p:txBody>
          <a:bodyPr wrap="square" rtlCol="0" anchor="t"/>
          <a:lstStyle/>
          <a:p>
            <a:pPr indent="0" marL="0">
              <a:lnSpc>
                <a:spcPct val="102000"/>
              </a:lnSpc>
              <a:buNone/>
            </a:pPr>
            <a:r>
              <a:rPr lang="en-US" sz="1050" dirty="0">
                <a:solidFill>
                  <a:srgbClr val="5B6B8C"/>
                </a:solidFill>
                <a:latin typeface="Calibri" pitchFamily="34" charset="0"/>
                <a:ea typeface="Calibri" pitchFamily="34" charset="-122"/>
                <a:cs typeface="Calibri" pitchFamily="34" charset="-120"/>
              </a:rPr>
              <a:t>Logon and privilege-use logging with periodic membership review.</a:t>
            </a:r>
            <a:endParaRPr lang="en-US" sz="1050" dirty="0"/>
          </a:p>
        </p:txBody>
      </p:sp>
      <p:sp>
        <p:nvSpPr>
          <p:cNvPr id="46" name="Shape 34"/>
          <p:cNvSpPr/>
          <p:nvPr/>
        </p:nvSpPr>
        <p:spPr>
          <a:xfrm>
            <a:off x="8046720" y="3959352"/>
            <a:ext cx="3566160" cy="2084832"/>
          </a:xfrm>
          <a:prstGeom prst="roundRect">
            <a:avLst>
              <a:gd name="adj" fmla="val 4386"/>
            </a:avLst>
          </a:prstGeom>
          <a:solidFill>
            <a:srgbClr val="F4F7FC"/>
          </a:solidFill>
          <a:ln w="12700">
            <a:solidFill>
              <a:srgbClr val="DCE4F2"/>
            </a:solidFill>
            <a:prstDash val="solid"/>
          </a:ln>
          <a:effectLst>
            <a:outerShdw sx="100000" sy="100000" kx="0" ky="0" algn="bl" rotWithShape="0" blurRad="63500" dist="25400" dir="5400000">
              <a:srgbClr val="A9B4C8">
                <a:alpha val="22000"/>
              </a:srgbClr>
            </a:outerShdw>
          </a:effectLst>
        </p:spPr>
      </p:sp>
      <p:pic>
        <p:nvPicPr>
          <p:cNvPr id="47" name="Image 10" descr="preencoded.png">    </p:cNvPr>
          <p:cNvPicPr>
            <a:picLocks noChangeAspect="1"/>
          </p:cNvPicPr>
          <p:nvPr/>
        </p:nvPicPr>
        <p:blipFill>
          <a:blip r:embed="rId11"/>
          <a:stretch>
            <a:fillRect/>
          </a:stretch>
        </p:blipFill>
        <p:spPr>
          <a:xfrm>
            <a:off x="8302752" y="4215384"/>
            <a:ext cx="310896" cy="310896"/>
          </a:xfrm>
          <a:prstGeom prst="rect">
            <a:avLst/>
          </a:prstGeom>
        </p:spPr>
      </p:pic>
      <p:sp>
        <p:nvSpPr>
          <p:cNvPr id="48" name="Text 35"/>
          <p:cNvSpPr/>
          <p:nvPr/>
        </p:nvSpPr>
        <p:spPr>
          <a:xfrm>
            <a:off x="8705088" y="4178808"/>
            <a:ext cx="1371600" cy="274320"/>
          </a:xfrm>
          <a:prstGeom prst="rect">
            <a:avLst/>
          </a:prstGeom>
          <a:noFill/>
          <a:ln/>
        </p:spPr>
        <p:txBody>
          <a:bodyPr wrap="square" rtlCol="0" anchor="ctr"/>
          <a:lstStyle/>
          <a:p>
            <a:pPr indent="0" marL="0">
              <a:buNone/>
            </a:pPr>
            <a:r>
              <a:rPr lang="en-US" sz="950" b="1" spc="200" kern="0" dirty="0">
                <a:solidFill>
                  <a:srgbClr val="C8912B"/>
                </a:solidFill>
                <a:latin typeface="Calibri" pitchFamily="34" charset="0"/>
                <a:ea typeface="Calibri" pitchFamily="34" charset="-122"/>
                <a:cs typeface="Calibri" pitchFamily="34" charset="-120"/>
              </a:rPr>
              <a:t>RISK</a:t>
            </a:r>
            <a:endParaRPr lang="en-US" sz="950" dirty="0"/>
          </a:p>
        </p:txBody>
      </p:sp>
      <p:sp>
        <p:nvSpPr>
          <p:cNvPr id="49" name="Text 36"/>
          <p:cNvSpPr/>
          <p:nvPr/>
        </p:nvSpPr>
        <p:spPr>
          <a:xfrm>
            <a:off x="8302752" y="4507992"/>
            <a:ext cx="3054096" cy="36576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Unreversible change</a:t>
            </a:r>
            <a:endParaRPr lang="en-US" sz="1350" dirty="0"/>
          </a:p>
        </p:txBody>
      </p:sp>
      <p:sp>
        <p:nvSpPr>
          <p:cNvPr id="50" name="Shape 37"/>
          <p:cNvSpPr/>
          <p:nvPr/>
        </p:nvSpPr>
        <p:spPr>
          <a:xfrm>
            <a:off x="8302752" y="5010912"/>
            <a:ext cx="457200" cy="457200"/>
          </a:xfrm>
          <a:prstGeom prst="roundRect">
            <a:avLst>
              <a:gd name="adj" fmla="val 22000"/>
            </a:avLst>
          </a:prstGeom>
          <a:solidFill>
            <a:srgbClr val="1E2761"/>
          </a:solidFill>
          <a:ln/>
          <a:effectLst>
            <a:outerShdw sx="100000" sy="100000" kx="0" ky="0" algn="bl" rotWithShape="0" blurRad="63500" dist="25400" dir="5400000">
              <a:srgbClr val="A9B4C8">
                <a:alpha val="22000"/>
              </a:srgbClr>
            </a:outerShdw>
          </a:effectLst>
        </p:spPr>
      </p:sp>
      <p:pic>
        <p:nvPicPr>
          <p:cNvPr id="51" name="Image 11" descr="preencoded.png">    </p:cNvPr>
          <p:cNvPicPr>
            <a:picLocks noChangeAspect="1"/>
          </p:cNvPicPr>
          <p:nvPr/>
        </p:nvPicPr>
        <p:blipFill>
          <a:blip r:embed="rId12"/>
          <a:stretch>
            <a:fillRect/>
          </a:stretch>
        </p:blipFill>
        <p:spPr>
          <a:xfrm>
            <a:off x="8394192" y="5102352"/>
            <a:ext cx="274320" cy="274320"/>
          </a:xfrm>
          <a:prstGeom prst="rect">
            <a:avLst/>
          </a:prstGeom>
        </p:spPr>
      </p:pic>
      <p:sp>
        <p:nvSpPr>
          <p:cNvPr id="52" name="Text 38"/>
          <p:cNvSpPr/>
          <p:nvPr/>
        </p:nvSpPr>
        <p:spPr>
          <a:xfrm>
            <a:off x="8869680" y="5001768"/>
            <a:ext cx="2514600" cy="457200"/>
          </a:xfrm>
          <a:prstGeom prst="rect">
            <a:avLst/>
          </a:prstGeom>
          <a:noFill/>
          <a:ln/>
        </p:spPr>
        <p:txBody>
          <a:bodyPr wrap="square" rtlCol="0" anchor="ctr"/>
          <a:lstStyle/>
          <a:p>
            <a:pPr indent="0" marL="0">
              <a:buNone/>
            </a:pPr>
            <a:r>
              <a:rPr lang="en-US" sz="1200" b="1" dirty="0">
                <a:solidFill>
                  <a:srgbClr val="2E8B6B"/>
                </a:solidFill>
                <a:latin typeface="Calibri" pitchFamily="34" charset="0"/>
                <a:ea typeface="Calibri" pitchFamily="34" charset="-122"/>
                <a:cs typeface="Calibri" pitchFamily="34" charset="-120"/>
              </a:rPr>
              <a:t>Documented rollback</a:t>
            </a:r>
            <a:endParaRPr lang="en-US" sz="1200" dirty="0"/>
          </a:p>
        </p:txBody>
      </p:sp>
      <p:sp>
        <p:nvSpPr>
          <p:cNvPr id="53" name="Text 39"/>
          <p:cNvSpPr/>
          <p:nvPr/>
        </p:nvSpPr>
        <p:spPr>
          <a:xfrm>
            <a:off x="8302752" y="5495544"/>
            <a:ext cx="3054096" cy="502920"/>
          </a:xfrm>
          <a:prstGeom prst="rect">
            <a:avLst/>
          </a:prstGeom>
          <a:noFill/>
          <a:ln/>
        </p:spPr>
        <p:txBody>
          <a:bodyPr wrap="square" rtlCol="0" anchor="t"/>
          <a:lstStyle/>
          <a:p>
            <a:pPr indent="0" marL="0">
              <a:lnSpc>
                <a:spcPct val="102000"/>
              </a:lnSpc>
              <a:buNone/>
            </a:pPr>
            <a:r>
              <a:rPr lang="en-US" sz="1050" dirty="0">
                <a:solidFill>
                  <a:srgbClr val="5B6B8C"/>
                </a:solidFill>
                <a:latin typeface="Calibri" pitchFamily="34" charset="0"/>
                <a:ea typeface="Calibri" pitchFamily="34" charset="-122"/>
                <a:cs typeface="Calibri" pitchFamily="34" charset="-120"/>
              </a:rPr>
              <a:t>Every implementation step has a recorded, tested rollback path.</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A4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12000"/>
          </a:blip>
          <a:stretch>
            <a:fillRect/>
          </a:stretch>
        </p:blipFill>
        <p:spPr>
          <a:xfrm>
            <a:off x="9509760" y="640080"/>
            <a:ext cx="2011680" cy="2011680"/>
          </a:xfrm>
          <a:prstGeom prst="rect">
            <a:avLst/>
          </a:prstGeom>
        </p:spPr>
      </p:pic>
      <p:sp>
        <p:nvSpPr>
          <p:cNvPr id="3" name="Text 0"/>
          <p:cNvSpPr/>
          <p:nvPr/>
        </p:nvSpPr>
        <p:spPr>
          <a:xfrm>
            <a:off x="777240" y="777240"/>
            <a:ext cx="7315200" cy="365760"/>
          </a:xfrm>
          <a:prstGeom prst="rect">
            <a:avLst/>
          </a:prstGeom>
          <a:noFill/>
          <a:ln/>
        </p:spPr>
        <p:txBody>
          <a:bodyPr wrap="square" rtlCol="0" anchor="ctr"/>
          <a:lstStyle/>
          <a:p>
            <a:pPr indent="0" marL="0">
              <a:buNone/>
            </a:pPr>
            <a:r>
              <a:rPr lang="en-US" sz="1400" b="1" spc="400" kern="0" dirty="0">
                <a:solidFill>
                  <a:srgbClr val="E8B84B"/>
                </a:solidFill>
                <a:latin typeface="Calibri" pitchFamily="34" charset="0"/>
                <a:ea typeface="Calibri" pitchFamily="34" charset="-122"/>
                <a:cs typeface="Calibri" pitchFamily="34" charset="-120"/>
              </a:rPr>
              <a:t>RECOMMENDATION</a:t>
            </a:r>
            <a:endParaRPr lang="en-US" sz="1400" dirty="0"/>
          </a:p>
        </p:txBody>
      </p:sp>
      <p:sp>
        <p:nvSpPr>
          <p:cNvPr id="4" name="Text 1"/>
          <p:cNvSpPr/>
          <p:nvPr/>
        </p:nvSpPr>
        <p:spPr>
          <a:xfrm>
            <a:off x="731520" y="1188720"/>
            <a:ext cx="10515600" cy="1280160"/>
          </a:xfrm>
          <a:prstGeom prst="rect">
            <a:avLst/>
          </a:prstGeom>
          <a:noFill/>
          <a:ln/>
        </p:spPr>
        <p:txBody>
          <a:bodyPr wrap="square" rtlCol="0" anchor="ctr"/>
          <a:lstStyle/>
          <a:p>
            <a:pPr indent="0" marL="0">
              <a:lnSpc>
                <a:spcPct val="100000"/>
              </a:lnSpc>
              <a:buNone/>
            </a:pPr>
            <a:r>
              <a:rPr lang="en-US" sz="3400" b="1" dirty="0">
                <a:solidFill>
                  <a:srgbClr val="FFFFFF"/>
                </a:solidFill>
                <a:latin typeface="Century Schoolbook" pitchFamily="34" charset="0"/>
                <a:ea typeface="Century Schoolbook" pitchFamily="34" charset="-122"/>
                <a:cs typeface="Century Schoolbook" pitchFamily="34" charset="-120"/>
              </a:rPr>
              <a:t>Approve the least-privilege, group-scope model</a:t>
            </a:r>
            <a:endParaRPr lang="en-US" sz="3400" dirty="0"/>
          </a:p>
        </p:txBody>
      </p:sp>
      <p:sp>
        <p:nvSpPr>
          <p:cNvPr id="5" name="Text 2"/>
          <p:cNvSpPr/>
          <p:nvPr/>
        </p:nvSpPr>
        <p:spPr>
          <a:xfrm>
            <a:off x="777240" y="2423160"/>
            <a:ext cx="7589520" cy="914400"/>
          </a:xfrm>
          <a:prstGeom prst="rect">
            <a:avLst/>
          </a:prstGeom>
          <a:noFill/>
          <a:ln/>
        </p:spPr>
        <p:txBody>
          <a:bodyPr wrap="square" rtlCol="0" anchor="ctr"/>
          <a:lstStyle/>
          <a:p>
            <a:pPr indent="0" marL="0">
              <a:lnSpc>
                <a:spcPct val="120000"/>
              </a:lnSpc>
              <a:buNone/>
            </a:pPr>
            <a:r>
              <a:rPr lang="en-US" sz="1450" dirty="0">
                <a:solidFill>
                  <a:srgbClr val="CADCFC"/>
                </a:solidFill>
                <a:latin typeface="Calibri" pitchFamily="34" charset="0"/>
                <a:ea typeface="Calibri" pitchFamily="34" charset="-122"/>
                <a:cs typeface="Calibri" pitchFamily="34" charset="-120"/>
              </a:rPr>
              <a:t>Adopt AGDLP / AGUDLP with target-side Domain Local grants and explicit RDP authorisation. It meets the requirement in full while keeping Domain Admin tightly restricted and every action auditable.</a:t>
            </a:r>
            <a:endParaRPr lang="en-US" sz="1450" dirty="0"/>
          </a:p>
        </p:txBody>
      </p:sp>
      <p:sp>
        <p:nvSpPr>
          <p:cNvPr id="6" name="Shape 3"/>
          <p:cNvSpPr/>
          <p:nvPr/>
        </p:nvSpPr>
        <p:spPr>
          <a:xfrm>
            <a:off x="777240" y="3611880"/>
            <a:ext cx="6309360" cy="548640"/>
          </a:xfrm>
          <a:prstGeom prst="roundRect">
            <a:avLst>
              <a:gd name="adj" fmla="val 50000"/>
            </a:avLst>
          </a:prstGeom>
          <a:solidFill>
            <a:srgbClr val="2A3670"/>
          </a:solidFill>
          <a:ln/>
        </p:spPr>
      </p:sp>
      <p:sp>
        <p:nvSpPr>
          <p:cNvPr id="7" name="Shape 4"/>
          <p:cNvSpPr/>
          <p:nvPr/>
        </p:nvSpPr>
        <p:spPr>
          <a:xfrm>
            <a:off x="868680" y="3685032"/>
            <a:ext cx="402336" cy="402336"/>
          </a:xfrm>
          <a:prstGeom prst="ellipse">
            <a:avLst/>
          </a:prstGeom>
          <a:solidFill>
            <a:srgbClr val="141A47"/>
          </a:solidFill>
          <a:ln/>
        </p:spPr>
      </p:sp>
      <p:pic>
        <p:nvPicPr>
          <p:cNvPr id="8" name="Image 1" descr="preencoded.png">    </p:cNvPr>
          <p:cNvPicPr>
            <a:picLocks noChangeAspect="1"/>
          </p:cNvPicPr>
          <p:nvPr/>
        </p:nvPicPr>
        <p:blipFill>
          <a:blip r:embed="rId2"/>
          <a:stretch>
            <a:fillRect/>
          </a:stretch>
        </p:blipFill>
        <p:spPr>
          <a:xfrm>
            <a:off x="965241" y="3781593"/>
            <a:ext cx="209215" cy="209215"/>
          </a:xfrm>
          <a:prstGeom prst="rect">
            <a:avLst/>
          </a:prstGeom>
        </p:spPr>
      </p:pic>
      <p:sp>
        <p:nvSpPr>
          <p:cNvPr id="9" name="Text 5"/>
          <p:cNvSpPr/>
          <p:nvPr/>
        </p:nvSpPr>
        <p:spPr>
          <a:xfrm>
            <a:off x="1417320" y="3611880"/>
            <a:ext cx="5577840" cy="54864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Separate admin identity from permission assignment</a:t>
            </a:r>
            <a:endParaRPr lang="en-US" sz="1250" dirty="0"/>
          </a:p>
        </p:txBody>
      </p:sp>
      <p:sp>
        <p:nvSpPr>
          <p:cNvPr id="10" name="Shape 6"/>
          <p:cNvSpPr/>
          <p:nvPr/>
        </p:nvSpPr>
        <p:spPr>
          <a:xfrm>
            <a:off x="777240" y="4233672"/>
            <a:ext cx="6309360" cy="548640"/>
          </a:xfrm>
          <a:prstGeom prst="roundRect">
            <a:avLst>
              <a:gd name="adj" fmla="val 50000"/>
            </a:avLst>
          </a:prstGeom>
          <a:solidFill>
            <a:srgbClr val="2A3670"/>
          </a:solidFill>
          <a:ln/>
        </p:spPr>
      </p:sp>
      <p:sp>
        <p:nvSpPr>
          <p:cNvPr id="11" name="Shape 7"/>
          <p:cNvSpPr/>
          <p:nvPr/>
        </p:nvSpPr>
        <p:spPr>
          <a:xfrm>
            <a:off x="868680" y="4306824"/>
            <a:ext cx="402336" cy="402336"/>
          </a:xfrm>
          <a:prstGeom prst="ellipse">
            <a:avLst/>
          </a:prstGeom>
          <a:solidFill>
            <a:srgbClr val="141A47"/>
          </a:solidFill>
          <a:ln/>
        </p:spPr>
      </p:sp>
      <p:pic>
        <p:nvPicPr>
          <p:cNvPr id="12" name="Image 2" descr="preencoded.png">    </p:cNvPr>
          <p:cNvPicPr>
            <a:picLocks noChangeAspect="1"/>
          </p:cNvPicPr>
          <p:nvPr/>
        </p:nvPicPr>
        <p:blipFill>
          <a:blip r:embed="rId3"/>
          <a:stretch>
            <a:fillRect/>
          </a:stretch>
        </p:blipFill>
        <p:spPr>
          <a:xfrm>
            <a:off x="965241" y="4403385"/>
            <a:ext cx="209215" cy="209215"/>
          </a:xfrm>
          <a:prstGeom prst="rect">
            <a:avLst/>
          </a:prstGeom>
        </p:spPr>
      </p:pic>
      <p:sp>
        <p:nvSpPr>
          <p:cNvPr id="13" name="Text 8"/>
          <p:cNvSpPr/>
          <p:nvPr/>
        </p:nvSpPr>
        <p:spPr>
          <a:xfrm>
            <a:off x="1417320" y="4233672"/>
            <a:ext cx="5577840" cy="54864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Nest groups correctly by scope — Global, Universal, Domain Local</a:t>
            </a:r>
            <a:endParaRPr lang="en-US" sz="1250" dirty="0"/>
          </a:p>
        </p:txBody>
      </p:sp>
      <p:sp>
        <p:nvSpPr>
          <p:cNvPr id="14" name="Shape 9"/>
          <p:cNvSpPr/>
          <p:nvPr/>
        </p:nvSpPr>
        <p:spPr>
          <a:xfrm>
            <a:off x="777240" y="4855464"/>
            <a:ext cx="6309360" cy="548640"/>
          </a:xfrm>
          <a:prstGeom prst="roundRect">
            <a:avLst>
              <a:gd name="adj" fmla="val 50000"/>
            </a:avLst>
          </a:prstGeom>
          <a:solidFill>
            <a:srgbClr val="2A3670"/>
          </a:solidFill>
          <a:ln/>
        </p:spPr>
      </p:sp>
      <p:sp>
        <p:nvSpPr>
          <p:cNvPr id="15" name="Shape 10"/>
          <p:cNvSpPr/>
          <p:nvPr/>
        </p:nvSpPr>
        <p:spPr>
          <a:xfrm>
            <a:off x="868680" y="4928616"/>
            <a:ext cx="402336" cy="402336"/>
          </a:xfrm>
          <a:prstGeom prst="ellipse">
            <a:avLst/>
          </a:prstGeom>
          <a:solidFill>
            <a:srgbClr val="141A47"/>
          </a:solidFill>
          <a:ln/>
        </p:spPr>
      </p:sp>
      <p:pic>
        <p:nvPicPr>
          <p:cNvPr id="16" name="Image 3" descr="preencoded.png">    </p:cNvPr>
          <p:cNvPicPr>
            <a:picLocks noChangeAspect="1"/>
          </p:cNvPicPr>
          <p:nvPr/>
        </p:nvPicPr>
        <p:blipFill>
          <a:blip r:embed="rId4"/>
          <a:stretch>
            <a:fillRect/>
          </a:stretch>
        </p:blipFill>
        <p:spPr>
          <a:xfrm>
            <a:off x="965241" y="5025177"/>
            <a:ext cx="209215" cy="209215"/>
          </a:xfrm>
          <a:prstGeom prst="rect">
            <a:avLst/>
          </a:prstGeom>
        </p:spPr>
      </p:pic>
      <p:sp>
        <p:nvSpPr>
          <p:cNvPr id="17" name="Text 11"/>
          <p:cNvSpPr/>
          <p:nvPr/>
        </p:nvSpPr>
        <p:spPr>
          <a:xfrm>
            <a:off x="1417320" y="4855464"/>
            <a:ext cx="5577840" cy="54864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Grant resource permissions on the target side</a:t>
            </a:r>
            <a:endParaRPr lang="en-US" sz="1250" dirty="0"/>
          </a:p>
        </p:txBody>
      </p:sp>
      <p:sp>
        <p:nvSpPr>
          <p:cNvPr id="18" name="Shape 12"/>
          <p:cNvSpPr/>
          <p:nvPr/>
        </p:nvSpPr>
        <p:spPr>
          <a:xfrm>
            <a:off x="777240" y="5477256"/>
            <a:ext cx="6309360" cy="548640"/>
          </a:xfrm>
          <a:prstGeom prst="roundRect">
            <a:avLst>
              <a:gd name="adj" fmla="val 50000"/>
            </a:avLst>
          </a:prstGeom>
          <a:solidFill>
            <a:srgbClr val="2A3670"/>
          </a:solidFill>
          <a:ln/>
        </p:spPr>
      </p:sp>
      <p:sp>
        <p:nvSpPr>
          <p:cNvPr id="19" name="Shape 13"/>
          <p:cNvSpPr/>
          <p:nvPr/>
        </p:nvSpPr>
        <p:spPr>
          <a:xfrm>
            <a:off x="868680" y="5550408"/>
            <a:ext cx="402336" cy="402336"/>
          </a:xfrm>
          <a:prstGeom prst="ellipse">
            <a:avLst/>
          </a:prstGeom>
          <a:solidFill>
            <a:srgbClr val="141A47"/>
          </a:solidFill>
          <a:ln/>
        </p:spPr>
      </p:sp>
      <p:pic>
        <p:nvPicPr>
          <p:cNvPr id="20" name="Image 4" descr="preencoded.png">    </p:cNvPr>
          <p:cNvPicPr>
            <a:picLocks noChangeAspect="1"/>
          </p:cNvPicPr>
          <p:nvPr/>
        </p:nvPicPr>
        <p:blipFill>
          <a:blip r:embed="rId5"/>
          <a:stretch>
            <a:fillRect/>
          </a:stretch>
        </p:blipFill>
        <p:spPr>
          <a:xfrm>
            <a:off x="965241" y="5646969"/>
            <a:ext cx="209215" cy="209215"/>
          </a:xfrm>
          <a:prstGeom prst="rect">
            <a:avLst/>
          </a:prstGeom>
        </p:spPr>
      </p:pic>
      <p:sp>
        <p:nvSpPr>
          <p:cNvPr id="21" name="Text 14"/>
          <p:cNvSpPr/>
          <p:nvPr/>
        </p:nvSpPr>
        <p:spPr>
          <a:xfrm>
            <a:off x="1417320" y="5477256"/>
            <a:ext cx="5577840" cy="54864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Restrict Domain Admin to justified, approved cases</a:t>
            </a:r>
            <a:endParaRPr lang="en-US" sz="1250" dirty="0"/>
          </a:p>
        </p:txBody>
      </p:sp>
      <p:sp>
        <p:nvSpPr>
          <p:cNvPr id="22" name="Shape 15"/>
          <p:cNvSpPr/>
          <p:nvPr/>
        </p:nvSpPr>
        <p:spPr>
          <a:xfrm>
            <a:off x="777240" y="6099048"/>
            <a:ext cx="6309360" cy="548640"/>
          </a:xfrm>
          <a:prstGeom prst="roundRect">
            <a:avLst>
              <a:gd name="adj" fmla="val 50000"/>
            </a:avLst>
          </a:prstGeom>
          <a:solidFill>
            <a:srgbClr val="2A3670"/>
          </a:solidFill>
          <a:ln/>
        </p:spPr>
      </p:sp>
      <p:sp>
        <p:nvSpPr>
          <p:cNvPr id="23" name="Shape 16"/>
          <p:cNvSpPr/>
          <p:nvPr/>
        </p:nvSpPr>
        <p:spPr>
          <a:xfrm>
            <a:off x="868680" y="6172200"/>
            <a:ext cx="402336" cy="402336"/>
          </a:xfrm>
          <a:prstGeom prst="ellipse">
            <a:avLst/>
          </a:prstGeom>
          <a:solidFill>
            <a:srgbClr val="141A47"/>
          </a:solidFill>
          <a:ln/>
        </p:spPr>
      </p:sp>
      <p:pic>
        <p:nvPicPr>
          <p:cNvPr id="24" name="Image 5" descr="preencoded.png">    </p:cNvPr>
          <p:cNvPicPr>
            <a:picLocks noChangeAspect="1"/>
          </p:cNvPicPr>
          <p:nvPr/>
        </p:nvPicPr>
        <p:blipFill>
          <a:blip r:embed="rId6"/>
          <a:stretch>
            <a:fillRect/>
          </a:stretch>
        </p:blipFill>
        <p:spPr>
          <a:xfrm>
            <a:off x="965241" y="6268761"/>
            <a:ext cx="209215" cy="209215"/>
          </a:xfrm>
          <a:prstGeom prst="rect">
            <a:avLst/>
          </a:prstGeom>
        </p:spPr>
      </p:pic>
      <p:sp>
        <p:nvSpPr>
          <p:cNvPr id="25" name="Text 17"/>
          <p:cNvSpPr/>
          <p:nvPr/>
        </p:nvSpPr>
        <p:spPr>
          <a:xfrm>
            <a:off x="1417320" y="6099048"/>
            <a:ext cx="5577840" cy="54864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Grant RDP by explicit policy, not broad inheritance</a:t>
            </a:r>
            <a:endParaRPr lang="en-US" sz="1250" dirty="0"/>
          </a:p>
        </p:txBody>
      </p:sp>
      <p:sp>
        <p:nvSpPr>
          <p:cNvPr id="26" name="Shape 18"/>
          <p:cNvSpPr/>
          <p:nvPr/>
        </p:nvSpPr>
        <p:spPr>
          <a:xfrm>
            <a:off x="7589520" y="3200400"/>
            <a:ext cx="3977640" cy="3246120"/>
          </a:xfrm>
          <a:prstGeom prst="roundRect">
            <a:avLst>
              <a:gd name="adj" fmla="val 3944"/>
            </a:avLst>
          </a:prstGeom>
          <a:solidFill>
            <a:srgbClr val="2A3670"/>
          </a:solidFill>
          <a:ln/>
          <a:effectLst>
            <a:outerShdw sx="100000" sy="100000" kx="0" ky="0" algn="bl" rotWithShape="0" blurRad="88900" dist="38100" dir="5400000">
              <a:srgbClr val="8593AC">
                <a:alpha val="28000"/>
              </a:srgbClr>
            </a:outerShdw>
          </a:effectLst>
        </p:spPr>
      </p:sp>
      <p:sp>
        <p:nvSpPr>
          <p:cNvPr id="27" name="Text 19"/>
          <p:cNvSpPr/>
          <p:nvPr/>
        </p:nvSpPr>
        <p:spPr>
          <a:xfrm>
            <a:off x="7909560" y="3429000"/>
            <a:ext cx="3383280" cy="320040"/>
          </a:xfrm>
          <a:prstGeom prst="rect">
            <a:avLst/>
          </a:prstGeom>
          <a:noFill/>
          <a:ln/>
        </p:spPr>
        <p:txBody>
          <a:bodyPr wrap="square" rtlCol="0" anchor="ctr"/>
          <a:lstStyle/>
          <a:p>
            <a:pPr indent="0" marL="0">
              <a:buNone/>
            </a:pPr>
            <a:r>
              <a:rPr lang="en-US" sz="1300" b="1" spc="200" kern="0" dirty="0">
                <a:solidFill>
                  <a:srgbClr val="E8B84B"/>
                </a:solidFill>
                <a:latin typeface="Calibri" pitchFamily="34" charset="0"/>
                <a:ea typeface="Calibri" pitchFamily="34" charset="-122"/>
                <a:cs typeface="Calibri" pitchFamily="34" charset="-120"/>
              </a:rPr>
              <a:t>NEXT STEPS</a:t>
            </a:r>
            <a:endParaRPr lang="en-US" sz="1300" dirty="0"/>
          </a:p>
        </p:txBody>
      </p:sp>
      <p:sp>
        <p:nvSpPr>
          <p:cNvPr id="28" name="Shape 20"/>
          <p:cNvSpPr/>
          <p:nvPr/>
        </p:nvSpPr>
        <p:spPr>
          <a:xfrm>
            <a:off x="7909560" y="3840480"/>
            <a:ext cx="310896" cy="310896"/>
          </a:xfrm>
          <a:prstGeom prst="ellipse">
            <a:avLst/>
          </a:prstGeom>
          <a:solidFill>
            <a:srgbClr val="E8B84B"/>
          </a:solidFill>
          <a:ln/>
        </p:spPr>
      </p:sp>
      <p:sp>
        <p:nvSpPr>
          <p:cNvPr id="29" name="Text 21"/>
          <p:cNvSpPr/>
          <p:nvPr/>
        </p:nvSpPr>
        <p:spPr>
          <a:xfrm>
            <a:off x="7909560" y="3840480"/>
            <a:ext cx="310896" cy="310896"/>
          </a:xfrm>
          <a:prstGeom prst="rect">
            <a:avLst/>
          </a:prstGeom>
          <a:noFill/>
          <a:ln/>
        </p:spPr>
        <p:txBody>
          <a:bodyPr wrap="square" rtlCol="0" anchor="ctr"/>
          <a:lstStyle/>
          <a:p>
            <a:pPr algn="ctr" indent="0" marL="0">
              <a:buNone/>
            </a:pPr>
            <a:r>
              <a:rPr lang="en-US" sz="1200" b="1" dirty="0">
                <a:solidFill>
                  <a:srgbClr val="141A47"/>
                </a:solidFill>
                <a:latin typeface="Century Schoolbook" pitchFamily="34" charset="0"/>
                <a:ea typeface="Century Schoolbook" pitchFamily="34" charset="-122"/>
                <a:cs typeface="Century Schoolbook" pitchFamily="34" charset="-120"/>
              </a:rPr>
              <a:t>1</a:t>
            </a:r>
            <a:endParaRPr lang="en-US" sz="1200" dirty="0"/>
          </a:p>
        </p:txBody>
      </p:sp>
      <p:sp>
        <p:nvSpPr>
          <p:cNvPr id="30" name="Text 22"/>
          <p:cNvSpPr/>
          <p:nvPr/>
        </p:nvSpPr>
        <p:spPr>
          <a:xfrm>
            <a:off x="8339328" y="3767328"/>
            <a:ext cx="3063240" cy="457200"/>
          </a:xfrm>
          <a:prstGeom prst="rect">
            <a:avLst/>
          </a:prstGeom>
          <a:noFill/>
          <a:ln/>
        </p:spPr>
        <p:txBody>
          <a:bodyPr wrap="square" rtlCol="0" anchor="ctr"/>
          <a:lstStyle/>
          <a:p>
            <a:pPr indent="0" marL="0">
              <a:lnSpc>
                <a:spcPct val="100000"/>
              </a:lnSpc>
              <a:buNone/>
            </a:pPr>
            <a:r>
              <a:rPr lang="en-US" sz="1150" dirty="0">
                <a:solidFill>
                  <a:srgbClr val="CADCFC"/>
                </a:solidFill>
                <a:latin typeface="Calibri" pitchFamily="34" charset="0"/>
                <a:ea typeface="Calibri" pitchFamily="34" charset="-122"/>
                <a:cs typeface="Calibri" pitchFamily="34" charset="-120"/>
              </a:rPr>
              <a:t>Confirm forest trust direction &amp; scope</a:t>
            </a:r>
            <a:endParaRPr lang="en-US" sz="1150" dirty="0"/>
          </a:p>
        </p:txBody>
      </p:sp>
      <p:sp>
        <p:nvSpPr>
          <p:cNvPr id="31" name="Shape 23"/>
          <p:cNvSpPr/>
          <p:nvPr/>
        </p:nvSpPr>
        <p:spPr>
          <a:xfrm>
            <a:off x="7909560" y="4270248"/>
            <a:ext cx="310896" cy="310896"/>
          </a:xfrm>
          <a:prstGeom prst="ellipse">
            <a:avLst/>
          </a:prstGeom>
          <a:solidFill>
            <a:srgbClr val="E8B84B"/>
          </a:solidFill>
          <a:ln/>
        </p:spPr>
      </p:sp>
      <p:sp>
        <p:nvSpPr>
          <p:cNvPr id="32" name="Text 24"/>
          <p:cNvSpPr/>
          <p:nvPr/>
        </p:nvSpPr>
        <p:spPr>
          <a:xfrm>
            <a:off x="7909560" y="4270248"/>
            <a:ext cx="310896" cy="310896"/>
          </a:xfrm>
          <a:prstGeom prst="rect">
            <a:avLst/>
          </a:prstGeom>
          <a:noFill/>
          <a:ln/>
        </p:spPr>
        <p:txBody>
          <a:bodyPr wrap="square" rtlCol="0" anchor="ctr"/>
          <a:lstStyle/>
          <a:p>
            <a:pPr algn="ctr" indent="0" marL="0">
              <a:buNone/>
            </a:pPr>
            <a:r>
              <a:rPr lang="en-US" sz="1200" b="1" dirty="0">
                <a:solidFill>
                  <a:srgbClr val="141A47"/>
                </a:solidFill>
                <a:latin typeface="Century Schoolbook" pitchFamily="34" charset="0"/>
                <a:ea typeface="Century Schoolbook" pitchFamily="34" charset="-122"/>
                <a:cs typeface="Century Schoolbook" pitchFamily="34" charset="-120"/>
              </a:rPr>
              <a:t>2</a:t>
            </a:r>
            <a:endParaRPr lang="en-US" sz="1200" dirty="0"/>
          </a:p>
        </p:txBody>
      </p:sp>
      <p:sp>
        <p:nvSpPr>
          <p:cNvPr id="33" name="Text 25"/>
          <p:cNvSpPr/>
          <p:nvPr/>
        </p:nvSpPr>
        <p:spPr>
          <a:xfrm>
            <a:off x="8339328" y="4197096"/>
            <a:ext cx="3063240" cy="457200"/>
          </a:xfrm>
          <a:prstGeom prst="rect">
            <a:avLst/>
          </a:prstGeom>
          <a:noFill/>
          <a:ln/>
        </p:spPr>
        <p:txBody>
          <a:bodyPr wrap="square" rtlCol="0" anchor="ctr"/>
          <a:lstStyle/>
          <a:p>
            <a:pPr indent="0" marL="0">
              <a:lnSpc>
                <a:spcPct val="100000"/>
              </a:lnSpc>
              <a:buNone/>
            </a:pPr>
            <a:r>
              <a:rPr lang="en-US" sz="1150" dirty="0">
                <a:solidFill>
                  <a:srgbClr val="CADCFC"/>
                </a:solidFill>
                <a:latin typeface="Calibri" pitchFamily="34" charset="0"/>
                <a:ea typeface="Calibri" pitchFamily="34" charset="-122"/>
                <a:cs typeface="Calibri" pitchFamily="34" charset="-120"/>
              </a:rPr>
              <a:t>Finalise admin naming standard</a:t>
            </a:r>
            <a:endParaRPr lang="en-US" sz="1150" dirty="0"/>
          </a:p>
        </p:txBody>
      </p:sp>
      <p:sp>
        <p:nvSpPr>
          <p:cNvPr id="34" name="Shape 26"/>
          <p:cNvSpPr/>
          <p:nvPr/>
        </p:nvSpPr>
        <p:spPr>
          <a:xfrm>
            <a:off x="7909560" y="4700016"/>
            <a:ext cx="310896" cy="310896"/>
          </a:xfrm>
          <a:prstGeom prst="ellipse">
            <a:avLst/>
          </a:prstGeom>
          <a:solidFill>
            <a:srgbClr val="E8B84B"/>
          </a:solidFill>
          <a:ln/>
        </p:spPr>
      </p:sp>
      <p:sp>
        <p:nvSpPr>
          <p:cNvPr id="35" name="Text 27"/>
          <p:cNvSpPr/>
          <p:nvPr/>
        </p:nvSpPr>
        <p:spPr>
          <a:xfrm>
            <a:off x="7909560" y="4700016"/>
            <a:ext cx="310896" cy="310896"/>
          </a:xfrm>
          <a:prstGeom prst="rect">
            <a:avLst/>
          </a:prstGeom>
          <a:noFill/>
          <a:ln/>
        </p:spPr>
        <p:txBody>
          <a:bodyPr wrap="square" rtlCol="0" anchor="ctr"/>
          <a:lstStyle/>
          <a:p>
            <a:pPr algn="ctr" indent="0" marL="0">
              <a:buNone/>
            </a:pPr>
            <a:r>
              <a:rPr lang="en-US" sz="1200" b="1" dirty="0">
                <a:solidFill>
                  <a:srgbClr val="141A47"/>
                </a:solidFill>
                <a:latin typeface="Century Schoolbook" pitchFamily="34" charset="0"/>
                <a:ea typeface="Century Schoolbook" pitchFamily="34" charset="-122"/>
                <a:cs typeface="Century Schoolbook" pitchFamily="34" charset="-120"/>
              </a:rPr>
              <a:t>3</a:t>
            </a:r>
            <a:endParaRPr lang="en-US" sz="1200" dirty="0"/>
          </a:p>
        </p:txBody>
      </p:sp>
      <p:sp>
        <p:nvSpPr>
          <p:cNvPr id="36" name="Text 28"/>
          <p:cNvSpPr/>
          <p:nvPr/>
        </p:nvSpPr>
        <p:spPr>
          <a:xfrm>
            <a:off x="8339328" y="4626864"/>
            <a:ext cx="3063240" cy="457200"/>
          </a:xfrm>
          <a:prstGeom prst="rect">
            <a:avLst/>
          </a:prstGeom>
          <a:noFill/>
          <a:ln/>
        </p:spPr>
        <p:txBody>
          <a:bodyPr wrap="square" rtlCol="0" anchor="ctr"/>
          <a:lstStyle/>
          <a:p>
            <a:pPr indent="0" marL="0">
              <a:lnSpc>
                <a:spcPct val="100000"/>
              </a:lnSpc>
              <a:buNone/>
            </a:pPr>
            <a:r>
              <a:rPr lang="en-US" sz="1150" dirty="0">
                <a:solidFill>
                  <a:srgbClr val="CADCFC"/>
                </a:solidFill>
                <a:latin typeface="Calibri" pitchFamily="34" charset="0"/>
                <a:ea typeface="Calibri" pitchFamily="34" charset="-122"/>
                <a:cs typeface="Calibri" pitchFamily="34" charset="-120"/>
              </a:rPr>
              <a:t>Complete pre-requisite gate (Deliverable A)</a:t>
            </a:r>
            <a:endParaRPr lang="en-US" sz="1150" dirty="0"/>
          </a:p>
        </p:txBody>
      </p:sp>
      <p:sp>
        <p:nvSpPr>
          <p:cNvPr id="37" name="Shape 29"/>
          <p:cNvSpPr/>
          <p:nvPr/>
        </p:nvSpPr>
        <p:spPr>
          <a:xfrm>
            <a:off x="7909560" y="5129784"/>
            <a:ext cx="310896" cy="310896"/>
          </a:xfrm>
          <a:prstGeom prst="ellipse">
            <a:avLst/>
          </a:prstGeom>
          <a:solidFill>
            <a:srgbClr val="E8B84B"/>
          </a:solidFill>
          <a:ln/>
        </p:spPr>
      </p:sp>
      <p:sp>
        <p:nvSpPr>
          <p:cNvPr id="38" name="Text 30"/>
          <p:cNvSpPr/>
          <p:nvPr/>
        </p:nvSpPr>
        <p:spPr>
          <a:xfrm>
            <a:off x="7909560" y="5129784"/>
            <a:ext cx="310896" cy="310896"/>
          </a:xfrm>
          <a:prstGeom prst="rect">
            <a:avLst/>
          </a:prstGeom>
          <a:noFill/>
          <a:ln/>
        </p:spPr>
        <p:txBody>
          <a:bodyPr wrap="square" rtlCol="0" anchor="ctr"/>
          <a:lstStyle/>
          <a:p>
            <a:pPr algn="ctr" indent="0" marL="0">
              <a:buNone/>
            </a:pPr>
            <a:r>
              <a:rPr lang="en-US" sz="1200" b="1" dirty="0">
                <a:solidFill>
                  <a:srgbClr val="141A47"/>
                </a:solidFill>
                <a:latin typeface="Century Schoolbook" pitchFamily="34" charset="0"/>
                <a:ea typeface="Century Schoolbook" pitchFamily="34" charset="-122"/>
                <a:cs typeface="Century Schoolbook" pitchFamily="34" charset="-120"/>
              </a:rPr>
              <a:t>4</a:t>
            </a:r>
            <a:endParaRPr lang="en-US" sz="1200" dirty="0"/>
          </a:p>
        </p:txBody>
      </p:sp>
      <p:sp>
        <p:nvSpPr>
          <p:cNvPr id="39" name="Text 31"/>
          <p:cNvSpPr/>
          <p:nvPr/>
        </p:nvSpPr>
        <p:spPr>
          <a:xfrm>
            <a:off x="8339328" y="5056632"/>
            <a:ext cx="3063240" cy="457200"/>
          </a:xfrm>
          <a:prstGeom prst="rect">
            <a:avLst/>
          </a:prstGeom>
          <a:noFill/>
          <a:ln/>
        </p:spPr>
        <p:txBody>
          <a:bodyPr wrap="square" rtlCol="0" anchor="ctr"/>
          <a:lstStyle/>
          <a:p>
            <a:pPr indent="0" marL="0">
              <a:lnSpc>
                <a:spcPct val="100000"/>
              </a:lnSpc>
              <a:buNone/>
            </a:pPr>
            <a:r>
              <a:rPr lang="en-US" sz="1150" dirty="0">
                <a:solidFill>
                  <a:srgbClr val="CADCFC"/>
                </a:solidFill>
                <a:latin typeface="Calibri" pitchFamily="34" charset="0"/>
                <a:ea typeface="Calibri" pitchFamily="34" charset="-122"/>
                <a:cs typeface="Calibri" pitchFamily="34" charset="-120"/>
              </a:rPr>
              <a:t>Execute implementation (Deliverable B)</a:t>
            </a:r>
            <a:endParaRPr lang="en-US" sz="1150" dirty="0"/>
          </a:p>
        </p:txBody>
      </p:sp>
      <p:sp>
        <p:nvSpPr>
          <p:cNvPr id="40" name="Shape 32"/>
          <p:cNvSpPr/>
          <p:nvPr/>
        </p:nvSpPr>
        <p:spPr>
          <a:xfrm>
            <a:off x="7909560" y="5559552"/>
            <a:ext cx="310896" cy="310896"/>
          </a:xfrm>
          <a:prstGeom prst="ellipse">
            <a:avLst/>
          </a:prstGeom>
          <a:solidFill>
            <a:srgbClr val="E8B84B"/>
          </a:solidFill>
          <a:ln/>
        </p:spPr>
      </p:sp>
      <p:sp>
        <p:nvSpPr>
          <p:cNvPr id="41" name="Text 33"/>
          <p:cNvSpPr/>
          <p:nvPr/>
        </p:nvSpPr>
        <p:spPr>
          <a:xfrm>
            <a:off x="7909560" y="5559552"/>
            <a:ext cx="310896" cy="310896"/>
          </a:xfrm>
          <a:prstGeom prst="rect">
            <a:avLst/>
          </a:prstGeom>
          <a:noFill/>
          <a:ln/>
        </p:spPr>
        <p:txBody>
          <a:bodyPr wrap="square" rtlCol="0" anchor="ctr"/>
          <a:lstStyle/>
          <a:p>
            <a:pPr algn="ctr" indent="0" marL="0">
              <a:buNone/>
            </a:pPr>
            <a:r>
              <a:rPr lang="en-US" sz="1200" b="1" dirty="0">
                <a:solidFill>
                  <a:srgbClr val="141A47"/>
                </a:solidFill>
                <a:latin typeface="Century Schoolbook" pitchFamily="34" charset="0"/>
                <a:ea typeface="Century Schoolbook" pitchFamily="34" charset="-122"/>
                <a:cs typeface="Century Schoolbook" pitchFamily="34" charset="-120"/>
              </a:rPr>
              <a:t>5</a:t>
            </a:r>
            <a:endParaRPr lang="en-US" sz="1200" dirty="0"/>
          </a:p>
        </p:txBody>
      </p:sp>
      <p:sp>
        <p:nvSpPr>
          <p:cNvPr id="42" name="Text 34"/>
          <p:cNvSpPr/>
          <p:nvPr/>
        </p:nvSpPr>
        <p:spPr>
          <a:xfrm>
            <a:off x="8339328" y="5486400"/>
            <a:ext cx="3063240" cy="457200"/>
          </a:xfrm>
          <a:prstGeom prst="rect">
            <a:avLst/>
          </a:prstGeom>
          <a:noFill/>
          <a:ln/>
        </p:spPr>
        <p:txBody>
          <a:bodyPr wrap="square" rtlCol="0" anchor="ctr"/>
          <a:lstStyle/>
          <a:p>
            <a:pPr indent="0" marL="0">
              <a:lnSpc>
                <a:spcPct val="100000"/>
              </a:lnSpc>
              <a:buNone/>
            </a:pPr>
            <a:r>
              <a:rPr lang="en-US" sz="1150" dirty="0">
                <a:solidFill>
                  <a:srgbClr val="CADCFC"/>
                </a:solidFill>
                <a:latin typeface="Calibri" pitchFamily="34" charset="0"/>
                <a:ea typeface="Calibri" pitchFamily="34" charset="-122"/>
                <a:cs typeface="Calibri" pitchFamily="34" charset="-120"/>
              </a:rPr>
              <a:t>Run verification &amp; test cases (Deliverable C)</a:t>
            </a:r>
            <a:endParaRPr lang="en-US" sz="1150" dirty="0"/>
          </a:p>
        </p:txBody>
      </p:sp>
      <p:sp>
        <p:nvSpPr>
          <p:cNvPr id="43" name="Shape 35"/>
          <p:cNvSpPr/>
          <p:nvPr/>
        </p:nvSpPr>
        <p:spPr>
          <a:xfrm>
            <a:off x="7909560" y="5989320"/>
            <a:ext cx="310896" cy="310896"/>
          </a:xfrm>
          <a:prstGeom prst="ellipse">
            <a:avLst/>
          </a:prstGeom>
          <a:solidFill>
            <a:srgbClr val="E8B84B"/>
          </a:solidFill>
          <a:ln/>
        </p:spPr>
      </p:sp>
      <p:sp>
        <p:nvSpPr>
          <p:cNvPr id="44" name="Text 36"/>
          <p:cNvSpPr/>
          <p:nvPr/>
        </p:nvSpPr>
        <p:spPr>
          <a:xfrm>
            <a:off x="7909560" y="5989320"/>
            <a:ext cx="310896" cy="310896"/>
          </a:xfrm>
          <a:prstGeom prst="rect">
            <a:avLst/>
          </a:prstGeom>
          <a:noFill/>
          <a:ln/>
        </p:spPr>
        <p:txBody>
          <a:bodyPr wrap="square" rtlCol="0" anchor="ctr"/>
          <a:lstStyle/>
          <a:p>
            <a:pPr algn="ctr" indent="0" marL="0">
              <a:buNone/>
            </a:pPr>
            <a:r>
              <a:rPr lang="en-US" sz="1200" b="1" dirty="0">
                <a:solidFill>
                  <a:srgbClr val="141A47"/>
                </a:solidFill>
                <a:latin typeface="Century Schoolbook" pitchFamily="34" charset="0"/>
                <a:ea typeface="Century Schoolbook" pitchFamily="34" charset="-122"/>
                <a:cs typeface="Century Schoolbook" pitchFamily="34" charset="-120"/>
              </a:rPr>
              <a:t>6</a:t>
            </a:r>
            <a:endParaRPr lang="en-US" sz="1200" dirty="0"/>
          </a:p>
        </p:txBody>
      </p:sp>
      <p:sp>
        <p:nvSpPr>
          <p:cNvPr id="45" name="Text 37"/>
          <p:cNvSpPr/>
          <p:nvPr/>
        </p:nvSpPr>
        <p:spPr>
          <a:xfrm>
            <a:off x="8339328" y="5916168"/>
            <a:ext cx="3063240" cy="457200"/>
          </a:xfrm>
          <a:prstGeom prst="rect">
            <a:avLst/>
          </a:prstGeom>
          <a:noFill/>
          <a:ln/>
        </p:spPr>
        <p:txBody>
          <a:bodyPr wrap="square" rtlCol="0" anchor="ctr"/>
          <a:lstStyle/>
          <a:p>
            <a:pPr indent="0" marL="0">
              <a:lnSpc>
                <a:spcPct val="100000"/>
              </a:lnSpc>
              <a:buNone/>
            </a:pPr>
            <a:r>
              <a:rPr lang="en-US" sz="1150" dirty="0">
                <a:solidFill>
                  <a:srgbClr val="CADCFC"/>
                </a:solidFill>
                <a:latin typeface="Calibri" pitchFamily="34" charset="0"/>
                <a:ea typeface="Calibri" pitchFamily="34" charset="-122"/>
                <a:cs typeface="Calibri" pitchFamily="34" charset="-120"/>
              </a:rPr>
              <a:t>Governance sign-off &amp; handover</a:t>
            </a:r>
            <a:endParaRPr lang="en-US" sz="1150" dirty="0"/>
          </a:p>
        </p:txBody>
      </p:sp>
      <p:sp>
        <p:nvSpPr>
          <p:cNvPr id="46" name="Text 38"/>
          <p:cNvSpPr/>
          <p:nvPr/>
        </p:nvSpPr>
        <p:spPr>
          <a:xfrm>
            <a:off x="777240" y="6419088"/>
            <a:ext cx="10515600" cy="274320"/>
          </a:xfrm>
          <a:prstGeom prst="rect">
            <a:avLst/>
          </a:prstGeom>
          <a:noFill/>
          <a:ln/>
        </p:spPr>
        <p:txBody>
          <a:bodyPr wrap="square" rtlCol="0" anchor="ctr"/>
          <a:lstStyle/>
          <a:p>
            <a:pPr indent="0" marL="0">
              <a:buNone/>
            </a:pPr>
            <a:r>
              <a:rPr lang="en-US" sz="1000" i="1" dirty="0">
                <a:solidFill>
                  <a:srgbClr val="8593AC"/>
                </a:solidFill>
                <a:latin typeface="Calibri" pitchFamily="34" charset="0"/>
                <a:ea typeface="Calibri" pitchFamily="34" charset="-122"/>
                <a:cs typeface="Calibri" pitchFamily="34" charset="-120"/>
              </a:rPr>
              <a:t>Cross-Forest Administrative Access Model  ·  Infrastructure Architecture Proposal</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2026-07-20T10:52:26Z</dcterms:created>
  <dcterms:modified xsi:type="dcterms:W3CDTF">2026-07-20T10:52:26Z</dcterms:modified>
</cp:coreProperties>
</file>