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624398c-b7f2-c99c-150f-5b46bd1ec2dd}">
          <p14:sldIdLst>
            <p14:sldId id="256"/>
            <p14:sldId id="257"/>
            <p14:sldId id="258"/>
          </p14:sldIdLst>
        </p14:section>
        <p14:section name="Tools" id="{39dc3f19-ffab-46ec-d88d-6dd77675aebb}">
          <p14:sldIdLst>
            <p14:sldId id="259"/>
            <p14:sldId id="260"/>
            <p14:sldId id="261"/>
            <p14:sldId id="262"/>
          </p14:sldIdLst>
        </p14:section>
        <p14:section name="Tower alignment" id="{34440eb6-eaf1-c0b9-049a-1e4999488685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eople and skills" id="{01d9fc76-4d30-9cd9-76e1-6e52995be760}">
          <p14:sldIdLst>
            <p14:sldId id="269"/>
            <p14:sldId id="270"/>
            <p14:sldId id="271"/>
            <p14:sldId id="272"/>
          </p14:sldIdLst>
        </p14:section>
        <p14:section name="Readiness and roadmap" id="{272a2a8f-2c7c-ffcd-7be4-e65fd1692d81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Sourcing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A0"/>
              </a:solidFill>
              <a:effectLst/>
            </c:spPr>
          </c:dPt>
          <c:dPt>
            <c:idx val="1"/>
            <c:bubble3D val="0"/>
            <c:spPr>
              <a:solidFill>
                <a:srgbClr val="0B1F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Re-skill existing ops staff</c:v>
                </c:pt>
                <c:pt idx="1">
                  <c:v>External SRE hires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align leadership on how to stand up a Site Reliability Engineering function across the four infrastructure towers. Covers tools, mapping to towers, skills to hire for, and prerequisites.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shift: SRE applies software engineering to operations. The four towers keep their depth but share one reliability model and one toolchain.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Tower SREs keep deep domain skills, while platform capabilities (observability, automation, incident response) are built once and shared.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five tool categories an SRE team will touch. Next slides compare the main options in each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platforms win on time-to-value; open source wins on cost control and flexibility but needs engineering capacity. Pricing models change often, so confirm with vendors during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tower: the left panel lists SRE focus areas and starter SLIs; the right lists representative tools. Choose based on your installed base, and avoid adding a new tool where an existing one already does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tower: the left panel lists SRE focus areas and starter SLIs; the right lists representative tools. Choose based on your installed base, and avoid adding a new tool where an existing one already does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tower: the left panel lists SRE focus areas and starter SLIs; the right lists representative tools. Choose based on your installed base, and avoid adding a new tool where an existing one already does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tower: the left panel lists SRE focus areas and starter SLIs; the right lists representative tools. Choose based on your installed base, and avoid adding a new tool where an existing one already does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across a row to see where a tool earns its place. Cross-tower tools (PagerDuty, ServiceNow, OpenTelemetry) should be standardised once and shared by all towers.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layered reference architecture. Each tower plugs into the same collection, analysis, alerting and incident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Hire for engineering ability first. Tower knowledge can be taught faster than coding and systems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T-shaped profile: broad SRE core plus deep expertise in one tower. Aim for at least one deep specialist per tower in the first hiring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how candidates think, not tool trivia. The incident role-play is the strongest predictor of on-call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Sizing and the 60/40 sourcing mix are starting assumptions, not benchmarks. External hires seed engineering practice; re-skilled staff bring estate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start hiring until items 1 to 3 are in place. Without sponsorship, a tier list and a baseline, the team has no mandate and no way to prove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50% toil cap comes from the Google SRE book. The other figures are starting targets to be calibrated against your own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Timings are indicative. Gate each phase on evidence: for example, do not scale until the pilot services meet their SLOs and the on-call load is sustainable.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four decisions. Offer a 2-week assessment sprint to produce the baseline and tool-gap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60350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1F3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slideLayout" Target="../slideLayouts/slideLayout3.xml"/><Relationship Id="rId3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network grap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scrim"/>
          <p:cNvSpPr/>
          <p:nvPr/>
        </p:nvSpPr>
        <p:spPr>
          <a:xfrm>
            <a:off x="0" y="0"/>
            <a:ext cx="6949440" cy="5143500"/>
          </a:xfrm>
          <a:prstGeom prst="rect">
            <a:avLst/>
          </a:prstGeom>
          <a:solidFill>
            <a:srgbClr val="0B1F3A">
              <a:alpha val="88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DD4BF"/>
                </a:solidFill>
              </a:rPr>
              <a:t>INFRASTRUCTURE OPERATIONS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Building the SRE Team for Infra Operations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718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8E6"/>
                </a:solidFill>
              </a:rPr>
              <a:t>Tooling, tower alignment, hiring profile and readiness for Server, Network, Cloud and Middleware</a:t>
            </a:r>
            <a:endParaRPr lang="en-US" sz="1600" dirty="0"/>
          </a:p>
        </p:txBody>
      </p:sp>
      <p:sp>
        <p:nvSpPr>
          <p:cNvPr id="7" name="Logo disc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datado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069080"/>
            <a:ext cx="320040" cy="320040"/>
          </a:xfrm>
          <a:prstGeom prst="rect">
            <a:avLst/>
          </a:prstGeom>
        </p:spPr>
      </p:pic>
      <p:sp>
        <p:nvSpPr>
          <p:cNvPr id="9" name="Logo disc"/>
          <p:cNvSpPr/>
          <p:nvPr/>
        </p:nvSpPr>
        <p:spPr>
          <a:xfrm>
            <a:off x="1261872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grafan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4069080"/>
            <a:ext cx="320040" cy="320040"/>
          </a:xfrm>
          <a:prstGeom prst="rect">
            <a:avLst/>
          </a:prstGeom>
        </p:spPr>
      </p:pic>
      <p:sp>
        <p:nvSpPr>
          <p:cNvPr id="11" name="Logo disc"/>
          <p:cNvSpPr/>
          <p:nvPr/>
        </p:nvSpPr>
        <p:spPr>
          <a:xfrm>
            <a:off x="1883664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3" descr="prometheu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104" y="4069080"/>
            <a:ext cx="320040" cy="320040"/>
          </a:xfrm>
          <a:prstGeom prst="rect">
            <a:avLst/>
          </a:prstGeom>
        </p:spPr>
      </p:pic>
      <p:sp>
        <p:nvSpPr>
          <p:cNvPr id="13" name="Logo disc"/>
          <p:cNvSpPr/>
          <p:nvPr/>
        </p:nvSpPr>
        <p:spPr>
          <a:xfrm>
            <a:off x="2505456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4" descr="terraform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6896" y="4069080"/>
            <a:ext cx="320040" cy="320040"/>
          </a:xfrm>
          <a:prstGeom prst="rect">
            <a:avLst/>
          </a:prstGeom>
        </p:spPr>
      </p:pic>
      <p:sp>
        <p:nvSpPr>
          <p:cNvPr id="15" name="Logo disc"/>
          <p:cNvSpPr/>
          <p:nvPr/>
        </p:nvSpPr>
        <p:spPr>
          <a:xfrm>
            <a:off x="3127248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5" descr="ansible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4069080"/>
            <a:ext cx="320040" cy="320040"/>
          </a:xfrm>
          <a:prstGeom prst="rect">
            <a:avLst/>
          </a:prstGeom>
        </p:spPr>
      </p:pic>
      <p:sp>
        <p:nvSpPr>
          <p:cNvPr id="17" name="Logo disc"/>
          <p:cNvSpPr/>
          <p:nvPr/>
        </p:nvSpPr>
        <p:spPr>
          <a:xfrm>
            <a:off x="3749040" y="39776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6" descr="kubernetes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0480" y="40690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From reactive ops to engineered reliability</a:t>
            </a:r>
            <a:endParaRPr lang="en-US" sz="2800" dirty="0"/>
          </a:p>
        </p:txBody>
      </p:sp>
      <p:sp>
        <p:nvSpPr>
          <p:cNvPr id="3" name="Today card"/>
          <p:cNvSpPr/>
          <p:nvPr/>
        </p:nvSpPr>
        <p:spPr>
          <a:xfrm>
            <a:off x="457200" y="109728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FDF1F1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Today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5" name="Image 0" descr="FaFi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1C1C"/>
                </a:solidFill>
              </a:rPr>
              <a:t>Today: tower-by-tower operations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Ticket-driven, manual fixes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Separate tools and alerts per tower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Outages found by users, not monitoring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Hero culture and heavy on-call fatigue</a:t>
            </a:r>
            <a:endParaRPr lang="en-US" sz="1300" dirty="0"/>
          </a:p>
        </p:txBody>
      </p:sp>
      <p:pic>
        <p:nvPicPr>
          <p:cNvPr id="8" name="Image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057400"/>
            <a:ext cx="502920" cy="502920"/>
          </a:xfrm>
          <a:prstGeom prst="rect">
            <a:avLst/>
          </a:prstGeom>
        </p:spPr>
      </p:pic>
      <p:sp>
        <p:nvSpPr>
          <p:cNvPr id="9" name="Target card"/>
          <p:cNvSpPr/>
          <p:nvPr/>
        </p:nvSpPr>
        <p:spPr>
          <a:xfrm>
            <a:off x="4937760" y="1097280"/>
            <a:ext cx="3749040" cy="2240280"/>
          </a:xfrm>
          <a:prstGeom prst="roundRect">
            <a:avLst>
              <a:gd name="adj" fmla="val 3265"/>
            </a:avLst>
          </a:prstGeom>
          <a:solidFill>
            <a:srgbClr val="E6F7F4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0" name="Target circle"/>
          <p:cNvSpPr/>
          <p:nvPr/>
        </p:nvSpPr>
        <p:spPr>
          <a:xfrm>
            <a:off x="5166360" y="1280160"/>
            <a:ext cx="502920" cy="502920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pic>
        <p:nvPicPr>
          <p:cNvPr id="11" name="Image 2" descr="FaRocke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90" y="140589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1280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06F"/>
                </a:solidFill>
              </a:rPr>
              <a:t>Target: SRE-led reliability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166360" y="1920240"/>
            <a:ext cx="3383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SLOs and error budgets drive priorities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Toil automated with code and IaC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One observability and incident spine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D3D"/>
                </a:solidFill>
              </a:rPr>
              <a:t>Blameless learning after every incident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What this deck covers</a:t>
            </a:r>
            <a:endParaRPr lang="en-US" sz="1400" dirty="0"/>
          </a:p>
        </p:txBody>
      </p:sp>
      <p:sp>
        <p:nvSpPr>
          <p:cNvPr id="15" name="Chip"/>
          <p:cNvSpPr/>
          <p:nvPr/>
        </p:nvSpPr>
        <p:spPr>
          <a:xfrm>
            <a:off x="457200" y="3886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6" name="Chip number"/>
          <p:cNvSpPr/>
          <p:nvPr/>
        </p:nvSpPr>
        <p:spPr>
          <a:xfrm>
            <a:off x="594360" y="40690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9436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051560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</a:rPr>
              <a:t>Tool landscape and comparison</a:t>
            </a:r>
            <a:endParaRPr lang="en-US" sz="1200" dirty="0"/>
          </a:p>
        </p:txBody>
      </p:sp>
      <p:sp>
        <p:nvSpPr>
          <p:cNvPr id="19" name="Chip"/>
          <p:cNvSpPr/>
          <p:nvPr/>
        </p:nvSpPr>
        <p:spPr>
          <a:xfrm>
            <a:off x="2542032" y="3886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0" name="Chip number"/>
          <p:cNvSpPr/>
          <p:nvPr/>
        </p:nvSpPr>
        <p:spPr>
          <a:xfrm>
            <a:off x="2679192" y="40690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2679192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136392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</a:rPr>
              <a:t>Tools mapped to each tower</a:t>
            </a:r>
            <a:endParaRPr lang="en-US" sz="1200" dirty="0"/>
          </a:p>
        </p:txBody>
      </p:sp>
      <p:sp>
        <p:nvSpPr>
          <p:cNvPr id="23" name="Chip"/>
          <p:cNvSpPr/>
          <p:nvPr/>
        </p:nvSpPr>
        <p:spPr>
          <a:xfrm>
            <a:off x="4626864" y="3886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4" name="Chip number"/>
          <p:cNvSpPr/>
          <p:nvPr/>
        </p:nvSpPr>
        <p:spPr>
          <a:xfrm>
            <a:off x="4764024" y="40690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764024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221224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</a:rPr>
              <a:t>SRE skills to hire for</a:t>
            </a:r>
            <a:endParaRPr lang="en-US" sz="1200" dirty="0"/>
          </a:p>
        </p:txBody>
      </p:sp>
      <p:sp>
        <p:nvSpPr>
          <p:cNvPr id="27" name="Chip"/>
          <p:cNvSpPr/>
          <p:nvPr/>
        </p:nvSpPr>
        <p:spPr>
          <a:xfrm>
            <a:off x="6711696" y="38862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8" name="Chip number"/>
          <p:cNvSpPr/>
          <p:nvPr/>
        </p:nvSpPr>
        <p:spPr>
          <a:xfrm>
            <a:off x="6848856" y="406908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6848856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7306056" y="3886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D3D"/>
                </a:solidFill>
              </a:rPr>
              <a:t>Prerequisites and roadmap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One SRE model across four towers</a:t>
            </a:r>
            <a:endParaRPr lang="en-US" sz="2800" dirty="0"/>
          </a:p>
        </p:txBody>
      </p:sp>
      <p:sp>
        <p:nvSpPr>
          <p:cNvPr id="3" name="Server tower"/>
          <p:cNvSpPr/>
          <p:nvPr/>
        </p:nvSpPr>
        <p:spPr>
          <a:xfrm>
            <a:off x="457200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Server circle"/>
          <p:cNvSpPr/>
          <p:nvPr/>
        </p:nvSpPr>
        <p:spPr>
          <a:xfrm>
            <a:off x="594360" y="12344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344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Server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Physical, virtual and OS estate: Linux, Windows, hypervisors</a:t>
            </a:r>
            <a:endParaRPr lang="en-US" sz="1100" dirty="0"/>
          </a:p>
        </p:txBody>
      </p:sp>
      <p:sp>
        <p:nvSpPr>
          <p:cNvPr id="8" name="Network tower"/>
          <p:cNvSpPr/>
          <p:nvPr/>
        </p:nvSpPr>
        <p:spPr>
          <a:xfrm>
            <a:off x="2542032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9" name="Network circle"/>
          <p:cNvSpPr/>
          <p:nvPr/>
        </p:nvSpPr>
        <p:spPr>
          <a:xfrm>
            <a:off x="2679192" y="12344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0" name="Image 1" descr="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13716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19272" y="12344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Network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79192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LAN, WAN, firewalls, load balancers, DNS, connectivity</a:t>
            </a:r>
            <a:endParaRPr lang="en-US" sz="1100" dirty="0"/>
          </a:p>
        </p:txBody>
      </p:sp>
      <p:sp>
        <p:nvSpPr>
          <p:cNvPr id="13" name="Cloud tower"/>
          <p:cNvSpPr/>
          <p:nvPr/>
        </p:nvSpPr>
        <p:spPr>
          <a:xfrm>
            <a:off x="4626864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4" name="Cloud circle"/>
          <p:cNvSpPr/>
          <p:nvPr/>
        </p:nvSpPr>
        <p:spPr>
          <a:xfrm>
            <a:off x="4764024" y="12344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2" descr="Fa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184" y="13716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04104" y="12344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</a:rPr>
              <a:t>Cloud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764024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AWS, Azure, GCP, Kubernetes and landing zones</a:t>
            </a:r>
            <a:endParaRPr lang="en-US" sz="1100" dirty="0"/>
          </a:p>
        </p:txBody>
      </p:sp>
      <p:sp>
        <p:nvSpPr>
          <p:cNvPr id="18" name="Middleware tower"/>
          <p:cNvSpPr/>
          <p:nvPr/>
        </p:nvSpPr>
        <p:spPr>
          <a:xfrm>
            <a:off x="6711696" y="109728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9" name="Middleware circle"/>
          <p:cNvSpPr/>
          <p:nvPr/>
        </p:nvSpPr>
        <p:spPr>
          <a:xfrm>
            <a:off x="6848856" y="12344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0" name="Image 3" descr="FaLayer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3716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88936" y="12344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</a:rPr>
              <a:t>Middleware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48856" y="18745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Messaging, app servers, API gateways, caches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Shared SRE platform capabilities</a:t>
            </a:r>
            <a:endParaRPr lang="en-US" sz="1400" dirty="0"/>
          </a:p>
        </p:txBody>
      </p:sp>
      <p:sp>
        <p:nvSpPr>
          <p:cNvPr id="24" name="Capability"/>
          <p:cNvSpPr/>
          <p:nvPr/>
        </p:nvSpPr>
        <p:spPr>
          <a:xfrm>
            <a:off x="457200" y="32004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4" descr="Observabil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832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6012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</a:t>
            </a:r>
            <a:endParaRPr lang="en-US" sz="1200" dirty="0"/>
          </a:p>
        </p:txBody>
      </p:sp>
      <p:sp>
        <p:nvSpPr>
          <p:cNvPr id="27" name="Capability"/>
          <p:cNvSpPr/>
          <p:nvPr/>
        </p:nvSpPr>
        <p:spPr>
          <a:xfrm>
            <a:off x="2542032" y="32004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8" name="Image 5" descr="Automa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192" y="3383280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3044952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Automation</a:t>
            </a:r>
            <a:endParaRPr lang="en-US" sz="1200" dirty="0"/>
          </a:p>
        </p:txBody>
      </p:sp>
      <p:sp>
        <p:nvSpPr>
          <p:cNvPr id="30" name="Capability"/>
          <p:cNvSpPr/>
          <p:nvPr/>
        </p:nvSpPr>
        <p:spPr>
          <a:xfrm>
            <a:off x="4626864" y="32004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1" name="Image 6" descr="Incident respon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338328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5129784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Incident response</a:t>
            </a:r>
            <a:endParaRPr lang="en-US" sz="1200" dirty="0"/>
          </a:p>
        </p:txBody>
      </p:sp>
      <p:sp>
        <p:nvSpPr>
          <p:cNvPr id="33" name="Capability"/>
          <p:cNvSpPr/>
          <p:nvPr/>
        </p:nvSpPr>
        <p:spPr>
          <a:xfrm>
            <a:off x="6711696" y="3200400"/>
            <a:ext cx="19659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4" name="Image 7" descr="Capacity and performanc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856" y="338328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7214616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Capacity and performance</a:t>
            </a:r>
            <a:endParaRPr lang="en-US" sz="1200" dirty="0"/>
          </a:p>
        </p:txBody>
      </p:sp>
      <p:sp>
        <p:nvSpPr>
          <p:cNvPr id="36" name="Goals band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6F"/>
                </a:solidFill>
              </a:rPr>
              <a:t>Reliability goals:  </a:t>
            </a:r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</a:rPr>
              <a:t>SLOs and error budgets  |  toil below 50%  |  faster recovery  |  blameless learning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The SRE tool landscape</a:t>
            </a:r>
            <a:endParaRPr lang="en-US" sz="2800" dirty="0"/>
          </a:p>
        </p:txBody>
      </p:sp>
      <p:sp>
        <p:nvSpPr>
          <p:cNvPr id="3" name="Observability label"/>
          <p:cNvSpPr/>
          <p:nvPr/>
        </p:nvSpPr>
        <p:spPr>
          <a:xfrm>
            <a:off x="457200" y="1005840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" name="Image 0" descr="Observabili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18872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1005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Observability</a:t>
            </a:r>
            <a:endParaRPr lang="en-US" sz="1100" dirty="0"/>
          </a:p>
        </p:txBody>
      </p:sp>
      <p:sp>
        <p:nvSpPr>
          <p:cNvPr id="6" name="Datadog tile"/>
          <p:cNvSpPr/>
          <p:nvPr/>
        </p:nvSpPr>
        <p:spPr>
          <a:xfrm>
            <a:off x="2194560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7" name="Image 1" descr="datadog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060704"/>
            <a:ext cx="320040" cy="3200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0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Datadog</a:t>
            </a:r>
            <a:endParaRPr lang="en-US" sz="1000" dirty="0"/>
          </a:p>
        </p:txBody>
      </p:sp>
      <p:sp>
        <p:nvSpPr>
          <p:cNvPr id="9" name="Dynatrace tile"/>
          <p:cNvSpPr/>
          <p:nvPr/>
        </p:nvSpPr>
        <p:spPr>
          <a:xfrm>
            <a:off x="3127248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0" name="Image 2" descr="dynatrac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060704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27248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Dynatrace</a:t>
            </a:r>
            <a:endParaRPr lang="en-US" sz="1000" dirty="0"/>
          </a:p>
        </p:txBody>
      </p:sp>
      <p:sp>
        <p:nvSpPr>
          <p:cNvPr id="12" name="Splunk tile"/>
          <p:cNvSpPr/>
          <p:nvPr/>
        </p:nvSpPr>
        <p:spPr>
          <a:xfrm>
            <a:off x="4059936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3" name="Image 3" descr="splunk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1060704"/>
            <a:ext cx="320040" cy="3200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059936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Splunk</a:t>
            </a:r>
            <a:endParaRPr lang="en-US" sz="1000" dirty="0"/>
          </a:p>
        </p:txBody>
      </p:sp>
      <p:sp>
        <p:nvSpPr>
          <p:cNvPr id="15" name="New Relic tile"/>
          <p:cNvSpPr/>
          <p:nvPr/>
        </p:nvSpPr>
        <p:spPr>
          <a:xfrm>
            <a:off x="4992624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6" name="Image 4" descr="newrelic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1060704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992624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New Relic</a:t>
            </a:r>
            <a:endParaRPr lang="en-US" sz="1000" dirty="0"/>
          </a:p>
        </p:txBody>
      </p:sp>
      <p:sp>
        <p:nvSpPr>
          <p:cNvPr id="18" name="Grafana tile"/>
          <p:cNvSpPr/>
          <p:nvPr/>
        </p:nvSpPr>
        <p:spPr>
          <a:xfrm>
            <a:off x="5925312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9" name="Image 5" descr="grafana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1060704"/>
            <a:ext cx="320040" cy="32004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925312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Grafana</a:t>
            </a:r>
            <a:endParaRPr lang="en-US" sz="1000" dirty="0"/>
          </a:p>
        </p:txBody>
      </p:sp>
      <p:sp>
        <p:nvSpPr>
          <p:cNvPr id="21" name="Prometheus tile"/>
          <p:cNvSpPr/>
          <p:nvPr/>
        </p:nvSpPr>
        <p:spPr>
          <a:xfrm>
            <a:off x="6858000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2" name="Image 6" descr="prometheus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060704"/>
            <a:ext cx="320040" cy="32004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858000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Prometheus</a:t>
            </a:r>
            <a:endParaRPr lang="en-US" sz="1000" dirty="0"/>
          </a:p>
        </p:txBody>
      </p:sp>
      <p:sp>
        <p:nvSpPr>
          <p:cNvPr id="24" name="Elastic tile"/>
          <p:cNvSpPr/>
          <p:nvPr/>
        </p:nvSpPr>
        <p:spPr>
          <a:xfrm>
            <a:off x="7790688" y="1005840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5" name="Image 7" descr="elastic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5008" y="1060704"/>
            <a:ext cx="320040" cy="32004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790688" y="14173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Elastic</a:t>
            </a:r>
            <a:endParaRPr lang="en-US" sz="1000" dirty="0"/>
          </a:p>
        </p:txBody>
      </p:sp>
      <p:sp>
        <p:nvSpPr>
          <p:cNvPr id="27" name="Automation and IaC label"/>
          <p:cNvSpPr/>
          <p:nvPr/>
        </p:nvSpPr>
        <p:spPr>
          <a:xfrm>
            <a:off x="457200" y="1719072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8" name="Image 8" descr="Automation and IaC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1901952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14400" y="17190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Automation and IaC</a:t>
            </a:r>
            <a:endParaRPr lang="en-US" sz="1100" dirty="0"/>
          </a:p>
        </p:txBody>
      </p:sp>
      <p:sp>
        <p:nvSpPr>
          <p:cNvPr id="30" name="Terraform tile"/>
          <p:cNvSpPr/>
          <p:nvPr/>
        </p:nvSpPr>
        <p:spPr>
          <a:xfrm>
            <a:off x="2194560" y="1719072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1" name="Image 9" descr="terraform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8880" y="1773936"/>
            <a:ext cx="320040" cy="32004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2194560" y="2130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Terraform</a:t>
            </a:r>
            <a:endParaRPr lang="en-US" sz="1000" dirty="0"/>
          </a:p>
        </p:txBody>
      </p:sp>
      <p:sp>
        <p:nvSpPr>
          <p:cNvPr id="33" name="Ansible tile"/>
          <p:cNvSpPr/>
          <p:nvPr/>
        </p:nvSpPr>
        <p:spPr>
          <a:xfrm>
            <a:off x="3127248" y="1719072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4" name="Image 10" descr="ansible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01568" y="1773936"/>
            <a:ext cx="320040" cy="320040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127248" y="2130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Ansible</a:t>
            </a:r>
            <a:endParaRPr lang="en-US" sz="1000" dirty="0"/>
          </a:p>
        </p:txBody>
      </p:sp>
      <p:sp>
        <p:nvSpPr>
          <p:cNvPr id="36" name="Puppet tile"/>
          <p:cNvSpPr/>
          <p:nvPr/>
        </p:nvSpPr>
        <p:spPr>
          <a:xfrm>
            <a:off x="4059936" y="1719072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7" name="Image 11" descr="puppet log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4256" y="1773936"/>
            <a:ext cx="320040" cy="32004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4059936" y="2130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Puppet</a:t>
            </a:r>
            <a:endParaRPr lang="en-US" sz="1000" dirty="0"/>
          </a:p>
        </p:txBody>
      </p:sp>
      <p:sp>
        <p:nvSpPr>
          <p:cNvPr id="39" name="Chef tile"/>
          <p:cNvSpPr/>
          <p:nvPr/>
        </p:nvSpPr>
        <p:spPr>
          <a:xfrm>
            <a:off x="4992624" y="1719072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40" name="Image 12" descr="chef log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66944" y="1773936"/>
            <a:ext cx="320040" cy="320040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4992624" y="2130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Chef</a:t>
            </a:r>
            <a:endParaRPr lang="en-US" sz="1000" dirty="0"/>
          </a:p>
        </p:txBody>
      </p:sp>
      <p:sp>
        <p:nvSpPr>
          <p:cNvPr id="42" name="Salt tile"/>
          <p:cNvSpPr/>
          <p:nvPr/>
        </p:nvSpPr>
        <p:spPr>
          <a:xfrm>
            <a:off x="5925312" y="1719072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43" name="Image 13" descr="saltproject log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9632" y="1773936"/>
            <a:ext cx="320040" cy="320040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5925312" y="2130552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Salt</a:t>
            </a:r>
            <a:endParaRPr lang="en-US" sz="1000" dirty="0"/>
          </a:p>
        </p:txBody>
      </p:sp>
      <p:sp>
        <p:nvSpPr>
          <p:cNvPr id="45" name="Incident and ITSM label"/>
          <p:cNvSpPr/>
          <p:nvPr/>
        </p:nvSpPr>
        <p:spPr>
          <a:xfrm>
            <a:off x="457200" y="2432304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6" name="Image 14" descr="Incident and ITSM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6928" y="2615184"/>
            <a:ext cx="274320" cy="27432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400" y="2432304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 and ITSM</a:t>
            </a:r>
            <a:endParaRPr lang="en-US" sz="1100" dirty="0"/>
          </a:p>
        </p:txBody>
      </p:sp>
      <p:sp>
        <p:nvSpPr>
          <p:cNvPr id="48" name="PagerDuty tile"/>
          <p:cNvSpPr/>
          <p:nvPr/>
        </p:nvSpPr>
        <p:spPr>
          <a:xfrm>
            <a:off x="2194560" y="2432304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49" name="Image 15" descr="pagerduty log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8880" y="2487168"/>
            <a:ext cx="320040" cy="320040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2194560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PagerDuty</a:t>
            </a:r>
            <a:endParaRPr lang="en-US" sz="1000" dirty="0"/>
          </a:p>
        </p:txBody>
      </p:sp>
      <p:sp>
        <p:nvSpPr>
          <p:cNvPr id="51" name="ServiceNow tile"/>
          <p:cNvSpPr/>
          <p:nvPr/>
        </p:nvSpPr>
        <p:spPr>
          <a:xfrm>
            <a:off x="3127248" y="2432304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52" name="servicenow badge"/>
          <p:cNvSpPr/>
          <p:nvPr/>
        </p:nvSpPr>
        <p:spPr>
          <a:xfrm>
            <a:off x="3401568" y="2487168"/>
            <a:ext cx="320040" cy="320040"/>
          </a:xfrm>
          <a:prstGeom prst="roundRect">
            <a:avLst>
              <a:gd name="adj" fmla="val 17143"/>
            </a:avLst>
          </a:prstGeom>
          <a:solidFill>
            <a:srgbClr val="62D84E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53" name="Text 35"/>
          <p:cNvSpPr txBox="1"/>
          <p:nvPr/>
        </p:nvSpPr>
        <p:spPr>
          <a:xfrm>
            <a:off x="3401568" y="24871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1B"/>
                </a:solidFill>
              </a:rPr>
              <a:t>SN</a:t>
            </a:r>
            <a:endParaRPr lang="en-US" sz="1000" dirty="0"/>
          </a:p>
        </p:txBody>
      </p:sp>
      <p:sp>
        <p:nvSpPr>
          <p:cNvPr id="54" name="Text 36"/>
          <p:cNvSpPr txBox="1"/>
          <p:nvPr/>
        </p:nvSpPr>
        <p:spPr>
          <a:xfrm>
            <a:off x="3127248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ServiceNow</a:t>
            </a:r>
            <a:endParaRPr lang="en-US" sz="1000" dirty="0"/>
          </a:p>
        </p:txBody>
      </p:sp>
      <p:sp>
        <p:nvSpPr>
          <p:cNvPr id="55" name="Atlassian tile"/>
          <p:cNvSpPr/>
          <p:nvPr/>
        </p:nvSpPr>
        <p:spPr>
          <a:xfrm>
            <a:off x="4059936" y="2432304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56" name="Image 16" descr="atlassian log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4256" y="2487168"/>
            <a:ext cx="320040" cy="320040"/>
          </a:xfrm>
          <a:prstGeom prst="rect">
            <a:avLst/>
          </a:prstGeom>
        </p:spPr>
      </p:pic>
      <p:sp>
        <p:nvSpPr>
          <p:cNvPr id="57" name="Text 38"/>
          <p:cNvSpPr txBox="1"/>
          <p:nvPr/>
        </p:nvSpPr>
        <p:spPr>
          <a:xfrm>
            <a:off x="4059936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Atlassian</a:t>
            </a:r>
            <a:endParaRPr lang="en-US" sz="1000" dirty="0"/>
          </a:p>
        </p:txBody>
      </p:sp>
      <p:sp>
        <p:nvSpPr>
          <p:cNvPr id="58" name="Statuspage tile"/>
          <p:cNvSpPr/>
          <p:nvPr/>
        </p:nvSpPr>
        <p:spPr>
          <a:xfrm>
            <a:off x="4992624" y="2432304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59" name="Image 17" descr="statuspage log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66944" y="2487168"/>
            <a:ext cx="320040" cy="320040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4992624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Statuspage</a:t>
            </a:r>
            <a:endParaRPr lang="en-US" sz="1000" dirty="0"/>
          </a:p>
        </p:txBody>
      </p:sp>
      <p:sp>
        <p:nvSpPr>
          <p:cNvPr id="61" name="Opsgenie tile"/>
          <p:cNvSpPr/>
          <p:nvPr/>
        </p:nvSpPr>
        <p:spPr>
          <a:xfrm>
            <a:off x="5925312" y="2432304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62" name="Image 18" descr="opsgenie logo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9632" y="2487168"/>
            <a:ext cx="320040" cy="320040"/>
          </a:xfrm>
          <a:prstGeom prst="rect">
            <a:avLst/>
          </a:prstGeom>
        </p:spPr>
      </p:pic>
      <p:sp>
        <p:nvSpPr>
          <p:cNvPr id="63" name="Text 42"/>
          <p:cNvSpPr txBox="1"/>
          <p:nvPr/>
        </p:nvSpPr>
        <p:spPr>
          <a:xfrm>
            <a:off x="5925312" y="2843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Opsgenie</a:t>
            </a:r>
            <a:endParaRPr lang="en-US" sz="1000" dirty="0"/>
          </a:p>
        </p:txBody>
      </p:sp>
      <p:sp>
        <p:nvSpPr>
          <p:cNvPr id="64" name="CI/CD and GitOps label"/>
          <p:cNvSpPr/>
          <p:nvPr/>
        </p:nvSpPr>
        <p:spPr>
          <a:xfrm>
            <a:off x="457200" y="3145536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5" name="Image 19" descr="CI/CD and GitOps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6928" y="3328416"/>
            <a:ext cx="274320" cy="274320"/>
          </a:xfrm>
          <a:prstGeom prst="rect">
            <a:avLst/>
          </a:prstGeom>
        </p:spPr>
      </p:pic>
      <p:sp>
        <p:nvSpPr>
          <p:cNvPr id="66" name="Text 44"/>
          <p:cNvSpPr txBox="1"/>
          <p:nvPr/>
        </p:nvSpPr>
        <p:spPr>
          <a:xfrm>
            <a:off x="914400" y="3145536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and GitOps</a:t>
            </a:r>
            <a:endParaRPr lang="en-US" sz="1100" dirty="0"/>
          </a:p>
        </p:txBody>
      </p:sp>
      <p:sp>
        <p:nvSpPr>
          <p:cNvPr id="67" name="GitHub tile"/>
          <p:cNvSpPr/>
          <p:nvPr/>
        </p:nvSpPr>
        <p:spPr>
          <a:xfrm>
            <a:off x="2194560" y="3145536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68" name="Image 20" descr="github logo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68880" y="3200400"/>
            <a:ext cx="320040" cy="320040"/>
          </a:xfrm>
          <a:prstGeom prst="rect">
            <a:avLst/>
          </a:prstGeom>
        </p:spPr>
      </p:pic>
      <p:sp>
        <p:nvSpPr>
          <p:cNvPr id="69" name="Text 46"/>
          <p:cNvSpPr txBox="1"/>
          <p:nvPr/>
        </p:nvSpPr>
        <p:spPr>
          <a:xfrm>
            <a:off x="2194560" y="3557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GitHub</a:t>
            </a:r>
            <a:endParaRPr lang="en-US" sz="1000" dirty="0"/>
          </a:p>
        </p:txBody>
      </p:sp>
      <p:sp>
        <p:nvSpPr>
          <p:cNvPr id="70" name="GitLab tile"/>
          <p:cNvSpPr/>
          <p:nvPr/>
        </p:nvSpPr>
        <p:spPr>
          <a:xfrm>
            <a:off x="3127248" y="3145536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71" name="Image 21" descr="gitlab logo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01568" y="3200400"/>
            <a:ext cx="320040" cy="320040"/>
          </a:xfrm>
          <a:prstGeom prst="rect">
            <a:avLst/>
          </a:prstGeom>
        </p:spPr>
      </p:pic>
      <p:sp>
        <p:nvSpPr>
          <p:cNvPr id="72" name="Text 48"/>
          <p:cNvSpPr txBox="1"/>
          <p:nvPr/>
        </p:nvSpPr>
        <p:spPr>
          <a:xfrm>
            <a:off x="3127248" y="3557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GitLab</a:t>
            </a:r>
            <a:endParaRPr lang="en-US" sz="1000" dirty="0"/>
          </a:p>
        </p:txBody>
      </p:sp>
      <p:sp>
        <p:nvSpPr>
          <p:cNvPr id="73" name="Jenkins tile"/>
          <p:cNvSpPr/>
          <p:nvPr/>
        </p:nvSpPr>
        <p:spPr>
          <a:xfrm>
            <a:off x="4059936" y="3145536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74" name="Image 22" descr="jenkins logo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34256" y="3200400"/>
            <a:ext cx="320040" cy="320040"/>
          </a:xfrm>
          <a:prstGeom prst="rect">
            <a:avLst/>
          </a:prstGeom>
        </p:spPr>
      </p:pic>
      <p:sp>
        <p:nvSpPr>
          <p:cNvPr id="75" name="Text 50"/>
          <p:cNvSpPr txBox="1"/>
          <p:nvPr/>
        </p:nvSpPr>
        <p:spPr>
          <a:xfrm>
            <a:off x="4059936" y="3557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Jenkins</a:t>
            </a:r>
            <a:endParaRPr lang="en-US" sz="1000" dirty="0"/>
          </a:p>
        </p:txBody>
      </p:sp>
      <p:sp>
        <p:nvSpPr>
          <p:cNvPr id="76" name="Argo CD tile"/>
          <p:cNvSpPr/>
          <p:nvPr/>
        </p:nvSpPr>
        <p:spPr>
          <a:xfrm>
            <a:off x="4992624" y="3145536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77" name="Image 23" descr="argo logo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266944" y="3200400"/>
            <a:ext cx="320040" cy="320040"/>
          </a:xfrm>
          <a:prstGeom prst="rect">
            <a:avLst/>
          </a:prstGeom>
        </p:spPr>
      </p:pic>
      <p:sp>
        <p:nvSpPr>
          <p:cNvPr id="78" name="Text 52"/>
          <p:cNvSpPr txBox="1"/>
          <p:nvPr/>
        </p:nvSpPr>
        <p:spPr>
          <a:xfrm>
            <a:off x="4992624" y="3557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Argo CD</a:t>
            </a:r>
            <a:endParaRPr lang="en-US" sz="1000" dirty="0"/>
          </a:p>
        </p:txBody>
      </p:sp>
      <p:sp>
        <p:nvSpPr>
          <p:cNvPr id="79" name="Actions tile"/>
          <p:cNvSpPr/>
          <p:nvPr/>
        </p:nvSpPr>
        <p:spPr>
          <a:xfrm>
            <a:off x="5925312" y="3145536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80" name="Image 24" descr="githubactions logo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99632" y="3200400"/>
            <a:ext cx="320040" cy="320040"/>
          </a:xfrm>
          <a:prstGeom prst="rect">
            <a:avLst/>
          </a:prstGeom>
        </p:spPr>
      </p:pic>
      <p:sp>
        <p:nvSpPr>
          <p:cNvPr id="81" name="Text 54"/>
          <p:cNvSpPr txBox="1"/>
          <p:nvPr/>
        </p:nvSpPr>
        <p:spPr>
          <a:xfrm>
            <a:off x="5925312" y="3557016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Actions</a:t>
            </a:r>
            <a:endParaRPr lang="en-US" sz="1000" dirty="0"/>
          </a:p>
        </p:txBody>
      </p:sp>
      <p:sp>
        <p:nvSpPr>
          <p:cNvPr id="82" name="Platforms label"/>
          <p:cNvSpPr/>
          <p:nvPr/>
        </p:nvSpPr>
        <p:spPr>
          <a:xfrm>
            <a:off x="457200" y="3858768"/>
            <a:ext cx="160020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83" name="Image 25" descr="Platforms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6928" y="4041648"/>
            <a:ext cx="274320" cy="274320"/>
          </a:xfrm>
          <a:prstGeom prst="rect">
            <a:avLst/>
          </a:prstGeom>
        </p:spPr>
      </p:pic>
      <p:sp>
        <p:nvSpPr>
          <p:cNvPr id="84" name="Text 56"/>
          <p:cNvSpPr txBox="1"/>
          <p:nvPr/>
        </p:nvSpPr>
        <p:spPr>
          <a:xfrm>
            <a:off x="914400" y="385876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Platforms</a:t>
            </a:r>
            <a:endParaRPr lang="en-US" sz="1100" dirty="0"/>
          </a:p>
        </p:txBody>
      </p:sp>
      <p:sp>
        <p:nvSpPr>
          <p:cNvPr id="85" name="Kubernetes tile"/>
          <p:cNvSpPr/>
          <p:nvPr/>
        </p:nvSpPr>
        <p:spPr>
          <a:xfrm>
            <a:off x="2194560" y="38587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86" name="Image 26" descr="kubernetes logo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468880" y="3913632"/>
            <a:ext cx="320040" cy="320040"/>
          </a:xfrm>
          <a:prstGeom prst="rect">
            <a:avLst/>
          </a:prstGeom>
        </p:spPr>
      </p:pic>
      <p:sp>
        <p:nvSpPr>
          <p:cNvPr id="87" name="Text 58"/>
          <p:cNvSpPr txBox="1"/>
          <p:nvPr/>
        </p:nvSpPr>
        <p:spPr>
          <a:xfrm>
            <a:off x="2194560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Kubernetes</a:t>
            </a:r>
            <a:endParaRPr lang="en-US" sz="1000" dirty="0"/>
          </a:p>
        </p:txBody>
      </p:sp>
      <p:sp>
        <p:nvSpPr>
          <p:cNvPr id="88" name="Docker tile"/>
          <p:cNvSpPr/>
          <p:nvPr/>
        </p:nvSpPr>
        <p:spPr>
          <a:xfrm>
            <a:off x="3127248" y="38587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89" name="Image 27" descr="docker logo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01568" y="3913632"/>
            <a:ext cx="320040" cy="320040"/>
          </a:xfrm>
          <a:prstGeom prst="rect">
            <a:avLst/>
          </a:prstGeom>
        </p:spPr>
      </p:pic>
      <p:sp>
        <p:nvSpPr>
          <p:cNvPr id="90" name="Text 60"/>
          <p:cNvSpPr txBox="1"/>
          <p:nvPr/>
        </p:nvSpPr>
        <p:spPr>
          <a:xfrm>
            <a:off x="3127248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Docker</a:t>
            </a:r>
            <a:endParaRPr lang="en-US" sz="1000" dirty="0"/>
          </a:p>
        </p:txBody>
      </p:sp>
      <p:sp>
        <p:nvSpPr>
          <p:cNvPr id="91" name="Red Hat tile"/>
          <p:cNvSpPr/>
          <p:nvPr/>
        </p:nvSpPr>
        <p:spPr>
          <a:xfrm>
            <a:off x="4059936" y="38587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92" name="Image 28" descr="redhat logo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34256" y="3913632"/>
            <a:ext cx="320040" cy="320040"/>
          </a:xfrm>
          <a:prstGeom prst="rect">
            <a:avLst/>
          </a:prstGeom>
        </p:spPr>
      </p:pic>
      <p:sp>
        <p:nvSpPr>
          <p:cNvPr id="93" name="Text 62"/>
          <p:cNvSpPr txBox="1"/>
          <p:nvPr/>
        </p:nvSpPr>
        <p:spPr>
          <a:xfrm>
            <a:off x="4059936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Red Hat</a:t>
            </a:r>
            <a:endParaRPr lang="en-US" sz="1000" dirty="0"/>
          </a:p>
        </p:txBody>
      </p:sp>
      <p:sp>
        <p:nvSpPr>
          <p:cNvPr id="94" name="VMware tile"/>
          <p:cNvSpPr/>
          <p:nvPr/>
        </p:nvSpPr>
        <p:spPr>
          <a:xfrm>
            <a:off x="4992624" y="38587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95" name="Image 29" descr="vmware logo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266944" y="3913632"/>
            <a:ext cx="320040" cy="320040"/>
          </a:xfrm>
          <a:prstGeom prst="rect">
            <a:avLst/>
          </a:prstGeom>
        </p:spPr>
      </p:pic>
      <p:sp>
        <p:nvSpPr>
          <p:cNvPr id="96" name="Text 64"/>
          <p:cNvSpPr txBox="1"/>
          <p:nvPr/>
        </p:nvSpPr>
        <p:spPr>
          <a:xfrm>
            <a:off x="4992624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VMware</a:t>
            </a:r>
            <a:endParaRPr lang="en-US" sz="1000" dirty="0"/>
          </a:p>
        </p:txBody>
      </p:sp>
      <p:sp>
        <p:nvSpPr>
          <p:cNvPr id="97" name="Nutanix tile"/>
          <p:cNvSpPr/>
          <p:nvPr/>
        </p:nvSpPr>
        <p:spPr>
          <a:xfrm>
            <a:off x="5925312" y="3858768"/>
            <a:ext cx="8686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98" name="Image 30" descr="nutanix logo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99632" y="3913632"/>
            <a:ext cx="320040" cy="320040"/>
          </a:xfrm>
          <a:prstGeom prst="rect">
            <a:avLst/>
          </a:prstGeom>
        </p:spPr>
      </p:pic>
      <p:sp>
        <p:nvSpPr>
          <p:cNvPr id="99" name="Text 66"/>
          <p:cNvSpPr txBox="1"/>
          <p:nvPr/>
        </p:nvSpPr>
        <p:spPr>
          <a:xfrm>
            <a:off x="5925312" y="427024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Nutanix</a:t>
            </a:r>
            <a:endParaRPr lang="en-US" sz="1000" dirty="0"/>
          </a:p>
        </p:txBody>
      </p:sp>
      <p:sp>
        <p:nvSpPr>
          <p:cNvPr id="100" name="Text 67"/>
          <p:cNvSpPr txBox="1"/>
          <p:nvPr/>
        </p:nvSpPr>
        <p:spPr>
          <a:xfrm>
            <a:off x="457200" y="45720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</a:rPr>
              <a:t>Logos are trademarks of their respective owners. Monogram tiles are used where a logo asset is unavailable.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Observability platforms compared</a:t>
            </a:r>
            <a:endParaRPr lang="en-US" sz="2800" dirty="0"/>
          </a:p>
        </p:txBody>
      </p:sp>
      <p:sp>
        <p:nvSpPr>
          <p:cNvPr id="3" name="Table header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960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960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Watch-outs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960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Best-fit towers</a:t>
            </a:r>
            <a:endParaRPr lang="en-US" sz="1100" dirty="0"/>
          </a:p>
        </p:txBody>
      </p:sp>
      <p:sp>
        <p:nvSpPr>
          <p:cNvPr id="9" name="Row 1"/>
          <p:cNvSpPr/>
          <p:nvPr/>
        </p:nvSpPr>
        <p:spPr>
          <a:xfrm>
            <a:off x="457200" y="1280160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0" name="Image 0" descr="datado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988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9264" y="128016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Datadog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130759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SaaS, agent-based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307592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1,000+ integrations; metrics, logs, APM and network in one UI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130759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Cost climbs with hosts, logs, custom metrics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1307592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Cloud, Middleware</a:t>
            </a:r>
            <a:endParaRPr lang="en-US" sz="1000" dirty="0"/>
          </a:p>
        </p:txBody>
      </p:sp>
      <p:sp>
        <p:nvSpPr>
          <p:cNvPr id="16" name="Row 2"/>
          <p:cNvSpPr/>
          <p:nvPr/>
        </p:nvSpPr>
        <p:spPr>
          <a:xfrm>
            <a:off x="457200" y="1847088"/>
            <a:ext cx="8229600" cy="566928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7" name="Image 1" descr="dynatrac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56816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9264" y="1847088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Dynatrace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2103120" y="1874520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SaaS or managed, OneAgent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383280" y="1874520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Auto-discovery, topology and AI root-cause analysis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623560" y="1874520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Premium pricing; opinionated model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452360" y="1874520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Server, Middleware, Cloud</a:t>
            </a:r>
            <a:endParaRPr lang="en-US" sz="1000" dirty="0"/>
          </a:p>
        </p:txBody>
      </p:sp>
      <p:sp>
        <p:nvSpPr>
          <p:cNvPr id="23" name="Row 3"/>
          <p:cNvSpPr/>
          <p:nvPr/>
        </p:nvSpPr>
        <p:spPr>
          <a:xfrm>
            <a:off x="457200" y="2414016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24" name="Image 2" descr="splunk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2374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9264" y="2414016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Splunk (Cisco)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2103120" y="2441448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Enterprise and Observability Cloud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383280" y="244144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Deep log analytics, SIEM link, large installed base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623560" y="2441448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Ingest-based cost; SPL learning curve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452360" y="2441448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Server, Network</a:t>
            </a:r>
            <a:endParaRPr lang="en-US" sz="1000" dirty="0"/>
          </a:p>
        </p:txBody>
      </p:sp>
      <p:sp>
        <p:nvSpPr>
          <p:cNvPr id="30" name="Row 4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1" name="Image 3" descr="newrelic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90672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9264" y="2980944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New Relic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2103120" y="3008376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SaaS, usage-based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3383280" y="3008376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Simple pricing, free tier, strong APM and full-stack view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623560" y="3008376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Lighter network and infra depth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452360" y="3008376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Cloud, Middleware</a:t>
            </a:r>
            <a:endParaRPr lang="en-US" sz="1000" dirty="0"/>
          </a:p>
        </p:txBody>
      </p:sp>
      <p:sp>
        <p:nvSpPr>
          <p:cNvPr id="37" name="Row 5"/>
          <p:cNvSpPr/>
          <p:nvPr/>
        </p:nvSpPr>
        <p:spPr>
          <a:xfrm>
            <a:off x="457200" y="3547872"/>
            <a:ext cx="8229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8" name="Image 4" descr="grafana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57600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69264" y="3547872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Grafana + Prometheus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2103120" y="3575304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Open source or Grafana Cloud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3383280" y="3575304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No licence lock-in; Kubernetes-native; huge exporter ecosystem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623560" y="3575304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You run and scale it; long-term storage design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452360" y="3575304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Cloud, Server</a:t>
            </a:r>
            <a:endParaRPr lang="en-US" sz="1000" dirty="0"/>
          </a:p>
        </p:txBody>
      </p:sp>
      <p:sp>
        <p:nvSpPr>
          <p:cNvPr id="44" name="Row 6"/>
          <p:cNvSpPr/>
          <p:nvPr/>
        </p:nvSpPr>
        <p:spPr>
          <a:xfrm>
            <a:off x="457200" y="4114800"/>
            <a:ext cx="8229600" cy="566928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45" name="Image 5" descr="elastic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224528"/>
            <a:ext cx="347472" cy="34747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969264" y="411480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Elastic (ELK)</a:t>
            </a:r>
            <a:endParaRPr lang="en-US" sz="1100" dirty="0"/>
          </a:p>
        </p:txBody>
      </p:sp>
      <p:sp>
        <p:nvSpPr>
          <p:cNvPr id="47" name="Text 39"/>
          <p:cNvSpPr txBox="1"/>
          <p:nvPr/>
        </p:nvSpPr>
        <p:spPr>
          <a:xfrm>
            <a:off x="2103120" y="4142232"/>
            <a:ext cx="1115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Open source or Elastic Cloud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3383280" y="4142232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Fast log search, flexible, security use cases</a:t>
            </a:r>
            <a:endParaRPr lang="en-US" sz="1000" dirty="0"/>
          </a:p>
        </p:txBody>
      </p:sp>
      <p:sp>
        <p:nvSpPr>
          <p:cNvPr id="49" name="Text 41"/>
          <p:cNvSpPr txBox="1"/>
          <p:nvPr/>
        </p:nvSpPr>
        <p:spPr>
          <a:xfrm>
            <a:off x="5623560" y="4142232"/>
            <a:ext cx="166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Cluster tuning overhead; APM less polished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7452360" y="4142232"/>
            <a:ext cx="1161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Server, Middleware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Automation and IaC tools compared</a:t>
            </a:r>
            <a:endParaRPr lang="en-US" sz="2800" dirty="0"/>
          </a:p>
        </p:txBody>
      </p:sp>
      <p:sp>
        <p:nvSpPr>
          <p:cNvPr id="3" name="Table header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960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960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960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Watch-outs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960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Best-fit towers</a:t>
            </a:r>
            <a:endParaRPr lang="en-US" sz="1100" dirty="0"/>
          </a:p>
        </p:txBody>
      </p:sp>
      <p:sp>
        <p:nvSpPr>
          <p:cNvPr id="9" name="Row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0" name="Image 0" descr="terraform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074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9264" y="128016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Terraform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130759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Declarative, provider plugins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30759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Multi-cloud and network providers; plan and apply workflow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30759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State handling; BSL licence (OpenTofu fork exists)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130759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Cloud, Network</a:t>
            </a:r>
            <a:endParaRPr lang="en-US" sz="1000" dirty="0"/>
          </a:p>
        </p:txBody>
      </p:sp>
      <p:sp>
        <p:nvSpPr>
          <p:cNvPr id="16" name="Row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7" name="Image 1" descr="ansibl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938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969264" y="182880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Ansible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1920240" y="185623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Agentless, YAML playbooks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3383280" y="185623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Low barrier; config, patching, network and middleware tasks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669280" y="185623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Procedural; slower on very large fleets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498080" y="185623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Server, Network, Middleware</a:t>
            </a:r>
            <a:endParaRPr lang="en-US" sz="1000" dirty="0"/>
          </a:p>
        </p:txBody>
      </p:sp>
      <p:sp>
        <p:nvSpPr>
          <p:cNvPr id="23" name="Row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24" name="Image 2" descr="puppet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78024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9264" y="237744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Puppet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1920240" y="240487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Agent, declarative desired state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3383280" y="240487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Strong drift control and compliance reporting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5669280" y="240487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DSL learning curve; fading momentum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7498080" y="240487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</a:t>
            </a:r>
            <a:endParaRPr lang="en-US" sz="1000" dirty="0"/>
          </a:p>
        </p:txBody>
      </p:sp>
      <p:sp>
        <p:nvSpPr>
          <p:cNvPr id="30" name="Row 4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1" name="Image 3" descr="chef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26664"/>
            <a:ext cx="347472" cy="34747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69264" y="292608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Chef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1920240" y="295351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Agent, Ruby cookbooks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3383280" y="295351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Highly flexible for complex configurations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5669280" y="295351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Heavier skills need; smaller community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7498080" y="295351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</a:t>
            </a:r>
            <a:endParaRPr lang="en-US" sz="1000" dirty="0"/>
          </a:p>
        </p:txBody>
      </p:sp>
      <p:sp>
        <p:nvSpPr>
          <p:cNvPr id="37" name="Row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8" name="Image 4" descr="saltproject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75304"/>
            <a:ext cx="347472" cy="347472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969264" y="3474720"/>
            <a:ext cx="804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Salt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1920240" y="3502152"/>
            <a:ext cx="1298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Event-driven, agent or agentless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3383280" y="3502152"/>
            <a:ext cx="2121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Very fast remote execution and reactive automation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669280" y="3502152"/>
            <a:ext cx="1664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Smaller ecosystem and vendor modules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498080" y="3502152"/>
            <a:ext cx="11155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Server, Middleware</a:t>
            </a:r>
            <a:endParaRPr lang="en-US" sz="1000" dirty="0"/>
          </a:p>
        </p:txBody>
      </p:sp>
      <p:sp>
        <p:nvSpPr>
          <p:cNvPr id="44" name="Recommendation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6F"/>
                </a:solidFill>
              </a:rPr>
              <a:t>Our take  </a:t>
            </a:r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</a:rPr>
              <a:t>Pair Terraform (provision) with Ansible (configure and operate). Add Puppet only if you need strict drift compliance.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Incident and ITSM tools compared</a:t>
            </a:r>
            <a:endParaRPr lang="en-US" sz="2800" dirty="0"/>
          </a:p>
        </p:txBody>
      </p:sp>
      <p:sp>
        <p:nvSpPr>
          <p:cNvPr id="3" name="Table header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103120" y="9601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9601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Strengths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9601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Watch-outs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9601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Best-fit towers</a:t>
            </a:r>
            <a:endParaRPr lang="en-US" sz="1100" dirty="0"/>
          </a:p>
        </p:txBody>
      </p:sp>
      <p:sp>
        <p:nvSpPr>
          <p:cNvPr id="9" name="Row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0" name="Image 0" descr="pagerdu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646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69264" y="128016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PagerDuty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103120" y="1307592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On-call and orchestration SaaS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130759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Mature scheduling, event correlation, runbook automation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30759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Per-user pricing; ITSM needs integration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1307592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All towers</a:t>
            </a:r>
            <a:endParaRPr lang="en-US" sz="1000" dirty="0"/>
          </a:p>
        </p:txBody>
      </p:sp>
      <p:sp>
        <p:nvSpPr>
          <p:cNvPr id="16" name="Row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sp>
        <p:nvSpPr>
          <p:cNvPr id="17" name="servicenow badge"/>
          <p:cNvSpPr/>
          <p:nvPr/>
        </p:nvSpPr>
        <p:spPr>
          <a:xfrm>
            <a:off x="548640" y="2066544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62D84E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1B"/>
                </a:solidFill>
              </a:rPr>
              <a:t>SN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69264" y="192024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ServiceNow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2103120" y="1947672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ITSM platform with event management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194767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CMDB, change and problem management in one place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0" y="194767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Heavy to configure; high cost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589520" y="1947672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All towers</a:t>
            </a:r>
            <a:endParaRPr lang="en-US" sz="1000" dirty="0"/>
          </a:p>
        </p:txBody>
      </p:sp>
      <p:sp>
        <p:nvSpPr>
          <p:cNvPr id="24" name="Row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25" name="Image 1" descr="atlassian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06624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69264" y="256032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Atlassian JSM + Statuspage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2103120" y="2587752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ITSM-lite and status comms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3474720" y="258775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Good value; links incidents to Jira work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5669280" y="258775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Lighter CMDB depth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7589520" y="2587752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Cloud, Middleware</a:t>
            </a:r>
            <a:endParaRPr lang="en-US" sz="1000" dirty="0"/>
          </a:p>
        </p:txBody>
      </p:sp>
      <p:sp>
        <p:nvSpPr>
          <p:cNvPr id="31" name="Row 4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2" name="Image 2" descr="opsgenie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46704"/>
            <a:ext cx="347472" cy="34747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969264" y="3200400"/>
            <a:ext cx="987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Opsgenie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2103120" y="3227832"/>
            <a:ext cx="12070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Alerting and on-call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3474720" y="3227832"/>
            <a:ext cx="20299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Flexible routing; easy adoption</a:t>
            </a:r>
            <a:endParaRPr lang="en-US" sz="1000" dirty="0"/>
          </a:p>
        </p:txBody>
      </p:sp>
      <p:sp>
        <p:nvSpPr>
          <p:cNvPr id="36" name="Text 31"/>
          <p:cNvSpPr txBox="1"/>
          <p:nvPr/>
        </p:nvSpPr>
        <p:spPr>
          <a:xfrm>
            <a:off x="5669280" y="3227832"/>
            <a:ext cx="1755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Atlassian has announced a retirement path; verify timing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7589520" y="3227832"/>
            <a:ext cx="10241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Legacy only</a:t>
            </a:r>
            <a:endParaRPr lang="en-US" sz="1000" dirty="0"/>
          </a:p>
        </p:txBody>
      </p:sp>
      <p:sp>
        <p:nvSpPr>
          <p:cNvPr id="38" name="Recommendation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6F7F4"/>
          </a:solidFill>
          <a:ln w="12700">
            <a:solidFill>
              <a:srgbClr val="E6F7F4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40080" y="3977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06F"/>
                </a:solidFill>
              </a:rPr>
              <a:t>Our take  </a:t>
            </a:r>
            <a:pPr indent="0" marL="0">
              <a:buNone/>
            </a:pPr>
            <a:r>
              <a:rPr lang="en-US" sz="1200" dirty="0">
                <a:solidFill>
                  <a:srgbClr val="1F2D3D"/>
                </a:solidFill>
              </a:rPr>
              <a:t>Keep one system of record (usually ServiceNow if already in place) and one on-call tool (PagerDuty). Avoid Opsgenie for new builds.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Server tower: aligned tools</a:t>
            </a:r>
            <a:endParaRPr lang="en-US" sz="2800" dirty="0"/>
          </a:p>
        </p:txBody>
      </p:sp>
      <p:sp>
        <p:nvSpPr>
          <p:cNvPr id="3" name="Server panel"/>
          <p:cNvSpPr/>
          <p:nvPr/>
        </p:nvSpPr>
        <p:spPr>
          <a:xfrm>
            <a:off x="457200" y="10515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erver circle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SREs own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Host availability and patch compliance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Capacity and performance forecasting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Golden images and config-drift control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Auto-remediation of common faults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Starter SLIs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Host availability, patch compliance, CPU/memory saturation</a:t>
            </a:r>
            <a:endParaRPr lang="en-US" sz="1100" dirty="0"/>
          </a:p>
        </p:txBody>
      </p:sp>
      <p:sp>
        <p:nvSpPr>
          <p:cNvPr id="9" name="Prometheus card"/>
          <p:cNvSpPr/>
          <p:nvPr/>
        </p:nvSpPr>
        <p:spPr>
          <a:xfrm>
            <a:off x="361188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prometheu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207008"/>
            <a:ext cx="493776" cy="4937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Prometheus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Metrics and alerting</a:t>
            </a:r>
            <a:endParaRPr lang="en-US" sz="1050" dirty="0"/>
          </a:p>
        </p:txBody>
      </p:sp>
      <p:sp>
        <p:nvSpPr>
          <p:cNvPr id="13" name="Grafana card"/>
          <p:cNvSpPr/>
          <p:nvPr/>
        </p:nvSpPr>
        <p:spPr>
          <a:xfrm>
            <a:off x="621792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4" name="Image 2" descr="grafan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07008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9516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Grafana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99516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Dashboards and visualisation</a:t>
            </a:r>
            <a:endParaRPr lang="en-US" sz="1050" dirty="0"/>
          </a:p>
        </p:txBody>
      </p:sp>
      <p:sp>
        <p:nvSpPr>
          <p:cNvPr id="17" name="Zabbix card"/>
          <p:cNvSpPr/>
          <p:nvPr/>
        </p:nvSpPr>
        <p:spPr>
          <a:xfrm>
            <a:off x="361188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8" name="zabbix badge"/>
          <p:cNvSpPr/>
          <p:nvPr/>
        </p:nvSpPr>
        <p:spPr>
          <a:xfrm>
            <a:off x="3749040" y="2112264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D40000"/>
          </a:solidFill>
          <a:ln w="12700">
            <a:solidFill>
              <a:srgbClr val="D40000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749040" y="2112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ZBX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3891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Zabbix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38912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Agent-based infra monitoring</a:t>
            </a:r>
            <a:endParaRPr lang="en-US" sz="1050" dirty="0"/>
          </a:p>
        </p:txBody>
      </p:sp>
      <p:sp>
        <p:nvSpPr>
          <p:cNvPr id="22" name="Datadog card"/>
          <p:cNvSpPr/>
          <p:nvPr/>
        </p:nvSpPr>
        <p:spPr>
          <a:xfrm>
            <a:off x="621792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3" name="Image 3" descr="datadog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112264"/>
            <a:ext cx="493776" cy="4937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99516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Datadog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99516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SaaS infra and log monitoring</a:t>
            </a:r>
            <a:endParaRPr lang="en-US" sz="1050" dirty="0"/>
          </a:p>
        </p:txBody>
      </p:sp>
      <p:sp>
        <p:nvSpPr>
          <p:cNvPr id="26" name="Ansible card"/>
          <p:cNvSpPr/>
          <p:nvPr/>
        </p:nvSpPr>
        <p:spPr>
          <a:xfrm>
            <a:off x="361188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7" name="Image 4" descr="ansible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017520"/>
            <a:ext cx="493776" cy="49377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891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Ansible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4389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Patching and config automation</a:t>
            </a:r>
            <a:endParaRPr lang="en-US" sz="1050" dirty="0"/>
          </a:p>
        </p:txBody>
      </p:sp>
      <p:sp>
        <p:nvSpPr>
          <p:cNvPr id="30" name="Puppet card"/>
          <p:cNvSpPr/>
          <p:nvPr/>
        </p:nvSpPr>
        <p:spPr>
          <a:xfrm>
            <a:off x="621792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1" name="Image 5" descr="puppet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017520"/>
            <a:ext cx="493776" cy="49377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9951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Puppet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9951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Desired-state config management</a:t>
            </a:r>
            <a:endParaRPr lang="en-US" sz="1050" dirty="0"/>
          </a:p>
        </p:txBody>
      </p:sp>
      <p:sp>
        <p:nvSpPr>
          <p:cNvPr id="34" name="Red Hat Satellite card"/>
          <p:cNvSpPr/>
          <p:nvPr/>
        </p:nvSpPr>
        <p:spPr>
          <a:xfrm>
            <a:off x="361188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5" name="Image 6" descr="redhat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922776"/>
            <a:ext cx="493776" cy="4937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38912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Red Hat Satellite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38912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Patch and lifecycle for RHEL</a:t>
            </a:r>
            <a:endParaRPr lang="en-US" sz="1050" dirty="0"/>
          </a:p>
        </p:txBody>
      </p:sp>
      <p:sp>
        <p:nvSpPr>
          <p:cNvPr id="38" name="VMware card"/>
          <p:cNvSpPr/>
          <p:nvPr/>
        </p:nvSpPr>
        <p:spPr>
          <a:xfrm>
            <a:off x="621792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9" name="Image 7" descr="vmware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922776"/>
            <a:ext cx="493776" cy="49377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99516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VMware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99516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Virtualisation operations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Network tower: aligned tools</a:t>
            </a:r>
            <a:endParaRPr lang="en-US" sz="2800" dirty="0"/>
          </a:p>
        </p:txBody>
      </p:sp>
      <p:sp>
        <p:nvSpPr>
          <p:cNvPr id="3" name="Network panel"/>
          <p:cNvSpPr/>
          <p:nvPr/>
        </p:nvSpPr>
        <p:spPr>
          <a:xfrm>
            <a:off x="457200" y="10515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Network circle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aNetworkWir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SREs own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Path availability, latency, loss and jitter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Config-as-code with a source of truth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Pre- and post-change validation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Firewall and load-balancer reliability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Starter SLIs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Latency and loss, link and BGP uptime, config drift</a:t>
            </a:r>
            <a:endParaRPr lang="en-US" sz="1100" dirty="0"/>
          </a:p>
        </p:txBody>
      </p:sp>
      <p:sp>
        <p:nvSpPr>
          <p:cNvPr id="9" name="SolarWinds card"/>
          <p:cNvSpPr/>
          <p:nvPr/>
        </p:nvSpPr>
        <p:spPr>
          <a:xfrm>
            <a:off x="361188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0" name="solarwinds badge"/>
          <p:cNvSpPr/>
          <p:nvPr/>
        </p:nvSpPr>
        <p:spPr>
          <a:xfrm>
            <a:off x="3749040" y="120700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99D1C"/>
          </a:solidFill>
          <a:ln w="12700">
            <a:solidFill>
              <a:srgbClr val="F99D1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1207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D3D"/>
                </a:solidFill>
              </a:rPr>
              <a:t>SW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SolarWinds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Device and flow monitoring</a:t>
            </a:r>
            <a:endParaRPr lang="en-US" sz="1050" dirty="0"/>
          </a:p>
        </p:txBody>
      </p:sp>
      <p:sp>
        <p:nvSpPr>
          <p:cNvPr id="14" name="ThousandEyes card"/>
          <p:cNvSpPr/>
          <p:nvPr/>
        </p:nvSpPr>
        <p:spPr>
          <a:xfrm>
            <a:off x="621792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5" name="thousandeyes badge"/>
          <p:cNvSpPr/>
          <p:nvPr/>
        </p:nvSpPr>
        <p:spPr>
          <a:xfrm>
            <a:off x="6355080" y="120700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49FD9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207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ThousandEyes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Internet and WAN path visibility</a:t>
            </a:r>
            <a:endParaRPr lang="en-US" sz="1050" dirty="0"/>
          </a:p>
        </p:txBody>
      </p:sp>
      <p:sp>
        <p:nvSpPr>
          <p:cNvPr id="19" name="Cisco card"/>
          <p:cNvSpPr/>
          <p:nvPr/>
        </p:nvSpPr>
        <p:spPr>
          <a:xfrm>
            <a:off x="361188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0" name="Image 1" descr="cisc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12264"/>
            <a:ext cx="493776" cy="49377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3891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Cisco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Catalyst Center and controllers</a:t>
            </a:r>
            <a:endParaRPr lang="en-US" sz="1050" dirty="0"/>
          </a:p>
        </p:txBody>
      </p:sp>
      <p:sp>
        <p:nvSpPr>
          <p:cNvPr id="23" name="Arista CloudVision card"/>
          <p:cNvSpPr/>
          <p:nvPr/>
        </p:nvSpPr>
        <p:spPr>
          <a:xfrm>
            <a:off x="621792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4" name="arista badge"/>
          <p:cNvSpPr/>
          <p:nvPr/>
        </p:nvSpPr>
        <p:spPr>
          <a:xfrm>
            <a:off x="6355080" y="2112264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1B6AC9"/>
          </a:solidFill>
          <a:ln w="12700">
            <a:solidFill>
              <a:srgbClr val="1B6AC9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355080" y="21122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699516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Arista CloudVision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699516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Streaming telemetry</a:t>
            </a:r>
            <a:endParaRPr lang="en-US" sz="1050" dirty="0"/>
          </a:p>
        </p:txBody>
      </p:sp>
      <p:sp>
        <p:nvSpPr>
          <p:cNvPr id="28" name="Palo Alto Networks card"/>
          <p:cNvSpPr/>
          <p:nvPr/>
        </p:nvSpPr>
        <p:spPr>
          <a:xfrm>
            <a:off x="361188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9" name="Image 2" descr="paloaltonetworks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017520"/>
            <a:ext cx="493776" cy="49377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3891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Palo Alto Networks</a:t>
            </a:r>
            <a:endParaRPr lang="en-US" sz="1300" dirty="0"/>
          </a:p>
        </p:txBody>
      </p:sp>
      <p:sp>
        <p:nvSpPr>
          <p:cNvPr id="31" name="Text 26"/>
          <p:cNvSpPr txBox="1"/>
          <p:nvPr/>
        </p:nvSpPr>
        <p:spPr>
          <a:xfrm>
            <a:off x="4389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Firewall operations</a:t>
            </a:r>
            <a:endParaRPr lang="en-US" sz="1050" dirty="0"/>
          </a:p>
        </p:txBody>
      </p:sp>
      <p:sp>
        <p:nvSpPr>
          <p:cNvPr id="32" name="F5 card"/>
          <p:cNvSpPr/>
          <p:nvPr/>
        </p:nvSpPr>
        <p:spPr>
          <a:xfrm>
            <a:off x="621792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3" name="Image 3" descr="f5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017520"/>
            <a:ext cx="493776" cy="493776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9951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F5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69951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Load balancing and ADC</a:t>
            </a:r>
            <a:endParaRPr lang="en-US" sz="1050" dirty="0"/>
          </a:p>
        </p:txBody>
      </p:sp>
      <p:sp>
        <p:nvSpPr>
          <p:cNvPr id="36" name="Ansible card"/>
          <p:cNvSpPr/>
          <p:nvPr/>
        </p:nvSpPr>
        <p:spPr>
          <a:xfrm>
            <a:off x="361188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7" name="Image 4" descr="ansible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040" y="3922776"/>
            <a:ext cx="493776" cy="493776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438912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Ansible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438912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Network automation</a:t>
            </a:r>
            <a:endParaRPr lang="en-US" sz="1050" dirty="0"/>
          </a:p>
        </p:txBody>
      </p:sp>
      <p:sp>
        <p:nvSpPr>
          <p:cNvPr id="40" name="NetBox card"/>
          <p:cNvSpPr/>
          <p:nvPr/>
        </p:nvSpPr>
        <p:spPr>
          <a:xfrm>
            <a:off x="621792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1" name="netbox badge"/>
          <p:cNvSpPr/>
          <p:nvPr/>
        </p:nvSpPr>
        <p:spPr>
          <a:xfrm>
            <a:off x="6355080" y="3922776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355080" y="3922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NB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699516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NetBox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699516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Source of truth and IPAM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Cloud tower: aligned tools</a:t>
            </a:r>
            <a:endParaRPr lang="en-US" sz="2800" dirty="0"/>
          </a:p>
        </p:txBody>
      </p:sp>
      <p:sp>
        <p:nvSpPr>
          <p:cNvPr id="3" name="Cloud panel"/>
          <p:cNvSpPr/>
          <p:nvPr/>
        </p:nvSpPr>
        <p:spPr>
          <a:xfrm>
            <a:off x="457200" y="10515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Cloud circle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SREs own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Landing-zone and multi-account governance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IaC for all provisioning, drift detection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Kubernetes and platform SLOs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Cost-aware reliability (FinOps)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Starter SLIs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Service availability, deploy success rate, cost per unit</a:t>
            </a:r>
            <a:endParaRPr lang="en-US" sz="1100" dirty="0"/>
          </a:p>
        </p:txBody>
      </p:sp>
      <p:sp>
        <p:nvSpPr>
          <p:cNvPr id="9" name="AWS CloudWatch card"/>
          <p:cNvSpPr/>
          <p:nvPr/>
        </p:nvSpPr>
        <p:spPr>
          <a:xfrm>
            <a:off x="361188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0" name="aws badge"/>
          <p:cNvSpPr/>
          <p:nvPr/>
        </p:nvSpPr>
        <p:spPr>
          <a:xfrm>
            <a:off x="3749040" y="120700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49040" y="1207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</a:rPr>
              <a:t>AWS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AWS CloudWatch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38912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Native AWS monitoring</a:t>
            </a:r>
            <a:endParaRPr lang="en-US" sz="1050" dirty="0"/>
          </a:p>
        </p:txBody>
      </p:sp>
      <p:sp>
        <p:nvSpPr>
          <p:cNvPr id="14" name="Azure Monitor card"/>
          <p:cNvSpPr/>
          <p:nvPr/>
        </p:nvSpPr>
        <p:spPr>
          <a:xfrm>
            <a:off x="621792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5" name="azure badge"/>
          <p:cNvSpPr/>
          <p:nvPr/>
        </p:nvSpPr>
        <p:spPr>
          <a:xfrm>
            <a:off x="6355080" y="1207008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55080" y="1207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Az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Azure Monitor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Native Azure monitoring</a:t>
            </a:r>
            <a:endParaRPr lang="en-US" sz="1050" dirty="0"/>
          </a:p>
        </p:txBody>
      </p:sp>
      <p:sp>
        <p:nvSpPr>
          <p:cNvPr id="19" name="Google Cloud card"/>
          <p:cNvSpPr/>
          <p:nvPr/>
        </p:nvSpPr>
        <p:spPr>
          <a:xfrm>
            <a:off x="361188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0" name="Image 1" descr="googleclou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112264"/>
            <a:ext cx="493776" cy="49377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3891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Google Cloud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38912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Cloud Operations suite</a:t>
            </a:r>
            <a:endParaRPr lang="en-US" sz="1050" dirty="0"/>
          </a:p>
        </p:txBody>
      </p:sp>
      <p:sp>
        <p:nvSpPr>
          <p:cNvPr id="23" name="Terraform card"/>
          <p:cNvSpPr/>
          <p:nvPr/>
        </p:nvSpPr>
        <p:spPr>
          <a:xfrm>
            <a:off x="621792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4" name="Image 2" descr="terraform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12264"/>
            <a:ext cx="493776" cy="49377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99516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Terraform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99516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Infrastructure provisioning</a:t>
            </a:r>
            <a:endParaRPr lang="en-US" sz="1050" dirty="0"/>
          </a:p>
        </p:txBody>
      </p:sp>
      <p:sp>
        <p:nvSpPr>
          <p:cNvPr id="27" name="Kubernetes card"/>
          <p:cNvSpPr/>
          <p:nvPr/>
        </p:nvSpPr>
        <p:spPr>
          <a:xfrm>
            <a:off x="361188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8" name="Image 3" descr="kubernetes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3017520"/>
            <a:ext cx="493776" cy="493776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3891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Kubernetes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4389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Container orchestration</a:t>
            </a:r>
            <a:endParaRPr lang="en-US" sz="1050" dirty="0"/>
          </a:p>
        </p:txBody>
      </p:sp>
      <p:sp>
        <p:nvSpPr>
          <p:cNvPr id="31" name="Datadog card"/>
          <p:cNvSpPr/>
          <p:nvPr/>
        </p:nvSpPr>
        <p:spPr>
          <a:xfrm>
            <a:off x="621792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2" name="Image 4" descr="datadog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017520"/>
            <a:ext cx="493776" cy="49377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69951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Datadog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69951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Multi-cloud observability</a:t>
            </a:r>
            <a:endParaRPr lang="en-US" sz="1050" dirty="0"/>
          </a:p>
        </p:txBody>
      </p:sp>
      <p:sp>
        <p:nvSpPr>
          <p:cNvPr id="35" name="OpenTelemetry card"/>
          <p:cNvSpPr/>
          <p:nvPr/>
        </p:nvSpPr>
        <p:spPr>
          <a:xfrm>
            <a:off x="361188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6" name="Image 5" descr="opentelemetry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922776"/>
            <a:ext cx="493776" cy="493776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8912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OpenTelemetry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438912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Vendor-neutral telemetry</a:t>
            </a:r>
            <a:endParaRPr lang="en-US" sz="1050" dirty="0"/>
          </a:p>
        </p:txBody>
      </p:sp>
      <p:sp>
        <p:nvSpPr>
          <p:cNvPr id="39" name="Argo CD card"/>
          <p:cNvSpPr/>
          <p:nvPr/>
        </p:nvSpPr>
        <p:spPr>
          <a:xfrm>
            <a:off x="621792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40" name="Image 6" descr="argo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922776"/>
            <a:ext cx="493776" cy="493776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99516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Argo CD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699516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GitOps delivery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Middleware tower: aligned tools</a:t>
            </a:r>
            <a:endParaRPr lang="en-US" sz="2800" dirty="0"/>
          </a:p>
        </p:txBody>
      </p:sp>
      <p:sp>
        <p:nvSpPr>
          <p:cNvPr id="3" name="Middleware panel"/>
          <p:cNvSpPr/>
          <p:nvPr/>
        </p:nvSpPr>
        <p:spPr>
          <a:xfrm>
            <a:off x="457200" y="10515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Middleware circle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FaLayerGro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188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SREs own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Throughput, queue depth, consumer lag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JVM health: heap, GC, threads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API gateway and proxy reliability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Distributed tracing across services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6576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Starter SLIs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Consumer lag, error rate, p99 latency</a:t>
            </a:r>
            <a:endParaRPr lang="en-US" sz="1100" dirty="0"/>
          </a:p>
        </p:txBody>
      </p:sp>
      <p:sp>
        <p:nvSpPr>
          <p:cNvPr id="9" name="Apache Kafka card"/>
          <p:cNvSpPr/>
          <p:nvPr/>
        </p:nvSpPr>
        <p:spPr>
          <a:xfrm>
            <a:off x="361188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0" name="Image 1" descr="apachekafka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207008"/>
            <a:ext cx="493776" cy="4937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Apache Kafka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Streaming lag and throughput</a:t>
            </a:r>
            <a:endParaRPr lang="en-US" sz="1050" dirty="0"/>
          </a:p>
        </p:txBody>
      </p:sp>
      <p:sp>
        <p:nvSpPr>
          <p:cNvPr id="13" name="RabbitMQ card"/>
          <p:cNvSpPr/>
          <p:nvPr/>
        </p:nvSpPr>
        <p:spPr>
          <a:xfrm>
            <a:off x="6217920" y="1051560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4" name="Image 2" descr="rabbitmq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07008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95160" y="11612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RabbitMQ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995160" y="14356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Queue health and depth</a:t>
            </a:r>
            <a:endParaRPr lang="en-US" sz="1050" dirty="0"/>
          </a:p>
        </p:txBody>
      </p:sp>
      <p:sp>
        <p:nvSpPr>
          <p:cNvPr id="17" name="Tomcat card"/>
          <p:cNvSpPr/>
          <p:nvPr/>
        </p:nvSpPr>
        <p:spPr>
          <a:xfrm>
            <a:off x="361188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18" name="Image 3" descr="apachetomcat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112264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8912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Tomcat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38912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App-server JMX monitoring</a:t>
            </a:r>
            <a:endParaRPr lang="en-US" sz="1050" dirty="0"/>
          </a:p>
        </p:txBody>
      </p:sp>
      <p:sp>
        <p:nvSpPr>
          <p:cNvPr id="21" name="Nginx card"/>
          <p:cNvSpPr/>
          <p:nvPr/>
        </p:nvSpPr>
        <p:spPr>
          <a:xfrm>
            <a:off x="6217920" y="1956816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2" name="Image 4" descr="nginx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12264"/>
            <a:ext cx="493776" cy="49377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995160" y="20665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Nginx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995160" y="234086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Reverse proxy and ingress</a:t>
            </a:r>
            <a:endParaRPr lang="en-US" sz="1050" dirty="0"/>
          </a:p>
        </p:txBody>
      </p:sp>
      <p:sp>
        <p:nvSpPr>
          <p:cNvPr id="25" name="Redis card"/>
          <p:cNvSpPr/>
          <p:nvPr/>
        </p:nvSpPr>
        <p:spPr>
          <a:xfrm>
            <a:off x="361188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26" name="Image 5" descr="redis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017520"/>
            <a:ext cx="493776" cy="49377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38912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Redis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43891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Cache hit rate and latency</a:t>
            </a:r>
            <a:endParaRPr lang="en-US" sz="1050" dirty="0"/>
          </a:p>
        </p:txBody>
      </p:sp>
      <p:sp>
        <p:nvSpPr>
          <p:cNvPr id="29" name="IBM MQ card"/>
          <p:cNvSpPr/>
          <p:nvPr/>
        </p:nvSpPr>
        <p:spPr>
          <a:xfrm>
            <a:off x="6217920" y="2862072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30" name="ibmmq badge"/>
          <p:cNvSpPr/>
          <p:nvPr/>
        </p:nvSpPr>
        <p:spPr>
          <a:xfrm>
            <a:off x="6355080" y="3017520"/>
            <a:ext cx="493776" cy="493776"/>
          </a:xfrm>
          <a:prstGeom prst="roundRect">
            <a:avLst>
              <a:gd name="adj" fmla="val 11111"/>
            </a:avLst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355080" y="30175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IBM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99516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IBM MQ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69951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Enterprise messaging</a:t>
            </a:r>
            <a:endParaRPr lang="en-US" sz="1050" dirty="0"/>
          </a:p>
        </p:txBody>
      </p:sp>
      <p:sp>
        <p:nvSpPr>
          <p:cNvPr id="34" name="Dynatrace card"/>
          <p:cNvSpPr/>
          <p:nvPr/>
        </p:nvSpPr>
        <p:spPr>
          <a:xfrm>
            <a:off x="361188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5" name="Image 6" descr="dynatrace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922776"/>
            <a:ext cx="493776" cy="4937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38912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Dynatrace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438912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AI-assisted APM</a:t>
            </a:r>
            <a:endParaRPr lang="en-US" sz="1050" dirty="0"/>
          </a:p>
        </p:txBody>
      </p:sp>
      <p:sp>
        <p:nvSpPr>
          <p:cNvPr id="38" name="Jaeger card"/>
          <p:cNvSpPr/>
          <p:nvPr/>
        </p:nvSpPr>
        <p:spPr>
          <a:xfrm>
            <a:off x="6217920" y="3767328"/>
            <a:ext cx="24688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pic>
        <p:nvPicPr>
          <p:cNvPr id="39" name="Image 7" descr="jaeger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922776"/>
            <a:ext cx="493776" cy="49377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995160" y="38770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Jaeger</a:t>
            </a:r>
            <a:endParaRPr lang="en-US" sz="1300" dirty="0"/>
          </a:p>
        </p:txBody>
      </p:sp>
      <p:sp>
        <p:nvSpPr>
          <p:cNvPr id="41" name="Text 31"/>
          <p:cNvSpPr txBox="1"/>
          <p:nvPr/>
        </p:nvSpPr>
        <p:spPr>
          <a:xfrm>
            <a:off x="6995160" y="41513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Distributed tracing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Tool-to-tower alignment matrix</a:t>
            </a:r>
            <a:endParaRPr lang="en-US" sz="2800" dirty="0"/>
          </a:p>
        </p:txBody>
      </p:sp>
      <p:sp>
        <p:nvSpPr>
          <p:cNvPr id="3" name="Matrix header"/>
          <p:cNvSpPr/>
          <p:nvPr/>
        </p:nvSpPr>
        <p:spPr>
          <a:xfrm>
            <a:off x="457200" y="960120"/>
            <a:ext cx="82296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960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Tool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960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Primary role</a:t>
            </a:r>
            <a:endParaRPr lang="en-US" sz="1100" dirty="0"/>
          </a:p>
        </p:txBody>
      </p:sp>
      <p:sp>
        <p:nvSpPr>
          <p:cNvPr id="6" name="Server header"/>
          <p:cNvSpPr/>
          <p:nvPr/>
        </p:nvSpPr>
        <p:spPr>
          <a:xfrm>
            <a:off x="5029200" y="960120"/>
            <a:ext cx="9144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Server</a:t>
            </a:r>
            <a:endParaRPr lang="en-US" sz="1000" dirty="0"/>
          </a:p>
        </p:txBody>
      </p:sp>
      <p:sp>
        <p:nvSpPr>
          <p:cNvPr id="8" name="Network header"/>
          <p:cNvSpPr/>
          <p:nvPr/>
        </p:nvSpPr>
        <p:spPr>
          <a:xfrm>
            <a:off x="5943600" y="960120"/>
            <a:ext cx="9144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Network</a:t>
            </a:r>
            <a:endParaRPr lang="en-US" sz="1000" dirty="0"/>
          </a:p>
        </p:txBody>
      </p:sp>
      <p:sp>
        <p:nvSpPr>
          <p:cNvPr id="10" name="Cloud header"/>
          <p:cNvSpPr/>
          <p:nvPr/>
        </p:nvSpPr>
        <p:spPr>
          <a:xfrm>
            <a:off x="6858000" y="960120"/>
            <a:ext cx="9144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</a:t>
            </a:r>
            <a:endParaRPr lang="en-US" sz="1000" dirty="0"/>
          </a:p>
        </p:txBody>
      </p:sp>
      <p:sp>
        <p:nvSpPr>
          <p:cNvPr id="12" name="Middleware header"/>
          <p:cNvSpPr/>
          <p:nvPr/>
        </p:nvSpPr>
        <p:spPr>
          <a:xfrm>
            <a:off x="7772400" y="960120"/>
            <a:ext cx="91440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9601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Middleware</a:t>
            </a:r>
            <a:endParaRPr lang="en-US" sz="1000" dirty="0"/>
          </a:p>
        </p:txBody>
      </p:sp>
      <p:sp>
        <p:nvSpPr>
          <p:cNvPr id="14" name="Matrix row"/>
          <p:cNvSpPr/>
          <p:nvPr/>
        </p:nvSpPr>
        <p:spPr>
          <a:xfrm>
            <a:off x="457200" y="1307592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15" name="Image 0" descr="datado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44168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68680" y="13075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Datadog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2560320" y="13075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Unified observability (SaaS)</a:t>
            </a:r>
            <a:endParaRPr lang="en-US" sz="1000" dirty="0"/>
          </a:p>
        </p:txBody>
      </p:sp>
      <p:sp>
        <p:nvSpPr>
          <p:cNvPr id="18" name="Partial fit"/>
          <p:cNvSpPr/>
          <p:nvPr/>
        </p:nvSpPr>
        <p:spPr>
          <a:xfrm>
            <a:off x="5394960" y="13716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9" name="Partial fit"/>
          <p:cNvSpPr/>
          <p:nvPr/>
        </p:nvSpPr>
        <p:spPr>
          <a:xfrm>
            <a:off x="6309360" y="13716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Primary fit"/>
          <p:cNvSpPr/>
          <p:nvPr/>
        </p:nvSpPr>
        <p:spPr>
          <a:xfrm>
            <a:off x="7223760" y="137160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Primary fit"/>
          <p:cNvSpPr/>
          <p:nvPr/>
        </p:nvSpPr>
        <p:spPr>
          <a:xfrm>
            <a:off x="8138160" y="13716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Matrix row"/>
          <p:cNvSpPr/>
          <p:nvPr/>
        </p:nvSpPr>
        <p:spPr>
          <a:xfrm>
            <a:off x="457200" y="1618488"/>
            <a:ext cx="8229600" cy="310896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23" name="Image 1" descr="dynatrac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55064"/>
            <a:ext cx="237744" cy="23774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68680" y="161848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Dynatrace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2560320" y="16184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AI-assisted APM</a:t>
            </a:r>
            <a:endParaRPr lang="en-US" sz="1000" dirty="0"/>
          </a:p>
        </p:txBody>
      </p:sp>
      <p:sp>
        <p:nvSpPr>
          <p:cNvPr id="26" name="Primary fit"/>
          <p:cNvSpPr/>
          <p:nvPr/>
        </p:nvSpPr>
        <p:spPr>
          <a:xfrm>
            <a:off x="5394960" y="168249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Partial fit"/>
          <p:cNvSpPr/>
          <p:nvPr/>
        </p:nvSpPr>
        <p:spPr>
          <a:xfrm>
            <a:off x="6309360" y="168249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Primary fit"/>
          <p:cNvSpPr/>
          <p:nvPr/>
        </p:nvSpPr>
        <p:spPr>
          <a:xfrm>
            <a:off x="7223760" y="1682496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Primary fit"/>
          <p:cNvSpPr/>
          <p:nvPr/>
        </p:nvSpPr>
        <p:spPr>
          <a:xfrm>
            <a:off x="8138160" y="168249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Matrix row"/>
          <p:cNvSpPr/>
          <p:nvPr/>
        </p:nvSpPr>
        <p:spPr>
          <a:xfrm>
            <a:off x="457200" y="1929384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1" name="Image 2" descr="grafana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65960"/>
            <a:ext cx="237744" cy="237744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68680" y="192938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Grafana + Prometheus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2560320" y="192938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Open-source metrics and dashboards</a:t>
            </a:r>
            <a:endParaRPr lang="en-US" sz="1000" dirty="0"/>
          </a:p>
        </p:txBody>
      </p:sp>
      <p:sp>
        <p:nvSpPr>
          <p:cNvPr id="34" name="Primary fit"/>
          <p:cNvSpPr/>
          <p:nvPr/>
        </p:nvSpPr>
        <p:spPr>
          <a:xfrm>
            <a:off x="5394960" y="199339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Partial fit"/>
          <p:cNvSpPr/>
          <p:nvPr/>
        </p:nvSpPr>
        <p:spPr>
          <a:xfrm>
            <a:off x="6309360" y="199339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6" name="Primary fit"/>
          <p:cNvSpPr/>
          <p:nvPr/>
        </p:nvSpPr>
        <p:spPr>
          <a:xfrm>
            <a:off x="7223760" y="1993392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Partial fit"/>
          <p:cNvSpPr/>
          <p:nvPr/>
        </p:nvSpPr>
        <p:spPr>
          <a:xfrm>
            <a:off x="8138160" y="199339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8" name="Matrix row"/>
          <p:cNvSpPr/>
          <p:nvPr/>
        </p:nvSpPr>
        <p:spPr>
          <a:xfrm>
            <a:off x="457200" y="2240280"/>
            <a:ext cx="8229600" cy="310896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39" name="Image 3" descr="splunk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76856"/>
            <a:ext cx="237744" cy="237744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868680" y="2240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Splunk / Elastic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2560320" y="224028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Log analytics and SIEM link</a:t>
            </a:r>
            <a:endParaRPr lang="en-US" sz="1000" dirty="0"/>
          </a:p>
        </p:txBody>
      </p:sp>
      <p:sp>
        <p:nvSpPr>
          <p:cNvPr id="42" name="Primary fit"/>
          <p:cNvSpPr/>
          <p:nvPr/>
        </p:nvSpPr>
        <p:spPr>
          <a:xfrm>
            <a:off x="5394960" y="230428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Primary fit"/>
          <p:cNvSpPr/>
          <p:nvPr/>
        </p:nvSpPr>
        <p:spPr>
          <a:xfrm>
            <a:off x="6309360" y="230428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Partial fit"/>
          <p:cNvSpPr/>
          <p:nvPr/>
        </p:nvSpPr>
        <p:spPr>
          <a:xfrm>
            <a:off x="7223760" y="230428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45" name="Primary fit"/>
          <p:cNvSpPr/>
          <p:nvPr/>
        </p:nvSpPr>
        <p:spPr>
          <a:xfrm>
            <a:off x="8138160" y="230428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Matrix row"/>
          <p:cNvSpPr/>
          <p:nvPr/>
        </p:nvSpPr>
        <p:spPr>
          <a:xfrm>
            <a:off x="457200" y="2551176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47" name="Image 4" descr="opentelemetry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587752"/>
            <a:ext cx="237744" cy="23774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868680" y="255117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OpenTelemetry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2560320" y="255117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Vendor-neutral instrumentation</a:t>
            </a:r>
            <a:endParaRPr lang="en-US" sz="1000" dirty="0"/>
          </a:p>
        </p:txBody>
      </p:sp>
      <p:sp>
        <p:nvSpPr>
          <p:cNvPr id="50" name="Partial fit"/>
          <p:cNvSpPr/>
          <p:nvPr/>
        </p:nvSpPr>
        <p:spPr>
          <a:xfrm>
            <a:off x="5394960" y="26151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1" name="Primary fit"/>
          <p:cNvSpPr/>
          <p:nvPr/>
        </p:nvSpPr>
        <p:spPr>
          <a:xfrm>
            <a:off x="7223760" y="261518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Primary fit"/>
          <p:cNvSpPr/>
          <p:nvPr/>
        </p:nvSpPr>
        <p:spPr>
          <a:xfrm>
            <a:off x="8138160" y="261518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Matrix row"/>
          <p:cNvSpPr/>
          <p:nvPr/>
        </p:nvSpPr>
        <p:spPr>
          <a:xfrm>
            <a:off x="457200" y="2862072"/>
            <a:ext cx="8229600" cy="310896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54" name="Image 5" descr="terraform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898648"/>
            <a:ext cx="237744" cy="237744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868680" y="286207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Terraform</a:t>
            </a:r>
            <a:endParaRPr lang="en-US" sz="1100" dirty="0"/>
          </a:p>
        </p:txBody>
      </p:sp>
      <p:sp>
        <p:nvSpPr>
          <p:cNvPr id="56" name="Text 48"/>
          <p:cNvSpPr txBox="1"/>
          <p:nvPr/>
        </p:nvSpPr>
        <p:spPr>
          <a:xfrm>
            <a:off x="2560320" y="286207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Provisioning as code</a:t>
            </a:r>
            <a:endParaRPr lang="en-US" sz="1000" dirty="0"/>
          </a:p>
        </p:txBody>
      </p:sp>
      <p:sp>
        <p:nvSpPr>
          <p:cNvPr id="57" name="Partial fit"/>
          <p:cNvSpPr/>
          <p:nvPr/>
        </p:nvSpPr>
        <p:spPr>
          <a:xfrm>
            <a:off x="5394960" y="29260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58" name="Partial fit"/>
          <p:cNvSpPr/>
          <p:nvPr/>
        </p:nvSpPr>
        <p:spPr>
          <a:xfrm>
            <a:off x="6309360" y="292608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9" name="Primary fit"/>
          <p:cNvSpPr/>
          <p:nvPr/>
        </p:nvSpPr>
        <p:spPr>
          <a:xfrm>
            <a:off x="7223760" y="2926080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Matrix row"/>
          <p:cNvSpPr/>
          <p:nvPr/>
        </p:nvSpPr>
        <p:spPr>
          <a:xfrm>
            <a:off x="457200" y="3172968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61" name="Image 6" descr="ansible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209544"/>
            <a:ext cx="237744" cy="237744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868680" y="317296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Ansible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2560320" y="317296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Config, patching and orchestration</a:t>
            </a:r>
            <a:endParaRPr lang="en-US" sz="1000" dirty="0"/>
          </a:p>
        </p:txBody>
      </p:sp>
      <p:sp>
        <p:nvSpPr>
          <p:cNvPr id="64" name="Primary fit"/>
          <p:cNvSpPr/>
          <p:nvPr/>
        </p:nvSpPr>
        <p:spPr>
          <a:xfrm>
            <a:off x="5394960" y="3236976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Primary fit"/>
          <p:cNvSpPr/>
          <p:nvPr/>
        </p:nvSpPr>
        <p:spPr>
          <a:xfrm>
            <a:off x="6309360" y="3236976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Partial fit"/>
          <p:cNvSpPr/>
          <p:nvPr/>
        </p:nvSpPr>
        <p:spPr>
          <a:xfrm>
            <a:off x="7223760" y="3236976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67" name="Primary fit"/>
          <p:cNvSpPr/>
          <p:nvPr/>
        </p:nvSpPr>
        <p:spPr>
          <a:xfrm>
            <a:off x="8138160" y="323697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Matrix row"/>
          <p:cNvSpPr/>
          <p:nvPr/>
        </p:nvSpPr>
        <p:spPr>
          <a:xfrm>
            <a:off x="457200" y="3483864"/>
            <a:ext cx="8229600" cy="310896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sp>
        <p:nvSpPr>
          <p:cNvPr id="69" name="thousandeyes badge"/>
          <p:cNvSpPr/>
          <p:nvPr/>
        </p:nvSpPr>
        <p:spPr>
          <a:xfrm>
            <a:off x="548640" y="3520440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049FD9"/>
          </a:solidFill>
          <a:ln w="12700">
            <a:solidFill>
              <a:srgbClr val="049FD9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548640" y="35204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868680" y="34838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ThousandEyes</a:t>
            </a:r>
            <a:endParaRPr lang="en-US" sz="1100" dirty="0"/>
          </a:p>
        </p:txBody>
      </p:sp>
      <p:sp>
        <p:nvSpPr>
          <p:cNvPr id="72" name="Text 63"/>
          <p:cNvSpPr txBox="1"/>
          <p:nvPr/>
        </p:nvSpPr>
        <p:spPr>
          <a:xfrm>
            <a:off x="2560320" y="34838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WAN and internet path monitoring</a:t>
            </a:r>
            <a:endParaRPr lang="en-US" sz="1000" dirty="0"/>
          </a:p>
        </p:txBody>
      </p:sp>
      <p:sp>
        <p:nvSpPr>
          <p:cNvPr id="73" name="Primary fit"/>
          <p:cNvSpPr/>
          <p:nvPr/>
        </p:nvSpPr>
        <p:spPr>
          <a:xfrm>
            <a:off x="6309360" y="354787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4" name="Partial fit"/>
          <p:cNvSpPr/>
          <p:nvPr/>
        </p:nvSpPr>
        <p:spPr>
          <a:xfrm>
            <a:off x="7223760" y="35478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75" name="Matrix row"/>
          <p:cNvSpPr/>
          <p:nvPr/>
        </p:nvSpPr>
        <p:spPr>
          <a:xfrm>
            <a:off x="457200" y="3794760"/>
            <a:ext cx="8229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8"/>
            </a:solidFill>
            <a:prstDash val="solid"/>
          </a:ln>
        </p:spPr>
      </p:sp>
      <p:pic>
        <p:nvPicPr>
          <p:cNvPr id="76" name="Image 7" descr="pagerduty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831336"/>
            <a:ext cx="237744" cy="237744"/>
          </a:xfrm>
          <a:prstGeom prst="rect">
            <a:avLst/>
          </a:prstGeom>
        </p:spPr>
      </p:pic>
      <p:sp>
        <p:nvSpPr>
          <p:cNvPr id="77" name="Text 67"/>
          <p:cNvSpPr txBox="1"/>
          <p:nvPr/>
        </p:nvSpPr>
        <p:spPr>
          <a:xfrm>
            <a:off x="868680" y="37947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PagerDuty</a:t>
            </a:r>
            <a:endParaRPr lang="en-US" sz="1100" dirty="0"/>
          </a:p>
        </p:txBody>
      </p:sp>
      <p:sp>
        <p:nvSpPr>
          <p:cNvPr id="78" name="Text 68"/>
          <p:cNvSpPr txBox="1"/>
          <p:nvPr/>
        </p:nvSpPr>
        <p:spPr>
          <a:xfrm>
            <a:off x="2560320" y="379476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On-call and incident response</a:t>
            </a:r>
            <a:endParaRPr lang="en-US" sz="1000" dirty="0"/>
          </a:p>
        </p:txBody>
      </p:sp>
      <p:sp>
        <p:nvSpPr>
          <p:cNvPr id="79" name="Primary fit"/>
          <p:cNvSpPr/>
          <p:nvPr/>
        </p:nvSpPr>
        <p:spPr>
          <a:xfrm>
            <a:off x="5394960" y="3858768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Primary fit"/>
          <p:cNvSpPr/>
          <p:nvPr/>
        </p:nvSpPr>
        <p:spPr>
          <a:xfrm>
            <a:off x="6309360" y="3858768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1" name="Primary fit"/>
          <p:cNvSpPr/>
          <p:nvPr/>
        </p:nvSpPr>
        <p:spPr>
          <a:xfrm>
            <a:off x="7223760" y="3858768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2" name="Primary fit"/>
          <p:cNvSpPr/>
          <p:nvPr/>
        </p:nvSpPr>
        <p:spPr>
          <a:xfrm>
            <a:off x="8138160" y="385876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Matrix row"/>
          <p:cNvSpPr/>
          <p:nvPr/>
        </p:nvSpPr>
        <p:spPr>
          <a:xfrm>
            <a:off x="457200" y="4105656"/>
            <a:ext cx="8229600" cy="310896"/>
          </a:xfrm>
          <a:prstGeom prst="rect">
            <a:avLst/>
          </a:prstGeom>
          <a:solidFill>
            <a:srgbClr val="F2F5F9"/>
          </a:solidFill>
          <a:ln w="6350">
            <a:solidFill>
              <a:srgbClr val="D8E0E8"/>
            </a:solidFill>
            <a:prstDash val="solid"/>
          </a:ln>
        </p:spPr>
      </p:sp>
      <p:sp>
        <p:nvSpPr>
          <p:cNvPr id="84" name="servicenow badge"/>
          <p:cNvSpPr/>
          <p:nvPr/>
        </p:nvSpPr>
        <p:spPr>
          <a:xfrm>
            <a:off x="548640" y="4142232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62D84E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85" name="Text 75"/>
          <p:cNvSpPr txBox="1"/>
          <p:nvPr/>
        </p:nvSpPr>
        <p:spPr>
          <a:xfrm>
            <a:off x="548640" y="41422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1B"/>
                </a:solidFill>
              </a:rPr>
              <a:t>SN</a:t>
            </a:r>
            <a:endParaRPr lang="en-US" sz="1000" dirty="0"/>
          </a:p>
        </p:txBody>
      </p:sp>
      <p:sp>
        <p:nvSpPr>
          <p:cNvPr id="86" name="Text 76"/>
          <p:cNvSpPr txBox="1"/>
          <p:nvPr/>
        </p:nvSpPr>
        <p:spPr>
          <a:xfrm>
            <a:off x="868680" y="41056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ServiceNow</a:t>
            </a:r>
            <a:endParaRPr lang="en-US" sz="1100" dirty="0"/>
          </a:p>
        </p:txBody>
      </p:sp>
      <p:sp>
        <p:nvSpPr>
          <p:cNvPr id="87" name="Text 77"/>
          <p:cNvSpPr txBox="1"/>
          <p:nvPr/>
        </p:nvSpPr>
        <p:spPr>
          <a:xfrm>
            <a:off x="2560320" y="41056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D3D"/>
                </a:solidFill>
              </a:rPr>
              <a:t>ITSM, CMDB and change</a:t>
            </a:r>
            <a:endParaRPr lang="en-US" sz="1000" dirty="0"/>
          </a:p>
        </p:txBody>
      </p:sp>
      <p:sp>
        <p:nvSpPr>
          <p:cNvPr id="88" name="Primary fit"/>
          <p:cNvSpPr/>
          <p:nvPr/>
        </p:nvSpPr>
        <p:spPr>
          <a:xfrm>
            <a:off x="5394960" y="4169664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9" name="Primary fit"/>
          <p:cNvSpPr/>
          <p:nvPr/>
        </p:nvSpPr>
        <p:spPr>
          <a:xfrm>
            <a:off x="6309360" y="4169664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0" name="Primary fit"/>
          <p:cNvSpPr/>
          <p:nvPr/>
        </p:nvSpPr>
        <p:spPr>
          <a:xfrm>
            <a:off x="7223760" y="4169664"/>
            <a:ext cx="182880" cy="1828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1" name="Primary fit"/>
          <p:cNvSpPr/>
          <p:nvPr/>
        </p:nvSpPr>
        <p:spPr>
          <a:xfrm>
            <a:off x="8138160" y="416966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2" name="Legend primary"/>
          <p:cNvSpPr/>
          <p:nvPr/>
        </p:nvSpPr>
        <p:spPr>
          <a:xfrm>
            <a:off x="457200" y="4572000"/>
            <a:ext cx="164592" cy="16459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3" name="Text 83"/>
          <p:cNvSpPr txBox="1"/>
          <p:nvPr/>
        </p:nvSpPr>
        <p:spPr>
          <a:xfrm>
            <a:off x="713232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Primary fit</a:t>
            </a:r>
            <a:endParaRPr lang="en-US" sz="1000" dirty="0"/>
          </a:p>
        </p:txBody>
      </p:sp>
      <p:sp>
        <p:nvSpPr>
          <p:cNvPr id="94" name="Legend partial"/>
          <p:cNvSpPr/>
          <p:nvPr/>
        </p:nvSpPr>
        <p:spPr>
          <a:xfrm>
            <a:off x="1828800" y="4572000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</p:sp>
      <p:sp>
        <p:nvSpPr>
          <p:cNvPr id="95" name="Text 85"/>
          <p:cNvSpPr txBox="1"/>
          <p:nvPr/>
        </p:nvSpPr>
        <p:spPr>
          <a:xfrm>
            <a:off x="2084832" y="45537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</a:rPr>
              <a:t>Partial or supporting fit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Recommended reference toolchain</a:t>
            </a:r>
            <a:endParaRPr lang="en-US" sz="2800" dirty="0"/>
          </a:p>
        </p:txBody>
      </p:sp>
      <p:sp>
        <p:nvSpPr>
          <p:cNvPr id="3" name="Incident and change layer"/>
          <p:cNvSpPr/>
          <p:nvPr/>
        </p:nvSpPr>
        <p:spPr>
          <a:xfrm>
            <a:off x="457200" y="100584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058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Incident and change</a:t>
            </a:r>
            <a:endParaRPr lang="en-US" sz="1100" dirty="0"/>
          </a:p>
        </p:txBody>
      </p:sp>
      <p:sp>
        <p:nvSpPr>
          <p:cNvPr id="5" name="Logo disc"/>
          <p:cNvSpPr/>
          <p:nvPr/>
        </p:nvSpPr>
        <p:spPr>
          <a:xfrm>
            <a:off x="2148840" y="10698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agerdut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1992" y="1143000"/>
            <a:ext cx="274320" cy="274320"/>
          </a:xfrm>
          <a:prstGeom prst="rect">
            <a:avLst/>
          </a:prstGeom>
        </p:spPr>
      </p:pic>
      <p:sp>
        <p:nvSpPr>
          <p:cNvPr id="7" name="Logo disc"/>
          <p:cNvSpPr/>
          <p:nvPr/>
        </p:nvSpPr>
        <p:spPr>
          <a:xfrm>
            <a:off x="2715768" y="10698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ervicenow badge"/>
          <p:cNvSpPr/>
          <p:nvPr/>
        </p:nvSpPr>
        <p:spPr>
          <a:xfrm>
            <a:off x="2788920" y="11430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62D84E"/>
          </a:solidFill>
          <a:ln w="12700">
            <a:solidFill>
              <a:srgbClr val="62D84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88920" y="1143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1B"/>
                </a:solidFill>
              </a:rPr>
              <a:t>SN</a:t>
            </a:r>
            <a:endParaRPr lang="en-US" sz="1000" dirty="0"/>
          </a:p>
        </p:txBody>
      </p:sp>
      <p:sp>
        <p:nvSpPr>
          <p:cNvPr id="10" name="Logo disc"/>
          <p:cNvSpPr/>
          <p:nvPr/>
        </p:nvSpPr>
        <p:spPr>
          <a:xfrm>
            <a:off x="3282696" y="10698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statuspage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143000"/>
            <a:ext cx="274320" cy="274320"/>
          </a:xfrm>
          <a:prstGeom prst="rect">
            <a:avLst/>
          </a:prstGeom>
        </p:spPr>
      </p:pic>
      <p:sp>
        <p:nvSpPr>
          <p:cNvPr id="12" name="Logo disc"/>
          <p:cNvSpPr/>
          <p:nvPr/>
        </p:nvSpPr>
        <p:spPr>
          <a:xfrm>
            <a:off x="3849624" y="10698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atlassian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1143000"/>
            <a:ext cx="274320" cy="274320"/>
          </a:xfrm>
          <a:prstGeom prst="rect">
            <a:avLst/>
          </a:prstGeom>
        </p:spPr>
      </p:pic>
      <p:sp>
        <p:nvSpPr>
          <p:cNvPr id="14" name="Visualise and alert layer"/>
          <p:cNvSpPr/>
          <p:nvPr/>
        </p:nvSpPr>
        <p:spPr>
          <a:xfrm>
            <a:off x="457200" y="1627632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123456"/>
          </a:solidFill>
          <a:ln w="12700">
            <a:solidFill>
              <a:srgbClr val="12345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594360" y="162763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Visualise and alert</a:t>
            </a:r>
            <a:endParaRPr lang="en-US" sz="1100" dirty="0"/>
          </a:p>
        </p:txBody>
      </p:sp>
      <p:sp>
        <p:nvSpPr>
          <p:cNvPr id="16" name="Logo disc"/>
          <p:cNvSpPr/>
          <p:nvPr/>
        </p:nvSpPr>
        <p:spPr>
          <a:xfrm>
            <a:off x="2148840" y="16916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grafana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764792"/>
            <a:ext cx="274320" cy="274320"/>
          </a:xfrm>
          <a:prstGeom prst="rect">
            <a:avLst/>
          </a:prstGeom>
        </p:spPr>
      </p:pic>
      <p:sp>
        <p:nvSpPr>
          <p:cNvPr id="18" name="Logo disc"/>
          <p:cNvSpPr/>
          <p:nvPr/>
        </p:nvSpPr>
        <p:spPr>
          <a:xfrm>
            <a:off x="2715768" y="16916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4" descr="datadog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1764792"/>
            <a:ext cx="274320" cy="274320"/>
          </a:xfrm>
          <a:prstGeom prst="rect">
            <a:avLst/>
          </a:prstGeom>
        </p:spPr>
      </p:pic>
      <p:sp>
        <p:nvSpPr>
          <p:cNvPr id="20" name="Logo disc"/>
          <p:cNvSpPr/>
          <p:nvPr/>
        </p:nvSpPr>
        <p:spPr>
          <a:xfrm>
            <a:off x="3282696" y="169164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5" descr="kibana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1764792"/>
            <a:ext cx="274320" cy="274320"/>
          </a:xfrm>
          <a:prstGeom prst="rect">
            <a:avLst/>
          </a:prstGeom>
        </p:spPr>
      </p:pic>
      <p:sp>
        <p:nvSpPr>
          <p:cNvPr id="22" name="Store and analyse layer"/>
          <p:cNvSpPr/>
          <p:nvPr/>
        </p:nvSpPr>
        <p:spPr>
          <a:xfrm>
            <a:off x="457200" y="2249424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1A4A73"/>
          </a:solidFill>
          <a:ln w="12700">
            <a:solidFill>
              <a:srgbClr val="1A4A73"/>
            </a:solidFill>
            <a:prstDash val="solid"/>
          </a:ln>
        </p:spPr>
      </p:sp>
      <p:sp>
        <p:nvSpPr>
          <p:cNvPr id="23" name="Text 15"/>
          <p:cNvSpPr txBox="1"/>
          <p:nvPr/>
        </p:nvSpPr>
        <p:spPr>
          <a:xfrm>
            <a:off x="594360" y="224942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 and analyse</a:t>
            </a:r>
            <a:endParaRPr lang="en-US" sz="1100" dirty="0"/>
          </a:p>
        </p:txBody>
      </p:sp>
      <p:sp>
        <p:nvSpPr>
          <p:cNvPr id="24" name="Logo disc"/>
          <p:cNvSpPr/>
          <p:nvPr/>
        </p:nvSpPr>
        <p:spPr>
          <a:xfrm>
            <a:off x="2148840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6" descr="prometheus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1992" y="2386584"/>
            <a:ext cx="274320" cy="274320"/>
          </a:xfrm>
          <a:prstGeom prst="rect">
            <a:avLst/>
          </a:prstGeom>
        </p:spPr>
      </p:pic>
      <p:sp>
        <p:nvSpPr>
          <p:cNvPr id="26" name="Logo disc"/>
          <p:cNvSpPr/>
          <p:nvPr/>
        </p:nvSpPr>
        <p:spPr>
          <a:xfrm>
            <a:off x="2715768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7" descr="elastic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2386584"/>
            <a:ext cx="274320" cy="274320"/>
          </a:xfrm>
          <a:prstGeom prst="rect">
            <a:avLst/>
          </a:prstGeom>
        </p:spPr>
      </p:pic>
      <p:sp>
        <p:nvSpPr>
          <p:cNvPr id="28" name="Logo disc"/>
          <p:cNvSpPr/>
          <p:nvPr/>
        </p:nvSpPr>
        <p:spPr>
          <a:xfrm>
            <a:off x="3282696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8" descr="influxdb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5848" y="2386584"/>
            <a:ext cx="274320" cy="274320"/>
          </a:xfrm>
          <a:prstGeom prst="rect">
            <a:avLst/>
          </a:prstGeom>
        </p:spPr>
      </p:pic>
      <p:sp>
        <p:nvSpPr>
          <p:cNvPr id="30" name="Logo disc"/>
          <p:cNvSpPr/>
          <p:nvPr/>
        </p:nvSpPr>
        <p:spPr>
          <a:xfrm>
            <a:off x="3849624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1" name="Image 9" descr="jaeger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2776" y="2386584"/>
            <a:ext cx="274320" cy="274320"/>
          </a:xfrm>
          <a:prstGeom prst="rect">
            <a:avLst/>
          </a:prstGeom>
        </p:spPr>
      </p:pic>
      <p:sp>
        <p:nvSpPr>
          <p:cNvPr id="32" name="Logo disc"/>
          <p:cNvSpPr/>
          <p:nvPr/>
        </p:nvSpPr>
        <p:spPr>
          <a:xfrm>
            <a:off x="4416552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0" descr="splunk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9704" y="2386584"/>
            <a:ext cx="274320" cy="274320"/>
          </a:xfrm>
          <a:prstGeom prst="rect">
            <a:avLst/>
          </a:prstGeom>
        </p:spPr>
      </p:pic>
      <p:sp>
        <p:nvSpPr>
          <p:cNvPr id="34" name="Logo disc"/>
          <p:cNvSpPr/>
          <p:nvPr/>
        </p:nvSpPr>
        <p:spPr>
          <a:xfrm>
            <a:off x="4983480" y="23134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11" descr="dynatrace logo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56632" y="2386584"/>
            <a:ext cx="274320" cy="274320"/>
          </a:xfrm>
          <a:prstGeom prst="rect">
            <a:avLst/>
          </a:prstGeom>
        </p:spPr>
      </p:pic>
      <p:sp>
        <p:nvSpPr>
          <p:cNvPr id="36" name="Collect and instrument layer"/>
          <p:cNvSpPr/>
          <p:nvPr/>
        </p:nvSpPr>
        <p:spPr>
          <a:xfrm>
            <a:off x="457200" y="2871216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22608F"/>
          </a:solidFill>
          <a:ln w="12700">
            <a:solidFill>
              <a:srgbClr val="22608F"/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594360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 and instrument</a:t>
            </a:r>
            <a:endParaRPr lang="en-US" sz="1100" dirty="0"/>
          </a:p>
        </p:txBody>
      </p:sp>
      <p:sp>
        <p:nvSpPr>
          <p:cNvPr id="38" name="Logo disc"/>
          <p:cNvSpPr/>
          <p:nvPr/>
        </p:nvSpPr>
        <p:spPr>
          <a:xfrm>
            <a:off x="2148840" y="29352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9" name="Image 12" descr="opentelemetry logo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1992" y="3008376"/>
            <a:ext cx="274320" cy="274320"/>
          </a:xfrm>
          <a:prstGeom prst="rect">
            <a:avLst/>
          </a:prstGeom>
        </p:spPr>
      </p:pic>
      <p:sp>
        <p:nvSpPr>
          <p:cNvPr id="40" name="Logo disc"/>
          <p:cNvSpPr/>
          <p:nvPr/>
        </p:nvSpPr>
        <p:spPr>
          <a:xfrm>
            <a:off x="2715768" y="29352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1" name="Image 13" descr="logstash logo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88920" y="3008376"/>
            <a:ext cx="274320" cy="274320"/>
          </a:xfrm>
          <a:prstGeom prst="rect">
            <a:avLst/>
          </a:prstGeom>
        </p:spPr>
      </p:pic>
      <p:sp>
        <p:nvSpPr>
          <p:cNvPr id="42" name="Logo disc"/>
          <p:cNvSpPr/>
          <p:nvPr/>
        </p:nvSpPr>
        <p:spPr>
          <a:xfrm>
            <a:off x="3282696" y="29352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3" name="Image 14" descr="istio log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5848" y="3008376"/>
            <a:ext cx="274320" cy="274320"/>
          </a:xfrm>
          <a:prstGeom prst="rect">
            <a:avLst/>
          </a:prstGeom>
        </p:spPr>
      </p:pic>
      <p:sp>
        <p:nvSpPr>
          <p:cNvPr id="44" name="Automate and source of truth layer"/>
          <p:cNvSpPr/>
          <p:nvPr/>
        </p:nvSpPr>
        <p:spPr>
          <a:xfrm>
            <a:off x="457200" y="34930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2B78AA"/>
          </a:solidFill>
          <a:ln w="12700">
            <a:solidFill>
              <a:srgbClr val="2B78AA"/>
            </a:solidFill>
            <a:prstDash val="solid"/>
          </a:ln>
        </p:spPr>
      </p:sp>
      <p:sp>
        <p:nvSpPr>
          <p:cNvPr id="45" name="Text 28"/>
          <p:cNvSpPr txBox="1"/>
          <p:nvPr/>
        </p:nvSpPr>
        <p:spPr>
          <a:xfrm>
            <a:off x="594360" y="34930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 and source of truth</a:t>
            </a:r>
            <a:endParaRPr lang="en-US" sz="1100" dirty="0"/>
          </a:p>
        </p:txBody>
      </p:sp>
      <p:sp>
        <p:nvSpPr>
          <p:cNvPr id="46" name="Logo disc"/>
          <p:cNvSpPr/>
          <p:nvPr/>
        </p:nvSpPr>
        <p:spPr>
          <a:xfrm>
            <a:off x="2148840" y="35570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7" name="Image 15" descr="terraform logo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1992" y="3630168"/>
            <a:ext cx="274320" cy="274320"/>
          </a:xfrm>
          <a:prstGeom prst="rect">
            <a:avLst/>
          </a:prstGeom>
        </p:spPr>
      </p:pic>
      <p:sp>
        <p:nvSpPr>
          <p:cNvPr id="48" name="Logo disc"/>
          <p:cNvSpPr/>
          <p:nvPr/>
        </p:nvSpPr>
        <p:spPr>
          <a:xfrm>
            <a:off x="2715768" y="35570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9" name="Image 16" descr="ansible logo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88920" y="3630168"/>
            <a:ext cx="274320" cy="274320"/>
          </a:xfrm>
          <a:prstGeom prst="rect">
            <a:avLst/>
          </a:prstGeom>
        </p:spPr>
      </p:pic>
      <p:sp>
        <p:nvSpPr>
          <p:cNvPr id="50" name="Logo disc"/>
          <p:cNvSpPr/>
          <p:nvPr/>
        </p:nvSpPr>
        <p:spPr>
          <a:xfrm>
            <a:off x="3282696" y="35570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1" name="Image 17" descr="github logo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55848" y="3630168"/>
            <a:ext cx="274320" cy="274320"/>
          </a:xfrm>
          <a:prstGeom prst="rect">
            <a:avLst/>
          </a:prstGeom>
        </p:spPr>
      </p:pic>
      <p:sp>
        <p:nvSpPr>
          <p:cNvPr id="52" name="Logo disc"/>
          <p:cNvSpPr/>
          <p:nvPr/>
        </p:nvSpPr>
        <p:spPr>
          <a:xfrm>
            <a:off x="3849624" y="35570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3" name="Image 18" descr="argo logo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22776" y="3630168"/>
            <a:ext cx="274320" cy="274320"/>
          </a:xfrm>
          <a:prstGeom prst="rect">
            <a:avLst/>
          </a:prstGeom>
        </p:spPr>
      </p:pic>
      <p:sp>
        <p:nvSpPr>
          <p:cNvPr id="54" name="Logo disc"/>
          <p:cNvSpPr/>
          <p:nvPr/>
        </p:nvSpPr>
        <p:spPr>
          <a:xfrm>
            <a:off x="4416552" y="355701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5" name="Image 19" descr="vault logo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89704" y="3630168"/>
            <a:ext cx="274320" cy="274320"/>
          </a:xfrm>
          <a:prstGeom prst="rect">
            <a:avLst/>
          </a:prstGeom>
        </p:spPr>
      </p:pic>
      <p:sp>
        <p:nvSpPr>
          <p:cNvPr id="56" name="Server foundation"/>
          <p:cNvSpPr/>
          <p:nvPr/>
        </p:nvSpPr>
        <p:spPr>
          <a:xfrm>
            <a:off x="457200" y="4114800"/>
            <a:ext cx="1261872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Text 35"/>
          <p:cNvSpPr txBox="1"/>
          <p:nvPr/>
        </p:nvSpPr>
        <p:spPr>
          <a:xfrm>
            <a:off x="457200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Server</a:t>
            </a:r>
            <a:endParaRPr lang="en-US" sz="1100" dirty="0"/>
          </a:p>
        </p:txBody>
      </p:sp>
      <p:sp>
        <p:nvSpPr>
          <p:cNvPr id="58" name="Network foundation"/>
          <p:cNvSpPr/>
          <p:nvPr/>
        </p:nvSpPr>
        <p:spPr>
          <a:xfrm>
            <a:off x="1773936" y="4114800"/>
            <a:ext cx="1261872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37"/>
          <p:cNvSpPr txBox="1"/>
          <p:nvPr/>
        </p:nvSpPr>
        <p:spPr>
          <a:xfrm>
            <a:off x="1773936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Network</a:t>
            </a:r>
            <a:endParaRPr lang="en-US" sz="1100" dirty="0"/>
          </a:p>
        </p:txBody>
      </p:sp>
      <p:sp>
        <p:nvSpPr>
          <p:cNvPr id="60" name="Cloud foundation"/>
          <p:cNvSpPr/>
          <p:nvPr/>
        </p:nvSpPr>
        <p:spPr>
          <a:xfrm>
            <a:off x="3090672" y="4114800"/>
            <a:ext cx="1261872" cy="457200"/>
          </a:xfrm>
          <a:prstGeom prst="roundRect">
            <a:avLst>
              <a:gd name="adj" fmla="val 16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39"/>
          <p:cNvSpPr txBox="1"/>
          <p:nvPr/>
        </p:nvSpPr>
        <p:spPr>
          <a:xfrm>
            <a:off x="3090672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</a:t>
            </a:r>
            <a:endParaRPr lang="en-US" sz="1100" dirty="0"/>
          </a:p>
        </p:txBody>
      </p:sp>
      <p:sp>
        <p:nvSpPr>
          <p:cNvPr id="62" name="Middleware foundation"/>
          <p:cNvSpPr/>
          <p:nvPr/>
        </p:nvSpPr>
        <p:spPr>
          <a:xfrm>
            <a:off x="4407408" y="4114800"/>
            <a:ext cx="1261872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3" name="Text 41"/>
          <p:cNvSpPr txBox="1"/>
          <p:nvPr/>
        </p:nvSpPr>
        <p:spPr>
          <a:xfrm>
            <a:off x="4407408" y="4114800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Middleware</a:t>
            </a:r>
            <a:endParaRPr lang="en-US" sz="1100" dirty="0"/>
          </a:p>
        </p:txBody>
      </p:sp>
      <p:sp>
        <p:nvSpPr>
          <p:cNvPr id="64" name="Recommendation card"/>
          <p:cNvSpPr/>
          <p:nvPr/>
        </p:nvSpPr>
        <p:spPr>
          <a:xfrm>
            <a:off x="5897880" y="1005840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65" name="Text 43"/>
          <p:cNvSpPr txBox="1"/>
          <p:nvPr/>
        </p:nvSpPr>
        <p:spPr>
          <a:xfrm>
            <a:off x="603504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806F"/>
                </a:solidFill>
              </a:rPr>
              <a:t>Standardise on OpenTelemetry</a:t>
            </a:r>
            <a:endParaRPr lang="en-US" sz="1250" dirty="0"/>
          </a:p>
        </p:txBody>
      </p:sp>
      <p:sp>
        <p:nvSpPr>
          <p:cNvPr id="66" name="Text 44"/>
          <p:cNvSpPr txBox="1"/>
          <p:nvPr/>
        </p:nvSpPr>
        <p:spPr>
          <a:xfrm>
            <a:off x="6035040" y="138988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Vendor-neutral instrumentation avoids lock-in and lets you swap back-ends later.</a:t>
            </a:r>
            <a:endParaRPr lang="en-US" sz="1100" dirty="0"/>
          </a:p>
        </p:txBody>
      </p:sp>
      <p:sp>
        <p:nvSpPr>
          <p:cNvPr id="67" name="Recommendation card"/>
          <p:cNvSpPr/>
          <p:nvPr/>
        </p:nvSpPr>
        <p:spPr>
          <a:xfrm>
            <a:off x="5897880" y="2194560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68" name="Text 46"/>
          <p:cNvSpPr txBox="1"/>
          <p:nvPr/>
        </p:nvSpPr>
        <p:spPr>
          <a:xfrm>
            <a:off x="603504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806F"/>
                </a:solidFill>
              </a:rPr>
              <a:t>Go hybrid on back-ends</a:t>
            </a:r>
            <a:endParaRPr lang="en-US" sz="1250" dirty="0"/>
          </a:p>
        </p:txBody>
      </p:sp>
      <p:sp>
        <p:nvSpPr>
          <p:cNvPr id="69" name="Text 47"/>
          <p:cNvSpPr txBox="1"/>
          <p:nvPr/>
        </p:nvSpPr>
        <p:spPr>
          <a:xfrm>
            <a:off x="6035040" y="257860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Commercial APM for tier-1 apps; open source for commodity infra metrics to control cost.</a:t>
            </a:r>
            <a:endParaRPr lang="en-US" sz="1100" dirty="0"/>
          </a:p>
        </p:txBody>
      </p:sp>
      <p:sp>
        <p:nvSpPr>
          <p:cNvPr id="70" name="Recommendation card"/>
          <p:cNvSpPr/>
          <p:nvPr/>
        </p:nvSpPr>
        <p:spPr>
          <a:xfrm>
            <a:off x="5897880" y="3383280"/>
            <a:ext cx="27889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71" name="Text 49"/>
          <p:cNvSpPr txBox="1"/>
          <p:nvPr/>
        </p:nvSpPr>
        <p:spPr>
          <a:xfrm>
            <a:off x="6035040" y="3474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806F"/>
                </a:solidFill>
              </a:rPr>
              <a:t>One incident spine</a:t>
            </a:r>
            <a:endParaRPr lang="en-US" sz="1250" dirty="0"/>
          </a:p>
        </p:txBody>
      </p:sp>
      <p:sp>
        <p:nvSpPr>
          <p:cNvPr id="72" name="Text 50"/>
          <p:cNvSpPr txBox="1"/>
          <p:nvPr/>
        </p:nvSpPr>
        <p:spPr>
          <a:xfrm>
            <a:off x="6035040" y="37673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A single on-call and ITSM flow across all four towers: alert, incident, CMDB.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Core skills every SRE candidate needs</a:t>
            </a:r>
            <a:endParaRPr lang="en-US" sz="2800" dirty="0"/>
          </a:p>
        </p:txBody>
      </p:sp>
      <p:sp>
        <p:nvSpPr>
          <p:cNvPr id="3" name="Linux and OS internals card"/>
          <p:cNvSpPr/>
          <p:nvPr/>
        </p:nvSpPr>
        <p:spPr>
          <a:xfrm>
            <a:off x="457200" y="10515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Linux and OS internals circle"/>
          <p:cNvSpPr/>
          <p:nvPr/>
        </p:nvSpPr>
        <p:spPr>
          <a:xfrm>
            <a:off x="640080" y="1234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FaLinu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3601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Linux and OS internals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Processes, memory, I/O, systemd, troubleshooting from first principles</a:t>
            </a:r>
            <a:endParaRPr lang="en-US" sz="1150" dirty="0"/>
          </a:p>
        </p:txBody>
      </p:sp>
      <p:sp>
        <p:nvSpPr>
          <p:cNvPr id="8" name="Coding and scripting card"/>
          <p:cNvSpPr/>
          <p:nvPr/>
        </p:nvSpPr>
        <p:spPr>
          <a:xfrm>
            <a:off x="3264408" y="10515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9" name="Coding and scripting circle"/>
          <p:cNvSpPr/>
          <p:nvPr/>
        </p:nvSpPr>
        <p:spPr>
          <a:xfrm>
            <a:off x="3447288" y="1234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0" name="Image 1" descr="Fa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18" y="136017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7368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Coding and scripting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447288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Python or Go plus Bash; reads and reviews code; writes tools, not just scripts</a:t>
            </a:r>
            <a:endParaRPr lang="en-US" sz="1150" dirty="0"/>
          </a:p>
        </p:txBody>
      </p:sp>
      <p:sp>
        <p:nvSpPr>
          <p:cNvPr id="13" name="Observability and SLOs card"/>
          <p:cNvSpPr/>
          <p:nvPr/>
        </p:nvSpPr>
        <p:spPr>
          <a:xfrm>
            <a:off x="6071616" y="105156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4" name="Observability and SLOs circle"/>
          <p:cNvSpPr/>
          <p:nvPr/>
        </p:nvSpPr>
        <p:spPr>
          <a:xfrm>
            <a:off x="6254496" y="123444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2" descr="FaChartLi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226" y="136017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94576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Observability and SLOs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254496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Defines SLIs and SLOs, error budgets, alert design that avoids noise</a:t>
            </a:r>
            <a:endParaRPr lang="en-US" sz="1150" dirty="0"/>
          </a:p>
        </p:txBody>
      </p:sp>
      <p:sp>
        <p:nvSpPr>
          <p:cNvPr id="18" name="IaC and automation card"/>
          <p:cNvSpPr/>
          <p:nvPr/>
        </p:nvSpPr>
        <p:spPr>
          <a:xfrm>
            <a:off x="457200" y="283464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9" name="IaC and automation circle"/>
          <p:cNvSpPr/>
          <p:nvPr/>
        </p:nvSpPr>
        <p:spPr>
          <a:xfrm>
            <a:off x="640080" y="30175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0" name="Image 3" descr="FaCog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31432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016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IaC and automation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Terraform, Ansible, Git workflows, CI/CD pipelines</a:t>
            </a:r>
            <a:endParaRPr lang="en-US" sz="1150" dirty="0"/>
          </a:p>
        </p:txBody>
      </p:sp>
      <p:sp>
        <p:nvSpPr>
          <p:cNvPr id="23" name="Incident response card"/>
          <p:cNvSpPr/>
          <p:nvPr/>
        </p:nvSpPr>
        <p:spPr>
          <a:xfrm>
            <a:off x="3264408" y="283464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4" name="Incident response circle"/>
          <p:cNvSpPr/>
          <p:nvPr/>
        </p:nvSpPr>
        <p:spPr>
          <a:xfrm>
            <a:off x="3447288" y="30175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5" name="Image 4" descr="Fa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018" y="314325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7368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Incident response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3447288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Triage, command, communication and blameless root-cause analysis</a:t>
            </a:r>
            <a:endParaRPr lang="en-US" sz="1150" dirty="0"/>
          </a:p>
        </p:txBody>
      </p:sp>
      <p:sp>
        <p:nvSpPr>
          <p:cNvPr id="28" name="Networking fundamentals card"/>
          <p:cNvSpPr/>
          <p:nvPr/>
        </p:nvSpPr>
        <p:spPr>
          <a:xfrm>
            <a:off x="6071616" y="2834640"/>
            <a:ext cx="267919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9" name="Networking fundamentals circle"/>
          <p:cNvSpPr/>
          <p:nvPr/>
        </p:nvSpPr>
        <p:spPr>
          <a:xfrm>
            <a:off x="6254496" y="3017520"/>
            <a:ext cx="502920" cy="5029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0" name="Image 5" descr="FaNetworkWir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226" y="314325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94576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Networking fundamentals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6254496" y="36576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D3D"/>
                </a:solidFill>
              </a:rPr>
              <a:t>TCP/IP, DNS, TLS, load balancing and how they fail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Tower-specific depth to look for</a:t>
            </a:r>
            <a:endParaRPr lang="en-US" sz="2800" dirty="0"/>
          </a:p>
        </p:txBody>
      </p:sp>
      <p:sp>
        <p:nvSpPr>
          <p:cNvPr id="3" name="Server skills card"/>
          <p:cNvSpPr/>
          <p:nvPr/>
        </p:nvSpPr>
        <p:spPr>
          <a:xfrm>
            <a:off x="457200" y="105156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Server skills header"/>
          <p:cNvSpPr/>
          <p:nvPr/>
        </p:nvSpPr>
        <p:spPr>
          <a:xfrm>
            <a:off x="457200" y="10515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erver circle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Fa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314450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051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01168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Linux and Windows administration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Virtualisation: VMware, KVM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Patching and config management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Storage and performance tuning</a:t>
            </a:r>
            <a:endParaRPr lang="en-US" sz="1200" dirty="0"/>
          </a:p>
        </p:txBody>
      </p:sp>
      <p:sp>
        <p:nvSpPr>
          <p:cNvPr id="9" name="Network skills card"/>
          <p:cNvSpPr/>
          <p:nvPr/>
        </p:nvSpPr>
        <p:spPr>
          <a:xfrm>
            <a:off x="2542032" y="105156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0" name="Network skills header"/>
          <p:cNvSpPr/>
          <p:nvPr/>
        </p:nvSpPr>
        <p:spPr>
          <a:xfrm>
            <a:off x="2542032" y="10515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Network circle"/>
          <p:cNvSpPr/>
          <p:nvPr/>
        </p:nvSpPr>
        <p:spPr>
          <a:xfrm>
            <a:off x="2679192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FaNetworkWi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22" y="131445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73552" y="1051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Network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06624" y="201168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Routing and switching: BGP, OSPF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Firewalls, load balancers, SD-WAN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Network automation: NETCONF, Ansible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Packet analysis and flow data</a:t>
            </a:r>
            <a:endParaRPr lang="en-US" sz="1200" dirty="0"/>
          </a:p>
        </p:txBody>
      </p:sp>
      <p:sp>
        <p:nvSpPr>
          <p:cNvPr id="15" name="Cloud skills card"/>
          <p:cNvSpPr/>
          <p:nvPr/>
        </p:nvSpPr>
        <p:spPr>
          <a:xfrm>
            <a:off x="4626864" y="105156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6" name="Cloud skills header"/>
          <p:cNvSpPr/>
          <p:nvPr/>
        </p:nvSpPr>
        <p:spPr>
          <a:xfrm>
            <a:off x="4626864" y="10515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Cloud circle"/>
          <p:cNvSpPr/>
          <p:nvPr/>
        </p:nvSpPr>
        <p:spPr>
          <a:xfrm>
            <a:off x="4764024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Fa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754" y="131445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58384" y="1051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791456" y="201168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AWS, Azure or GCP certification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Kubernetes and containers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Terraform and landing zones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IAM, FinOps and cost control</a:t>
            </a:r>
            <a:endParaRPr lang="en-US" sz="1200" dirty="0"/>
          </a:p>
        </p:txBody>
      </p:sp>
      <p:sp>
        <p:nvSpPr>
          <p:cNvPr id="21" name="Middleware skills card"/>
          <p:cNvSpPr/>
          <p:nvPr/>
        </p:nvSpPr>
        <p:spPr>
          <a:xfrm>
            <a:off x="6711696" y="1051560"/>
            <a:ext cx="1965960" cy="35661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2" name="Middleware skills header"/>
          <p:cNvSpPr/>
          <p:nvPr/>
        </p:nvSpPr>
        <p:spPr>
          <a:xfrm>
            <a:off x="6711696" y="105156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Middleware circle"/>
          <p:cNvSpPr/>
          <p:nvPr/>
        </p:nvSpPr>
        <p:spPr>
          <a:xfrm>
            <a:off x="6848856" y="118872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3" descr="FaLayerGrou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586" y="1314450"/>
            <a:ext cx="251460" cy="2514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43216" y="1051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Middleware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76288" y="2011680"/>
            <a:ext cx="166420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Kafka, MQ and RabbitMQ operations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App servers: Tomcat, WebLogic, JBoss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JVM tuning and heap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API gateways, caching, tracing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Mindset traits and how to assess them</a:t>
            </a:r>
            <a:endParaRPr lang="en-US" sz="2800" dirty="0"/>
          </a:p>
        </p:txBody>
      </p:sp>
      <p:sp>
        <p:nvSpPr>
          <p:cNvPr id="3" name="Traits panel"/>
          <p:cNvSpPr/>
          <p:nvPr/>
        </p:nvSpPr>
        <p:spPr>
          <a:xfrm>
            <a:off x="457200" y="105156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F2F5F9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Behavioural traits</a:t>
            </a:r>
            <a:endParaRPr lang="en-US" sz="1500" dirty="0"/>
          </a:p>
        </p:txBody>
      </p:sp>
      <p:sp>
        <p:nvSpPr>
          <p:cNvPr id="5" name="Blameless mindset circle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FaHandsHelp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459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Blameless mindset</a:t>
            </a:r>
            <a:endParaRPr lang="en-US" sz="1250" dirty="0"/>
          </a:p>
        </p:txBody>
      </p:sp>
      <p:sp>
        <p:nvSpPr>
          <p:cNvPr id="8" name="Bias to automate circle"/>
          <p:cNvSpPr/>
          <p:nvPr/>
        </p:nvSpPr>
        <p:spPr>
          <a:xfrm>
            <a:off x="685800" y="2121408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9" name="Image 1" descr="FaBo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1284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1214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Bias to automate</a:t>
            </a:r>
            <a:endParaRPr lang="en-US" sz="1250" dirty="0"/>
          </a:p>
        </p:txBody>
      </p:sp>
      <p:sp>
        <p:nvSpPr>
          <p:cNvPr id="11" name="Curiosity under pressure circle"/>
          <p:cNvSpPr/>
          <p:nvPr/>
        </p:nvSpPr>
        <p:spPr>
          <a:xfrm>
            <a:off x="685800" y="2596896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2" name="Image 2" descr="Fa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88336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5968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Curiosity under pressure</a:t>
            </a:r>
            <a:endParaRPr lang="en-US" sz="1250" dirty="0"/>
          </a:p>
        </p:txBody>
      </p:sp>
      <p:sp>
        <p:nvSpPr>
          <p:cNvPr id="14" name="Clear incident communication circle"/>
          <p:cNvSpPr/>
          <p:nvPr/>
        </p:nvSpPr>
        <p:spPr>
          <a:xfrm>
            <a:off x="685800" y="3072384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5" name="Image 3" descr="FaComm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63824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30723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Clear incident communication</a:t>
            </a:r>
            <a:endParaRPr lang="en-US" sz="1250" dirty="0"/>
          </a:p>
        </p:txBody>
      </p:sp>
      <p:sp>
        <p:nvSpPr>
          <p:cNvPr id="17" name="Risk-based judgement circle"/>
          <p:cNvSpPr/>
          <p:nvPr/>
        </p:nvSpPr>
        <p:spPr>
          <a:xfrm>
            <a:off x="685800" y="3547872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8" name="Image 4" descr="FaBalanceSca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39312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88720" y="35478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Risk-based judgement</a:t>
            </a:r>
            <a:endParaRPr lang="en-US" sz="1250" dirty="0"/>
          </a:p>
        </p:txBody>
      </p:sp>
      <p:sp>
        <p:nvSpPr>
          <p:cNvPr id="20" name="Partners with developers circle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1" name="Image 5" descr="FaUserFriend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114800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8872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D3D"/>
                </a:solidFill>
              </a:rPr>
              <a:t>Partners with developers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402336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Suggested interview loop</a:t>
            </a:r>
            <a:endParaRPr lang="en-US" sz="1500" dirty="0"/>
          </a:p>
        </p:txBody>
      </p:sp>
      <p:sp>
        <p:nvSpPr>
          <p:cNvPr id="24" name="Step number"/>
          <p:cNvSpPr/>
          <p:nvPr/>
        </p:nvSpPr>
        <p:spPr>
          <a:xfrm>
            <a:off x="4023360" y="1691640"/>
            <a:ext cx="384048" cy="384048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402336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4572000" y="16459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Troubleshooting scenario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4572000" y="18836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Live debugging of a failing service; reasoning matters more than the answer</a:t>
            </a:r>
            <a:endParaRPr lang="en-US" sz="1050" dirty="0"/>
          </a:p>
        </p:txBody>
      </p:sp>
      <p:sp>
        <p:nvSpPr>
          <p:cNvPr id="28" name="Step number"/>
          <p:cNvSpPr/>
          <p:nvPr/>
        </p:nvSpPr>
        <p:spPr>
          <a:xfrm>
            <a:off x="4023360" y="2276856"/>
            <a:ext cx="384048" cy="384048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023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4572000" y="22311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Coding screen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24688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Practical automation task in Python or Go, not whiteboard puzzles</a:t>
            </a:r>
            <a:endParaRPr lang="en-US" sz="1050" dirty="0"/>
          </a:p>
        </p:txBody>
      </p:sp>
      <p:sp>
        <p:nvSpPr>
          <p:cNvPr id="32" name="Step number"/>
          <p:cNvSpPr/>
          <p:nvPr/>
        </p:nvSpPr>
        <p:spPr>
          <a:xfrm>
            <a:off x="4023360" y="2862072"/>
            <a:ext cx="384048" cy="384048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402336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0" y="28163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System design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4572000" y="30540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Design a resilient, observable service with SLOs</a:t>
            </a:r>
            <a:endParaRPr lang="en-US" sz="1050" dirty="0"/>
          </a:p>
        </p:txBody>
      </p:sp>
      <p:sp>
        <p:nvSpPr>
          <p:cNvPr id="36" name="Step number"/>
          <p:cNvSpPr/>
          <p:nvPr/>
        </p:nvSpPr>
        <p:spPr>
          <a:xfrm>
            <a:off x="4023360" y="3447288"/>
            <a:ext cx="384048" cy="384048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02336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0" y="34015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Incident role-play</a:t>
            </a:r>
            <a:endParaRPr lang="en-US" sz="1250" dirty="0"/>
          </a:p>
        </p:txBody>
      </p:sp>
      <p:sp>
        <p:nvSpPr>
          <p:cNvPr id="39" name="Text 31"/>
          <p:cNvSpPr txBox="1"/>
          <p:nvPr/>
        </p:nvSpPr>
        <p:spPr>
          <a:xfrm>
            <a:off x="4572000" y="36393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Run a simulated outage: triage, comms, post-incident review</a:t>
            </a:r>
            <a:endParaRPr lang="en-US" sz="1050" dirty="0"/>
          </a:p>
        </p:txBody>
      </p:sp>
      <p:sp>
        <p:nvSpPr>
          <p:cNvPr id="40" name="Step number"/>
          <p:cNvSpPr/>
          <p:nvPr/>
        </p:nvSpPr>
        <p:spPr>
          <a:xfrm>
            <a:off x="4023360" y="4032504"/>
            <a:ext cx="384048" cy="384048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402336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42" name="Text 34"/>
          <p:cNvSpPr txBox="1"/>
          <p:nvPr/>
        </p:nvSpPr>
        <p:spPr>
          <a:xfrm>
            <a:off x="4572000" y="39867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Team and culture fit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4572000" y="42245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Collaboration with developers; on-call and ownership expectations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Suggested starting team shape</a:t>
            </a:r>
            <a:endParaRPr lang="en-US" sz="2800" dirty="0"/>
          </a:p>
        </p:txBody>
      </p:sp>
      <p:sp>
        <p:nvSpPr>
          <p:cNvPr id="3" name="SRE lead"/>
          <p:cNvSpPr/>
          <p:nvPr/>
        </p:nvSpPr>
        <p:spPr>
          <a:xfrm>
            <a:off x="1920240" y="10515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20240" y="1051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SRE Lead / Manager (1)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600200"/>
            <a:ext cx="0" cy="228600"/>
          </a:xfrm>
          <a:prstGeom prst="line">
            <a:avLst/>
          </a:prstGeom>
          <a:noFill/>
          <a:ln w="15875">
            <a:solidFill>
              <a:srgbClr val="5B6B7D"/>
            </a:solidFill>
            <a:prstDash val="solid"/>
          </a:ln>
        </p:spPr>
      </p:sp>
      <p:sp>
        <p:nvSpPr>
          <p:cNvPr id="6" name="Platform pod"/>
          <p:cNvSpPr/>
          <p:nvPr/>
        </p:nvSpPr>
        <p:spPr>
          <a:xfrm>
            <a:off x="457200" y="1828800"/>
            <a:ext cx="5120640" cy="548640"/>
          </a:xfrm>
          <a:prstGeom prst="roundRect">
            <a:avLst>
              <a:gd name="adj" fmla="val 13333"/>
            </a:avLst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28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Platform SREs: observability and automation (2-3)</a:t>
            </a:r>
            <a:endParaRPr lang="en-US" sz="1250" dirty="0"/>
          </a:p>
        </p:txBody>
      </p:sp>
      <p:sp>
        <p:nvSpPr>
          <p:cNvPr id="8" name="Server pod"/>
          <p:cNvSpPr/>
          <p:nvPr/>
        </p:nvSpPr>
        <p:spPr>
          <a:xfrm>
            <a:off x="457200" y="260604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Server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 SREs</a:t>
            </a:r>
            <a:endParaRPr lang="en-US" sz="1200" dirty="0"/>
          </a:p>
        </p:txBody>
      </p:sp>
      <p:sp>
        <p:nvSpPr>
          <p:cNvPr id="11" name="Network pod"/>
          <p:cNvSpPr/>
          <p:nvPr/>
        </p:nvSpPr>
        <p:spPr>
          <a:xfrm>
            <a:off x="1764792" y="260604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764792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Network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764792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 SREs</a:t>
            </a:r>
            <a:endParaRPr lang="en-US" sz="1200" dirty="0"/>
          </a:p>
        </p:txBody>
      </p:sp>
      <p:sp>
        <p:nvSpPr>
          <p:cNvPr id="14" name="Cloud pod"/>
          <p:cNvSpPr/>
          <p:nvPr/>
        </p:nvSpPr>
        <p:spPr>
          <a:xfrm>
            <a:off x="3072384" y="260604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72384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Cloud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072384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2-3 SREs</a:t>
            </a:r>
            <a:endParaRPr lang="en-US" sz="1200" dirty="0"/>
          </a:p>
        </p:txBody>
      </p:sp>
      <p:sp>
        <p:nvSpPr>
          <p:cNvPr id="17" name="Middleware pod"/>
          <p:cNvSpPr/>
          <p:nvPr/>
        </p:nvSpPr>
        <p:spPr>
          <a:xfrm>
            <a:off x="4379976" y="2606040"/>
            <a:ext cx="1234440" cy="1005840"/>
          </a:xfrm>
          <a:prstGeom prst="roundRect">
            <a:avLst>
              <a:gd name="adj" fmla="val 727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79976" y="2697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Middleware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379976" y="3108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 SREs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</a:rPr>
              <a:t>Illustrative sizing: roughly 9 to 12 FTE to start. Scale to estate size, criticality and on-call coverage model.</a:t>
            </a:r>
            <a:endParaRPr lang="en-US" sz="1150" dirty="0"/>
          </a:p>
        </p:txBody>
      </p:sp>
      <p:sp>
        <p:nvSpPr>
          <p:cNvPr id="21" name="Sourcing card"/>
          <p:cNvSpPr/>
          <p:nvPr/>
        </p:nvSpPr>
        <p:spPr>
          <a:xfrm>
            <a:off x="5852160" y="1051560"/>
            <a:ext cx="2834640" cy="35661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989320" y="1143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</a:rPr>
              <a:t>Suggested sourcing mix</a:t>
            </a:r>
            <a:endParaRPr lang="en-US" sz="135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5943600" y="1463040"/>
          <a:ext cx="26517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Legend reskill"/>
          <p:cNvSpPr/>
          <p:nvPr/>
        </p:nvSpPr>
        <p:spPr>
          <a:xfrm>
            <a:off x="6035040" y="3611880"/>
            <a:ext cx="146304" cy="146304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63640" y="356616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Re-skill existing ops staff (60%)</a:t>
            </a:r>
            <a:endParaRPr lang="en-US" sz="1100" dirty="0"/>
          </a:p>
        </p:txBody>
      </p:sp>
      <p:sp>
        <p:nvSpPr>
          <p:cNvPr id="26" name="Legend hire"/>
          <p:cNvSpPr/>
          <p:nvPr/>
        </p:nvSpPr>
        <p:spPr>
          <a:xfrm>
            <a:off x="6035040" y="3931920"/>
            <a:ext cx="146304" cy="14630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63640" y="38862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D3D"/>
                </a:solidFill>
              </a:rPr>
              <a:t>External SRE hires (40%)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Eight prerequisites before you build</a:t>
            </a:r>
            <a:endParaRPr lang="en-US" sz="2800" dirty="0"/>
          </a:p>
        </p:txBody>
      </p:sp>
      <p:sp>
        <p:nvSpPr>
          <p:cNvPr id="3" name="Executive mandate card"/>
          <p:cNvSpPr/>
          <p:nvPr/>
        </p:nvSpPr>
        <p:spPr>
          <a:xfrm>
            <a:off x="457200" y="105156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Executive mandate circle"/>
          <p:cNvSpPr/>
          <p:nvPr/>
        </p:nvSpPr>
        <p:spPr>
          <a:xfrm>
            <a:off x="594360" y="1188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FaFl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30302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Executive mandate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Sponsor, budget and a clear charter for SRE</a:t>
            </a:r>
            <a:endParaRPr lang="en-US" sz="1050" dirty="0"/>
          </a:p>
        </p:txBody>
      </p:sp>
      <p:sp>
        <p:nvSpPr>
          <p:cNvPr id="9" name="Service tiering card"/>
          <p:cNvSpPr/>
          <p:nvPr/>
        </p:nvSpPr>
        <p:spPr>
          <a:xfrm>
            <a:off x="2542032" y="105156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0" name="Service tiering circle"/>
          <p:cNvSpPr/>
          <p:nvPr/>
        </p:nvSpPr>
        <p:spPr>
          <a:xfrm>
            <a:off x="2679192" y="1188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FaList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492" y="130302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05072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2679192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Service tiering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2679192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Accurate CMDB; tier-1 services identified</a:t>
            </a:r>
            <a:endParaRPr lang="en-US" sz="1050" dirty="0"/>
          </a:p>
        </p:txBody>
      </p:sp>
      <p:sp>
        <p:nvSpPr>
          <p:cNvPr id="15" name="Baseline metrics card"/>
          <p:cNvSpPr/>
          <p:nvPr/>
        </p:nvSpPr>
        <p:spPr>
          <a:xfrm>
            <a:off x="4626864" y="105156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6" name="Baseline metrics circle"/>
          <p:cNvSpPr/>
          <p:nvPr/>
        </p:nvSpPr>
        <p:spPr>
          <a:xfrm>
            <a:off x="4764024" y="1188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7" name="Image 2" descr="FaChart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324" y="1303020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089904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4764024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Baseline metrics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764024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Current MTTR, incident volume, availability and toil</a:t>
            </a:r>
            <a:endParaRPr lang="en-US" sz="1050" dirty="0"/>
          </a:p>
        </p:txBody>
      </p:sp>
      <p:sp>
        <p:nvSpPr>
          <p:cNvPr id="21" name="Observability gap review card"/>
          <p:cNvSpPr/>
          <p:nvPr/>
        </p:nvSpPr>
        <p:spPr>
          <a:xfrm>
            <a:off x="6711696" y="1051560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2" name="Observability gap review circle"/>
          <p:cNvSpPr/>
          <p:nvPr/>
        </p:nvSpPr>
        <p:spPr>
          <a:xfrm>
            <a:off x="6848856" y="118872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3" name="Image 3" descr="FaEy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156" y="130302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74736" y="1188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6848856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Observability gap review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848856" y="20574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What can and cannot be seen today</a:t>
            </a:r>
            <a:endParaRPr lang="en-US" sz="1050" dirty="0"/>
          </a:p>
        </p:txBody>
      </p:sp>
      <p:sp>
        <p:nvSpPr>
          <p:cNvPr id="27" name="Operating model card"/>
          <p:cNvSpPr/>
          <p:nvPr/>
        </p:nvSpPr>
        <p:spPr>
          <a:xfrm>
            <a:off x="457200" y="2862072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8" name="Operating model circle"/>
          <p:cNvSpPr/>
          <p:nvPr/>
        </p:nvSpPr>
        <p:spPr>
          <a:xfrm>
            <a:off x="594360" y="299923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9" name="Image 4" descr="FaSitemap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113532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920240" y="2999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594360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Operating model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594360" y="38679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SRE vs Ops vs Dev roles, engagement and on-call policy</a:t>
            </a:r>
            <a:endParaRPr lang="en-US" sz="1050" dirty="0"/>
          </a:p>
        </p:txBody>
      </p:sp>
      <p:sp>
        <p:nvSpPr>
          <p:cNvPr id="33" name="Culture and buy-in card"/>
          <p:cNvSpPr/>
          <p:nvPr/>
        </p:nvSpPr>
        <p:spPr>
          <a:xfrm>
            <a:off x="2542032" y="2862072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34" name="Culture and buy-in circle"/>
          <p:cNvSpPr/>
          <p:nvPr/>
        </p:nvSpPr>
        <p:spPr>
          <a:xfrm>
            <a:off x="2679192" y="299923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35" name="Image 5" descr="FaHandshak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3492" y="3113532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005072" y="2999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6</a:t>
            </a:r>
            <a:endParaRPr lang="en-US" sz="2200" dirty="0"/>
          </a:p>
        </p:txBody>
      </p:sp>
      <p:sp>
        <p:nvSpPr>
          <p:cNvPr id="37" name="Text 29"/>
          <p:cNvSpPr txBox="1"/>
          <p:nvPr/>
        </p:nvSpPr>
        <p:spPr>
          <a:xfrm>
            <a:off x="2679192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Culture and buy-in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2679192" y="38679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Blameless reviews and error-budget agreement with dev teams</a:t>
            </a:r>
            <a:endParaRPr lang="en-US" sz="1050" dirty="0"/>
          </a:p>
        </p:txBody>
      </p:sp>
      <p:sp>
        <p:nvSpPr>
          <p:cNvPr id="39" name="Talent plan card"/>
          <p:cNvSpPr/>
          <p:nvPr/>
        </p:nvSpPr>
        <p:spPr>
          <a:xfrm>
            <a:off x="4626864" y="2862072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0" name="Talent plan circle"/>
          <p:cNvSpPr/>
          <p:nvPr/>
        </p:nvSpPr>
        <p:spPr>
          <a:xfrm>
            <a:off x="4764024" y="299923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1" name="Image 6" descr="FaGraduationC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8324" y="3113532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089904" y="2999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7</a:t>
            </a:r>
            <a:endParaRPr lang="en-US" sz="2200" dirty="0"/>
          </a:p>
        </p:txBody>
      </p:sp>
      <p:sp>
        <p:nvSpPr>
          <p:cNvPr id="43" name="Text 34"/>
          <p:cNvSpPr txBox="1"/>
          <p:nvPr/>
        </p:nvSpPr>
        <p:spPr>
          <a:xfrm>
            <a:off x="4764024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Talent plan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4764024" y="38679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Hiring, re-skilling, training budget and career ladder</a:t>
            </a:r>
            <a:endParaRPr lang="en-US" sz="1050" dirty="0"/>
          </a:p>
        </p:txBody>
      </p:sp>
      <p:sp>
        <p:nvSpPr>
          <p:cNvPr id="45" name="Governance and security card"/>
          <p:cNvSpPr/>
          <p:nvPr/>
        </p:nvSpPr>
        <p:spPr>
          <a:xfrm>
            <a:off x="6711696" y="2862072"/>
            <a:ext cx="19659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6" name="Governance and security circle"/>
          <p:cNvSpPr/>
          <p:nvPr/>
        </p:nvSpPr>
        <p:spPr>
          <a:xfrm>
            <a:off x="6848856" y="299923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47" name="Image 7" descr="FaShieldAl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3156" y="3113532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174736" y="29992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8E0E8"/>
                </a:solidFill>
              </a:rPr>
              <a:t>8</a:t>
            </a:r>
            <a:endParaRPr lang="en-US" sz="2200" dirty="0"/>
          </a:p>
        </p:txBody>
      </p:sp>
      <p:sp>
        <p:nvSpPr>
          <p:cNvPr id="49" name="Text 39"/>
          <p:cNvSpPr txBox="1"/>
          <p:nvPr/>
        </p:nvSpPr>
        <p:spPr>
          <a:xfrm>
            <a:off x="6848856" y="3575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Governance and security</a:t>
            </a:r>
            <a:endParaRPr lang="en-US" sz="1250" dirty="0"/>
          </a:p>
        </p:txBody>
      </p:sp>
      <p:sp>
        <p:nvSpPr>
          <p:cNvPr id="50" name="Text 40"/>
          <p:cNvSpPr txBox="1"/>
          <p:nvPr/>
        </p:nvSpPr>
        <p:spPr>
          <a:xfrm>
            <a:off x="6848856" y="3867912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Access, change management (ITIL) and audit alignment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How you will measure SRE success</a:t>
            </a:r>
            <a:endParaRPr lang="en-US" sz="2800" dirty="0"/>
          </a:p>
        </p:txBody>
      </p:sp>
      <p:sp>
        <p:nvSpPr>
          <p:cNvPr id="3" name="Toil cap stat"/>
          <p:cNvSpPr/>
          <p:nvPr/>
        </p:nvSpPr>
        <p:spPr>
          <a:xfrm>
            <a:off x="457200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6F7F4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06F"/>
                </a:solidFill>
              </a:rPr>
              <a:t>50%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Toil cap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Maximum share of SRE time on manual, repetitive work</a:t>
            </a:r>
            <a:endParaRPr lang="en-US" sz="1050" dirty="0"/>
          </a:p>
        </p:txBody>
      </p:sp>
      <p:sp>
        <p:nvSpPr>
          <p:cNvPr id="7" name="Tier-1 coverage stat"/>
          <p:cNvSpPr/>
          <p:nvPr/>
        </p:nvSpPr>
        <p:spPr>
          <a:xfrm>
            <a:off x="2542032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2F5F9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542032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A"/>
                </a:solidFill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633472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Tier-1 coverage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679192" y="2423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Tier-1 services with agreed SLIs and SLOs</a:t>
            </a:r>
            <a:endParaRPr lang="en-US" sz="1050" dirty="0"/>
          </a:p>
        </p:txBody>
      </p:sp>
      <p:sp>
        <p:nvSpPr>
          <p:cNvPr id="11" name="MTTR in year 1 stat"/>
          <p:cNvSpPr/>
          <p:nvPr/>
        </p:nvSpPr>
        <p:spPr>
          <a:xfrm>
            <a:off x="4626864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E6F7F4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26864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806F"/>
                </a:solidFill>
              </a:rPr>
              <a:t>-30%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4718304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MTTR in year 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2423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Target reduction in mean time to recover</a:t>
            </a:r>
            <a:endParaRPr lang="en-US" sz="1050" dirty="0"/>
          </a:p>
        </p:txBody>
      </p:sp>
      <p:sp>
        <p:nvSpPr>
          <p:cNvPr id="15" name="Actionable alerts stat"/>
          <p:cNvSpPr/>
          <p:nvPr/>
        </p:nvSpPr>
        <p:spPr>
          <a:xfrm>
            <a:off x="6711696" y="109728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2F5F9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711696" y="123444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B1F3A"/>
                </a:solidFill>
              </a:rPr>
              <a:t>90%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2103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Actionable alerts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48856" y="242316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D"/>
                </a:solidFill>
              </a:rPr>
              <a:t>Alerts that require human action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Also track</a:t>
            </a:r>
            <a:endParaRPr lang="en-US" sz="1400" dirty="0"/>
          </a:p>
        </p:txBody>
      </p:sp>
      <p:sp>
        <p:nvSpPr>
          <p:cNvPr id="20" name="Metric pill"/>
          <p:cNvSpPr/>
          <p:nvPr/>
        </p:nvSpPr>
        <p:spPr>
          <a:xfrm>
            <a:off x="457200" y="37947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Error-budget burn</a:t>
            </a:r>
            <a:endParaRPr lang="en-US" sz="1150" dirty="0"/>
          </a:p>
        </p:txBody>
      </p:sp>
      <p:sp>
        <p:nvSpPr>
          <p:cNvPr id="22" name="Metric pill"/>
          <p:cNvSpPr/>
          <p:nvPr/>
        </p:nvSpPr>
        <p:spPr>
          <a:xfrm>
            <a:off x="2542032" y="37947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42032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Change failure rate</a:t>
            </a:r>
            <a:endParaRPr lang="en-US" sz="1150" dirty="0"/>
          </a:p>
        </p:txBody>
      </p:sp>
      <p:sp>
        <p:nvSpPr>
          <p:cNvPr id="24" name="Metric pill"/>
          <p:cNvSpPr/>
          <p:nvPr/>
        </p:nvSpPr>
        <p:spPr>
          <a:xfrm>
            <a:off x="4626864" y="37947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Post-incident action closure</a:t>
            </a:r>
            <a:endParaRPr lang="en-US" sz="1150" dirty="0"/>
          </a:p>
        </p:txBody>
      </p:sp>
      <p:sp>
        <p:nvSpPr>
          <p:cNvPr id="26" name="Metric pill"/>
          <p:cNvSpPr/>
          <p:nvPr/>
        </p:nvSpPr>
        <p:spPr>
          <a:xfrm>
            <a:off x="6711696" y="3794760"/>
            <a:ext cx="1965960" cy="502920"/>
          </a:xfrm>
          <a:prstGeom prst="roundRect">
            <a:avLst>
              <a:gd name="adj" fmla="val 4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11696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Pages per on-call shift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348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7A8"/>
                </a:solidFill>
              </a:rPr>
              <a:t>Suggested starter targets. Calibrate to your measured baseline before committing.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Phased roadmap</a:t>
            </a:r>
            <a:endParaRPr lang="en-US" sz="2800" dirty="0"/>
          </a:p>
        </p:txBody>
      </p:sp>
      <p:sp>
        <p:nvSpPr>
          <p:cNvPr id="3" name="Assess chevron"/>
          <p:cNvSpPr/>
          <p:nvPr/>
        </p:nvSpPr>
        <p:spPr>
          <a:xfrm>
            <a:off x="457200" y="1097280"/>
            <a:ext cx="2103120" cy="822960"/>
          </a:xfrm>
          <a:prstGeom prst="chevron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Assess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2"/>
                </a:solidFill>
              </a:rPr>
              <a:t>Months 0-3</a:t>
            </a:r>
            <a:endParaRPr lang="en-US" sz="1100" dirty="0"/>
          </a:p>
        </p:txBody>
      </p:sp>
      <p:sp>
        <p:nvSpPr>
          <p:cNvPr id="6" name="Assess detail"/>
          <p:cNvSpPr/>
          <p:nvPr/>
        </p:nvSpPr>
        <p:spPr>
          <a:xfrm>
            <a:off x="502920" y="210312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Secure sponsor and charter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Tier services; baseline metrics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Tool and skills gap review</a:t>
            </a:r>
            <a:endParaRPr lang="en-US" sz="1200" dirty="0"/>
          </a:p>
        </p:txBody>
      </p:sp>
      <p:sp>
        <p:nvSpPr>
          <p:cNvPr id="8" name="Pilot chevron"/>
          <p:cNvSpPr/>
          <p:nvPr/>
        </p:nvSpPr>
        <p:spPr>
          <a:xfrm>
            <a:off x="2542032" y="1097280"/>
            <a:ext cx="2103120" cy="82296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Pilot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2"/>
                </a:solidFill>
              </a:rPr>
              <a:t>Months 3-6</a:t>
            </a:r>
            <a:endParaRPr lang="en-US" sz="1100" dirty="0"/>
          </a:p>
        </p:txBody>
      </p:sp>
      <p:sp>
        <p:nvSpPr>
          <p:cNvPr id="11" name="Pilot detail"/>
          <p:cNvSpPr/>
          <p:nvPr/>
        </p:nvSpPr>
        <p:spPr>
          <a:xfrm>
            <a:off x="2587752" y="210312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724912" y="22402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Hire core team, 1-2 pilot services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Define SLOs; stand up observability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Start on-call rotation</a:t>
            </a:r>
            <a:endParaRPr lang="en-US" sz="1200" dirty="0"/>
          </a:p>
        </p:txBody>
      </p:sp>
      <p:sp>
        <p:nvSpPr>
          <p:cNvPr id="13" name="Scale chevron"/>
          <p:cNvSpPr/>
          <p:nvPr/>
        </p:nvSpPr>
        <p:spPr>
          <a:xfrm>
            <a:off x="4626864" y="1097280"/>
            <a:ext cx="2103120" cy="822960"/>
          </a:xfrm>
          <a:prstGeom prst="chevron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92624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Scale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92624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2"/>
                </a:solidFill>
              </a:rPr>
              <a:t>Months 6-12</a:t>
            </a:r>
            <a:endParaRPr lang="en-US" sz="1100" dirty="0"/>
          </a:p>
        </p:txBody>
      </p:sp>
      <p:sp>
        <p:nvSpPr>
          <p:cNvPr id="16" name="Scale detail"/>
          <p:cNvSpPr/>
          <p:nvPr/>
        </p:nvSpPr>
        <p:spPr>
          <a:xfrm>
            <a:off x="4672584" y="210312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09744" y="22402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Onboard all tier-1 services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Roll out automation and IaC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Integrate incident and ITSM</a:t>
            </a:r>
            <a:endParaRPr lang="en-US" sz="1200" dirty="0"/>
          </a:p>
        </p:txBody>
      </p:sp>
      <p:sp>
        <p:nvSpPr>
          <p:cNvPr id="18" name="Optimise chevron"/>
          <p:cNvSpPr/>
          <p:nvPr/>
        </p:nvSpPr>
        <p:spPr>
          <a:xfrm>
            <a:off x="6711696" y="1097280"/>
            <a:ext cx="2103120" cy="822960"/>
          </a:xfrm>
          <a:prstGeom prst="chevron">
            <a:avLst/>
          </a:prstGeom>
          <a:solidFill>
            <a:srgbClr val="00806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77456" y="11612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77456" y="14904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8F2"/>
                </a:solidFill>
              </a:rPr>
              <a:t>Month 12+</a:t>
            </a:r>
            <a:endParaRPr lang="en-US" sz="1100" dirty="0"/>
          </a:p>
        </p:txBody>
      </p:sp>
      <p:sp>
        <p:nvSpPr>
          <p:cNvPr id="21" name="Optimise detail"/>
          <p:cNvSpPr/>
          <p:nvPr/>
        </p:nvSpPr>
        <p:spPr>
          <a:xfrm>
            <a:off x="6757416" y="2103120"/>
            <a:ext cx="1874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0B1F3A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94576" y="2240280"/>
            <a:ext cx="1645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Error-budget policy in force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Toil reduction targets met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D3D"/>
                </a:solidFill>
              </a:rPr>
              <a:t>Extend to tier-2 services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network grap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4389120" cy="5143500"/>
          </a:xfrm>
          <a:prstGeom prst="rect">
            <a:avLst/>
          </a:prstGeom>
        </p:spPr>
      </p:pic>
      <p:sp>
        <p:nvSpPr>
          <p:cNvPr id="3" name="Image scrim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0B1F3A">
              <a:alpha val="40000"/>
            </a:srgbClr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Decisions needed to start</a:t>
            </a:r>
            <a:endParaRPr lang="en-US" sz="2800" dirty="0"/>
          </a:p>
        </p:txBody>
      </p:sp>
      <p:sp>
        <p:nvSpPr>
          <p:cNvPr id="5" name="Step number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1887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Confirm executive sponsor and SRE charter</a:t>
            </a:r>
            <a:endParaRPr lang="en-US" sz="1400" dirty="0"/>
          </a:p>
        </p:txBody>
      </p:sp>
      <p:sp>
        <p:nvSpPr>
          <p:cNvPr id="8" name="Step number"/>
          <p:cNvSpPr/>
          <p:nvPr/>
        </p:nvSpPr>
        <p:spPr>
          <a:xfrm>
            <a:off x="457200" y="1965960"/>
            <a:ext cx="502920" cy="502920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965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Agree tier-1 service list and baseline scope</a:t>
            </a:r>
            <a:endParaRPr lang="en-US" sz="1400" dirty="0"/>
          </a:p>
        </p:txBody>
      </p:sp>
      <p:sp>
        <p:nvSpPr>
          <p:cNvPr id="11" name="Step number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72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2743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Select the observability and incident toolchain</a:t>
            </a:r>
            <a:endParaRPr lang="en-US" sz="1400" dirty="0"/>
          </a:p>
        </p:txBody>
      </p:sp>
      <p:sp>
        <p:nvSpPr>
          <p:cNvPr id="14" name="Step number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00B8A0"/>
          </a:solidFill>
          <a:ln w="12700">
            <a:solidFill>
              <a:srgbClr val="00B8A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Approve hiring and re-skilling plan for 9-12 FTE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4805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A3BA"/>
                </a:solidFill>
              </a:rPr>
              <a:t>Vendor logos are trademarks of their respective owners.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1888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FA3B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RE Navy">
  <a:themeElements>
    <a:clrScheme name="SRE Navy">
      <a:dk1>
        <a:srgbClr val="1F2D3D"/>
      </a:dk1>
      <a:lt1>
        <a:srgbClr val="FFFFFF"/>
      </a:lt1>
      <a:dk2>
        <a:srgbClr val="0B1F3A"/>
      </a:dk2>
      <a:lt2>
        <a:srgbClr val="F2F5F9"/>
      </a:lt2>
      <a:accent1>
        <a:srgbClr val="00B8A0"/>
      </a:accent1>
      <a:accent2>
        <a:srgbClr val="2563EB"/>
      </a:accent2>
      <a:accent3>
        <a:srgbClr val="7C3AED"/>
      </a:accent3>
      <a:accent4>
        <a:srgbClr val="D97706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SRE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SRE Team for Infrastructure Operations</dc:title>
  <dc:subject>PptxGenJS Presentation</dc:subject>
  <dc:creator>Infrastructure Operations</dc:creator>
  <cp:lastModifiedBy>Infrastructure Operations</cp:lastModifiedBy>
  <cp:revision>1</cp:revision>
  <dcterms:created xsi:type="dcterms:W3CDTF">2026-10-05T13:34:58Z</dcterms:created>
  <dcterms:modified xsi:type="dcterms:W3CDTF">2026-10-05T13:34:58Z</dcterms:modified>
</cp:coreProperties>
</file>