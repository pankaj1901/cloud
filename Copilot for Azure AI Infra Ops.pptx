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754880" cy="4754880"/>
          </a:xfrm>
          <a:prstGeom prst="ellipse">
            <a:avLst/>
          </a:prstGeom>
          <a:solidFill>
            <a:srgbClr val="24316E"/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4206240"/>
            <a:ext cx="3291840" cy="3291840"/>
          </a:xfrm>
          <a:prstGeom prst="ellipse">
            <a:avLst/>
          </a:prstGeom>
          <a:solidFill>
            <a:srgbClr val="24316E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640080"/>
            <a:ext cx="640080" cy="640080"/>
          </a:xfrm>
          <a:prstGeom prst="ellipse">
            <a:avLst/>
          </a:prstGeom>
          <a:solidFill>
            <a:srgbClr val="00B7C3"/>
          </a:solidFill>
          <a:ln/>
        </p:spPr>
      </p:sp>
      <p:pic>
        <p:nvPicPr>
          <p:cNvPr id="5" name="Image 0" descr="clou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704088"/>
            <a:ext cx="512064" cy="51206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17320" y="658368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COPILOT ACROSS THE ENTERPRISE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640080" y="2286000"/>
            <a:ext cx="105156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Copilot Studio for</a:t>
            </a:r>
            <a:endParaRPr lang="en-US" sz="4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Azure AI Infrastructure Operations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640080" y="416052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...and where Copilot for code assistance and other Copilot experiences fit alongside it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640080" y="4892040"/>
            <a:ext cx="2011680" cy="0"/>
          </a:xfrm>
          <a:prstGeom prst="line">
            <a:avLst/>
          </a:prstGeom>
          <a:noFill/>
          <a:ln w="31750">
            <a:solidFill>
              <a:srgbClr val="00B7C3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40080" y="59893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9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for: </a:t>
            </a:r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Platform &amp; AI Engineering Teams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40080" y="63093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9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August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B7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Agenda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5" name="Image 0" descr="cha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5333" y="1656893"/>
            <a:ext cx="453542" cy="45354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71600" y="1545336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Copilot Studio, briefly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1371600" y="1929384"/>
            <a:ext cx="5669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is and how low-code agents fit Azure operations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6309360" y="1545336"/>
            <a:ext cx="914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E3E9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3000" dirty="0"/>
          </a:p>
        </p:txBody>
      </p:sp>
      <p:sp>
        <p:nvSpPr>
          <p:cNvPr id="9" name="Shape 6"/>
          <p:cNvSpPr/>
          <p:nvPr/>
        </p:nvSpPr>
        <p:spPr>
          <a:xfrm>
            <a:off x="548640" y="2770632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0" name="Image 1" descr="serv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5333" y="2827325"/>
            <a:ext cx="453542" cy="45354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371600" y="2715768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 case: AI infra ops</a:t>
            </a:r>
            <a:endParaRPr lang="en-US" sz="1700" dirty="0"/>
          </a:p>
        </p:txBody>
      </p:sp>
      <p:sp>
        <p:nvSpPr>
          <p:cNvPr id="12" name="Text 8"/>
          <p:cNvSpPr/>
          <p:nvPr/>
        </p:nvSpPr>
        <p:spPr>
          <a:xfrm>
            <a:off x="1371600" y="3099816"/>
            <a:ext cx="5669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agent for monitoring, incident triage and runbook automation</a:t>
            </a: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6309360" y="2715768"/>
            <a:ext cx="914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E3E9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3000" dirty="0"/>
          </a:p>
        </p:txBody>
      </p:sp>
      <p:sp>
        <p:nvSpPr>
          <p:cNvPr id="14" name="Shape 10"/>
          <p:cNvSpPr/>
          <p:nvPr/>
        </p:nvSpPr>
        <p:spPr>
          <a:xfrm>
            <a:off x="548640" y="3941064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5" name="Image 2" descr="cod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5333" y="3997757"/>
            <a:ext cx="453542" cy="45354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371600" y="38862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 case: code assistance</a:t>
            </a:r>
            <a:endParaRPr lang="en-US" sz="1700" dirty="0"/>
          </a:p>
        </p:txBody>
      </p:sp>
      <p:sp>
        <p:nvSpPr>
          <p:cNvPr id="17" name="Text 12"/>
          <p:cNvSpPr/>
          <p:nvPr/>
        </p:nvSpPr>
        <p:spPr>
          <a:xfrm>
            <a:off x="1371600" y="4270248"/>
            <a:ext cx="5669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Copilot across the engineering lifecycle</a:t>
            </a:r>
            <a:endParaRPr lang="en-US" sz="1250" dirty="0"/>
          </a:p>
        </p:txBody>
      </p:sp>
      <p:sp>
        <p:nvSpPr>
          <p:cNvPr id="18" name="Text 13"/>
          <p:cNvSpPr/>
          <p:nvPr/>
        </p:nvSpPr>
        <p:spPr>
          <a:xfrm>
            <a:off x="6309360" y="3886200"/>
            <a:ext cx="914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E3E9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3000" dirty="0"/>
          </a:p>
        </p:txBody>
      </p:sp>
      <p:sp>
        <p:nvSpPr>
          <p:cNvPr id="19" name="Shape 14"/>
          <p:cNvSpPr/>
          <p:nvPr/>
        </p:nvSpPr>
        <p:spPr>
          <a:xfrm>
            <a:off x="548640" y="5111496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0" name="Image 3" descr="layer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5333" y="5168189"/>
            <a:ext cx="453542" cy="453542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371600" y="5056632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Other Copilot surfaces</a:t>
            </a:r>
            <a:endParaRPr lang="en-US" sz="1700" dirty="0"/>
          </a:p>
        </p:txBody>
      </p:sp>
      <p:sp>
        <p:nvSpPr>
          <p:cNvPr id="22" name="Text 16"/>
          <p:cNvSpPr/>
          <p:nvPr/>
        </p:nvSpPr>
        <p:spPr>
          <a:xfrm>
            <a:off x="1371600" y="5440680"/>
            <a:ext cx="5669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Security, M365 and Power Platform Copilot extend the picture</a:t>
            </a:r>
            <a:endParaRPr lang="en-US" sz="1250" dirty="0"/>
          </a:p>
        </p:txBody>
      </p:sp>
      <p:sp>
        <p:nvSpPr>
          <p:cNvPr id="23" name="Text 17"/>
          <p:cNvSpPr/>
          <p:nvPr/>
        </p:nvSpPr>
        <p:spPr>
          <a:xfrm>
            <a:off x="6309360" y="5056632"/>
            <a:ext cx="914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E3E9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3000" dirty="0"/>
          </a:p>
        </p:txBody>
      </p:sp>
      <p:sp>
        <p:nvSpPr>
          <p:cNvPr id="24" name="Shape 18"/>
          <p:cNvSpPr/>
          <p:nvPr/>
        </p:nvSpPr>
        <p:spPr>
          <a:xfrm>
            <a:off x="7635240" y="1600200"/>
            <a:ext cx="3977640" cy="4544568"/>
          </a:xfrm>
          <a:prstGeom prst="roundRect">
            <a:avLst>
              <a:gd name="adj" fmla="val 2299"/>
            </a:avLst>
          </a:prstGeom>
          <a:solidFill>
            <a:srgbClr val="F4F7FC"/>
          </a:solidFill>
          <a:ln/>
        </p:spPr>
      </p:sp>
      <p:sp>
        <p:nvSpPr>
          <p:cNvPr id="25" name="Text 19"/>
          <p:cNvSpPr/>
          <p:nvPr/>
        </p:nvSpPr>
        <p:spPr>
          <a:xfrm>
            <a:off x="7909560" y="182880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0B7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</a:t>
            </a:r>
            <a:endParaRPr lang="en-US" sz="1100" dirty="0"/>
          </a:p>
        </p:txBody>
      </p:sp>
      <p:sp>
        <p:nvSpPr>
          <p:cNvPr id="26" name="Text 20"/>
          <p:cNvSpPr/>
          <p:nvPr/>
        </p:nvSpPr>
        <p:spPr>
          <a:xfrm>
            <a:off x="7909560" y="2148840"/>
            <a:ext cx="347472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 teams field repetitive alerts and tickets that a well-scoped agent can triage in seconds.
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Developers already save meaningful time with AI pair-programming.
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goal: one coherent Copilot strategy, not four unconnected pilots.</a:t>
            </a:r>
            <a:endParaRPr lang="en-US" sz="1250" dirty="0"/>
          </a:p>
        </p:txBody>
      </p:sp>
      <p:sp>
        <p:nvSpPr>
          <p:cNvPr id="27" name="Text 21"/>
          <p:cNvSpPr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for Azure AI Infrastructure Operations</a:t>
            </a:r>
            <a:endParaRPr lang="en-US" sz="900" dirty="0"/>
          </a:p>
        </p:txBody>
      </p:sp>
      <p:sp>
        <p:nvSpPr>
          <p:cNvPr id="28" name="Text 22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B7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Copilot Studio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52120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low-code platform for building and managing custom AI agents that plug into Azure data, APIs and workflows — grounded in your own operational knowledge rather than generic web answers.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306324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searc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3108960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34440" y="3026664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Grounded answers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1234440" y="3355848"/>
            <a:ext cx="4526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Connects to Azure Monitor, ITSM tools, runbooks and internal docs for accurate, sourced responses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548640" y="420624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0" name="Image 1" descr="za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4251960"/>
            <a:ext cx="365760" cy="36576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234440" y="4169664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Actions, not just chat</a:t>
            </a:r>
            <a:endParaRPr lang="en-US" sz="1450" dirty="0"/>
          </a:p>
        </p:txBody>
      </p:sp>
      <p:sp>
        <p:nvSpPr>
          <p:cNvPr id="12" name="Text 8"/>
          <p:cNvSpPr/>
          <p:nvPr/>
        </p:nvSpPr>
        <p:spPr>
          <a:xfrm>
            <a:off x="1234440" y="4498848"/>
            <a:ext cx="4526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Calls Azure Functions, Logic Apps and REST APIs to actually remediate, not just describe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548640" y="534924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4" name="Image 2" descr="shiel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5394960"/>
            <a:ext cx="365760" cy="36576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234440" y="5312664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Governed by design</a:t>
            </a:r>
            <a:endParaRPr lang="en-US" sz="1450" dirty="0"/>
          </a:p>
        </p:txBody>
      </p:sp>
      <p:sp>
        <p:nvSpPr>
          <p:cNvPr id="16" name="Text 11"/>
          <p:cNvSpPr/>
          <p:nvPr/>
        </p:nvSpPr>
        <p:spPr>
          <a:xfrm>
            <a:off x="1234440" y="5641848"/>
            <a:ext cx="4526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 ID auth, DLP policies and role-based publishing controls for enterprise use</a:t>
            </a:r>
            <a:endParaRPr lang="en-US" sz="1150" dirty="0"/>
          </a:p>
        </p:txBody>
      </p:sp>
      <p:sp>
        <p:nvSpPr>
          <p:cNvPr id="17" name="Shape 12"/>
          <p:cNvSpPr/>
          <p:nvPr/>
        </p:nvSpPr>
        <p:spPr>
          <a:xfrm>
            <a:off x="6355080" y="1554480"/>
            <a:ext cx="5257800" cy="4709160"/>
          </a:xfrm>
          <a:prstGeom prst="roundRect">
            <a:avLst>
              <a:gd name="adj" fmla="val 1942"/>
            </a:avLst>
          </a:prstGeom>
          <a:solidFill>
            <a:srgbClr val="1E2761"/>
          </a:solidFill>
          <a:ln/>
        </p:spPr>
      </p:sp>
      <p:sp>
        <p:nvSpPr>
          <p:cNvPr id="18" name="Text 13"/>
          <p:cNvSpPr/>
          <p:nvPr/>
        </p:nvSpPr>
        <p:spPr>
          <a:xfrm>
            <a:off x="6675120" y="17830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0B7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FITS AZURE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6675120" y="2240280"/>
            <a:ext cx="4617720" cy="777240"/>
          </a:xfrm>
          <a:prstGeom prst="roundRect">
            <a:avLst>
              <a:gd name="adj" fmla="val 7059"/>
            </a:avLst>
          </a:prstGeom>
          <a:solidFill>
            <a:srgbClr val="2A3576"/>
          </a:solidFill>
          <a:ln/>
        </p:spPr>
      </p:sp>
      <p:sp>
        <p:nvSpPr>
          <p:cNvPr id="20" name="Text 15"/>
          <p:cNvSpPr/>
          <p:nvPr/>
        </p:nvSpPr>
        <p:spPr>
          <a:xfrm>
            <a:off x="6858000" y="2295144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Experience layer</a:t>
            </a:r>
            <a:endParaRPr lang="en-US" sz="1250" dirty="0"/>
          </a:p>
        </p:txBody>
      </p:sp>
      <p:sp>
        <p:nvSpPr>
          <p:cNvPr id="21" name="Text 16"/>
          <p:cNvSpPr/>
          <p:nvPr/>
        </p:nvSpPr>
        <p:spPr>
          <a:xfrm>
            <a:off x="6858000" y="2569464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Teams, web chat, or embedded portal</a:t>
            </a:r>
            <a:endParaRPr lang="en-US" sz="1050" dirty="0"/>
          </a:p>
        </p:txBody>
      </p:sp>
      <p:sp>
        <p:nvSpPr>
          <p:cNvPr id="22" name="Text 17"/>
          <p:cNvSpPr/>
          <p:nvPr/>
        </p:nvSpPr>
        <p:spPr>
          <a:xfrm>
            <a:off x="8778240" y="2953512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B7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300" dirty="0"/>
          </a:p>
        </p:txBody>
      </p:sp>
      <p:sp>
        <p:nvSpPr>
          <p:cNvPr id="23" name="Shape 18"/>
          <p:cNvSpPr/>
          <p:nvPr/>
        </p:nvSpPr>
        <p:spPr>
          <a:xfrm>
            <a:off x="6675120" y="3154680"/>
            <a:ext cx="4617720" cy="777240"/>
          </a:xfrm>
          <a:prstGeom prst="roundRect">
            <a:avLst>
              <a:gd name="adj" fmla="val 7059"/>
            </a:avLst>
          </a:prstGeom>
          <a:solidFill>
            <a:srgbClr val="2A3576"/>
          </a:solidFill>
          <a:ln/>
        </p:spPr>
      </p:sp>
      <p:sp>
        <p:nvSpPr>
          <p:cNvPr id="24" name="Text 19"/>
          <p:cNvSpPr/>
          <p:nvPr/>
        </p:nvSpPr>
        <p:spPr>
          <a:xfrm>
            <a:off x="6858000" y="3209544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Studio agent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6858000" y="3483864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Topics, generative answers, actions</a:t>
            </a:r>
            <a:endParaRPr lang="en-US" sz="1050" dirty="0"/>
          </a:p>
        </p:txBody>
      </p:sp>
      <p:sp>
        <p:nvSpPr>
          <p:cNvPr id="26" name="Text 21"/>
          <p:cNvSpPr/>
          <p:nvPr/>
        </p:nvSpPr>
        <p:spPr>
          <a:xfrm>
            <a:off x="8778240" y="3867912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B7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300" dirty="0"/>
          </a:p>
        </p:txBody>
      </p:sp>
      <p:sp>
        <p:nvSpPr>
          <p:cNvPr id="27" name="Shape 22"/>
          <p:cNvSpPr/>
          <p:nvPr/>
        </p:nvSpPr>
        <p:spPr>
          <a:xfrm>
            <a:off x="6675120" y="4069080"/>
            <a:ext cx="4617720" cy="777240"/>
          </a:xfrm>
          <a:prstGeom prst="roundRect">
            <a:avLst>
              <a:gd name="adj" fmla="val 7059"/>
            </a:avLst>
          </a:prstGeom>
          <a:solidFill>
            <a:srgbClr val="2A3576"/>
          </a:solidFill>
          <a:ln/>
        </p:spPr>
      </p:sp>
      <p:sp>
        <p:nvSpPr>
          <p:cNvPr id="28" name="Text 23"/>
          <p:cNvSpPr/>
          <p:nvPr/>
        </p:nvSpPr>
        <p:spPr>
          <a:xfrm>
            <a:off x="6858000" y="4123944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Connectors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6858000" y="4398264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Monitor, Log Analytics, ServiceNow/ITSM, DevOps</a:t>
            </a:r>
            <a:endParaRPr lang="en-US" sz="1050" dirty="0"/>
          </a:p>
        </p:txBody>
      </p:sp>
      <p:sp>
        <p:nvSpPr>
          <p:cNvPr id="30" name="Text 25"/>
          <p:cNvSpPr/>
          <p:nvPr/>
        </p:nvSpPr>
        <p:spPr>
          <a:xfrm>
            <a:off x="8778240" y="4782312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B7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300" dirty="0"/>
          </a:p>
        </p:txBody>
      </p:sp>
      <p:sp>
        <p:nvSpPr>
          <p:cNvPr id="31" name="Shape 26"/>
          <p:cNvSpPr/>
          <p:nvPr/>
        </p:nvSpPr>
        <p:spPr>
          <a:xfrm>
            <a:off x="6675120" y="4983480"/>
            <a:ext cx="4617720" cy="777240"/>
          </a:xfrm>
          <a:prstGeom prst="roundRect">
            <a:avLst>
              <a:gd name="adj" fmla="val 7059"/>
            </a:avLst>
          </a:prstGeom>
          <a:solidFill>
            <a:srgbClr val="2A3576"/>
          </a:solidFill>
          <a:ln/>
        </p:spPr>
      </p:sp>
      <p:sp>
        <p:nvSpPr>
          <p:cNvPr id="32" name="Text 27"/>
          <p:cNvSpPr/>
          <p:nvPr/>
        </p:nvSpPr>
        <p:spPr>
          <a:xfrm>
            <a:off x="6858000" y="5038344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resources</a:t>
            </a:r>
            <a:endParaRPr lang="en-US" sz="1250" dirty="0"/>
          </a:p>
        </p:txBody>
      </p:sp>
      <p:sp>
        <p:nvSpPr>
          <p:cNvPr id="33" name="Text 28"/>
          <p:cNvSpPr/>
          <p:nvPr/>
        </p:nvSpPr>
        <p:spPr>
          <a:xfrm>
            <a:off x="6858000" y="5312664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VMs, AKS, storage, networking, cost data</a:t>
            </a:r>
            <a:endParaRPr lang="en-US" sz="1050" dirty="0"/>
          </a:p>
        </p:txBody>
      </p:sp>
      <p:sp>
        <p:nvSpPr>
          <p:cNvPr id="34" name="Text 29"/>
          <p:cNvSpPr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for Azure AI Infrastructure Operations</a:t>
            </a:r>
            <a:endParaRPr lang="en-US" sz="900" dirty="0"/>
          </a:p>
        </p:txBody>
      </p:sp>
      <p:sp>
        <p:nvSpPr>
          <p:cNvPr id="35" name="Text 30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B7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SCENARIO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 Case 1 — Azure AI Infra Ops Agent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4F7FC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508760"/>
            <a:ext cx="10515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Copilot Studio agent scoped to platform engineering — answers infra questions, triages alerts, and kicks off approved remediations, all inside Teams.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48640" y="2606040"/>
            <a:ext cx="2651760" cy="3246120"/>
          </a:xfrm>
          <a:prstGeom prst="roundRect">
            <a:avLst>
              <a:gd name="adj" fmla="val 3448"/>
            </a:avLst>
          </a:prstGeom>
          <a:solidFill>
            <a:srgbClr val="1E2761"/>
          </a:solidFill>
          <a:ln/>
        </p:spPr>
      </p:sp>
      <p:sp>
        <p:nvSpPr>
          <p:cNvPr id="7" name="Shape 5"/>
          <p:cNvSpPr/>
          <p:nvPr/>
        </p:nvSpPr>
        <p:spPr>
          <a:xfrm>
            <a:off x="777240" y="2880360"/>
            <a:ext cx="548640" cy="548640"/>
          </a:xfrm>
          <a:prstGeom prst="ellipse">
            <a:avLst/>
          </a:prstGeom>
          <a:solidFill>
            <a:srgbClr val="00B7C3"/>
          </a:solidFill>
          <a:ln/>
        </p:spPr>
      </p:sp>
      <p:pic>
        <p:nvPicPr>
          <p:cNvPr id="8" name="Image 0" descr="activit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104" y="2935224"/>
            <a:ext cx="438912" cy="43891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77240" y="361188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Alert triage &amp; summarization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777240" y="4297680"/>
            <a:ext cx="21945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Pulls Azure Monitor alerts, correlates with recent deployments, and produces a plain-language incident summary in seconds.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3429000" y="2606040"/>
            <a:ext cx="2651760" cy="3246120"/>
          </a:xfrm>
          <a:prstGeom prst="roundRect">
            <a:avLst>
              <a:gd name="adj" fmla="val 3448"/>
            </a:avLst>
          </a:prstGeom>
          <a:solidFill>
            <a:srgbClr val="2A3576"/>
          </a:solidFill>
          <a:ln/>
        </p:spPr>
      </p:sp>
      <p:sp>
        <p:nvSpPr>
          <p:cNvPr id="12" name="Shape 9"/>
          <p:cNvSpPr/>
          <p:nvPr/>
        </p:nvSpPr>
        <p:spPr>
          <a:xfrm>
            <a:off x="3657600" y="2880360"/>
            <a:ext cx="548640" cy="548640"/>
          </a:xfrm>
          <a:prstGeom prst="ellipse">
            <a:avLst/>
          </a:prstGeom>
          <a:solidFill>
            <a:srgbClr val="00B7C3"/>
          </a:solidFill>
          <a:ln/>
        </p:spPr>
      </p:sp>
      <p:pic>
        <p:nvPicPr>
          <p:cNvPr id="13" name="Image 1" descr="search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12464" y="2935224"/>
            <a:ext cx="438912" cy="43891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657600" y="361188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Knowledge &amp; runbook Q&amp;A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3657600" y="4297680"/>
            <a:ext cx="21945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 'how do we restart the AKS ingress controller?' by grounding on internal runbooks and past resolved tickets.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6309360" y="2606040"/>
            <a:ext cx="2651760" cy="3246120"/>
          </a:xfrm>
          <a:prstGeom prst="roundRect">
            <a:avLst>
              <a:gd name="adj" fmla="val 3448"/>
            </a:avLst>
          </a:prstGeom>
          <a:solidFill>
            <a:srgbClr val="1E2761"/>
          </a:solidFill>
          <a:ln/>
        </p:spPr>
      </p:sp>
      <p:sp>
        <p:nvSpPr>
          <p:cNvPr id="17" name="Shape 13"/>
          <p:cNvSpPr/>
          <p:nvPr/>
        </p:nvSpPr>
        <p:spPr>
          <a:xfrm>
            <a:off x="6537960" y="2880360"/>
            <a:ext cx="548640" cy="548640"/>
          </a:xfrm>
          <a:prstGeom prst="ellipse">
            <a:avLst/>
          </a:prstGeom>
          <a:solidFill>
            <a:srgbClr val="00B7C3"/>
          </a:solidFill>
          <a:ln/>
        </p:spPr>
      </p:sp>
      <p:pic>
        <p:nvPicPr>
          <p:cNvPr id="18" name="Image 2" descr="zap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2824" y="2935224"/>
            <a:ext cx="438912" cy="43891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537960" y="361188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Guided remediation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537960" y="4297680"/>
            <a:ext cx="21945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Executes pre-approved fixes — restart a service, scale a pool, roll back a deployment — via Logic Apps, with an audit trail.</a:t>
            </a:r>
            <a:endParaRPr lang="en-US" sz="1050" dirty="0"/>
          </a:p>
        </p:txBody>
      </p:sp>
      <p:sp>
        <p:nvSpPr>
          <p:cNvPr id="21" name="Shape 16"/>
          <p:cNvSpPr/>
          <p:nvPr/>
        </p:nvSpPr>
        <p:spPr>
          <a:xfrm>
            <a:off x="9189720" y="2606040"/>
            <a:ext cx="2651760" cy="3246120"/>
          </a:xfrm>
          <a:prstGeom prst="roundRect">
            <a:avLst>
              <a:gd name="adj" fmla="val 3448"/>
            </a:avLst>
          </a:prstGeom>
          <a:solidFill>
            <a:srgbClr val="2A3576"/>
          </a:solidFill>
          <a:ln/>
        </p:spPr>
      </p:sp>
      <p:sp>
        <p:nvSpPr>
          <p:cNvPr id="22" name="Shape 17"/>
          <p:cNvSpPr/>
          <p:nvPr/>
        </p:nvSpPr>
        <p:spPr>
          <a:xfrm>
            <a:off x="9418320" y="2880360"/>
            <a:ext cx="548640" cy="548640"/>
          </a:xfrm>
          <a:prstGeom prst="ellipse">
            <a:avLst/>
          </a:prstGeom>
          <a:solidFill>
            <a:srgbClr val="00B7C3"/>
          </a:solidFill>
          <a:ln/>
        </p:spPr>
      </p:sp>
      <p:pic>
        <p:nvPicPr>
          <p:cNvPr id="23" name="Image 3" descr="char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3184" y="2935224"/>
            <a:ext cx="438912" cy="438912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9418320" y="361188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Capacity &amp; cost signals</a:t>
            </a:r>
            <a:endParaRPr lang="en-US" sz="1400" dirty="0"/>
          </a:p>
        </p:txBody>
      </p:sp>
      <p:sp>
        <p:nvSpPr>
          <p:cNvPr id="25" name="Text 19"/>
          <p:cNvSpPr/>
          <p:nvPr/>
        </p:nvSpPr>
        <p:spPr>
          <a:xfrm>
            <a:off x="9418320" y="4297680"/>
            <a:ext cx="21945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Surfaces anomalies in spend or utilization and drafts a scaling or right-sizing recommendation for review.</a:t>
            </a:r>
            <a:endParaRPr lang="en-US" sz="1050" dirty="0"/>
          </a:p>
        </p:txBody>
      </p:sp>
      <p:sp>
        <p:nvSpPr>
          <p:cNvPr id="26" name="Text 20"/>
          <p:cNvSpPr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for Azure AI Infrastructure Operations</a:t>
            </a:r>
            <a:endParaRPr lang="en-US" sz="900" dirty="0"/>
          </a:p>
        </p:txBody>
      </p:sp>
      <p:sp>
        <p:nvSpPr>
          <p:cNvPr id="27" name="Text 21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B7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An Incident Flows Through The Agent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175004" y="2103120"/>
            <a:ext cx="777240" cy="7772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5" name="Image 0" descr="aler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52728" y="2180844"/>
            <a:ext cx="621792" cy="62179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99032" y="1810512"/>
            <a:ext cx="3291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48640" y="3063240"/>
            <a:ext cx="202996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Alert fires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548640" y="3611880"/>
            <a:ext cx="2029968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Monitor detects a threshold breach or anomaly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2596896" y="2491740"/>
            <a:ext cx="146304" cy="0"/>
          </a:xfrm>
          <a:prstGeom prst="line">
            <a:avLst/>
          </a:prstGeom>
          <a:noFill/>
          <a:ln w="19050">
            <a:solidFill>
              <a:srgbClr val="C7D2EC"/>
            </a:solidFill>
            <a:prstDash val="dash"/>
          </a:ln>
        </p:spPr>
      </p:sp>
      <p:sp>
        <p:nvSpPr>
          <p:cNvPr id="10" name="Shape 7"/>
          <p:cNvSpPr/>
          <p:nvPr/>
        </p:nvSpPr>
        <p:spPr>
          <a:xfrm>
            <a:off x="3387852" y="2103120"/>
            <a:ext cx="777240" cy="7772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1" name="Image 1" descr="cha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65576" y="2180844"/>
            <a:ext cx="621792" cy="62179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611880" y="1810512"/>
            <a:ext cx="3291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2761488" y="3063240"/>
            <a:ext cx="202996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 notified</a:t>
            </a:r>
            <a:endParaRPr lang="en-US" sz="1250" dirty="0"/>
          </a:p>
        </p:txBody>
      </p:sp>
      <p:sp>
        <p:nvSpPr>
          <p:cNvPr id="14" name="Text 10"/>
          <p:cNvSpPr/>
          <p:nvPr/>
        </p:nvSpPr>
        <p:spPr>
          <a:xfrm>
            <a:off x="2761488" y="3611880"/>
            <a:ext cx="2029968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Webhook posts the alert into the Copilot Studio agent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4809744" y="2491740"/>
            <a:ext cx="146304" cy="0"/>
          </a:xfrm>
          <a:prstGeom prst="line">
            <a:avLst/>
          </a:prstGeom>
          <a:noFill/>
          <a:ln w="19050">
            <a:solidFill>
              <a:srgbClr val="C7D2EC"/>
            </a:solidFill>
            <a:prstDash val="dash"/>
          </a:ln>
        </p:spPr>
      </p:sp>
      <p:sp>
        <p:nvSpPr>
          <p:cNvPr id="16" name="Shape 12"/>
          <p:cNvSpPr/>
          <p:nvPr/>
        </p:nvSpPr>
        <p:spPr>
          <a:xfrm>
            <a:off x="5600700" y="2103120"/>
            <a:ext cx="777240" cy="7772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7" name="Image 2" descr="search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78424" y="2180844"/>
            <a:ext cx="621792" cy="62179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5824728" y="1810512"/>
            <a:ext cx="3291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4974336" y="3063240"/>
            <a:ext cx="202996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Context gathered</a:t>
            </a:r>
            <a:endParaRPr lang="en-US" sz="1250" dirty="0"/>
          </a:p>
        </p:txBody>
      </p:sp>
      <p:sp>
        <p:nvSpPr>
          <p:cNvPr id="20" name="Text 15"/>
          <p:cNvSpPr/>
          <p:nvPr/>
        </p:nvSpPr>
        <p:spPr>
          <a:xfrm>
            <a:off x="4974336" y="3611880"/>
            <a:ext cx="2029968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correlates logs, recent changes and prior incidents</a:t>
            </a:r>
            <a:endParaRPr lang="en-US" sz="1000" dirty="0"/>
          </a:p>
        </p:txBody>
      </p:sp>
      <p:sp>
        <p:nvSpPr>
          <p:cNvPr id="21" name="Shape 16"/>
          <p:cNvSpPr/>
          <p:nvPr/>
        </p:nvSpPr>
        <p:spPr>
          <a:xfrm>
            <a:off x="7022592" y="2491740"/>
            <a:ext cx="146304" cy="0"/>
          </a:xfrm>
          <a:prstGeom prst="line">
            <a:avLst/>
          </a:prstGeom>
          <a:noFill/>
          <a:ln w="19050">
            <a:solidFill>
              <a:srgbClr val="C7D2EC"/>
            </a:solidFill>
            <a:prstDash val="dash"/>
          </a:ln>
        </p:spPr>
      </p:sp>
      <p:sp>
        <p:nvSpPr>
          <p:cNvPr id="22" name="Shape 17"/>
          <p:cNvSpPr/>
          <p:nvPr/>
        </p:nvSpPr>
        <p:spPr>
          <a:xfrm>
            <a:off x="7813548" y="2103120"/>
            <a:ext cx="777240" cy="7772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3" name="Image 3" descr="user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91272" y="2180844"/>
            <a:ext cx="621792" cy="621792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8037576" y="1810512"/>
            <a:ext cx="3291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5" name="Text 19"/>
          <p:cNvSpPr/>
          <p:nvPr/>
        </p:nvSpPr>
        <p:spPr>
          <a:xfrm>
            <a:off x="7187184" y="3063240"/>
            <a:ext cx="202996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Engineer briefed</a:t>
            </a:r>
            <a:endParaRPr lang="en-US" sz="1250" dirty="0"/>
          </a:p>
        </p:txBody>
      </p:sp>
      <p:sp>
        <p:nvSpPr>
          <p:cNvPr id="26" name="Text 20"/>
          <p:cNvSpPr/>
          <p:nvPr/>
        </p:nvSpPr>
        <p:spPr>
          <a:xfrm>
            <a:off x="7187184" y="3611880"/>
            <a:ext cx="2029968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and suggested fix posted to the on-call Teams channel</a:t>
            </a:r>
            <a:endParaRPr lang="en-US" sz="1000" dirty="0"/>
          </a:p>
        </p:txBody>
      </p:sp>
      <p:sp>
        <p:nvSpPr>
          <p:cNvPr id="27" name="Shape 21"/>
          <p:cNvSpPr/>
          <p:nvPr/>
        </p:nvSpPr>
        <p:spPr>
          <a:xfrm>
            <a:off x="9235440" y="2491740"/>
            <a:ext cx="146304" cy="0"/>
          </a:xfrm>
          <a:prstGeom prst="line">
            <a:avLst/>
          </a:prstGeom>
          <a:noFill/>
          <a:ln w="19050">
            <a:solidFill>
              <a:srgbClr val="C7D2EC"/>
            </a:solidFill>
            <a:prstDash val="dash"/>
          </a:ln>
        </p:spPr>
      </p:sp>
      <p:sp>
        <p:nvSpPr>
          <p:cNvPr id="28" name="Shape 22"/>
          <p:cNvSpPr/>
          <p:nvPr/>
        </p:nvSpPr>
        <p:spPr>
          <a:xfrm>
            <a:off x="10026396" y="2103120"/>
            <a:ext cx="777240" cy="777240"/>
          </a:xfrm>
          <a:prstGeom prst="ellipse">
            <a:avLst/>
          </a:prstGeom>
          <a:solidFill>
            <a:srgbClr val="00B7C3"/>
          </a:solidFill>
          <a:ln/>
        </p:spPr>
      </p:sp>
      <p:pic>
        <p:nvPicPr>
          <p:cNvPr id="29" name="Image 4" descr="chec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04120" y="2180844"/>
            <a:ext cx="621792" cy="621792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10250424" y="1810512"/>
            <a:ext cx="3291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31" name="Text 24"/>
          <p:cNvSpPr/>
          <p:nvPr/>
        </p:nvSpPr>
        <p:spPr>
          <a:xfrm>
            <a:off x="9400032" y="3063240"/>
            <a:ext cx="202996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Action approved</a:t>
            </a:r>
            <a:endParaRPr lang="en-US" sz="1250" dirty="0"/>
          </a:p>
        </p:txBody>
      </p:sp>
      <p:sp>
        <p:nvSpPr>
          <p:cNvPr id="32" name="Text 25"/>
          <p:cNvSpPr/>
          <p:nvPr/>
        </p:nvSpPr>
        <p:spPr>
          <a:xfrm>
            <a:off x="9400032" y="3611880"/>
            <a:ext cx="2029968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 confirms; agent triggers the remediation runbook</a:t>
            </a:r>
            <a:endParaRPr lang="en-US" sz="1000" dirty="0"/>
          </a:p>
        </p:txBody>
      </p:sp>
      <p:sp>
        <p:nvSpPr>
          <p:cNvPr id="33" name="Shape 26"/>
          <p:cNvSpPr/>
          <p:nvPr/>
        </p:nvSpPr>
        <p:spPr>
          <a:xfrm>
            <a:off x="548640" y="539496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4F7FC"/>
          </a:solidFill>
          <a:ln/>
        </p:spPr>
      </p:sp>
      <p:sp>
        <p:nvSpPr>
          <p:cNvPr id="34" name="Text 27"/>
          <p:cNvSpPr/>
          <p:nvPr/>
        </p:nvSpPr>
        <p:spPr>
          <a:xfrm>
            <a:off x="822960" y="5394960"/>
            <a:ext cx="10515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approval stays in the loop for anything that changes production state — the agent recommends and drafts, engineers confirm.</a:t>
            </a:r>
            <a:endParaRPr lang="en-US" sz="1250" dirty="0"/>
          </a:p>
        </p:txBody>
      </p:sp>
      <p:sp>
        <p:nvSpPr>
          <p:cNvPr id="35" name="Text 28"/>
          <p:cNvSpPr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for Azure AI Infrastructure Operations</a:t>
            </a:r>
            <a:endParaRPr lang="en-US" sz="900" dirty="0"/>
          </a:p>
        </p:txBody>
      </p:sp>
      <p:sp>
        <p:nvSpPr>
          <p:cNvPr id="36" name="Text 29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4389120"/>
            <a:ext cx="3657600" cy="3657600"/>
          </a:xfrm>
          <a:prstGeom prst="ellipse">
            <a:avLst/>
          </a:prstGeom>
          <a:solidFill>
            <a:srgbClr val="24316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B7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MEASURING THE VALUE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3152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Infra Ops Teams Typically See Impact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41732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ranges reported by early enterprise adopters of AI-assisted operations agents — validate against your own baseline before committing to targets.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2377440"/>
            <a:ext cx="2514600" cy="3291840"/>
          </a:xfrm>
          <a:prstGeom prst="roundRect">
            <a:avLst>
              <a:gd name="adj" fmla="val 3636"/>
            </a:avLst>
          </a:prstGeom>
          <a:solidFill>
            <a:srgbClr val="2A3576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2834640"/>
            <a:ext cx="2240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00B7C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~40%</a:t>
            </a:r>
            <a:endParaRPr lang="en-US" sz="4000" dirty="0"/>
          </a:p>
        </p:txBody>
      </p:sp>
      <p:sp>
        <p:nvSpPr>
          <p:cNvPr id="8" name="Shape 6"/>
          <p:cNvSpPr/>
          <p:nvPr/>
        </p:nvSpPr>
        <p:spPr>
          <a:xfrm>
            <a:off x="731520" y="3977640"/>
            <a:ext cx="2148840" cy="0"/>
          </a:xfrm>
          <a:prstGeom prst="line">
            <a:avLst/>
          </a:prstGeom>
          <a:noFill/>
          <a:ln w="12700">
            <a:solidFill>
              <a:srgbClr val="45509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4160520"/>
            <a:ext cx="2148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mean time to triage on common alert classes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319272" y="2377440"/>
            <a:ext cx="2514600" cy="3291840"/>
          </a:xfrm>
          <a:prstGeom prst="roundRect">
            <a:avLst>
              <a:gd name="adj" fmla="val 3636"/>
            </a:avLst>
          </a:prstGeom>
          <a:solidFill>
            <a:srgbClr val="2A3576"/>
          </a:solidFill>
          <a:ln/>
        </p:spPr>
      </p:sp>
      <p:sp>
        <p:nvSpPr>
          <p:cNvPr id="11" name="Text 9"/>
          <p:cNvSpPr/>
          <p:nvPr/>
        </p:nvSpPr>
        <p:spPr>
          <a:xfrm>
            <a:off x="3456432" y="2834640"/>
            <a:ext cx="2240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00B7C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24/7</a:t>
            </a:r>
            <a:endParaRPr lang="en-US" sz="4000" dirty="0"/>
          </a:p>
        </p:txBody>
      </p:sp>
      <p:sp>
        <p:nvSpPr>
          <p:cNvPr id="12" name="Shape 10"/>
          <p:cNvSpPr/>
          <p:nvPr/>
        </p:nvSpPr>
        <p:spPr>
          <a:xfrm>
            <a:off x="3502152" y="3977640"/>
            <a:ext cx="2148840" cy="0"/>
          </a:xfrm>
          <a:prstGeom prst="line">
            <a:avLst/>
          </a:prstGeom>
          <a:noFill/>
          <a:ln w="12700">
            <a:solidFill>
              <a:srgbClr val="45509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02152" y="4160520"/>
            <a:ext cx="2148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First-line coverage for well-scoped, repeatable questions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089904" y="2377440"/>
            <a:ext cx="2514600" cy="3291840"/>
          </a:xfrm>
          <a:prstGeom prst="roundRect">
            <a:avLst>
              <a:gd name="adj" fmla="val 3636"/>
            </a:avLst>
          </a:prstGeom>
          <a:solidFill>
            <a:srgbClr val="2A3576"/>
          </a:solidFill>
          <a:ln/>
        </p:spPr>
      </p:sp>
      <p:sp>
        <p:nvSpPr>
          <p:cNvPr id="15" name="Text 13"/>
          <p:cNvSpPr/>
          <p:nvPr/>
        </p:nvSpPr>
        <p:spPr>
          <a:xfrm>
            <a:off x="6227064" y="2834640"/>
            <a:ext cx="2240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00B7C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~30%</a:t>
            </a:r>
            <a:endParaRPr lang="en-US" sz="4000" dirty="0"/>
          </a:p>
        </p:txBody>
      </p:sp>
      <p:sp>
        <p:nvSpPr>
          <p:cNvPr id="16" name="Shape 14"/>
          <p:cNvSpPr/>
          <p:nvPr/>
        </p:nvSpPr>
        <p:spPr>
          <a:xfrm>
            <a:off x="6272784" y="3977640"/>
            <a:ext cx="2148840" cy="0"/>
          </a:xfrm>
          <a:prstGeom prst="line">
            <a:avLst/>
          </a:prstGeom>
          <a:noFill/>
          <a:ln w="12700">
            <a:solidFill>
              <a:srgbClr val="45509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72784" y="4160520"/>
            <a:ext cx="2148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routine tickets reaching senior on-call engineers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860536" y="2377440"/>
            <a:ext cx="2514600" cy="3291840"/>
          </a:xfrm>
          <a:prstGeom prst="roundRect">
            <a:avLst>
              <a:gd name="adj" fmla="val 3636"/>
            </a:avLst>
          </a:prstGeom>
          <a:solidFill>
            <a:srgbClr val="2A3576"/>
          </a:solidFill>
          <a:ln/>
        </p:spPr>
      </p:sp>
      <p:sp>
        <p:nvSpPr>
          <p:cNvPr id="19" name="Text 17"/>
          <p:cNvSpPr/>
          <p:nvPr/>
        </p:nvSpPr>
        <p:spPr>
          <a:xfrm>
            <a:off x="8997696" y="2834640"/>
            <a:ext cx="2240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00B7C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4000" dirty="0"/>
          </a:p>
        </p:txBody>
      </p:sp>
      <p:sp>
        <p:nvSpPr>
          <p:cNvPr id="20" name="Shape 18"/>
          <p:cNvSpPr/>
          <p:nvPr/>
        </p:nvSpPr>
        <p:spPr>
          <a:xfrm>
            <a:off x="9043416" y="3977640"/>
            <a:ext cx="2148840" cy="0"/>
          </a:xfrm>
          <a:prstGeom prst="line">
            <a:avLst/>
          </a:prstGeom>
          <a:noFill/>
          <a:ln w="12700">
            <a:solidFill>
              <a:srgbClr val="45509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043416" y="4160520"/>
            <a:ext cx="2148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Actions logged with an audit trail for compliance review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9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for Azure AI Infrastructure Operations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B7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 SCENARIO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 Case 2 — Copilot For Code Assistance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Copilot brings the same Copilot family into the engineering lifecycle — a different product from Copilot Studio, built for IDEs and source control rather than low-code agents.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331720"/>
            <a:ext cx="512064" cy="512064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termin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9846" y="2382926"/>
            <a:ext cx="409651" cy="40965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80160" y="2313432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In-editor completion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4709160" y="2276856"/>
            <a:ext cx="6903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Suggests functions, IaC templates (Bicep/Terraform) and boilerplate as engineers type in VS Code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48640" y="3227832"/>
            <a:ext cx="512064" cy="512064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0" name="Image 1" descr="cha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9846" y="3279038"/>
            <a:ext cx="409651" cy="409651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280160" y="3209544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Copilot Chat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4709160" y="3172968"/>
            <a:ext cx="6903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Explains unfamiliar code, drafts unit tests, and helps debug failing pipelines without leaving the IDE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548640" y="4123944"/>
            <a:ext cx="512064" cy="512064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4" name="Image 2" descr="branch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9846" y="4175150"/>
            <a:ext cx="409651" cy="409651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280160" y="4105656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Pull request assistance</a:t>
            </a:r>
            <a:endParaRPr lang="en-US" sz="1400" dirty="0"/>
          </a:p>
        </p:txBody>
      </p:sp>
      <p:sp>
        <p:nvSpPr>
          <p:cNvPr id="16" name="Text 11"/>
          <p:cNvSpPr/>
          <p:nvPr/>
        </p:nvSpPr>
        <p:spPr>
          <a:xfrm>
            <a:off x="4709160" y="4069080"/>
            <a:ext cx="6903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PR summaries and performs an initial automated review pass before a human reviewer</a:t>
            </a:r>
            <a:endParaRPr lang="en-US" sz="1200" dirty="0"/>
          </a:p>
        </p:txBody>
      </p:sp>
      <p:sp>
        <p:nvSpPr>
          <p:cNvPr id="17" name="Shape 12"/>
          <p:cNvSpPr/>
          <p:nvPr/>
        </p:nvSpPr>
        <p:spPr>
          <a:xfrm>
            <a:off x="548640" y="5020056"/>
            <a:ext cx="512064" cy="512064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8" name="Image 3" descr="che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9846" y="5071262"/>
            <a:ext cx="409651" cy="409651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280160" y="5001768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Workflow &amp; doc generation</a:t>
            </a:r>
            <a:endParaRPr lang="en-US" sz="1400" dirty="0"/>
          </a:p>
        </p:txBody>
      </p:sp>
      <p:sp>
        <p:nvSpPr>
          <p:cNvPr id="20" name="Text 14"/>
          <p:cNvSpPr/>
          <p:nvPr/>
        </p:nvSpPr>
        <p:spPr>
          <a:xfrm>
            <a:off x="4709160" y="4965192"/>
            <a:ext cx="6903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Scaffolds GitHub Actions workflows and keeps README/runbook docs in sync with code changes</a:t>
            </a:r>
            <a:endParaRPr lang="en-US" sz="1200" dirty="0"/>
          </a:p>
        </p:txBody>
      </p:sp>
      <p:sp>
        <p:nvSpPr>
          <p:cNvPr id="21" name="Text 15"/>
          <p:cNvSpPr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for Azure AI Infrastructure Operations</a:t>
            </a:r>
            <a:endParaRPr lang="en-US" sz="900" dirty="0"/>
          </a:p>
        </p:txBody>
      </p:sp>
      <p:sp>
        <p:nvSpPr>
          <p:cNvPr id="22" name="Text 16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B7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BROADER PICTURE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Other Copilot Surfaces Worth Knowing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4F7FC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187452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shie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824" y="1929384"/>
            <a:ext cx="438912" cy="43891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0" y="1856232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Security Copilot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822960" y="251460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Investigates alerts, summarizes threat intel, and speeds SOC response with natural-language queries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217920" y="160020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4F7FC"/>
          </a:solidFill>
          <a:ln/>
        </p:spPr>
      </p:sp>
      <p:sp>
        <p:nvSpPr>
          <p:cNvPr id="10" name="Shape 7"/>
          <p:cNvSpPr/>
          <p:nvPr/>
        </p:nvSpPr>
        <p:spPr>
          <a:xfrm>
            <a:off x="6492240" y="187452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1" name="Image 1" descr="user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47104" y="1929384"/>
            <a:ext cx="438912" cy="43891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223760" y="1856232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Microsoft 365 Copilot</a:t>
            </a:r>
            <a:endParaRPr lang="en-US" sz="1550" dirty="0"/>
          </a:p>
        </p:txBody>
      </p:sp>
      <p:sp>
        <p:nvSpPr>
          <p:cNvPr id="13" name="Text 9"/>
          <p:cNvSpPr/>
          <p:nvPr/>
        </p:nvSpPr>
        <p:spPr>
          <a:xfrm>
            <a:off x="6492240" y="251460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Drafts documents, summarizes meetings and email, and supports knowledge work across Office apps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548640" y="384048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4F7FC"/>
          </a:solidFill>
          <a:ln/>
        </p:spPr>
      </p:sp>
      <p:sp>
        <p:nvSpPr>
          <p:cNvPr id="15" name="Shape 11"/>
          <p:cNvSpPr/>
          <p:nvPr/>
        </p:nvSpPr>
        <p:spPr>
          <a:xfrm>
            <a:off x="822960" y="411480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6" name="Image 2" descr="layer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7824" y="4169664"/>
            <a:ext cx="438912" cy="43891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554480" y="4096512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Power Platform Copilot</a:t>
            </a:r>
            <a:endParaRPr lang="en-US" sz="1550" dirty="0"/>
          </a:p>
        </p:txBody>
      </p:sp>
      <p:sp>
        <p:nvSpPr>
          <p:cNvPr id="18" name="Text 13"/>
          <p:cNvSpPr/>
          <p:nvPr/>
        </p:nvSpPr>
        <p:spPr>
          <a:xfrm>
            <a:off x="822960" y="475488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Power Apps, Power Automate flows and Power BI reports from natural-language prompts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6217920" y="384048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4F7FC"/>
          </a:solidFill>
          <a:ln/>
        </p:spPr>
      </p:sp>
      <p:sp>
        <p:nvSpPr>
          <p:cNvPr id="20" name="Shape 15"/>
          <p:cNvSpPr/>
          <p:nvPr/>
        </p:nvSpPr>
        <p:spPr>
          <a:xfrm>
            <a:off x="6492240" y="411480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1" name="Image 3" descr="cpu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47104" y="4169664"/>
            <a:ext cx="438912" cy="43891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223760" y="4096512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Copilot in Azure</a:t>
            </a:r>
            <a:endParaRPr lang="en-US" sz="1550" dirty="0"/>
          </a:p>
        </p:txBody>
      </p:sp>
      <p:sp>
        <p:nvSpPr>
          <p:cNvPr id="23" name="Text 17"/>
          <p:cNvSpPr/>
          <p:nvPr/>
        </p:nvSpPr>
        <p:spPr>
          <a:xfrm>
            <a:off x="6492240" y="475488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 Azure-specific questions inside the portal — resource design, KQL queries, troubleshooting</a:t>
            </a:r>
            <a:endParaRPr lang="en-US" sz="1150" dirty="0"/>
          </a:p>
        </p:txBody>
      </p:sp>
      <p:sp>
        <p:nvSpPr>
          <p:cNvPr id="24" name="Text 18"/>
          <p:cNvSpPr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for Azure AI Infrastructure Operations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B7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A GLANCE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Comparing The Two Primary Use Cases</a:t>
            </a:r>
            <a:endParaRPr lang="en-US" sz="3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64240" cy="4572000"/>
        </p:xfrm>
        <a:graphic>
          <a:graphicData uri="http://schemas.openxmlformats.org/drawingml/2006/table">
            <a:tbl>
              <a:tblPr/>
              <a:tblGrid>
                <a:gridCol w="2651760"/>
                <a:gridCol w="4206240"/>
                <a:gridCol w="420624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Infra Ops Agent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Code Assistance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B6B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Copilot Studio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B6B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GitHub Copilot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users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B6B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Platform / SRE / on-call engineers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B6B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Software developers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Where it lives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B6B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Teams, web chat, ITSM tools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B6B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VS Code, Visual Studio, GitHub.com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 value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B6B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Faster triage, guided remediation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B6B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Faster authoring, review and testing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Grounding data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B6B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Azure Monitor, runbooks, tickets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B6B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Repository code and project context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Governance model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B6B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Entra ID, DLP, action approval gates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B6B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Org policy, license-aware suggestions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for Azure AI Infrastructure Operations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B7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Phased Path To Adoption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2606040" cy="4206240"/>
          </a:xfrm>
          <a:prstGeom prst="roundRect">
            <a:avLst>
              <a:gd name="adj" fmla="val 3509"/>
            </a:avLst>
          </a:prstGeom>
          <a:solidFill>
            <a:srgbClr val="F4F7FC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993392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00B7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777240" y="233172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7" name="Image 0" descr="searc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7532" y="2382012"/>
            <a:ext cx="402336" cy="40233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77240" y="3017520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Scope &amp; ground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777240" y="3703320"/>
            <a:ext cx="21488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one high-volume alert class; connect the agent to Monitor, runbooks and ticket history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3108960" y="2377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AAB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3410712" y="1737360"/>
            <a:ext cx="2606040" cy="4206240"/>
          </a:xfrm>
          <a:prstGeom prst="roundRect">
            <a:avLst>
              <a:gd name="adj" fmla="val 3509"/>
            </a:avLst>
          </a:prstGeom>
          <a:solidFill>
            <a:srgbClr val="F4F7FC"/>
          </a:solidFill>
          <a:ln/>
        </p:spPr>
      </p:sp>
      <p:sp>
        <p:nvSpPr>
          <p:cNvPr id="12" name="Text 9"/>
          <p:cNvSpPr/>
          <p:nvPr/>
        </p:nvSpPr>
        <p:spPr>
          <a:xfrm>
            <a:off x="3639312" y="1993392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00B7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3639312" y="233172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4" name="Image 1" descr="shiel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9604" y="2382012"/>
            <a:ext cx="402336" cy="402336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639312" y="3017520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Pilot with guardrails</a:t>
            </a:r>
            <a:endParaRPr lang="en-US" sz="1500" dirty="0"/>
          </a:p>
        </p:txBody>
      </p:sp>
      <p:sp>
        <p:nvSpPr>
          <p:cNvPr id="16" name="Text 12"/>
          <p:cNvSpPr/>
          <p:nvPr/>
        </p:nvSpPr>
        <p:spPr>
          <a:xfrm>
            <a:off x="3639312" y="3703320"/>
            <a:ext cx="21488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read-only triage and Q&amp;A with on-call teams; require human approval for every action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5971032" y="2377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AAB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8" name="Shape 14"/>
          <p:cNvSpPr/>
          <p:nvPr/>
        </p:nvSpPr>
        <p:spPr>
          <a:xfrm>
            <a:off x="6272784" y="1737360"/>
            <a:ext cx="2606040" cy="4206240"/>
          </a:xfrm>
          <a:prstGeom prst="roundRect">
            <a:avLst>
              <a:gd name="adj" fmla="val 3509"/>
            </a:avLst>
          </a:prstGeom>
          <a:solidFill>
            <a:srgbClr val="1E2761"/>
          </a:solidFill>
          <a:ln/>
        </p:spPr>
      </p:sp>
      <p:sp>
        <p:nvSpPr>
          <p:cNvPr id="19" name="Text 15"/>
          <p:cNvSpPr/>
          <p:nvPr/>
        </p:nvSpPr>
        <p:spPr>
          <a:xfrm>
            <a:off x="6501384" y="1993392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00B7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050" dirty="0"/>
          </a:p>
        </p:txBody>
      </p:sp>
      <p:sp>
        <p:nvSpPr>
          <p:cNvPr id="20" name="Shape 16"/>
          <p:cNvSpPr/>
          <p:nvPr/>
        </p:nvSpPr>
        <p:spPr>
          <a:xfrm>
            <a:off x="6501384" y="2331720"/>
            <a:ext cx="502920" cy="502920"/>
          </a:xfrm>
          <a:prstGeom prst="ellipse">
            <a:avLst/>
          </a:prstGeom>
          <a:solidFill>
            <a:srgbClr val="00B7C3"/>
          </a:solidFill>
          <a:ln/>
        </p:spPr>
      </p:sp>
      <p:pic>
        <p:nvPicPr>
          <p:cNvPr id="21" name="Image 2" descr="zap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1676" y="2382012"/>
            <a:ext cx="402336" cy="402336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6501384" y="3017520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Enable remediation</a:t>
            </a:r>
            <a:endParaRPr lang="en-US" sz="1500" dirty="0"/>
          </a:p>
        </p:txBody>
      </p:sp>
      <p:sp>
        <p:nvSpPr>
          <p:cNvPr id="23" name="Text 18"/>
          <p:cNvSpPr/>
          <p:nvPr/>
        </p:nvSpPr>
        <p:spPr>
          <a:xfrm>
            <a:off x="6501384" y="3703320"/>
            <a:ext cx="21488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on pre-approved automated fixes for the lowest-risk, highest-confidence scenarios</a:t>
            </a:r>
            <a:endParaRPr lang="en-US" sz="1100" dirty="0"/>
          </a:p>
        </p:txBody>
      </p:sp>
      <p:sp>
        <p:nvSpPr>
          <p:cNvPr id="24" name="Text 19"/>
          <p:cNvSpPr/>
          <p:nvPr/>
        </p:nvSpPr>
        <p:spPr>
          <a:xfrm>
            <a:off x="8833104" y="2377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AAB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5" name="Shape 20"/>
          <p:cNvSpPr/>
          <p:nvPr/>
        </p:nvSpPr>
        <p:spPr>
          <a:xfrm>
            <a:off x="9134856" y="1737360"/>
            <a:ext cx="2606040" cy="4206240"/>
          </a:xfrm>
          <a:prstGeom prst="roundRect">
            <a:avLst>
              <a:gd name="adj" fmla="val 3509"/>
            </a:avLst>
          </a:prstGeom>
          <a:solidFill>
            <a:srgbClr val="F4F7FC"/>
          </a:solidFill>
          <a:ln/>
        </p:spPr>
      </p:sp>
      <p:sp>
        <p:nvSpPr>
          <p:cNvPr id="26" name="Text 21"/>
          <p:cNvSpPr/>
          <p:nvPr/>
        </p:nvSpPr>
        <p:spPr>
          <a:xfrm>
            <a:off x="9363456" y="1993392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00B7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</a:t>
            </a:r>
            <a:endParaRPr lang="en-US" sz="1050" dirty="0"/>
          </a:p>
        </p:txBody>
      </p:sp>
      <p:sp>
        <p:nvSpPr>
          <p:cNvPr id="27" name="Shape 22"/>
          <p:cNvSpPr/>
          <p:nvPr/>
        </p:nvSpPr>
        <p:spPr>
          <a:xfrm>
            <a:off x="9363456" y="233172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8" name="Image 3" descr="layer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13748" y="2382012"/>
            <a:ext cx="402336" cy="402336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9363456" y="3017520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Extend &amp; connect</a:t>
            </a:r>
            <a:endParaRPr lang="en-US" sz="1500" dirty="0"/>
          </a:p>
        </p:txBody>
      </p:sp>
      <p:sp>
        <p:nvSpPr>
          <p:cNvPr id="30" name="Text 24"/>
          <p:cNvSpPr/>
          <p:nvPr/>
        </p:nvSpPr>
        <p:spPr>
          <a:xfrm>
            <a:off x="9363456" y="3703320"/>
            <a:ext cx="21488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code-assistance rollout and additional Copilot surfaces once the pattern is proven</a:t>
            </a:r>
            <a:endParaRPr lang="en-US" sz="1100" dirty="0"/>
          </a:p>
        </p:txBody>
      </p:sp>
      <p:sp>
        <p:nvSpPr>
          <p:cNvPr id="31" name="Text 25"/>
          <p:cNvSpPr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for Azure AI Infrastructure Operations</a:t>
            </a:r>
            <a:endParaRPr lang="en-US" sz="900" dirty="0"/>
          </a:p>
        </p:txBody>
      </p:sp>
      <p:sp>
        <p:nvSpPr>
          <p:cNvPr id="32" name="Text 26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75520" y="-1280160"/>
            <a:ext cx="4572000" cy="4572000"/>
          </a:xfrm>
          <a:prstGeom prst="ellipse">
            <a:avLst/>
          </a:prstGeom>
          <a:solidFill>
            <a:srgbClr val="24316E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822960"/>
            <a:ext cx="640080" cy="640080"/>
          </a:xfrm>
          <a:prstGeom prst="ellipse">
            <a:avLst/>
          </a:prstGeom>
          <a:solidFill>
            <a:srgbClr val="00B7C3"/>
          </a:solidFill>
          <a:ln/>
        </p:spPr>
      </p:sp>
      <p:pic>
        <p:nvPicPr>
          <p:cNvPr id="4" name="Image 0" descr="che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886968"/>
            <a:ext cx="512064" cy="51206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17320" y="8686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640080" y="160020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Start Narrow, Prove Value, Then Expand</a:t>
            </a:r>
            <a:endParaRPr lang="en-US" sz="3200" dirty="0"/>
          </a:p>
        </p:txBody>
      </p:sp>
      <p:sp>
        <p:nvSpPr>
          <p:cNvPr id="7" name="Shape 4"/>
          <p:cNvSpPr/>
          <p:nvPr/>
        </p:nvSpPr>
        <p:spPr>
          <a:xfrm>
            <a:off x="640080" y="2852928"/>
            <a:ext cx="320040" cy="320040"/>
          </a:xfrm>
          <a:prstGeom prst="ellipse">
            <a:avLst/>
          </a:prstGeom>
          <a:solidFill>
            <a:srgbClr val="00B7C3"/>
          </a:solidFill>
          <a:ln/>
        </p:spPr>
      </p:sp>
      <p:sp>
        <p:nvSpPr>
          <p:cNvPr id="8" name="Text 5"/>
          <p:cNvSpPr/>
          <p:nvPr/>
        </p:nvSpPr>
        <p:spPr>
          <a:xfrm>
            <a:off x="640080" y="2852928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143000" y="2779776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Nominate one alert class and one on-call team for the Copilot Studio pilot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640080" y="3511296"/>
            <a:ext cx="320040" cy="320040"/>
          </a:xfrm>
          <a:prstGeom prst="ellipse">
            <a:avLst/>
          </a:prstGeom>
          <a:solidFill>
            <a:srgbClr val="00B7C3"/>
          </a:solidFill>
          <a:ln/>
        </p:spPr>
      </p:sp>
      <p:sp>
        <p:nvSpPr>
          <p:cNvPr id="11" name="Text 8"/>
          <p:cNvSpPr/>
          <p:nvPr/>
        </p:nvSpPr>
        <p:spPr>
          <a:xfrm>
            <a:off x="640080" y="3511296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1143000" y="3438144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connector access to Azure Monitor, Log Analytics and the ITSM tool of record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640080" y="4169664"/>
            <a:ext cx="320040" cy="320040"/>
          </a:xfrm>
          <a:prstGeom prst="ellipse">
            <a:avLst/>
          </a:prstGeom>
          <a:solidFill>
            <a:srgbClr val="00B7C3"/>
          </a:solidFill>
          <a:ln/>
        </p:spPr>
      </p:sp>
      <p:sp>
        <p:nvSpPr>
          <p:cNvPr id="14" name="Text 11"/>
          <p:cNvSpPr/>
          <p:nvPr/>
        </p:nvSpPr>
        <p:spPr>
          <a:xfrm>
            <a:off x="640080" y="4169664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1143000" y="4096512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a small developer group to trial GitHub Copilot alongside the infra pilot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640080" y="4828032"/>
            <a:ext cx="320040" cy="320040"/>
          </a:xfrm>
          <a:prstGeom prst="ellipse">
            <a:avLst/>
          </a:prstGeom>
          <a:solidFill>
            <a:srgbClr val="00B7C3"/>
          </a:solidFill>
          <a:ln/>
        </p:spPr>
      </p:sp>
      <p:sp>
        <p:nvSpPr>
          <p:cNvPr id="17" name="Text 14"/>
          <p:cNvSpPr/>
          <p:nvPr/>
        </p:nvSpPr>
        <p:spPr>
          <a:xfrm>
            <a:off x="640080" y="482803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1143000" y="475488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a 6-week check-in to review triage-time and adoption metrics together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640080" y="5806440"/>
            <a:ext cx="2011680" cy="0"/>
          </a:xfrm>
          <a:prstGeom prst="line">
            <a:avLst/>
          </a:prstGeom>
          <a:noFill/>
          <a:ln w="31750">
            <a:solidFill>
              <a:srgbClr val="00B7C3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40080" y="59893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or ready to scope the pilot? Reach out to the Cloud Platform team.</a:t>
            </a:r>
            <a:endParaRPr lang="en-US" sz="1250" dirty="0"/>
          </a:p>
        </p:txBody>
      </p:sp>
      <p:sp>
        <p:nvSpPr>
          <p:cNvPr id="21" name="Text 18"/>
          <p:cNvSpPr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9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for Azure AI Infrastructure Operations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2026-08-13T16:05:25Z</dcterms:created>
  <dcterms:modified xsi:type="dcterms:W3CDTF">2026-08-13T16:05:25Z</dcterms:modified>
</cp:coreProperties>
</file>